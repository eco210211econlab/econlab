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notesMasterIdLst>
    <p:notesMasterId r:id="rId22"/>
  </p:notesMasterIdLst>
  <p:sldIdLst>
    <p:sldId id="256" r:id="rId2"/>
    <p:sldId id="260" r:id="rId3"/>
    <p:sldId id="262" r:id="rId4"/>
    <p:sldId id="263" r:id="rId5"/>
    <p:sldId id="264" r:id="rId6"/>
    <p:sldId id="265" r:id="rId7"/>
    <p:sldId id="266" r:id="rId8"/>
    <p:sldId id="267" r:id="rId9"/>
    <p:sldId id="268" r:id="rId10"/>
    <p:sldId id="269" r:id="rId11"/>
    <p:sldId id="270" r:id="rId12"/>
    <p:sldId id="282" r:id="rId13"/>
    <p:sldId id="271" r:id="rId14"/>
    <p:sldId id="272" r:id="rId15"/>
    <p:sldId id="273" r:id="rId16"/>
    <p:sldId id="277" r:id="rId17"/>
    <p:sldId id="278" r:id="rId18"/>
    <p:sldId id="280" r:id="rId19"/>
    <p:sldId id="283" r:id="rId20"/>
    <p:sldId id="28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284617-E377-40D0-94B7-E7A86D994CC0}" v="148" dt="2026-02-27T14:42:48.332"/>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06" autoAdjust="0"/>
    <p:restoredTop sz="94542" autoAdjust="0"/>
  </p:normalViewPr>
  <p:slideViewPr>
    <p:cSldViewPr snapToGrid="0">
      <p:cViewPr varScale="1">
        <p:scale>
          <a:sx n="72" d="100"/>
          <a:sy n="72" d="100"/>
        </p:scale>
        <p:origin x="144" y="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2FF3E2E3-7818-4E76-9C63-7C10A568D9B9}"/>
    <pc:docChg chg="undo custSel addSld delSld modSld sldOrd modMainMaster">
      <pc:chgData name="Scott T Lane" userId="c97bbaa9-35da-4a3b-a646-d12e455ac46e" providerId="ADAL" clId="{2FF3E2E3-7818-4E76-9C63-7C10A568D9B9}" dt="2026-02-27T14:42:48.331" v="630"/>
      <pc:docMkLst>
        <pc:docMk/>
      </pc:docMkLst>
      <pc:sldChg chg="addSp delSp modSp mod modTransition modAnim delDesignElem">
        <pc:chgData name="Scott T Lane" userId="c97bbaa9-35da-4a3b-a646-d12e455ac46e" providerId="ADAL" clId="{2FF3E2E3-7818-4E76-9C63-7C10A568D9B9}" dt="2026-02-27T14:42:48.331" v="630"/>
        <pc:sldMkLst>
          <pc:docMk/>
          <pc:sldMk cId="2946475127" sldId="256"/>
        </pc:sldMkLst>
        <pc:spChg chg="mod">
          <ac:chgData name="Scott T Lane" userId="c97bbaa9-35da-4a3b-a646-d12e455ac46e" providerId="ADAL" clId="{2FF3E2E3-7818-4E76-9C63-7C10A568D9B9}" dt="2026-02-26T14:39:19.096" v="12" actId="14100"/>
          <ac:spMkLst>
            <pc:docMk/>
            <pc:sldMk cId="2946475127" sldId="256"/>
            <ac:spMk id="2" creationId="{E63B7D4F-ED2B-026B-3DCC-FC25D75BF3F3}"/>
          </ac:spMkLst>
        </pc:spChg>
        <pc:spChg chg="mod">
          <ac:chgData name="Scott T Lane" userId="c97bbaa9-35da-4a3b-a646-d12e455ac46e" providerId="ADAL" clId="{2FF3E2E3-7818-4E76-9C63-7C10A568D9B9}" dt="2026-02-26T14:39:47.802" v="18" actId="14100"/>
          <ac:spMkLst>
            <pc:docMk/>
            <pc:sldMk cId="2946475127" sldId="256"/>
            <ac:spMk id="3" creationId="{046F5DC3-0C75-250B-266C-A3F19543BE11}"/>
          </ac:spMkLst>
        </pc:spChg>
        <pc:spChg chg="del">
          <ac:chgData name="Scott T Lane" userId="c97bbaa9-35da-4a3b-a646-d12e455ac46e" providerId="ADAL" clId="{2FF3E2E3-7818-4E76-9C63-7C10A568D9B9}" dt="2026-02-26T14:39:06.066" v="1"/>
          <ac:spMkLst>
            <pc:docMk/>
            <pc:sldMk cId="2946475127" sldId="256"/>
            <ac:spMk id="9" creationId="{19F9BF86-FE94-4517-B97D-026C7515E589}"/>
          </ac:spMkLst>
        </pc:spChg>
        <pc:picChg chg="add del mod">
          <ac:chgData name="Scott T Lane" userId="c97bbaa9-35da-4a3b-a646-d12e455ac46e" providerId="ADAL" clId="{2FF3E2E3-7818-4E76-9C63-7C10A568D9B9}" dt="2026-02-27T14:42:48.331" v="630"/>
          <ac:picMkLst>
            <pc:docMk/>
            <pc:sldMk cId="2946475127" sldId="256"/>
            <ac:picMk id="7" creationId="{EF230E09-22A5-07EB-A20E-08DCE83145C1}"/>
          </ac:picMkLst>
        </pc:picChg>
        <pc:picChg chg="add mod">
          <ac:chgData name="Scott T Lane" userId="c97bbaa9-35da-4a3b-a646-d12e455ac46e" providerId="ADAL" clId="{2FF3E2E3-7818-4E76-9C63-7C10A568D9B9}" dt="2026-02-26T15:41:07.846" v="626" actId="962"/>
          <ac:picMkLst>
            <pc:docMk/>
            <pc:sldMk cId="2946475127" sldId="256"/>
            <ac:picMk id="1026" creationId="{0075D6F9-2A99-0222-3698-054A269AE3C2}"/>
          </ac:picMkLst>
        </pc:picChg>
        <pc:cxnChg chg="del">
          <ac:chgData name="Scott T Lane" userId="c97bbaa9-35da-4a3b-a646-d12e455ac46e" providerId="ADAL" clId="{2FF3E2E3-7818-4E76-9C63-7C10A568D9B9}" dt="2026-02-26T14:39:06.066" v="1"/>
          <ac:cxnSpMkLst>
            <pc:docMk/>
            <pc:sldMk cId="2946475127" sldId="256"/>
            <ac:cxnSpMk id="11" creationId="{6CA391F1-4B2C-521B-F6A5-52C74B30349D}"/>
          </ac:cxnSpMkLst>
        </pc:cxnChg>
      </pc:sldChg>
      <pc:sldChg chg="addSp delSp modSp mod modTransition modAnim">
        <pc:chgData name="Scott T Lane" userId="c97bbaa9-35da-4a3b-a646-d12e455ac46e" providerId="ADAL" clId="{2FF3E2E3-7818-4E76-9C63-7C10A568D9B9}" dt="2026-02-27T14:42:48.331" v="630"/>
        <pc:sldMkLst>
          <pc:docMk/>
          <pc:sldMk cId="2693733258" sldId="260"/>
        </pc:sldMkLst>
        <pc:spChg chg="mod">
          <ac:chgData name="Scott T Lane" userId="c97bbaa9-35da-4a3b-a646-d12e455ac46e" providerId="ADAL" clId="{2FF3E2E3-7818-4E76-9C63-7C10A568D9B9}" dt="2026-02-26T14:42:02.425" v="25" actId="14100"/>
          <ac:spMkLst>
            <pc:docMk/>
            <pc:sldMk cId="2693733258" sldId="260"/>
            <ac:spMk id="6" creationId="{26DA31C5-1BB4-4AF6-941D-22FC77F901DA}"/>
          </ac:spMkLst>
        </pc:spChg>
        <pc:spChg chg="mod">
          <ac:chgData name="Scott T Lane" userId="c97bbaa9-35da-4a3b-a646-d12e455ac46e" providerId="ADAL" clId="{2FF3E2E3-7818-4E76-9C63-7C10A568D9B9}" dt="2026-02-26T14:46:04.129" v="88" actId="20577"/>
          <ac:spMkLst>
            <pc:docMk/>
            <pc:sldMk cId="2693733258" sldId="260"/>
            <ac:spMk id="7" creationId="{D851E8A5-7290-7CBC-E7F5-0F4D593F52C0}"/>
          </ac:spMkLst>
        </pc:spChg>
        <pc:picChg chg="add del mod">
          <ac:chgData name="Scott T Lane" userId="c97bbaa9-35da-4a3b-a646-d12e455ac46e" providerId="ADAL" clId="{2FF3E2E3-7818-4E76-9C63-7C10A568D9B9}" dt="2026-02-27T14:42:48.331" v="630"/>
          <ac:picMkLst>
            <pc:docMk/>
            <pc:sldMk cId="2693733258" sldId="260"/>
            <ac:picMk id="5" creationId="{2EA82D11-ACEB-89D7-5924-67859E0752F7}"/>
          </ac:picMkLst>
        </pc:picChg>
      </pc:sldChg>
      <pc:sldChg chg="addSp delSp modSp mod modTransition modAnim">
        <pc:chgData name="Scott T Lane" userId="c97bbaa9-35da-4a3b-a646-d12e455ac46e" providerId="ADAL" clId="{2FF3E2E3-7818-4E76-9C63-7C10A568D9B9}" dt="2026-02-27T14:42:48.331" v="630"/>
        <pc:sldMkLst>
          <pc:docMk/>
          <pc:sldMk cId="591721" sldId="262"/>
        </pc:sldMkLst>
        <pc:spChg chg="mod">
          <ac:chgData name="Scott T Lane" userId="c97bbaa9-35da-4a3b-a646-d12e455ac46e" providerId="ADAL" clId="{2FF3E2E3-7818-4E76-9C63-7C10A568D9B9}" dt="2026-02-26T14:46:56.919" v="92" actId="113"/>
          <ac:spMkLst>
            <pc:docMk/>
            <pc:sldMk cId="591721" sldId="262"/>
            <ac:spMk id="6" creationId="{26DA31C5-1BB4-4AF6-941D-22FC77F901DA}"/>
          </ac:spMkLst>
        </pc:spChg>
        <pc:spChg chg="mod">
          <ac:chgData name="Scott T Lane" userId="c97bbaa9-35da-4a3b-a646-d12e455ac46e" providerId="ADAL" clId="{2FF3E2E3-7818-4E76-9C63-7C10A568D9B9}" dt="2026-02-26T14:47:40.755" v="100" actId="208"/>
          <ac:spMkLst>
            <pc:docMk/>
            <pc:sldMk cId="591721" sldId="262"/>
            <ac:spMk id="7" creationId="{D851E8A5-7290-7CBC-E7F5-0F4D593F52C0}"/>
          </ac:spMkLst>
        </pc:spChg>
        <pc:picChg chg="add del mod">
          <ac:chgData name="Scott T Lane" userId="c97bbaa9-35da-4a3b-a646-d12e455ac46e" providerId="ADAL" clId="{2FF3E2E3-7818-4E76-9C63-7C10A568D9B9}" dt="2026-02-27T14:42:48.331" v="630"/>
          <ac:picMkLst>
            <pc:docMk/>
            <pc:sldMk cId="591721" sldId="262"/>
            <ac:picMk id="4" creationId="{F08BB697-B2D8-A51A-D28B-D6D39AD5A150}"/>
          </ac:picMkLst>
        </pc:picChg>
      </pc:sldChg>
      <pc:sldChg chg="addSp delSp modSp mod modTransition modAnim">
        <pc:chgData name="Scott T Lane" userId="c97bbaa9-35da-4a3b-a646-d12e455ac46e" providerId="ADAL" clId="{2FF3E2E3-7818-4E76-9C63-7C10A568D9B9}" dt="2026-02-27T14:42:48.331" v="630"/>
        <pc:sldMkLst>
          <pc:docMk/>
          <pc:sldMk cId="3253535965" sldId="263"/>
        </pc:sldMkLst>
        <pc:spChg chg="mod">
          <ac:chgData name="Scott T Lane" userId="c97bbaa9-35da-4a3b-a646-d12e455ac46e" providerId="ADAL" clId="{2FF3E2E3-7818-4E76-9C63-7C10A568D9B9}" dt="2026-02-26T14:48:15.509" v="104" actId="113"/>
          <ac:spMkLst>
            <pc:docMk/>
            <pc:sldMk cId="3253535965" sldId="263"/>
            <ac:spMk id="6" creationId="{26DA31C5-1BB4-4AF6-941D-22FC77F901DA}"/>
          </ac:spMkLst>
        </pc:spChg>
        <pc:spChg chg="mod">
          <ac:chgData name="Scott T Lane" userId="c97bbaa9-35da-4a3b-a646-d12e455ac46e" providerId="ADAL" clId="{2FF3E2E3-7818-4E76-9C63-7C10A568D9B9}" dt="2026-02-26T14:49:49.419" v="131"/>
          <ac:spMkLst>
            <pc:docMk/>
            <pc:sldMk cId="3253535965" sldId="263"/>
            <ac:spMk id="7" creationId="{D851E8A5-7290-7CBC-E7F5-0F4D593F52C0}"/>
          </ac:spMkLst>
        </pc:spChg>
        <pc:picChg chg="add del mod">
          <ac:chgData name="Scott T Lane" userId="c97bbaa9-35da-4a3b-a646-d12e455ac46e" providerId="ADAL" clId="{2FF3E2E3-7818-4E76-9C63-7C10A568D9B9}" dt="2026-02-27T14:42:48.331" v="630"/>
          <ac:picMkLst>
            <pc:docMk/>
            <pc:sldMk cId="3253535965" sldId="263"/>
            <ac:picMk id="4" creationId="{4884E445-825B-9713-3741-D7673A71DC2B}"/>
          </ac:picMkLst>
        </pc:picChg>
      </pc:sldChg>
      <pc:sldChg chg="addSp delSp modSp mod modTransition modAnim">
        <pc:chgData name="Scott T Lane" userId="c97bbaa9-35da-4a3b-a646-d12e455ac46e" providerId="ADAL" clId="{2FF3E2E3-7818-4E76-9C63-7C10A568D9B9}" dt="2026-02-27T14:42:48.331" v="630"/>
        <pc:sldMkLst>
          <pc:docMk/>
          <pc:sldMk cId="4200564550" sldId="264"/>
        </pc:sldMkLst>
        <pc:spChg chg="mod">
          <ac:chgData name="Scott T Lane" userId="c97bbaa9-35da-4a3b-a646-d12e455ac46e" providerId="ADAL" clId="{2FF3E2E3-7818-4E76-9C63-7C10A568D9B9}" dt="2026-02-26T14:50:35.666" v="135" actId="255"/>
          <ac:spMkLst>
            <pc:docMk/>
            <pc:sldMk cId="4200564550" sldId="264"/>
            <ac:spMk id="6" creationId="{26DA31C5-1BB4-4AF6-941D-22FC77F901DA}"/>
          </ac:spMkLst>
        </pc:spChg>
        <pc:spChg chg="mod">
          <ac:chgData name="Scott T Lane" userId="c97bbaa9-35da-4a3b-a646-d12e455ac46e" providerId="ADAL" clId="{2FF3E2E3-7818-4E76-9C63-7C10A568D9B9}" dt="2026-02-26T14:51:22.768" v="151" actId="20577"/>
          <ac:spMkLst>
            <pc:docMk/>
            <pc:sldMk cId="4200564550" sldId="264"/>
            <ac:spMk id="7" creationId="{D851E8A5-7290-7CBC-E7F5-0F4D593F52C0}"/>
          </ac:spMkLst>
        </pc:spChg>
        <pc:picChg chg="mod">
          <ac:chgData name="Scott T Lane" userId="c97bbaa9-35da-4a3b-a646-d12e455ac46e" providerId="ADAL" clId="{2FF3E2E3-7818-4E76-9C63-7C10A568D9B9}" dt="2026-02-26T14:51:26.895" v="152" actId="208"/>
          <ac:picMkLst>
            <pc:docMk/>
            <pc:sldMk cId="4200564550" sldId="264"/>
            <ac:picMk id="4" creationId="{1F09B0F8-7735-93A5-9319-5629A957D371}"/>
          </ac:picMkLst>
        </pc:picChg>
        <pc:picChg chg="add del mod">
          <ac:chgData name="Scott T Lane" userId="c97bbaa9-35da-4a3b-a646-d12e455ac46e" providerId="ADAL" clId="{2FF3E2E3-7818-4E76-9C63-7C10A568D9B9}" dt="2026-02-27T14:42:48.331" v="630"/>
          <ac:picMkLst>
            <pc:docMk/>
            <pc:sldMk cId="4200564550" sldId="264"/>
            <ac:picMk id="5" creationId="{CEEFD52B-6C02-9EE0-7B23-E9D62BFB0453}"/>
          </ac:picMkLst>
        </pc:picChg>
      </pc:sldChg>
      <pc:sldChg chg="addSp delSp modSp mod modTransition modAnim">
        <pc:chgData name="Scott T Lane" userId="c97bbaa9-35da-4a3b-a646-d12e455ac46e" providerId="ADAL" clId="{2FF3E2E3-7818-4E76-9C63-7C10A568D9B9}" dt="2026-02-27T14:42:48.331" v="630"/>
        <pc:sldMkLst>
          <pc:docMk/>
          <pc:sldMk cId="1963899960" sldId="265"/>
        </pc:sldMkLst>
        <pc:spChg chg="mod">
          <ac:chgData name="Scott T Lane" userId="c97bbaa9-35da-4a3b-a646-d12e455ac46e" providerId="ADAL" clId="{2FF3E2E3-7818-4E76-9C63-7C10A568D9B9}" dt="2026-02-26T14:51:58.068" v="155" actId="14100"/>
          <ac:spMkLst>
            <pc:docMk/>
            <pc:sldMk cId="1963899960" sldId="265"/>
            <ac:spMk id="6" creationId="{26DA31C5-1BB4-4AF6-941D-22FC77F901DA}"/>
          </ac:spMkLst>
        </pc:spChg>
        <pc:spChg chg="mod">
          <ac:chgData name="Scott T Lane" userId="c97bbaa9-35da-4a3b-a646-d12e455ac46e" providerId="ADAL" clId="{2FF3E2E3-7818-4E76-9C63-7C10A568D9B9}" dt="2026-02-26T14:52:45.172" v="181" actId="6549"/>
          <ac:spMkLst>
            <pc:docMk/>
            <pc:sldMk cId="1963899960" sldId="265"/>
            <ac:spMk id="7" creationId="{D851E8A5-7290-7CBC-E7F5-0F4D593F52C0}"/>
          </ac:spMkLst>
        </pc:spChg>
        <pc:picChg chg="add del mod">
          <ac:chgData name="Scott T Lane" userId="c97bbaa9-35da-4a3b-a646-d12e455ac46e" providerId="ADAL" clId="{2FF3E2E3-7818-4E76-9C63-7C10A568D9B9}" dt="2026-02-27T14:42:48.331" v="630"/>
          <ac:picMkLst>
            <pc:docMk/>
            <pc:sldMk cId="1963899960" sldId="265"/>
            <ac:picMk id="4" creationId="{009B59A0-112B-979C-C34E-46CCE7D34938}"/>
          </ac:picMkLst>
        </pc:picChg>
      </pc:sldChg>
      <pc:sldChg chg="addSp delSp modSp mod modTransition modAnim">
        <pc:chgData name="Scott T Lane" userId="c97bbaa9-35da-4a3b-a646-d12e455ac46e" providerId="ADAL" clId="{2FF3E2E3-7818-4E76-9C63-7C10A568D9B9}" dt="2026-02-27T14:42:48.331" v="630"/>
        <pc:sldMkLst>
          <pc:docMk/>
          <pc:sldMk cId="661202433" sldId="266"/>
        </pc:sldMkLst>
        <pc:spChg chg="mod">
          <ac:chgData name="Scott T Lane" userId="c97bbaa9-35da-4a3b-a646-d12e455ac46e" providerId="ADAL" clId="{2FF3E2E3-7818-4E76-9C63-7C10A568D9B9}" dt="2026-02-26T14:53:28.415" v="189" actId="255"/>
          <ac:spMkLst>
            <pc:docMk/>
            <pc:sldMk cId="661202433" sldId="266"/>
            <ac:spMk id="6" creationId="{26DA31C5-1BB4-4AF6-941D-22FC77F901DA}"/>
          </ac:spMkLst>
        </pc:spChg>
        <pc:spChg chg="mod">
          <ac:chgData name="Scott T Lane" userId="c97bbaa9-35da-4a3b-a646-d12e455ac46e" providerId="ADAL" clId="{2FF3E2E3-7818-4E76-9C63-7C10A568D9B9}" dt="2026-02-26T14:54:02.094" v="203" actId="27636"/>
          <ac:spMkLst>
            <pc:docMk/>
            <pc:sldMk cId="661202433" sldId="266"/>
            <ac:spMk id="7" creationId="{D851E8A5-7290-7CBC-E7F5-0F4D593F52C0}"/>
          </ac:spMkLst>
        </pc:spChg>
        <pc:picChg chg="add del mod">
          <ac:chgData name="Scott T Lane" userId="c97bbaa9-35da-4a3b-a646-d12e455ac46e" providerId="ADAL" clId="{2FF3E2E3-7818-4E76-9C63-7C10A568D9B9}" dt="2026-02-27T14:42:48.331" v="630"/>
          <ac:picMkLst>
            <pc:docMk/>
            <pc:sldMk cId="661202433" sldId="266"/>
            <ac:picMk id="4" creationId="{8326A50E-4FEE-0AE1-C10E-8A26C90ECA00}"/>
          </ac:picMkLst>
        </pc:picChg>
      </pc:sldChg>
      <pc:sldChg chg="addSp delSp modSp mod modTransition modAnim">
        <pc:chgData name="Scott T Lane" userId="c97bbaa9-35da-4a3b-a646-d12e455ac46e" providerId="ADAL" clId="{2FF3E2E3-7818-4E76-9C63-7C10A568D9B9}" dt="2026-02-27T14:42:48.331" v="630"/>
        <pc:sldMkLst>
          <pc:docMk/>
          <pc:sldMk cId="3070493056" sldId="267"/>
        </pc:sldMkLst>
        <pc:spChg chg="mod">
          <ac:chgData name="Scott T Lane" userId="c97bbaa9-35da-4a3b-a646-d12e455ac46e" providerId="ADAL" clId="{2FF3E2E3-7818-4E76-9C63-7C10A568D9B9}" dt="2026-02-26T14:55:11.008" v="209" actId="27636"/>
          <ac:spMkLst>
            <pc:docMk/>
            <pc:sldMk cId="3070493056" sldId="267"/>
            <ac:spMk id="6" creationId="{26DA31C5-1BB4-4AF6-941D-22FC77F901DA}"/>
          </ac:spMkLst>
        </pc:spChg>
        <pc:spChg chg="mod">
          <ac:chgData name="Scott T Lane" userId="c97bbaa9-35da-4a3b-a646-d12e455ac46e" providerId="ADAL" clId="{2FF3E2E3-7818-4E76-9C63-7C10A568D9B9}" dt="2026-02-26T14:55:47.668" v="221" actId="255"/>
          <ac:spMkLst>
            <pc:docMk/>
            <pc:sldMk cId="3070493056" sldId="267"/>
            <ac:spMk id="7" creationId="{D851E8A5-7290-7CBC-E7F5-0F4D593F52C0}"/>
          </ac:spMkLst>
        </pc:spChg>
        <pc:picChg chg="add del mod">
          <ac:chgData name="Scott T Lane" userId="c97bbaa9-35da-4a3b-a646-d12e455ac46e" providerId="ADAL" clId="{2FF3E2E3-7818-4E76-9C63-7C10A568D9B9}" dt="2026-02-27T14:42:48.331" v="630"/>
          <ac:picMkLst>
            <pc:docMk/>
            <pc:sldMk cId="3070493056" sldId="267"/>
            <ac:picMk id="4" creationId="{96F31541-7828-F432-DB62-3D6E7C9964B8}"/>
          </ac:picMkLst>
        </pc:picChg>
      </pc:sldChg>
      <pc:sldChg chg="addSp delSp modSp mod modTransition modAnim">
        <pc:chgData name="Scott T Lane" userId="c97bbaa9-35da-4a3b-a646-d12e455ac46e" providerId="ADAL" clId="{2FF3E2E3-7818-4E76-9C63-7C10A568D9B9}" dt="2026-02-27T14:42:48.331" v="630"/>
        <pc:sldMkLst>
          <pc:docMk/>
          <pc:sldMk cId="5491391" sldId="268"/>
        </pc:sldMkLst>
        <pc:spChg chg="mod">
          <ac:chgData name="Scott T Lane" userId="c97bbaa9-35da-4a3b-a646-d12e455ac46e" providerId="ADAL" clId="{2FF3E2E3-7818-4E76-9C63-7C10A568D9B9}" dt="2026-02-26T14:56:43.146" v="227" actId="255"/>
          <ac:spMkLst>
            <pc:docMk/>
            <pc:sldMk cId="5491391" sldId="268"/>
            <ac:spMk id="6" creationId="{26DA31C5-1BB4-4AF6-941D-22FC77F901DA}"/>
          </ac:spMkLst>
        </pc:spChg>
        <pc:spChg chg="mod">
          <ac:chgData name="Scott T Lane" userId="c97bbaa9-35da-4a3b-a646-d12e455ac46e" providerId="ADAL" clId="{2FF3E2E3-7818-4E76-9C63-7C10A568D9B9}" dt="2026-02-26T14:57:27.380" v="243" actId="255"/>
          <ac:spMkLst>
            <pc:docMk/>
            <pc:sldMk cId="5491391" sldId="268"/>
            <ac:spMk id="7" creationId="{D851E8A5-7290-7CBC-E7F5-0F4D593F52C0}"/>
          </ac:spMkLst>
        </pc:spChg>
        <pc:picChg chg="add del mod">
          <ac:chgData name="Scott T Lane" userId="c97bbaa9-35da-4a3b-a646-d12e455ac46e" providerId="ADAL" clId="{2FF3E2E3-7818-4E76-9C63-7C10A568D9B9}" dt="2026-02-27T14:42:48.331" v="630"/>
          <ac:picMkLst>
            <pc:docMk/>
            <pc:sldMk cId="5491391" sldId="268"/>
            <ac:picMk id="4" creationId="{95685B34-F1A3-EA12-998A-683596D99D2F}"/>
          </ac:picMkLst>
        </pc:picChg>
      </pc:sldChg>
      <pc:sldChg chg="addSp delSp modSp mod modTransition modAnim">
        <pc:chgData name="Scott T Lane" userId="c97bbaa9-35da-4a3b-a646-d12e455ac46e" providerId="ADAL" clId="{2FF3E2E3-7818-4E76-9C63-7C10A568D9B9}" dt="2026-02-27T14:42:48.331" v="630"/>
        <pc:sldMkLst>
          <pc:docMk/>
          <pc:sldMk cId="4041571584" sldId="269"/>
        </pc:sldMkLst>
        <pc:spChg chg="mod">
          <ac:chgData name="Scott T Lane" userId="c97bbaa9-35da-4a3b-a646-d12e455ac46e" providerId="ADAL" clId="{2FF3E2E3-7818-4E76-9C63-7C10A568D9B9}" dt="2026-02-26T14:59:01.342" v="268" actId="208"/>
          <ac:spMkLst>
            <pc:docMk/>
            <pc:sldMk cId="4041571584" sldId="269"/>
            <ac:spMk id="7" creationId="{D851E8A5-7290-7CBC-E7F5-0F4D593F52C0}"/>
          </ac:spMkLst>
        </pc:spChg>
        <pc:picChg chg="mod">
          <ac:chgData name="Scott T Lane" userId="c97bbaa9-35da-4a3b-a646-d12e455ac46e" providerId="ADAL" clId="{2FF3E2E3-7818-4E76-9C63-7C10A568D9B9}" dt="2026-02-26T14:59:10.819" v="271" actId="1076"/>
          <ac:picMkLst>
            <pc:docMk/>
            <pc:sldMk cId="4041571584" sldId="269"/>
            <ac:picMk id="4" creationId="{A82FB23D-12DF-ED97-FBF8-ADCC78468EA0}"/>
          </ac:picMkLst>
        </pc:picChg>
        <pc:picChg chg="add del mod">
          <ac:chgData name="Scott T Lane" userId="c97bbaa9-35da-4a3b-a646-d12e455ac46e" providerId="ADAL" clId="{2FF3E2E3-7818-4E76-9C63-7C10A568D9B9}" dt="2026-02-27T14:42:48.331" v="630"/>
          <ac:picMkLst>
            <pc:docMk/>
            <pc:sldMk cId="4041571584" sldId="269"/>
            <ac:picMk id="5" creationId="{974D5C76-FBFF-3EC8-FBE7-5FC6E0E92CBA}"/>
          </ac:picMkLst>
        </pc:picChg>
      </pc:sldChg>
      <pc:sldChg chg="addSp delSp modSp mod modTransition modAnim">
        <pc:chgData name="Scott T Lane" userId="c97bbaa9-35da-4a3b-a646-d12e455ac46e" providerId="ADAL" clId="{2FF3E2E3-7818-4E76-9C63-7C10A568D9B9}" dt="2026-02-27T14:42:48.331" v="630"/>
        <pc:sldMkLst>
          <pc:docMk/>
          <pc:sldMk cId="3434846379" sldId="270"/>
        </pc:sldMkLst>
        <pc:spChg chg="mod">
          <ac:chgData name="Scott T Lane" userId="c97bbaa9-35da-4a3b-a646-d12e455ac46e" providerId="ADAL" clId="{2FF3E2E3-7818-4E76-9C63-7C10A568D9B9}" dt="2026-02-26T15:02:14.246" v="292" actId="14100"/>
          <ac:spMkLst>
            <pc:docMk/>
            <pc:sldMk cId="3434846379" sldId="270"/>
            <ac:spMk id="2" creationId="{E4D44C7E-4449-B53B-0C87-0505F28E2650}"/>
          </ac:spMkLst>
        </pc:spChg>
        <pc:spChg chg="mod">
          <ac:chgData name="Scott T Lane" userId="c97bbaa9-35da-4a3b-a646-d12e455ac46e" providerId="ADAL" clId="{2FF3E2E3-7818-4E76-9C63-7C10A568D9B9}" dt="2026-02-26T15:00:08.778" v="275" actId="255"/>
          <ac:spMkLst>
            <pc:docMk/>
            <pc:sldMk cId="3434846379" sldId="270"/>
            <ac:spMk id="6" creationId="{26DA31C5-1BB4-4AF6-941D-22FC77F901DA}"/>
          </ac:spMkLst>
        </pc:spChg>
        <pc:picChg chg="add del mod">
          <ac:chgData name="Scott T Lane" userId="c97bbaa9-35da-4a3b-a646-d12e455ac46e" providerId="ADAL" clId="{2FF3E2E3-7818-4E76-9C63-7C10A568D9B9}" dt="2026-02-27T14:42:48.331" v="630"/>
          <ac:picMkLst>
            <pc:docMk/>
            <pc:sldMk cId="3434846379" sldId="270"/>
            <ac:picMk id="5" creationId="{A9CD1FC1-C7BD-F184-8EFC-E40644A84C92}"/>
          </ac:picMkLst>
        </pc:picChg>
        <pc:picChg chg="add mod">
          <ac:chgData name="Scott T Lane" userId="c97bbaa9-35da-4a3b-a646-d12e455ac46e" providerId="ADAL" clId="{2FF3E2E3-7818-4E76-9C63-7C10A568D9B9}" dt="2026-02-26T15:04:29.224" v="353" actId="962"/>
          <ac:picMkLst>
            <pc:docMk/>
            <pc:sldMk cId="3434846379" sldId="270"/>
            <ac:picMk id="2050" creationId="{C0A99F64-AECD-BAC4-1971-55E725C629F9}"/>
          </ac:picMkLst>
        </pc:picChg>
      </pc:sldChg>
      <pc:sldChg chg="addSp delSp modSp mod modTransition modAnim modNotesTx">
        <pc:chgData name="Scott T Lane" userId="c97bbaa9-35da-4a3b-a646-d12e455ac46e" providerId="ADAL" clId="{2FF3E2E3-7818-4E76-9C63-7C10A568D9B9}" dt="2026-02-27T14:42:48.331" v="630"/>
        <pc:sldMkLst>
          <pc:docMk/>
          <pc:sldMk cId="1871028673" sldId="271"/>
        </pc:sldMkLst>
        <pc:spChg chg="mod">
          <ac:chgData name="Scott T Lane" userId="c97bbaa9-35da-4a3b-a646-d12e455ac46e" providerId="ADAL" clId="{2FF3E2E3-7818-4E76-9C63-7C10A568D9B9}" dt="2026-02-26T15:07:18.452" v="377" actId="255"/>
          <ac:spMkLst>
            <pc:docMk/>
            <pc:sldMk cId="1871028673" sldId="271"/>
            <ac:spMk id="6" creationId="{26DA31C5-1BB4-4AF6-941D-22FC77F901DA}"/>
          </ac:spMkLst>
        </pc:spChg>
        <pc:spChg chg="mod">
          <ac:chgData name="Scott T Lane" userId="c97bbaa9-35da-4a3b-a646-d12e455ac46e" providerId="ADAL" clId="{2FF3E2E3-7818-4E76-9C63-7C10A568D9B9}" dt="2026-02-26T15:09:44.136" v="395" actId="14100"/>
          <ac:spMkLst>
            <pc:docMk/>
            <pc:sldMk cId="1871028673" sldId="271"/>
            <ac:spMk id="7" creationId="{D851E8A5-7290-7CBC-E7F5-0F4D593F52C0}"/>
          </ac:spMkLst>
        </pc:spChg>
        <pc:picChg chg="add del mod">
          <ac:chgData name="Scott T Lane" userId="c97bbaa9-35da-4a3b-a646-d12e455ac46e" providerId="ADAL" clId="{2FF3E2E3-7818-4E76-9C63-7C10A568D9B9}" dt="2026-02-27T14:42:48.331" v="630"/>
          <ac:picMkLst>
            <pc:docMk/>
            <pc:sldMk cId="1871028673" sldId="271"/>
            <ac:picMk id="4" creationId="{22CE3DA9-A1E4-BEED-D6C7-BA2FB747275C}"/>
          </ac:picMkLst>
        </pc:picChg>
        <pc:picChg chg="add mod">
          <ac:chgData name="Scott T Lane" userId="c97bbaa9-35da-4a3b-a646-d12e455ac46e" providerId="ADAL" clId="{2FF3E2E3-7818-4E76-9C63-7C10A568D9B9}" dt="2026-02-26T15:41:18.652" v="628" actId="962"/>
          <ac:picMkLst>
            <pc:docMk/>
            <pc:sldMk cId="1871028673" sldId="271"/>
            <ac:picMk id="3074" creationId="{1271C11B-7D6D-6990-B59A-F2F2C9094460}"/>
          </ac:picMkLst>
        </pc:picChg>
      </pc:sldChg>
      <pc:sldChg chg="addSp delSp modSp mod modTransition modAnim">
        <pc:chgData name="Scott T Lane" userId="c97bbaa9-35da-4a3b-a646-d12e455ac46e" providerId="ADAL" clId="{2FF3E2E3-7818-4E76-9C63-7C10A568D9B9}" dt="2026-02-27T14:42:48.331" v="630"/>
        <pc:sldMkLst>
          <pc:docMk/>
          <pc:sldMk cId="1366767975" sldId="272"/>
        </pc:sldMkLst>
        <pc:spChg chg="mod">
          <ac:chgData name="Scott T Lane" userId="c97bbaa9-35da-4a3b-a646-d12e455ac46e" providerId="ADAL" clId="{2FF3E2E3-7818-4E76-9C63-7C10A568D9B9}" dt="2026-02-26T15:11:06.931" v="407" actId="113"/>
          <ac:spMkLst>
            <pc:docMk/>
            <pc:sldMk cId="1366767975" sldId="272"/>
            <ac:spMk id="6" creationId="{26DA31C5-1BB4-4AF6-941D-22FC77F901DA}"/>
          </ac:spMkLst>
        </pc:spChg>
        <pc:spChg chg="mod">
          <ac:chgData name="Scott T Lane" userId="c97bbaa9-35da-4a3b-a646-d12e455ac46e" providerId="ADAL" clId="{2FF3E2E3-7818-4E76-9C63-7C10A568D9B9}" dt="2026-02-26T15:11:46.451" v="424" actId="255"/>
          <ac:spMkLst>
            <pc:docMk/>
            <pc:sldMk cId="1366767975" sldId="272"/>
            <ac:spMk id="7" creationId="{D851E8A5-7290-7CBC-E7F5-0F4D593F52C0}"/>
          </ac:spMkLst>
        </pc:spChg>
        <pc:picChg chg="add del mod">
          <ac:chgData name="Scott T Lane" userId="c97bbaa9-35da-4a3b-a646-d12e455ac46e" providerId="ADAL" clId="{2FF3E2E3-7818-4E76-9C63-7C10A568D9B9}" dt="2026-02-27T14:42:48.331" v="630"/>
          <ac:picMkLst>
            <pc:docMk/>
            <pc:sldMk cId="1366767975" sldId="272"/>
            <ac:picMk id="4" creationId="{1D3327C3-61C5-3EB5-1380-CDDCA84AB010}"/>
          </ac:picMkLst>
        </pc:picChg>
      </pc:sldChg>
      <pc:sldChg chg="addSp delSp modSp mod modTransition modAnim">
        <pc:chgData name="Scott T Lane" userId="c97bbaa9-35da-4a3b-a646-d12e455ac46e" providerId="ADAL" clId="{2FF3E2E3-7818-4E76-9C63-7C10A568D9B9}" dt="2026-02-27T14:42:48.331" v="630"/>
        <pc:sldMkLst>
          <pc:docMk/>
          <pc:sldMk cId="426105666" sldId="273"/>
        </pc:sldMkLst>
        <pc:spChg chg="mod">
          <ac:chgData name="Scott T Lane" userId="c97bbaa9-35da-4a3b-a646-d12e455ac46e" providerId="ADAL" clId="{2FF3E2E3-7818-4E76-9C63-7C10A568D9B9}" dt="2026-02-26T15:12:30.651" v="429" actId="14100"/>
          <ac:spMkLst>
            <pc:docMk/>
            <pc:sldMk cId="426105666" sldId="273"/>
            <ac:spMk id="6" creationId="{26DA31C5-1BB4-4AF6-941D-22FC77F901DA}"/>
          </ac:spMkLst>
        </pc:spChg>
        <pc:spChg chg="mod">
          <ac:chgData name="Scott T Lane" userId="c97bbaa9-35da-4a3b-a646-d12e455ac46e" providerId="ADAL" clId="{2FF3E2E3-7818-4E76-9C63-7C10A568D9B9}" dt="2026-02-26T15:13:10.225" v="442" actId="27636"/>
          <ac:spMkLst>
            <pc:docMk/>
            <pc:sldMk cId="426105666" sldId="273"/>
            <ac:spMk id="7" creationId="{D851E8A5-7290-7CBC-E7F5-0F4D593F52C0}"/>
          </ac:spMkLst>
        </pc:spChg>
        <pc:picChg chg="add mod">
          <ac:chgData name="Scott T Lane" userId="c97bbaa9-35da-4a3b-a646-d12e455ac46e" providerId="ADAL" clId="{2FF3E2E3-7818-4E76-9C63-7C10A568D9B9}" dt="2026-02-26T15:13:31.364" v="444" actId="1076"/>
          <ac:picMkLst>
            <pc:docMk/>
            <pc:sldMk cId="426105666" sldId="273"/>
            <ac:picMk id="2" creationId="{46F15272-24E4-278F-903E-E0EDDC377223}"/>
          </ac:picMkLst>
        </pc:picChg>
        <pc:picChg chg="add del mod">
          <ac:chgData name="Scott T Lane" userId="c97bbaa9-35da-4a3b-a646-d12e455ac46e" providerId="ADAL" clId="{2FF3E2E3-7818-4E76-9C63-7C10A568D9B9}" dt="2026-02-27T14:42:48.331" v="630"/>
          <ac:picMkLst>
            <pc:docMk/>
            <pc:sldMk cId="426105666" sldId="273"/>
            <ac:picMk id="5" creationId="{5A4C1F3A-0E44-0F5B-9FC0-2487CE73027D}"/>
          </ac:picMkLst>
        </pc:picChg>
      </pc:sldChg>
      <pc:sldChg chg="modSp del mod">
        <pc:chgData name="Scott T Lane" userId="c97bbaa9-35da-4a3b-a646-d12e455ac46e" providerId="ADAL" clId="{2FF3E2E3-7818-4E76-9C63-7C10A568D9B9}" dt="2026-02-26T15:13:50.307" v="445" actId="47"/>
        <pc:sldMkLst>
          <pc:docMk/>
          <pc:sldMk cId="305162437" sldId="274"/>
        </pc:sldMkLst>
        <pc:spChg chg="mod">
          <ac:chgData name="Scott T Lane" userId="c97bbaa9-35da-4a3b-a646-d12e455ac46e" providerId="ADAL" clId="{2FF3E2E3-7818-4E76-9C63-7C10A568D9B9}" dt="2026-02-26T14:39:07.002" v="6" actId="27636"/>
          <ac:spMkLst>
            <pc:docMk/>
            <pc:sldMk cId="305162437" sldId="274"/>
            <ac:spMk id="7" creationId="{D851E8A5-7290-7CBC-E7F5-0F4D593F52C0}"/>
          </ac:spMkLst>
        </pc:spChg>
      </pc:sldChg>
      <pc:sldChg chg="modSp del mod">
        <pc:chgData name="Scott T Lane" userId="c97bbaa9-35da-4a3b-a646-d12e455ac46e" providerId="ADAL" clId="{2FF3E2E3-7818-4E76-9C63-7C10A568D9B9}" dt="2026-02-26T15:13:56.784" v="446" actId="47"/>
        <pc:sldMkLst>
          <pc:docMk/>
          <pc:sldMk cId="285627823" sldId="275"/>
        </pc:sldMkLst>
        <pc:spChg chg="mod">
          <ac:chgData name="Scott T Lane" userId="c97bbaa9-35da-4a3b-a646-d12e455ac46e" providerId="ADAL" clId="{2FF3E2E3-7818-4E76-9C63-7C10A568D9B9}" dt="2026-02-26T14:39:07.012" v="7" actId="27636"/>
          <ac:spMkLst>
            <pc:docMk/>
            <pc:sldMk cId="285627823" sldId="275"/>
            <ac:spMk id="7" creationId="{D851E8A5-7290-7CBC-E7F5-0F4D593F52C0}"/>
          </ac:spMkLst>
        </pc:spChg>
      </pc:sldChg>
      <pc:sldChg chg="modSp del mod">
        <pc:chgData name="Scott T Lane" userId="c97bbaa9-35da-4a3b-a646-d12e455ac46e" providerId="ADAL" clId="{2FF3E2E3-7818-4E76-9C63-7C10A568D9B9}" dt="2026-02-26T15:13:57.615" v="447" actId="47"/>
        <pc:sldMkLst>
          <pc:docMk/>
          <pc:sldMk cId="172982763" sldId="276"/>
        </pc:sldMkLst>
        <pc:spChg chg="mod">
          <ac:chgData name="Scott T Lane" userId="c97bbaa9-35da-4a3b-a646-d12e455ac46e" providerId="ADAL" clId="{2FF3E2E3-7818-4E76-9C63-7C10A568D9B9}" dt="2026-02-26T14:39:07.021" v="8" actId="27636"/>
          <ac:spMkLst>
            <pc:docMk/>
            <pc:sldMk cId="172982763" sldId="276"/>
            <ac:spMk id="7" creationId="{D851E8A5-7290-7CBC-E7F5-0F4D593F52C0}"/>
          </ac:spMkLst>
        </pc:spChg>
      </pc:sldChg>
      <pc:sldChg chg="addSp delSp modSp mod modTransition modAnim">
        <pc:chgData name="Scott T Lane" userId="c97bbaa9-35da-4a3b-a646-d12e455ac46e" providerId="ADAL" clId="{2FF3E2E3-7818-4E76-9C63-7C10A568D9B9}" dt="2026-02-27T14:42:48.331" v="630"/>
        <pc:sldMkLst>
          <pc:docMk/>
          <pc:sldMk cId="2770267811" sldId="277"/>
        </pc:sldMkLst>
        <pc:spChg chg="mod">
          <ac:chgData name="Scott T Lane" userId="c97bbaa9-35da-4a3b-a646-d12e455ac46e" providerId="ADAL" clId="{2FF3E2E3-7818-4E76-9C63-7C10A568D9B9}" dt="2026-02-26T15:14:14.629" v="455" actId="255"/>
          <ac:spMkLst>
            <pc:docMk/>
            <pc:sldMk cId="2770267811" sldId="277"/>
            <ac:spMk id="6" creationId="{26DA31C5-1BB4-4AF6-941D-22FC77F901DA}"/>
          </ac:spMkLst>
        </pc:spChg>
        <pc:spChg chg="mod">
          <ac:chgData name="Scott T Lane" userId="c97bbaa9-35da-4a3b-a646-d12e455ac46e" providerId="ADAL" clId="{2FF3E2E3-7818-4E76-9C63-7C10A568D9B9}" dt="2026-02-26T15:15:05.766" v="473" actId="27636"/>
          <ac:spMkLst>
            <pc:docMk/>
            <pc:sldMk cId="2770267811" sldId="277"/>
            <ac:spMk id="7" creationId="{D851E8A5-7290-7CBC-E7F5-0F4D593F52C0}"/>
          </ac:spMkLst>
        </pc:spChg>
        <pc:picChg chg="add del mod">
          <ac:chgData name="Scott T Lane" userId="c97bbaa9-35da-4a3b-a646-d12e455ac46e" providerId="ADAL" clId="{2FF3E2E3-7818-4E76-9C63-7C10A568D9B9}" dt="2026-02-27T14:42:48.331" v="630"/>
          <ac:picMkLst>
            <pc:docMk/>
            <pc:sldMk cId="2770267811" sldId="277"/>
            <ac:picMk id="4" creationId="{A00F401D-0858-569F-B39F-B30C58518634}"/>
          </ac:picMkLst>
        </pc:picChg>
      </pc:sldChg>
      <pc:sldChg chg="addSp delSp modSp mod modTransition modAnim">
        <pc:chgData name="Scott T Lane" userId="c97bbaa9-35da-4a3b-a646-d12e455ac46e" providerId="ADAL" clId="{2FF3E2E3-7818-4E76-9C63-7C10A568D9B9}" dt="2026-02-27T14:42:48.331" v="630"/>
        <pc:sldMkLst>
          <pc:docMk/>
          <pc:sldMk cId="3603901265" sldId="278"/>
        </pc:sldMkLst>
        <pc:spChg chg="mod">
          <ac:chgData name="Scott T Lane" userId="c97bbaa9-35da-4a3b-a646-d12e455ac46e" providerId="ADAL" clId="{2FF3E2E3-7818-4E76-9C63-7C10A568D9B9}" dt="2026-02-26T15:16:02.371" v="478" actId="255"/>
          <ac:spMkLst>
            <pc:docMk/>
            <pc:sldMk cId="3603901265" sldId="278"/>
            <ac:spMk id="6" creationId="{26DA31C5-1BB4-4AF6-941D-22FC77F901DA}"/>
          </ac:spMkLst>
        </pc:spChg>
        <pc:spChg chg="mod">
          <ac:chgData name="Scott T Lane" userId="c97bbaa9-35da-4a3b-a646-d12e455ac46e" providerId="ADAL" clId="{2FF3E2E3-7818-4E76-9C63-7C10A568D9B9}" dt="2026-02-26T15:18:04.281" v="531" actId="20577"/>
          <ac:spMkLst>
            <pc:docMk/>
            <pc:sldMk cId="3603901265" sldId="278"/>
            <ac:spMk id="7" creationId="{D851E8A5-7290-7CBC-E7F5-0F4D593F52C0}"/>
          </ac:spMkLst>
        </pc:spChg>
        <pc:picChg chg="add del mod">
          <ac:chgData name="Scott T Lane" userId="c97bbaa9-35da-4a3b-a646-d12e455ac46e" providerId="ADAL" clId="{2FF3E2E3-7818-4E76-9C63-7C10A568D9B9}" dt="2026-02-27T14:42:48.331" v="630"/>
          <ac:picMkLst>
            <pc:docMk/>
            <pc:sldMk cId="3603901265" sldId="278"/>
            <ac:picMk id="4" creationId="{B57D8BE2-707B-492E-8A85-8E265CB5E0ED}"/>
          </ac:picMkLst>
        </pc:picChg>
      </pc:sldChg>
      <pc:sldChg chg="del">
        <pc:chgData name="Scott T Lane" userId="c97bbaa9-35da-4a3b-a646-d12e455ac46e" providerId="ADAL" clId="{2FF3E2E3-7818-4E76-9C63-7C10A568D9B9}" dt="2026-02-26T15:19:51.620" v="532" actId="47"/>
        <pc:sldMkLst>
          <pc:docMk/>
          <pc:sldMk cId="2927711346" sldId="279"/>
        </pc:sldMkLst>
      </pc:sldChg>
      <pc:sldChg chg="addSp delSp modSp mod modTransition modAnim">
        <pc:chgData name="Scott T Lane" userId="c97bbaa9-35da-4a3b-a646-d12e455ac46e" providerId="ADAL" clId="{2FF3E2E3-7818-4E76-9C63-7C10A568D9B9}" dt="2026-02-27T14:42:48.331" v="630"/>
        <pc:sldMkLst>
          <pc:docMk/>
          <pc:sldMk cId="3393884490" sldId="280"/>
        </pc:sldMkLst>
        <pc:spChg chg="mod">
          <ac:chgData name="Scott T Lane" userId="c97bbaa9-35da-4a3b-a646-d12e455ac46e" providerId="ADAL" clId="{2FF3E2E3-7818-4E76-9C63-7C10A568D9B9}" dt="2026-02-26T15:20:02.696" v="535" actId="113"/>
          <ac:spMkLst>
            <pc:docMk/>
            <pc:sldMk cId="3393884490" sldId="280"/>
            <ac:spMk id="6" creationId="{26DA31C5-1BB4-4AF6-941D-22FC77F901DA}"/>
          </ac:spMkLst>
        </pc:spChg>
        <pc:spChg chg="mod">
          <ac:chgData name="Scott T Lane" userId="c97bbaa9-35da-4a3b-a646-d12e455ac46e" providerId="ADAL" clId="{2FF3E2E3-7818-4E76-9C63-7C10A568D9B9}" dt="2026-02-26T15:21:09.682" v="562" actId="27636"/>
          <ac:spMkLst>
            <pc:docMk/>
            <pc:sldMk cId="3393884490" sldId="280"/>
            <ac:spMk id="7" creationId="{D851E8A5-7290-7CBC-E7F5-0F4D593F52C0}"/>
          </ac:spMkLst>
        </pc:spChg>
        <pc:picChg chg="add mod">
          <ac:chgData name="Scott T Lane" userId="c97bbaa9-35da-4a3b-a646-d12e455ac46e" providerId="ADAL" clId="{2FF3E2E3-7818-4E76-9C63-7C10A568D9B9}" dt="2026-02-26T15:21:13.701" v="563" actId="1076"/>
          <ac:picMkLst>
            <pc:docMk/>
            <pc:sldMk cId="3393884490" sldId="280"/>
            <ac:picMk id="2" creationId="{371A9169-B598-6A9C-04ED-EE90AF16CAE0}"/>
          </ac:picMkLst>
        </pc:picChg>
        <pc:picChg chg="add del mod">
          <ac:chgData name="Scott T Lane" userId="c97bbaa9-35da-4a3b-a646-d12e455ac46e" providerId="ADAL" clId="{2FF3E2E3-7818-4E76-9C63-7C10A568D9B9}" dt="2026-02-27T14:42:48.331" v="630"/>
          <ac:picMkLst>
            <pc:docMk/>
            <pc:sldMk cId="3393884490" sldId="280"/>
            <ac:picMk id="5" creationId="{C275C201-1926-56DB-C9E3-2CDCFB1E8CD3}"/>
          </ac:picMkLst>
        </pc:picChg>
      </pc:sldChg>
      <pc:sldChg chg="modSp del mod">
        <pc:chgData name="Scott T Lane" userId="c97bbaa9-35da-4a3b-a646-d12e455ac46e" providerId="ADAL" clId="{2FF3E2E3-7818-4E76-9C63-7C10A568D9B9}" dt="2026-02-26T15:21:39.205" v="564" actId="47"/>
        <pc:sldMkLst>
          <pc:docMk/>
          <pc:sldMk cId="1324658856" sldId="281"/>
        </pc:sldMkLst>
        <pc:spChg chg="mod">
          <ac:chgData name="Scott T Lane" userId="c97bbaa9-35da-4a3b-a646-d12e455ac46e" providerId="ADAL" clId="{2FF3E2E3-7818-4E76-9C63-7C10A568D9B9}" dt="2026-02-26T14:39:07.049" v="10" actId="27636"/>
          <ac:spMkLst>
            <pc:docMk/>
            <pc:sldMk cId="1324658856" sldId="281"/>
            <ac:spMk id="7" creationId="{D851E8A5-7290-7CBC-E7F5-0F4D593F52C0}"/>
          </ac:spMkLst>
        </pc:spChg>
      </pc:sldChg>
      <pc:sldChg chg="addSp delSp modSp mod modTransition modAnim">
        <pc:chgData name="Scott T Lane" userId="c97bbaa9-35da-4a3b-a646-d12e455ac46e" providerId="ADAL" clId="{2FF3E2E3-7818-4E76-9C63-7C10A568D9B9}" dt="2026-02-27T14:42:48.331" v="630"/>
        <pc:sldMkLst>
          <pc:docMk/>
          <pc:sldMk cId="1704250986" sldId="282"/>
        </pc:sldMkLst>
        <pc:spChg chg="mod">
          <ac:chgData name="Scott T Lane" userId="c97bbaa9-35da-4a3b-a646-d12e455ac46e" providerId="ADAL" clId="{2FF3E2E3-7818-4E76-9C63-7C10A568D9B9}" dt="2026-02-26T15:05:50.542" v="372" actId="255"/>
          <ac:spMkLst>
            <pc:docMk/>
            <pc:sldMk cId="1704250986" sldId="282"/>
            <ac:spMk id="2" creationId="{A543560B-B12A-C3F5-505B-3D87EA1F3DC7}"/>
          </ac:spMkLst>
        </pc:spChg>
        <pc:spChg chg="mod">
          <ac:chgData name="Scott T Lane" userId="c97bbaa9-35da-4a3b-a646-d12e455ac46e" providerId="ADAL" clId="{2FF3E2E3-7818-4E76-9C63-7C10A568D9B9}" dt="2026-02-26T15:04:55.300" v="357" actId="113"/>
          <ac:spMkLst>
            <pc:docMk/>
            <pc:sldMk cId="1704250986" sldId="282"/>
            <ac:spMk id="6" creationId="{BAD39D90-8482-83FB-5D63-36DA3A4B9970}"/>
          </ac:spMkLst>
        </pc:spChg>
        <pc:picChg chg="add del mod">
          <ac:chgData name="Scott T Lane" userId="c97bbaa9-35da-4a3b-a646-d12e455ac46e" providerId="ADAL" clId="{2FF3E2E3-7818-4E76-9C63-7C10A568D9B9}" dt="2026-02-27T14:42:48.331" v="630"/>
          <ac:picMkLst>
            <pc:docMk/>
            <pc:sldMk cId="1704250986" sldId="282"/>
            <ac:picMk id="5" creationId="{B327CD2F-768B-350E-209C-A6D181B86A7B}"/>
          </ac:picMkLst>
        </pc:picChg>
      </pc:sldChg>
      <pc:sldChg chg="addSp delSp modSp new mod ord modTransition modAnim">
        <pc:chgData name="Scott T Lane" userId="c97bbaa9-35da-4a3b-a646-d12e455ac46e" providerId="ADAL" clId="{2FF3E2E3-7818-4E76-9C63-7C10A568D9B9}" dt="2026-02-27T14:42:48.331" v="630"/>
        <pc:sldMkLst>
          <pc:docMk/>
          <pc:sldMk cId="460999367" sldId="283"/>
        </pc:sldMkLst>
        <pc:spChg chg="mod">
          <ac:chgData name="Scott T Lane" userId="c97bbaa9-35da-4a3b-a646-d12e455ac46e" providerId="ADAL" clId="{2FF3E2E3-7818-4E76-9C63-7C10A568D9B9}" dt="2026-02-26T15:22:14.343" v="574" actId="113"/>
          <ac:spMkLst>
            <pc:docMk/>
            <pc:sldMk cId="460999367" sldId="283"/>
            <ac:spMk id="2" creationId="{B4ACAAD9-6309-72CE-B878-454DD1A9B2BD}"/>
          </ac:spMkLst>
        </pc:spChg>
        <pc:spChg chg="mod">
          <ac:chgData name="Scott T Lane" userId="c97bbaa9-35da-4a3b-a646-d12e455ac46e" providerId="ADAL" clId="{2FF3E2E3-7818-4E76-9C63-7C10A568D9B9}" dt="2026-02-26T15:22:55.885" v="592" actId="14100"/>
          <ac:spMkLst>
            <pc:docMk/>
            <pc:sldMk cId="460999367" sldId="283"/>
            <ac:spMk id="3" creationId="{87A1DBBC-216E-C320-426C-CD178CF25755}"/>
          </ac:spMkLst>
        </pc:spChg>
        <pc:spChg chg="del">
          <ac:chgData name="Scott T Lane" userId="c97bbaa9-35da-4a3b-a646-d12e455ac46e" providerId="ADAL" clId="{2FF3E2E3-7818-4E76-9C63-7C10A568D9B9}" dt="2026-02-26T15:21:53.597" v="566" actId="478"/>
          <ac:spMkLst>
            <pc:docMk/>
            <pc:sldMk cId="460999367" sldId="283"/>
            <ac:spMk id="4" creationId="{7500D226-4E1F-ADC2-2551-C382FEC9DB43}"/>
          </ac:spMkLst>
        </pc:spChg>
        <pc:picChg chg="add del mod">
          <ac:chgData name="Scott T Lane" userId="c97bbaa9-35da-4a3b-a646-d12e455ac46e" providerId="ADAL" clId="{2FF3E2E3-7818-4E76-9C63-7C10A568D9B9}" dt="2026-02-27T14:42:48.331" v="630"/>
          <ac:picMkLst>
            <pc:docMk/>
            <pc:sldMk cId="460999367" sldId="283"/>
            <ac:picMk id="6" creationId="{5E35D0A3-482E-E9BB-38C6-9F3475677ED0}"/>
          </ac:picMkLst>
        </pc:picChg>
      </pc:sldChg>
      <pc:sldChg chg="del">
        <pc:chgData name="Scott T Lane" userId="c97bbaa9-35da-4a3b-a646-d12e455ac46e" providerId="ADAL" clId="{2FF3E2E3-7818-4E76-9C63-7C10A568D9B9}" dt="2026-02-26T15:06:57.095" v="373" actId="47"/>
        <pc:sldMkLst>
          <pc:docMk/>
          <pc:sldMk cId="820867546" sldId="283"/>
        </pc:sldMkLst>
      </pc:sldChg>
      <pc:sldChg chg="addSp delSp modSp new mod modTransition modAnim">
        <pc:chgData name="Scott T Lane" userId="c97bbaa9-35da-4a3b-a646-d12e455ac46e" providerId="ADAL" clId="{2FF3E2E3-7818-4E76-9C63-7C10A568D9B9}" dt="2026-02-27T14:42:48.331" v="630"/>
        <pc:sldMkLst>
          <pc:docMk/>
          <pc:sldMk cId="1510551212" sldId="284"/>
        </pc:sldMkLst>
        <pc:spChg chg="mod">
          <ac:chgData name="Scott T Lane" userId="c97bbaa9-35da-4a3b-a646-d12e455ac46e" providerId="ADAL" clId="{2FF3E2E3-7818-4E76-9C63-7C10A568D9B9}" dt="2026-02-26T15:23:32.743" v="610" actId="255"/>
          <ac:spMkLst>
            <pc:docMk/>
            <pc:sldMk cId="1510551212" sldId="284"/>
            <ac:spMk id="2" creationId="{0D44A189-21D1-24EC-2EC5-1BCCE367BC81}"/>
          </ac:spMkLst>
        </pc:spChg>
        <pc:spChg chg="mod">
          <ac:chgData name="Scott T Lane" userId="c97bbaa9-35da-4a3b-a646-d12e455ac46e" providerId="ADAL" clId="{2FF3E2E3-7818-4E76-9C63-7C10A568D9B9}" dt="2026-02-26T15:24:11.337" v="623" actId="255"/>
          <ac:spMkLst>
            <pc:docMk/>
            <pc:sldMk cId="1510551212" sldId="284"/>
            <ac:spMk id="3" creationId="{5E571476-FD21-954B-54C0-1441FA223630}"/>
          </ac:spMkLst>
        </pc:spChg>
        <pc:spChg chg="del">
          <ac:chgData name="Scott T Lane" userId="c97bbaa9-35da-4a3b-a646-d12e455ac46e" providerId="ADAL" clId="{2FF3E2E3-7818-4E76-9C63-7C10A568D9B9}" dt="2026-02-26T15:23:35.525" v="611" actId="478"/>
          <ac:spMkLst>
            <pc:docMk/>
            <pc:sldMk cId="1510551212" sldId="284"/>
            <ac:spMk id="4" creationId="{E9F3B02A-F9CE-A201-172E-5936921B3C0A}"/>
          </ac:spMkLst>
        </pc:spChg>
        <pc:picChg chg="add del mod">
          <ac:chgData name="Scott T Lane" userId="c97bbaa9-35da-4a3b-a646-d12e455ac46e" providerId="ADAL" clId="{2FF3E2E3-7818-4E76-9C63-7C10A568D9B9}" dt="2026-02-27T14:42:48.331" v="630"/>
          <ac:picMkLst>
            <pc:docMk/>
            <pc:sldMk cId="1510551212" sldId="284"/>
            <ac:picMk id="6" creationId="{B63135BB-B070-6C84-3650-7E13880DC4FF}"/>
          </ac:picMkLst>
        </pc:picChg>
      </pc:sldChg>
      <pc:sldMasterChg chg="modSp">
        <pc:chgData name="Scott T Lane" userId="c97bbaa9-35da-4a3b-a646-d12e455ac46e" providerId="ADAL" clId="{2FF3E2E3-7818-4E76-9C63-7C10A568D9B9}" dt="2026-02-26T14:42:34.745" v="26" actId="12"/>
        <pc:sldMasterMkLst>
          <pc:docMk/>
          <pc:sldMasterMk cId="756542821" sldId="2147483692"/>
        </pc:sldMasterMkLst>
        <pc:spChg chg="mod">
          <ac:chgData name="Scott T Lane" userId="c97bbaa9-35da-4a3b-a646-d12e455ac46e" providerId="ADAL" clId="{2FF3E2E3-7818-4E76-9C63-7C10A568D9B9}" dt="2026-02-26T14:42:34.745" v="26" actId="12"/>
          <ac:spMkLst>
            <pc:docMk/>
            <pc:sldMasterMk cId="756542821" sldId="2147483692"/>
            <ac:spMk id="3"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Chapter 12 on Environmental Protection and Negative Externalities. This chapter explores one of the most important applications of microeconomic theory: how we balance economic growth with environmental quality. We'll see how markets sometimes fail to account for pollution costs, and examine both traditional government regulations and innovative market-based solutions. Think of this as answering the question: "Who pays for clean air and water, and what's the most efficient way to achieve it?"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262922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Think of environmental progress like renovating an old house—you've fixed the roof and foundation, but there's still work to do on the plumbing and electrical. Since 1970, America has made remarkable progress: coal emissions dropped 66% even as our population and economy grew dramatically. This is like running faster while getting lighter—normally you'd expect the opposite! But we still face significant challenges. The job isn't done; we've just moved from emergency crisis management to long-term maintenance and improvement.</a:t>
            </a:r>
          </a:p>
          <a:p>
            <a:r>
              <a:rPr lang="en-US" sz="1200" b="1" i="0" kern="1200" dirty="0">
                <a:solidFill>
                  <a:schemeClr val="tx1"/>
                </a:solidFill>
                <a:effectLst/>
                <a:latin typeface="+mn-lt"/>
                <a:ea typeface="+mn-ea"/>
                <a:cs typeface="+mn-cs"/>
              </a:rPr>
              <a:t>Analogy</a:t>
            </a:r>
            <a:r>
              <a:rPr lang="en-US" sz="1200" b="0" i="0" kern="1200" dirty="0">
                <a:solidFill>
                  <a:schemeClr val="tx1"/>
                </a:solidFill>
                <a:effectLst/>
                <a:latin typeface="+mn-lt"/>
                <a:ea typeface="+mn-ea"/>
                <a:cs typeface="+mn-cs"/>
              </a:rPr>
              <a:t>: The U.S. economy is like a car that's been upgraded from belching black smoke to running much cleaner, but we're still not at zero emissions. Progress, not perfection.</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4272444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Externalities are like economic "secondhand smoke"—someone else's transaction affects you even though you had no say in it. Imagine you're trying to sleep, and your neighbor throws a loud party. The neighbor and their guests are happy (they made a voluntary exchange: host provides space, guests bring fun), but you're suffering. That's a negative externality—you're the third party bearing a cost you didn't agree to.</a:t>
            </a:r>
          </a:p>
          <a:p>
            <a:r>
              <a:rPr lang="en-US" sz="1200" b="1" i="0" kern="1200" dirty="0">
                <a:solidFill>
                  <a:schemeClr val="tx1"/>
                </a:solidFill>
                <a:effectLst/>
                <a:latin typeface="+mn-lt"/>
                <a:ea typeface="+mn-ea"/>
                <a:cs typeface="+mn-cs"/>
              </a:rPr>
              <a:t>Classroom analogy</a:t>
            </a:r>
            <a:r>
              <a:rPr lang="en-US" sz="1200" b="0" i="0" kern="1200" dirty="0">
                <a:solidFill>
                  <a:schemeClr val="tx1"/>
                </a:solidFill>
                <a:effectLst/>
                <a:latin typeface="+mn-lt"/>
                <a:ea typeface="+mn-ea"/>
                <a:cs typeface="+mn-cs"/>
              </a:rPr>
              <a:t>: When someone wears strong cologne in class, everyone else experiences an externality—positive if you like the scent, negative if you don't. The wearer made a personal choice, but it spills over to others.</a:t>
            </a:r>
          </a:p>
          <a:p>
            <a:r>
              <a:rPr lang="en-US" sz="1200" b="0" i="0" kern="1200" dirty="0">
                <a:solidFill>
                  <a:schemeClr val="tx1"/>
                </a:solidFill>
                <a:effectLst/>
                <a:latin typeface="+mn-lt"/>
                <a:ea typeface="+mn-ea"/>
                <a:cs typeface="+mn-cs"/>
              </a:rPr>
              <a:t>The key insight: markets are excellent at coordinating exchanges between buyers and sellers, but they often ignore effects on third parties. That's where problems begin.</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3284270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Here's the fundamental problem: When a refrigerator factory produces, it pays for labor, materials, and electricity—those are </a:t>
            </a:r>
            <a:r>
              <a:rPr lang="en-US" sz="1200" b="0" i="1" kern="1200" dirty="0">
                <a:solidFill>
                  <a:schemeClr val="tx1"/>
                </a:solidFill>
                <a:effectLst/>
                <a:latin typeface="+mn-lt"/>
                <a:ea typeface="+mn-ea"/>
                <a:cs typeface="+mn-cs"/>
              </a:rPr>
              <a:t>private costs</a:t>
            </a:r>
            <a:r>
              <a:rPr lang="en-US" sz="1200" b="0" i="0" kern="1200" dirty="0">
                <a:solidFill>
                  <a:schemeClr val="tx1"/>
                </a:solidFill>
                <a:effectLst/>
                <a:latin typeface="+mn-lt"/>
                <a:ea typeface="+mn-ea"/>
                <a:cs typeface="+mn-cs"/>
              </a:rPr>
              <a:t>. But if it also emits pollutants that give nearby residents asthma, that's an </a:t>
            </a:r>
            <a:r>
              <a:rPr lang="en-US" sz="1200" b="0" i="1" kern="1200" dirty="0">
                <a:solidFill>
                  <a:schemeClr val="tx1"/>
                </a:solidFill>
                <a:effectLst/>
                <a:latin typeface="+mn-lt"/>
                <a:ea typeface="+mn-ea"/>
                <a:cs typeface="+mn-cs"/>
              </a:rPr>
              <a:t>external cost</a:t>
            </a:r>
            <a:r>
              <a:rPr lang="en-US" sz="1200" b="0" i="0" kern="1200" dirty="0">
                <a:solidFill>
                  <a:schemeClr val="tx1"/>
                </a:solidFill>
                <a:effectLst/>
                <a:latin typeface="+mn-lt"/>
                <a:ea typeface="+mn-ea"/>
                <a:cs typeface="+mn-cs"/>
              </a:rPr>
              <a:t>. The factory doesn't pay that cost; the residents do through medical bills and suffering.</a:t>
            </a:r>
          </a:p>
          <a:p>
            <a:r>
              <a:rPr lang="en-US" sz="1200" b="1" i="0" kern="1200" dirty="0">
                <a:solidFill>
                  <a:schemeClr val="tx1"/>
                </a:solidFill>
                <a:effectLst/>
                <a:latin typeface="+mn-lt"/>
                <a:ea typeface="+mn-ea"/>
                <a:cs typeface="+mn-cs"/>
              </a:rPr>
              <a:t>Powerful analogy</a:t>
            </a:r>
            <a:r>
              <a:rPr lang="en-US" sz="1200" b="0" i="0" kern="1200" dirty="0">
                <a:solidFill>
                  <a:schemeClr val="tx1"/>
                </a:solidFill>
                <a:effectLst/>
                <a:latin typeface="+mn-lt"/>
                <a:ea typeface="+mn-ea"/>
                <a:cs typeface="+mn-cs"/>
              </a:rPr>
              <a:t>: Imagine you're at a restaurant and you can order food, but someone else gets stuck with part of your bill. You'd probably order more food than if you paid the full price yourself! That's exactly what polluting firms do when they don't pay external costs—they "order" too much production because they're not paying the full "bill."</a:t>
            </a:r>
          </a:p>
          <a:p>
            <a:r>
              <a:rPr lang="en-US" sz="1200" b="0" i="1" kern="1200" dirty="0">
                <a:solidFill>
                  <a:schemeClr val="tx1"/>
                </a:solidFill>
                <a:effectLst/>
                <a:latin typeface="+mn-lt"/>
                <a:ea typeface="+mn-ea"/>
                <a:cs typeface="+mn-cs"/>
              </a:rPr>
              <a:t>Social costs</a:t>
            </a:r>
            <a:r>
              <a:rPr lang="en-US" sz="1200" b="0" i="0" kern="1200" dirty="0">
                <a:solidFill>
                  <a:schemeClr val="tx1"/>
                </a:solidFill>
                <a:effectLst/>
                <a:latin typeface="+mn-lt"/>
                <a:ea typeface="+mn-ea"/>
                <a:cs typeface="+mn-cs"/>
              </a:rPr>
              <a:t> are simply the complete bill: what the firm pays PLUS what society pays. Efficient markets require that decision-makers face the full costs of their choices.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2941842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graph tells the pollution story in economic terms. Initially, firms consider only private costs, producing 45,000 refrigerators at $650 each (point E₀). But each refrigerator creates $100 in pollution damage. When we force firms to account for this—maybe through regulation or taxes—it's like adding $100 to their production cost. The supply curve shifts upward (leftward) because production just got more expensive.</a:t>
            </a:r>
          </a:p>
          <a:p>
            <a:r>
              <a:rPr lang="en-US" sz="1200" b="0" i="0" kern="1200" dirty="0">
                <a:solidFill>
                  <a:schemeClr val="tx1"/>
                </a:solidFill>
                <a:effectLst/>
                <a:latin typeface="+mn-lt"/>
                <a:ea typeface="+mn-ea"/>
                <a:cs typeface="+mn-cs"/>
              </a:rPr>
              <a:t>At the new equilibrium (E₁), price rises to $700 and quantity falls to 40,000. Notice what happened: consumers pay more, firms produce less, and pollution decreases. The market is now telling the truth about the real cost of refrigerators.</a:t>
            </a:r>
          </a:p>
          <a:p>
            <a:r>
              <a:rPr lang="en-US" sz="1200" b="1" i="0" kern="1200" dirty="0">
                <a:solidFill>
                  <a:schemeClr val="tx1"/>
                </a:solidFill>
                <a:effectLst/>
                <a:latin typeface="+mn-lt"/>
                <a:ea typeface="+mn-ea"/>
                <a:cs typeface="+mn-cs"/>
              </a:rPr>
              <a:t>Think of it this way</a:t>
            </a:r>
            <a:r>
              <a:rPr lang="en-US" sz="1200" b="0" i="0" kern="1200" dirty="0">
                <a:solidFill>
                  <a:schemeClr val="tx1"/>
                </a:solidFill>
                <a:effectLst/>
                <a:latin typeface="+mn-lt"/>
                <a:ea typeface="+mn-ea"/>
                <a:cs typeface="+mn-cs"/>
              </a:rPr>
              <a:t>: Previously, refrigerators were "on sale" because society was subsidizing them by accepting free pollution. Now they're full price, and we naturally buy fewer.</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2194806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Market failure is like a broken thermostat—the signal is wrong, so you get the wrong temperature. Normal markets are brilliant: prices act as signals that coordinate millions of decisions. But when externalities exist, prices lie. They don't reflect true costs.</a:t>
            </a:r>
          </a:p>
          <a:p>
            <a:r>
              <a:rPr lang="en-US" sz="1200" b="0" i="0" kern="1200" dirty="0">
                <a:solidFill>
                  <a:schemeClr val="tx1"/>
                </a:solidFill>
                <a:effectLst/>
                <a:latin typeface="+mn-lt"/>
                <a:ea typeface="+mn-ea"/>
                <a:cs typeface="+mn-cs"/>
              </a:rPr>
              <a:t>Without intervention, polluting firms produce where </a:t>
            </a:r>
            <a:r>
              <a:rPr lang="en-US" sz="1200" b="0" i="1" kern="1200" dirty="0">
                <a:solidFill>
                  <a:schemeClr val="tx1"/>
                </a:solidFill>
                <a:effectLst/>
                <a:latin typeface="+mn-lt"/>
                <a:ea typeface="+mn-ea"/>
                <a:cs typeface="+mn-cs"/>
              </a:rPr>
              <a:t>private</a:t>
            </a:r>
            <a:r>
              <a:rPr lang="en-US" sz="1200" b="0" i="0" kern="1200" dirty="0">
                <a:solidFill>
                  <a:schemeClr val="tx1"/>
                </a:solidFill>
                <a:effectLst/>
                <a:latin typeface="+mn-lt"/>
                <a:ea typeface="+mn-ea"/>
                <a:cs typeface="+mn-cs"/>
              </a:rPr>
              <a:t> marginal cost equals demand, but </a:t>
            </a:r>
            <a:r>
              <a:rPr lang="en-US" sz="1200" b="0" i="1" kern="1200" dirty="0">
                <a:solidFill>
                  <a:schemeClr val="tx1"/>
                </a:solidFill>
                <a:effectLst/>
                <a:latin typeface="+mn-lt"/>
                <a:ea typeface="+mn-ea"/>
                <a:cs typeface="+mn-cs"/>
              </a:rPr>
              <a:t>social</a:t>
            </a:r>
            <a:r>
              <a:rPr lang="en-US" sz="1200" b="0" i="0" kern="1200" dirty="0">
                <a:solidFill>
                  <a:schemeClr val="tx1"/>
                </a:solidFill>
                <a:effectLst/>
                <a:latin typeface="+mn-lt"/>
                <a:ea typeface="+mn-ea"/>
                <a:cs typeface="+mn-cs"/>
              </a:rPr>
              <a:t> efficiency requires producing where </a:t>
            </a:r>
            <a:r>
              <a:rPr lang="en-US" sz="1200" b="0" i="1" kern="1200" dirty="0">
                <a:solidFill>
                  <a:schemeClr val="tx1"/>
                </a:solidFill>
                <a:effectLst/>
                <a:latin typeface="+mn-lt"/>
                <a:ea typeface="+mn-ea"/>
                <a:cs typeface="+mn-cs"/>
              </a:rPr>
              <a:t>social</a:t>
            </a:r>
            <a:r>
              <a:rPr lang="en-US" sz="1200" b="0" i="0" kern="1200" dirty="0">
                <a:solidFill>
                  <a:schemeClr val="tx1"/>
                </a:solidFill>
                <a:effectLst/>
                <a:latin typeface="+mn-lt"/>
                <a:ea typeface="+mn-ea"/>
                <a:cs typeface="+mn-cs"/>
              </a:rPr>
              <a:t> marginal cost equals demand. The gap between these two points is the market failure—we get too much production and too much pollution.</a:t>
            </a:r>
          </a:p>
          <a:p>
            <a:r>
              <a:rPr lang="en-US" sz="1200" b="1" i="0" kern="1200" dirty="0">
                <a:solidFill>
                  <a:schemeClr val="tx1"/>
                </a:solidFill>
                <a:effectLst/>
                <a:latin typeface="+mn-lt"/>
                <a:ea typeface="+mn-ea"/>
                <a:cs typeface="+mn-cs"/>
              </a:rPr>
              <a:t>Analogy for students</a:t>
            </a:r>
            <a:r>
              <a:rPr lang="en-US" sz="1200" b="0" i="0" kern="1200" dirty="0">
                <a:solidFill>
                  <a:schemeClr val="tx1"/>
                </a:solidFill>
                <a:effectLst/>
                <a:latin typeface="+mn-lt"/>
                <a:ea typeface="+mn-ea"/>
                <a:cs typeface="+mn-cs"/>
              </a:rPr>
              <a:t>: Imagine if your bank account only showed half your spending. You'd overspend! That's what happens when firms only see private costs—they "overspend" on production.</a:t>
            </a:r>
          </a:p>
          <a:p>
            <a:r>
              <a:rPr lang="en-US" sz="1200" b="0" i="0" kern="1200" dirty="0">
                <a:solidFill>
                  <a:schemeClr val="tx1"/>
                </a:solidFill>
                <a:effectLst/>
                <a:latin typeface="+mn-lt"/>
                <a:ea typeface="+mn-ea"/>
                <a:cs typeface="+mn-cs"/>
              </a:rPr>
              <a:t>The solution isn't to ban production, but to fix the price signal by making firms account for external costs. This naturally leads them to produce the socially optimal amount.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916548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Command-and-control is the "parent telling child what to do" approach to regulation. The government says: "You can emit only X tons per year" or "You must install this specific scrubber on your smokestack." It's direct, simple, and was necessary in the 1970s when pollution was so bad that Ohio's Cuyahoga River literally caught fire.</a:t>
            </a:r>
          </a:p>
          <a:p>
            <a:r>
              <a:rPr lang="en-US" sz="1200" b="0" i="0" kern="1200" dirty="0">
                <a:solidFill>
                  <a:schemeClr val="tx1"/>
                </a:solidFill>
                <a:effectLst/>
                <a:latin typeface="+mn-lt"/>
                <a:ea typeface="+mn-ea"/>
                <a:cs typeface="+mn-cs"/>
              </a:rPr>
              <a:t>This approach has been </a:t>
            </a:r>
            <a:r>
              <a:rPr lang="en-US" sz="1200" b="0" i="1" kern="1200" dirty="0">
                <a:solidFill>
                  <a:schemeClr val="tx1"/>
                </a:solidFill>
                <a:effectLst/>
                <a:latin typeface="+mn-lt"/>
                <a:ea typeface="+mn-ea"/>
                <a:cs typeface="+mn-cs"/>
              </a:rPr>
              <a:t>highly successful</a:t>
            </a:r>
            <a:r>
              <a:rPr lang="en-US" sz="1200" b="0" i="0" kern="1200" dirty="0">
                <a:solidFill>
                  <a:schemeClr val="tx1"/>
                </a:solidFill>
                <a:effectLst/>
                <a:latin typeface="+mn-lt"/>
                <a:ea typeface="+mn-ea"/>
                <a:cs typeface="+mn-cs"/>
              </a:rPr>
              <a:t>—America's air and water are dramatically cleaner than 50 years ago. The EPA was created in 1970 specifically to enforce these rules. Without these laws, we'd likely still have rivers catching fire and cities where you need headlights at noon because of smog.</a:t>
            </a:r>
          </a:p>
          <a:p>
            <a:r>
              <a:rPr lang="en-US" sz="1200" b="1" i="0" kern="1200" dirty="0">
                <a:solidFill>
                  <a:schemeClr val="tx1"/>
                </a:solidFill>
                <a:effectLst/>
                <a:latin typeface="+mn-lt"/>
                <a:ea typeface="+mn-ea"/>
                <a:cs typeface="+mn-cs"/>
              </a:rPr>
              <a:t>Analogy</a:t>
            </a:r>
            <a:r>
              <a:rPr lang="en-US" sz="1200" b="0" i="0" kern="1200" dirty="0">
                <a:solidFill>
                  <a:schemeClr val="tx1"/>
                </a:solidFill>
                <a:effectLst/>
                <a:latin typeface="+mn-lt"/>
                <a:ea typeface="+mn-ea"/>
                <a:cs typeface="+mn-cs"/>
              </a:rPr>
              <a:t>: Command-and-control is like a strict building code that says every house must have smoke detectors in specific locations. It works, everyone knows the rules, and it's easy to enforce.</a:t>
            </a:r>
          </a:p>
          <a:p>
            <a:r>
              <a:rPr lang="en-US" sz="1200" b="0" i="0" kern="1200" dirty="0">
                <a:solidFill>
                  <a:schemeClr val="tx1"/>
                </a:solidFill>
                <a:effectLst/>
                <a:latin typeface="+mn-lt"/>
                <a:ea typeface="+mn-ea"/>
                <a:cs typeface="+mn-cs"/>
              </a:rPr>
              <a:t>But as we'll see next, this approach has limitations.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2232657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While command-and-control works, it's like using a sledgehammer when you need a scalpel. Three key problems:</a:t>
            </a:r>
          </a:p>
          <a:p>
            <a:r>
              <a:rPr lang="en-US" sz="1200" b="1" i="0" kern="1200" dirty="0">
                <a:solidFill>
                  <a:schemeClr val="tx1"/>
                </a:solidFill>
                <a:effectLst/>
                <a:latin typeface="+mn-lt"/>
                <a:ea typeface="+mn-ea"/>
                <a:cs typeface="+mn-cs"/>
              </a:rPr>
              <a:t>First, no incentive to improve beyond the standard.</a:t>
            </a:r>
            <a:r>
              <a:rPr lang="en-US" sz="1200" b="0" i="0" kern="1200" dirty="0">
                <a:solidFill>
                  <a:schemeClr val="tx1"/>
                </a:solidFill>
                <a:effectLst/>
                <a:latin typeface="+mn-lt"/>
                <a:ea typeface="+mn-ea"/>
                <a:cs typeface="+mn-cs"/>
              </a:rPr>
              <a:t> If the law says "emit no more than 100 tons," and you achieve 100 tons, why go to 80? You won't be rewarded. It's like telling students "anything above 70% is passing"—many will aim for exactly 70%.</a:t>
            </a:r>
          </a:p>
          <a:p>
            <a:r>
              <a:rPr lang="en-US" sz="1200" b="1" i="0" kern="1200" dirty="0">
                <a:solidFill>
                  <a:schemeClr val="tx1"/>
                </a:solidFill>
                <a:effectLst/>
                <a:latin typeface="+mn-lt"/>
                <a:ea typeface="+mn-ea"/>
                <a:cs typeface="+mn-cs"/>
              </a:rPr>
              <a:t>Second, inflexibility.</a:t>
            </a:r>
            <a:r>
              <a:rPr lang="en-US" sz="1200" b="0" i="0" kern="1200" dirty="0">
                <a:solidFill>
                  <a:schemeClr val="tx1"/>
                </a:solidFill>
                <a:effectLst/>
                <a:latin typeface="+mn-lt"/>
                <a:ea typeface="+mn-ea"/>
                <a:cs typeface="+mn-cs"/>
              </a:rPr>
              <a:t> Imagine two factories: Factory A can reduce pollution for $500/ton, Factory B would cost $5,000/ton because of old equipment. Command-and-control says "both of you cut by 50%." That's inefficient! We could get more pollution reduction if A cuts more and B cuts less.</a:t>
            </a:r>
          </a:p>
          <a:p>
            <a:r>
              <a:rPr lang="en-US" sz="1200" b="1" i="0" kern="1200" dirty="0">
                <a:solidFill>
                  <a:schemeClr val="tx1"/>
                </a:solidFill>
                <a:effectLst/>
                <a:latin typeface="+mn-lt"/>
                <a:ea typeface="+mn-ea"/>
                <a:cs typeface="+mn-cs"/>
              </a:rPr>
              <a:t>Third, political reality.</a:t>
            </a:r>
            <a:r>
              <a:rPr lang="en-US" sz="1200" b="0" i="0" kern="1200" dirty="0">
                <a:solidFill>
                  <a:schemeClr val="tx1"/>
                </a:solidFill>
                <a:effectLst/>
                <a:latin typeface="+mn-lt"/>
                <a:ea typeface="+mn-ea"/>
                <a:cs typeface="+mn-cs"/>
              </a:rPr>
              <a:t> Real environmental laws are written by legislators who face lobbying. Existing firms often negotiate exemptions: "Don't make </a:t>
            </a:r>
            <a:r>
              <a:rPr lang="en-US" sz="1200" b="0" i="1" kern="1200" dirty="0">
                <a:solidFill>
                  <a:schemeClr val="tx1"/>
                </a:solidFill>
                <a:effectLst/>
                <a:latin typeface="+mn-lt"/>
                <a:ea typeface="+mn-ea"/>
                <a:cs typeface="+mn-cs"/>
              </a:rPr>
              <a:t>us</a:t>
            </a:r>
            <a:r>
              <a:rPr lang="en-US" sz="1200" b="0" i="0" kern="1200" dirty="0">
                <a:solidFill>
                  <a:schemeClr val="tx1"/>
                </a:solidFill>
                <a:effectLst/>
                <a:latin typeface="+mn-lt"/>
                <a:ea typeface="+mn-ea"/>
                <a:cs typeface="+mn-cs"/>
              </a:rPr>
              <a:t> comply, just make </a:t>
            </a:r>
            <a:r>
              <a:rPr lang="en-US" sz="1200" b="0" i="1" kern="1200" dirty="0">
                <a:solidFill>
                  <a:schemeClr val="tx1"/>
                </a:solidFill>
                <a:effectLst/>
                <a:latin typeface="+mn-lt"/>
                <a:ea typeface="+mn-ea"/>
                <a:cs typeface="+mn-cs"/>
              </a:rPr>
              <a:t>new</a:t>
            </a:r>
            <a:r>
              <a:rPr lang="en-US" sz="1200" b="0" i="0" kern="1200" dirty="0">
                <a:solidFill>
                  <a:schemeClr val="tx1"/>
                </a:solidFill>
                <a:effectLst/>
                <a:latin typeface="+mn-lt"/>
                <a:ea typeface="+mn-ea"/>
                <a:cs typeface="+mn-cs"/>
              </a:rPr>
              <a:t> firms comply." The result? Laws full of fine print and loopholes.</a:t>
            </a:r>
          </a:p>
          <a:p>
            <a:r>
              <a:rPr lang="en-US" sz="1200" b="1" i="0" kern="1200" dirty="0">
                <a:solidFill>
                  <a:schemeClr val="tx1"/>
                </a:solidFill>
                <a:effectLst/>
                <a:latin typeface="+mn-lt"/>
                <a:ea typeface="+mn-ea"/>
                <a:cs typeface="+mn-cs"/>
              </a:rPr>
              <a:t>Better analogy</a:t>
            </a:r>
            <a:r>
              <a:rPr lang="en-US" sz="1200" b="0" i="0" kern="1200" dirty="0">
                <a:solidFill>
                  <a:schemeClr val="tx1"/>
                </a:solidFill>
                <a:effectLst/>
                <a:latin typeface="+mn-lt"/>
                <a:ea typeface="+mn-ea"/>
                <a:cs typeface="+mn-cs"/>
              </a:rPr>
              <a:t>: It's like requiring every student to study exactly 2 hours per night, regardless of whether they're a fast or slow learner. A one-size-fits-all rule wastes effort.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1452496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we shift to market-oriented tools—these are like giving firms a budget and letting them decide how to spend it, rather than telling them exactly what to buy.</a:t>
            </a:r>
          </a:p>
          <a:p>
            <a:r>
              <a:rPr lang="en-US" sz="1200" b="0" i="0" kern="1200" dirty="0">
                <a:solidFill>
                  <a:schemeClr val="tx1"/>
                </a:solidFill>
                <a:effectLst/>
                <a:latin typeface="+mn-lt"/>
                <a:ea typeface="+mn-ea"/>
                <a:cs typeface="+mn-cs"/>
              </a:rPr>
              <a:t>All three approaches harness the power of incentives. Instead of saying "you must install this specific technology," we create incentives for firms to find the </a:t>
            </a:r>
            <a:r>
              <a:rPr lang="en-US" sz="1200" b="0" i="1" kern="1200" dirty="0">
                <a:solidFill>
                  <a:schemeClr val="tx1"/>
                </a:solidFill>
                <a:effectLst/>
                <a:latin typeface="+mn-lt"/>
                <a:ea typeface="+mn-ea"/>
                <a:cs typeface="+mn-cs"/>
              </a:rPr>
              <a:t>cheapest</a:t>
            </a:r>
            <a:r>
              <a:rPr lang="en-US" sz="1200" b="0" i="0" kern="1200" dirty="0">
                <a:solidFill>
                  <a:schemeClr val="tx1"/>
                </a:solidFill>
                <a:effectLst/>
                <a:latin typeface="+mn-lt"/>
                <a:ea typeface="+mn-ea"/>
                <a:cs typeface="+mn-cs"/>
              </a:rPr>
              <a:t> way to reduce pollution. The environmental goal is the same, but we achieve it more efficiently.</a:t>
            </a:r>
          </a:p>
          <a:p>
            <a:r>
              <a:rPr lang="en-US" sz="1200" b="1" i="0" kern="1200" dirty="0">
                <a:solidFill>
                  <a:schemeClr val="tx1"/>
                </a:solidFill>
                <a:effectLst/>
                <a:latin typeface="+mn-lt"/>
                <a:ea typeface="+mn-ea"/>
                <a:cs typeface="+mn-cs"/>
              </a:rPr>
              <a:t>Key insight</a:t>
            </a:r>
            <a:r>
              <a:rPr lang="en-US" sz="1200" b="0" i="0" kern="1200" dirty="0">
                <a:solidFill>
                  <a:schemeClr val="tx1"/>
                </a:solidFill>
                <a:effectLst/>
                <a:latin typeface="+mn-lt"/>
                <a:ea typeface="+mn-ea"/>
                <a:cs typeface="+mn-cs"/>
              </a:rPr>
              <a:t>: Different firms have different costs for reducing pollution. Market tools let cheap-reducers do more and expensive-reducers do less, which minimizes total societal cost.</a:t>
            </a:r>
          </a:p>
          <a:p>
            <a:r>
              <a:rPr lang="en-US" sz="1200" b="1" i="0" kern="1200" dirty="0">
                <a:solidFill>
                  <a:schemeClr val="tx1"/>
                </a:solidFill>
                <a:effectLst/>
                <a:latin typeface="+mn-lt"/>
                <a:ea typeface="+mn-ea"/>
                <a:cs typeface="+mn-cs"/>
              </a:rPr>
              <a:t>Analogy</a:t>
            </a:r>
            <a:r>
              <a:rPr lang="en-US" sz="1200" b="0" i="0" kern="1200" dirty="0">
                <a:solidFill>
                  <a:schemeClr val="tx1"/>
                </a:solidFill>
                <a:effectLst/>
                <a:latin typeface="+mn-lt"/>
                <a:ea typeface="+mn-ea"/>
                <a:cs typeface="+mn-cs"/>
              </a:rPr>
              <a:t>: Imagine trying to lose weight. Command-and-control says "everyone must eat exactly 1800 calories." Market approach says "here's your calorie budget; you choose whether to exercise more, eat less, or both." Same weight loss goal, more flexibility in achieving it.</a:t>
            </a:r>
          </a:p>
          <a:p>
            <a:r>
              <a:rPr lang="en-US" sz="1200" b="0" i="0" kern="1200" dirty="0">
                <a:solidFill>
                  <a:schemeClr val="tx1"/>
                </a:solidFill>
                <a:effectLst/>
                <a:latin typeface="+mn-lt"/>
                <a:ea typeface="+mn-ea"/>
                <a:cs typeface="+mn-cs"/>
              </a:rPr>
              <a:t>These tools respect that firms know their own costs better than regulators do.</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463660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Pollution charges are beautifully simple: tax pollution, and firms will reduce it whenever doing so is cheaper than paying the tax.</a:t>
            </a:r>
          </a:p>
          <a:p>
            <a:r>
              <a:rPr lang="en-US" sz="1200" b="0" i="0" kern="1200" dirty="0">
                <a:solidFill>
                  <a:schemeClr val="tx1"/>
                </a:solidFill>
                <a:effectLst/>
                <a:latin typeface="+mn-lt"/>
                <a:ea typeface="+mn-ea"/>
                <a:cs typeface="+mn-cs"/>
              </a:rPr>
              <a:t>Look at this example: A firm emits 50 pounds of particles. We tax them $1,000 per 10 pounds. The firm can:</a:t>
            </a:r>
          </a:p>
          <a:p>
            <a:r>
              <a:rPr lang="en-US" sz="1200" b="0" i="0" kern="1200" dirty="0">
                <a:solidFill>
                  <a:schemeClr val="tx1"/>
                </a:solidFill>
                <a:effectLst/>
                <a:latin typeface="+mn-lt"/>
                <a:ea typeface="+mn-ea"/>
                <a:cs typeface="+mn-cs"/>
              </a:rPr>
              <a:t>Cut first 10 </a:t>
            </a:r>
            <a:r>
              <a:rPr lang="en-US" sz="1200" b="0" i="0" kern="1200" dirty="0" err="1">
                <a:solidFill>
                  <a:schemeClr val="tx1"/>
                </a:solidFill>
                <a:effectLst/>
                <a:latin typeface="+mn-lt"/>
                <a:ea typeface="+mn-ea"/>
                <a:cs typeface="+mn-cs"/>
              </a:rPr>
              <a:t>lbs</a:t>
            </a:r>
            <a:r>
              <a:rPr lang="en-US" sz="1200" b="0" i="0" kern="1200" dirty="0">
                <a:solidFill>
                  <a:schemeClr val="tx1"/>
                </a:solidFill>
                <a:effectLst/>
                <a:latin typeface="+mn-lt"/>
                <a:ea typeface="+mn-ea"/>
                <a:cs typeface="+mn-cs"/>
              </a:rPr>
              <a:t> for $300 → saves $700, so DO IT</a:t>
            </a:r>
          </a:p>
          <a:p>
            <a:r>
              <a:rPr lang="en-US" sz="1200" b="0" i="0" kern="1200" dirty="0">
                <a:solidFill>
                  <a:schemeClr val="tx1"/>
                </a:solidFill>
                <a:effectLst/>
                <a:latin typeface="+mn-lt"/>
                <a:ea typeface="+mn-ea"/>
                <a:cs typeface="+mn-cs"/>
              </a:rPr>
              <a:t>Cut second 10 </a:t>
            </a:r>
            <a:r>
              <a:rPr lang="en-US" sz="1200" b="0" i="0" kern="1200" dirty="0" err="1">
                <a:solidFill>
                  <a:schemeClr val="tx1"/>
                </a:solidFill>
                <a:effectLst/>
                <a:latin typeface="+mn-lt"/>
                <a:ea typeface="+mn-ea"/>
                <a:cs typeface="+mn-cs"/>
              </a:rPr>
              <a:t>lbs</a:t>
            </a:r>
            <a:r>
              <a:rPr lang="en-US" sz="1200" b="0" i="0" kern="1200" dirty="0">
                <a:solidFill>
                  <a:schemeClr val="tx1"/>
                </a:solidFill>
                <a:effectLst/>
                <a:latin typeface="+mn-lt"/>
                <a:ea typeface="+mn-ea"/>
                <a:cs typeface="+mn-cs"/>
              </a:rPr>
              <a:t> for $500 → saves $500, so DO IT</a:t>
            </a:r>
          </a:p>
          <a:p>
            <a:r>
              <a:rPr lang="en-US" sz="1200" b="0" i="0" kern="1200" dirty="0">
                <a:solidFill>
                  <a:schemeClr val="tx1"/>
                </a:solidFill>
                <a:effectLst/>
                <a:latin typeface="+mn-lt"/>
                <a:ea typeface="+mn-ea"/>
                <a:cs typeface="+mn-cs"/>
              </a:rPr>
              <a:t>Cut third 10 </a:t>
            </a:r>
            <a:r>
              <a:rPr lang="en-US" sz="1200" b="0" i="0" kern="1200" dirty="0" err="1">
                <a:solidFill>
                  <a:schemeClr val="tx1"/>
                </a:solidFill>
                <a:effectLst/>
                <a:latin typeface="+mn-lt"/>
                <a:ea typeface="+mn-ea"/>
                <a:cs typeface="+mn-cs"/>
              </a:rPr>
              <a:t>lbs</a:t>
            </a:r>
            <a:r>
              <a:rPr lang="en-US" sz="1200" b="0" i="0" kern="1200" dirty="0">
                <a:solidFill>
                  <a:schemeClr val="tx1"/>
                </a:solidFill>
                <a:effectLst/>
                <a:latin typeface="+mn-lt"/>
                <a:ea typeface="+mn-ea"/>
                <a:cs typeface="+mn-cs"/>
              </a:rPr>
              <a:t> for $900 → saves $100, so DO IT</a:t>
            </a:r>
          </a:p>
          <a:p>
            <a:r>
              <a:rPr lang="en-US" sz="1200" b="0" i="0" kern="1200" dirty="0">
                <a:solidFill>
                  <a:schemeClr val="tx1"/>
                </a:solidFill>
                <a:effectLst/>
                <a:latin typeface="+mn-lt"/>
                <a:ea typeface="+mn-ea"/>
                <a:cs typeface="+mn-cs"/>
              </a:rPr>
              <a:t>Cut fourth 10 </a:t>
            </a:r>
            <a:r>
              <a:rPr lang="en-US" sz="1200" b="0" i="0" kern="1200" dirty="0" err="1">
                <a:solidFill>
                  <a:schemeClr val="tx1"/>
                </a:solidFill>
                <a:effectLst/>
                <a:latin typeface="+mn-lt"/>
                <a:ea typeface="+mn-ea"/>
                <a:cs typeface="+mn-cs"/>
              </a:rPr>
              <a:t>lbs</a:t>
            </a:r>
            <a:r>
              <a:rPr lang="en-US" sz="1200" b="0" i="0" kern="1200" dirty="0">
                <a:solidFill>
                  <a:schemeClr val="tx1"/>
                </a:solidFill>
                <a:effectLst/>
                <a:latin typeface="+mn-lt"/>
                <a:ea typeface="+mn-ea"/>
                <a:cs typeface="+mn-cs"/>
              </a:rPr>
              <a:t> for $1,500 → COSTS $500 extra, so PAY THE TAX instead</a:t>
            </a:r>
          </a:p>
          <a:p>
            <a:r>
              <a:rPr lang="en-US" sz="1200" b="0" i="0" kern="1200" dirty="0">
                <a:solidFill>
                  <a:schemeClr val="tx1"/>
                </a:solidFill>
                <a:effectLst/>
                <a:latin typeface="+mn-lt"/>
                <a:ea typeface="+mn-ea"/>
                <a:cs typeface="+mn-cs"/>
              </a:rPr>
              <a:t>The firm naturally reduces 30 pounds and emits 20 pounds while paying tax on those 20. The tax created the incentive; the firm found the cheapest solution.</a:t>
            </a:r>
          </a:p>
          <a:p>
            <a:r>
              <a:rPr lang="en-US" sz="1200" b="1" i="0" kern="1200" dirty="0">
                <a:solidFill>
                  <a:schemeClr val="tx1"/>
                </a:solidFill>
                <a:effectLst/>
                <a:latin typeface="+mn-lt"/>
                <a:ea typeface="+mn-ea"/>
                <a:cs typeface="+mn-cs"/>
              </a:rPr>
              <a:t>Real-world examples:</a:t>
            </a:r>
            <a:r>
              <a:rPr lang="en-US" sz="1200" b="0" i="0" kern="1200" dirty="0">
                <a:solidFill>
                  <a:schemeClr val="tx1"/>
                </a:solidFill>
                <a:effectLst/>
                <a:latin typeface="+mn-lt"/>
                <a:ea typeface="+mn-ea"/>
                <a:cs typeface="+mn-cs"/>
              </a:rPr>
              <a:t> Gasoline taxes discourage driving and pollution. "Pay-as-you-throw" garbage fees (charged per bag) encourage recycling. Bottle deposits reduce litter.</a:t>
            </a:r>
          </a:p>
          <a:p>
            <a:r>
              <a:rPr lang="en-US" sz="1200" b="1" i="0" kern="1200" dirty="0">
                <a:solidFill>
                  <a:schemeClr val="tx1"/>
                </a:solidFill>
                <a:effectLst/>
                <a:latin typeface="+mn-lt"/>
                <a:ea typeface="+mn-ea"/>
                <a:cs typeface="+mn-cs"/>
              </a:rPr>
              <a:t>Analogy</a:t>
            </a:r>
            <a:r>
              <a:rPr lang="en-US" sz="1200" b="0" i="0" kern="1200" dirty="0">
                <a:solidFill>
                  <a:schemeClr val="tx1"/>
                </a:solidFill>
                <a:effectLst/>
                <a:latin typeface="+mn-lt"/>
                <a:ea typeface="+mn-ea"/>
                <a:cs typeface="+mn-cs"/>
              </a:rPr>
              <a:t>: It's like a gym membership that charges per day you </a:t>
            </a:r>
            <a:r>
              <a:rPr lang="en-US" sz="1200" b="0" i="1" kern="1200" dirty="0">
                <a:solidFill>
                  <a:schemeClr val="tx1"/>
                </a:solidFill>
                <a:effectLst/>
                <a:latin typeface="+mn-lt"/>
                <a:ea typeface="+mn-ea"/>
                <a:cs typeface="+mn-cs"/>
              </a:rPr>
              <a:t>don't</a:t>
            </a:r>
            <a:r>
              <a:rPr lang="en-US" sz="1200" b="0" i="0" kern="1200" dirty="0">
                <a:solidFill>
                  <a:schemeClr val="tx1"/>
                </a:solidFill>
                <a:effectLst/>
                <a:latin typeface="+mn-lt"/>
                <a:ea typeface="+mn-ea"/>
                <a:cs typeface="+mn-cs"/>
              </a:rPr>
              <a:t> go. You'd find cheap ways to exercise more! Pollution taxes charge for pollution, so firms find cheap ways to pollute less.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145377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Cap-and-trade is the "economist's favorite" environmental tool because it guarantees an environmental outcome (the cap) while minimizing cost (through trading).</a:t>
            </a:r>
          </a:p>
          <a:p>
            <a:r>
              <a:rPr lang="en-US" sz="1200" b="0" i="0" kern="1200" dirty="0">
                <a:solidFill>
                  <a:schemeClr val="tx1"/>
                </a:solidFill>
                <a:effectLst/>
                <a:latin typeface="+mn-lt"/>
                <a:ea typeface="+mn-ea"/>
                <a:cs typeface="+mn-cs"/>
              </a:rPr>
              <a:t>Here's how it works: Congress says "The nation can emit 8.95 million tons of SO₂, period." They print permits for exactly that amount and give them to power plants. Over time, the cap shrinks—permits allow less each year.</a:t>
            </a:r>
          </a:p>
          <a:p>
            <a:r>
              <a:rPr lang="en-US" sz="1200" b="0" i="0" kern="1200" dirty="0">
                <a:solidFill>
                  <a:schemeClr val="tx1"/>
                </a:solidFill>
                <a:effectLst/>
                <a:latin typeface="+mn-lt"/>
                <a:ea typeface="+mn-ea"/>
                <a:cs typeface="+mn-cs"/>
              </a:rPr>
              <a:t>Now comes the magic: trading. Plant A can reduce emissions cheaply ($300/ton). Plant B has old equipment; reducing costs $900/ton. If permit price is $600:</a:t>
            </a:r>
          </a:p>
          <a:p>
            <a:r>
              <a:rPr lang="en-US" sz="1200" b="0" i="0" kern="1200" dirty="0">
                <a:solidFill>
                  <a:schemeClr val="tx1"/>
                </a:solidFill>
                <a:effectLst/>
                <a:latin typeface="+mn-lt"/>
                <a:ea typeface="+mn-ea"/>
                <a:cs typeface="+mn-cs"/>
              </a:rPr>
              <a:t>Plant A reduces extra tons, sells permits at $600 → makes money</a:t>
            </a:r>
          </a:p>
          <a:p>
            <a:r>
              <a:rPr lang="en-US" sz="1200" b="0" i="0" kern="1200" dirty="0">
                <a:solidFill>
                  <a:schemeClr val="tx1"/>
                </a:solidFill>
                <a:effectLst/>
                <a:latin typeface="+mn-lt"/>
                <a:ea typeface="+mn-ea"/>
                <a:cs typeface="+mn-cs"/>
              </a:rPr>
              <a:t>Plant B buys permits at $600, avoids $900 cost → saves money</a:t>
            </a:r>
          </a:p>
          <a:p>
            <a:r>
              <a:rPr lang="en-US" sz="1200" b="0" i="0" kern="1200" dirty="0">
                <a:solidFill>
                  <a:schemeClr val="tx1"/>
                </a:solidFill>
                <a:effectLst/>
                <a:latin typeface="+mn-lt"/>
                <a:ea typeface="+mn-ea"/>
                <a:cs typeface="+mn-cs"/>
              </a:rPr>
              <a:t>Environment gets the same total reduction</a:t>
            </a:r>
          </a:p>
          <a:p>
            <a:r>
              <a:rPr lang="en-US" sz="1200" b="0" i="0" kern="1200" dirty="0">
                <a:solidFill>
                  <a:schemeClr val="tx1"/>
                </a:solidFill>
                <a:effectLst/>
                <a:latin typeface="+mn-lt"/>
                <a:ea typeface="+mn-ea"/>
                <a:cs typeface="+mn-cs"/>
              </a:rPr>
              <a:t>Society saves resources</a:t>
            </a:r>
          </a:p>
          <a:p>
            <a:r>
              <a:rPr lang="en-US" sz="1200" b="1" i="0" kern="1200" dirty="0">
                <a:solidFill>
                  <a:schemeClr val="tx1"/>
                </a:solidFill>
                <a:effectLst/>
                <a:latin typeface="+mn-lt"/>
                <a:ea typeface="+mn-ea"/>
                <a:cs typeface="+mn-cs"/>
              </a:rPr>
              <a:t>Real outcome</a:t>
            </a:r>
            <a:r>
              <a:rPr lang="en-US" sz="1200" b="0" i="0" kern="1200" dirty="0">
                <a:solidFill>
                  <a:schemeClr val="tx1"/>
                </a:solidFill>
                <a:effectLst/>
                <a:latin typeface="+mn-lt"/>
                <a:ea typeface="+mn-ea"/>
                <a:cs typeface="+mn-cs"/>
              </a:rPr>
              <a:t>: The Acid Rain Program worked spectacularly. Acid rain decreased dramatically, compliance was nearly 100%, and costs came in </a:t>
            </a:r>
            <a:r>
              <a:rPr lang="en-US" sz="1200" b="0" i="1" kern="1200" dirty="0">
                <a:solidFill>
                  <a:schemeClr val="tx1"/>
                </a:solidFill>
                <a:effectLst/>
                <a:latin typeface="+mn-lt"/>
                <a:ea typeface="+mn-ea"/>
                <a:cs typeface="+mn-cs"/>
              </a:rPr>
              <a:t>far below</a:t>
            </a:r>
            <a:r>
              <a:rPr lang="en-US" sz="1200" b="0" i="0" kern="1200" dirty="0">
                <a:solidFill>
                  <a:schemeClr val="tx1"/>
                </a:solidFill>
                <a:effectLst/>
                <a:latin typeface="+mn-lt"/>
                <a:ea typeface="+mn-ea"/>
                <a:cs typeface="+mn-cs"/>
              </a:rPr>
              <a:t> 1990 predictions.</a:t>
            </a:r>
          </a:p>
          <a:p>
            <a:r>
              <a:rPr lang="en-US" sz="1200" b="1" i="0" kern="1200" dirty="0">
                <a:solidFill>
                  <a:schemeClr val="tx1"/>
                </a:solidFill>
                <a:effectLst/>
                <a:latin typeface="+mn-lt"/>
                <a:ea typeface="+mn-ea"/>
                <a:cs typeface="+mn-cs"/>
              </a:rPr>
              <a:t>Analogy</a:t>
            </a:r>
            <a:r>
              <a:rPr lang="en-US" sz="1200" b="0" i="0" kern="1200" dirty="0">
                <a:solidFill>
                  <a:schemeClr val="tx1"/>
                </a:solidFill>
                <a:effectLst/>
                <a:latin typeface="+mn-lt"/>
                <a:ea typeface="+mn-ea"/>
                <a:cs typeface="+mn-cs"/>
              </a:rPr>
              <a:t>: Imagine a household with a phone data cap. The teenager uses lots of data (high-value user), but grandma doesn't (low-value user). They can "trade"—grandma gives her data to the teen for a monthly allowance. Same total usage, but allocated to whoever values it most. That's cap-and-trade.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11</a:t>
            </a:fld>
            <a:endParaRPr lang="en-US"/>
          </a:p>
        </p:txBody>
      </p:sp>
    </p:spTree>
    <p:extLst>
      <p:ext uri="{BB962C8B-B14F-4D97-AF65-F5344CB8AC3E}">
        <p14:creationId xmlns:p14="http://schemas.microsoft.com/office/powerpoint/2010/main" val="3583222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walk through the math to see exactly why economists love this system.</a:t>
            </a:r>
          </a:p>
          <a:p>
            <a:r>
              <a:rPr lang="en-US" sz="1200" b="0" i="0" kern="1200" dirty="0">
                <a:solidFill>
                  <a:schemeClr val="tx1"/>
                </a:solidFill>
                <a:effectLst/>
                <a:latin typeface="+mn-lt"/>
                <a:ea typeface="+mn-ea"/>
                <a:cs typeface="+mn-cs"/>
              </a:rPr>
              <a:t>Without trading, regulators might say "everyone cuts 50%." That forces both plants to cut 5,000 tons each. Plant A spends $1.5M (cheap for them), Plant B spends $4.5M (expensive because of old equipment). Total societal cost: $6 million.</a:t>
            </a:r>
          </a:p>
          <a:p>
            <a:r>
              <a:rPr lang="en-US" sz="1200" b="0" i="0" kern="1200" dirty="0">
                <a:solidFill>
                  <a:schemeClr val="tx1"/>
                </a:solidFill>
                <a:effectLst/>
                <a:latin typeface="+mn-lt"/>
                <a:ea typeface="+mn-ea"/>
                <a:cs typeface="+mn-cs"/>
              </a:rPr>
              <a:t>Now add trading at a market price of $600/ton. Plant A thinks: "I can cut a ton for $300 and sell the permit for $600—I make $300 profit per ton!" So Plant A cuts all 10,000 tons, costing them $3M, and sells 5,000 permits for $3M. Plant A breaks even or makes a small profit.</a:t>
            </a:r>
          </a:p>
          <a:p>
            <a:r>
              <a:rPr lang="en-US" sz="1200" b="0" i="0" kern="1200" dirty="0">
                <a:solidFill>
                  <a:schemeClr val="tx1"/>
                </a:solidFill>
                <a:effectLst/>
                <a:latin typeface="+mn-lt"/>
                <a:ea typeface="+mn-ea"/>
                <a:cs typeface="+mn-cs"/>
              </a:rPr>
              <a:t>Plant B thinks: "Cutting costs me $900/ton, but I can buy a permit for $600. I'll buy permits and avoid expensive abatement." Plant B buys 5,000 permits for $3M.</a:t>
            </a:r>
          </a:p>
          <a:p>
            <a:r>
              <a:rPr lang="en-US" sz="1200" b="0" i="0" kern="1200" dirty="0">
                <a:solidFill>
                  <a:schemeClr val="tx1"/>
                </a:solidFill>
                <a:effectLst/>
                <a:latin typeface="+mn-lt"/>
                <a:ea typeface="+mn-ea"/>
                <a:cs typeface="+mn-cs"/>
              </a:rPr>
              <a:t>Total: The environment gets the same 10,000-ton reduction, but the real resource cost is only $3M (Plant A's actual abatement work). The $3M Plant B paid to Plant A is just a transfer—money changing hands, not resources consumed.</a:t>
            </a:r>
          </a:p>
          <a:p>
            <a:r>
              <a:rPr lang="en-US" sz="1200" b="1" i="0" kern="1200" dirty="0">
                <a:solidFill>
                  <a:schemeClr val="tx1"/>
                </a:solidFill>
                <a:effectLst/>
                <a:latin typeface="+mn-lt"/>
                <a:ea typeface="+mn-ea"/>
                <a:cs typeface="+mn-cs"/>
              </a:rPr>
              <a:t>Key insight</a:t>
            </a:r>
            <a:r>
              <a:rPr lang="en-US" sz="1200" b="0" i="0" kern="1200" dirty="0">
                <a:solidFill>
                  <a:schemeClr val="tx1"/>
                </a:solidFill>
                <a:effectLst/>
                <a:latin typeface="+mn-lt"/>
                <a:ea typeface="+mn-ea"/>
                <a:cs typeface="+mn-cs"/>
              </a:rPr>
              <a:t>: Trading doesn't change the environmental outcome; it changes </a:t>
            </a:r>
            <a:r>
              <a:rPr lang="en-US" sz="1200" b="0" i="1" kern="1200" dirty="0">
                <a:solidFill>
                  <a:schemeClr val="tx1"/>
                </a:solidFill>
                <a:effectLst/>
                <a:latin typeface="+mn-lt"/>
                <a:ea typeface="+mn-ea"/>
                <a:cs typeface="+mn-cs"/>
              </a:rPr>
              <a:t>who</a:t>
            </a:r>
            <a:r>
              <a:rPr lang="en-US" sz="1200" b="0" i="0" kern="1200" dirty="0">
                <a:solidFill>
                  <a:schemeClr val="tx1"/>
                </a:solidFill>
                <a:effectLst/>
                <a:latin typeface="+mn-lt"/>
                <a:ea typeface="+mn-ea"/>
                <a:cs typeface="+mn-cs"/>
              </a:rPr>
              <a:t> reduces pollution, shifting the burden to whoever can do it cheapest.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1776185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Ronald Coase won the Nobel Prize for a deceptively simple idea: if you clearly define who owns what, people will bargain their way to an efficient outcome.</a:t>
            </a:r>
          </a:p>
          <a:p>
            <a:r>
              <a:rPr lang="en-US" sz="1200" b="0" i="0" kern="1200" dirty="0">
                <a:solidFill>
                  <a:schemeClr val="tx1"/>
                </a:solidFill>
                <a:effectLst/>
                <a:latin typeface="+mn-lt"/>
                <a:ea typeface="+mn-ea"/>
                <a:cs typeface="+mn-cs"/>
              </a:rPr>
              <a:t>His famous example: A railroad emits sparks that burn a farmer's field. Who should pay to fix the problem? Coase said it doesn't matter </a:t>
            </a:r>
            <a:r>
              <a:rPr lang="en-US" sz="1200" b="0" i="1" kern="1200" dirty="0">
                <a:solidFill>
                  <a:schemeClr val="tx1"/>
                </a:solidFill>
                <a:effectLst/>
                <a:latin typeface="+mn-lt"/>
                <a:ea typeface="+mn-ea"/>
                <a:cs typeface="+mn-cs"/>
              </a:rPr>
              <a:t>who</a:t>
            </a:r>
            <a:r>
              <a:rPr lang="en-US" sz="1200" b="0" i="0" kern="1200" dirty="0">
                <a:solidFill>
                  <a:schemeClr val="tx1"/>
                </a:solidFill>
                <a:effectLst/>
                <a:latin typeface="+mn-lt"/>
                <a:ea typeface="+mn-ea"/>
                <a:cs typeface="+mn-cs"/>
              </a:rPr>
              <a:t> has the property right, as long as </a:t>
            </a:r>
            <a:r>
              <a:rPr lang="en-US" sz="1200" b="0" i="1" kern="1200" dirty="0">
                <a:solidFill>
                  <a:schemeClr val="tx1"/>
                </a:solidFill>
                <a:effectLst/>
                <a:latin typeface="+mn-lt"/>
                <a:ea typeface="+mn-ea"/>
                <a:cs typeface="+mn-cs"/>
              </a:rPr>
              <a:t>someone</a:t>
            </a:r>
            <a:r>
              <a:rPr lang="en-US" sz="1200" b="0" i="0" kern="1200" dirty="0">
                <a:solidFill>
                  <a:schemeClr val="tx1"/>
                </a:solidFill>
                <a:effectLst/>
                <a:latin typeface="+mn-lt"/>
                <a:ea typeface="+mn-ea"/>
                <a:cs typeface="+mn-cs"/>
              </a:rPr>
              <a:t> clearly does.</a:t>
            </a:r>
          </a:p>
          <a:p>
            <a:r>
              <a:rPr lang="en-US" sz="1200" b="0" i="0" kern="1200" dirty="0">
                <a:solidFill>
                  <a:schemeClr val="tx1"/>
                </a:solidFill>
                <a:effectLst/>
                <a:latin typeface="+mn-lt"/>
                <a:ea typeface="+mn-ea"/>
                <a:cs typeface="+mn-cs"/>
              </a:rPr>
              <a:t>If the farmer has the right to an unburned field, the railroad will pay for a spark-arresting smokestack (if that's cheaper than compensating the farmer). If the railroad has the right to emit sparks, the farmer will pay for the smokestack (if that's cheaper than constant crop loss). Either way, the smokestack gets installed </a:t>
            </a:r>
            <a:r>
              <a:rPr lang="en-US" sz="1200" b="0" i="1" kern="1200" dirty="0">
                <a:solidFill>
                  <a:schemeClr val="tx1"/>
                </a:solidFill>
                <a:effectLst/>
                <a:latin typeface="+mn-lt"/>
                <a:ea typeface="+mn-ea"/>
                <a:cs typeface="+mn-cs"/>
              </a:rPr>
              <a:t>if it's the efficient solution</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NYC watershed example</a:t>
            </a:r>
            <a:r>
              <a:rPr lang="en-US" sz="1200" b="0" i="0" kern="1200" dirty="0">
                <a:solidFill>
                  <a:schemeClr val="tx1"/>
                </a:solidFill>
                <a:effectLst/>
                <a:latin typeface="+mn-lt"/>
                <a:ea typeface="+mn-ea"/>
                <a:cs typeface="+mn-cs"/>
              </a:rPr>
              <a:t>: New York City faced expensive drinking water regulations. Upstate farms were creating runoff pollution. Instead of building a $6-8 billion filtration plant, NYC paid farmers to change practices—conservation easements, manure management, etc. NYC essentially "bought" clean water from the polluters. Same result as regulation, achieved through contracts. That's </a:t>
            </a:r>
            <a:r>
              <a:rPr lang="en-US" sz="1200" b="0" i="0" kern="1200" dirty="0" err="1">
                <a:solidFill>
                  <a:schemeClr val="tx1"/>
                </a:solidFill>
                <a:effectLst/>
                <a:latin typeface="+mn-lt"/>
                <a:ea typeface="+mn-ea"/>
                <a:cs typeface="+mn-cs"/>
              </a:rPr>
              <a:t>Coasean</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Critical limitation</a:t>
            </a:r>
            <a:r>
              <a:rPr lang="en-US" sz="1200" b="0" i="0" kern="1200" dirty="0">
                <a:solidFill>
                  <a:schemeClr val="tx1"/>
                </a:solidFill>
                <a:effectLst/>
                <a:latin typeface="+mn-lt"/>
                <a:ea typeface="+mn-ea"/>
                <a:cs typeface="+mn-cs"/>
              </a:rPr>
              <a:t>: This works when bargaining is cheap. NYC can negotiate with a few dozen farmers. It </a:t>
            </a:r>
            <a:r>
              <a:rPr lang="en-US" sz="1200" b="0" i="1" kern="1200" dirty="0">
                <a:solidFill>
                  <a:schemeClr val="tx1"/>
                </a:solidFill>
                <a:effectLst/>
                <a:latin typeface="+mn-lt"/>
                <a:ea typeface="+mn-ea"/>
                <a:cs typeface="+mn-cs"/>
              </a:rPr>
              <a:t>cannot</a:t>
            </a:r>
            <a:r>
              <a:rPr lang="en-US" sz="1200" b="0" i="0" kern="1200" dirty="0">
                <a:solidFill>
                  <a:schemeClr val="tx1"/>
                </a:solidFill>
                <a:effectLst/>
                <a:latin typeface="+mn-lt"/>
                <a:ea typeface="+mn-ea"/>
                <a:cs typeface="+mn-cs"/>
              </a:rPr>
              <a:t> negotiate with millions of individual drivers about car emissions. That's when we need pollution taxes or cap-and-trade.</a:t>
            </a:r>
          </a:p>
        </p:txBody>
      </p:sp>
      <p:sp>
        <p:nvSpPr>
          <p:cNvPr id="4" name="Slide Number Placeholder 3"/>
          <p:cNvSpPr>
            <a:spLocks noGrp="1"/>
          </p:cNvSpPr>
          <p:nvPr>
            <p:ph type="sldNum" sz="quarter" idx="5"/>
          </p:nvPr>
        </p:nvSpPr>
        <p:spPr/>
        <p:txBody>
          <a:bodyPr/>
          <a:lstStyle/>
          <a:p>
            <a:fld id="{98E92C0B-33F8-41E1-8332-0E4CBB15B695}" type="slidenum">
              <a:rPr lang="en-US" smtClean="0"/>
              <a:t>13</a:t>
            </a:fld>
            <a:endParaRPr lang="en-US"/>
          </a:p>
        </p:txBody>
      </p:sp>
    </p:spTree>
    <p:extLst>
      <p:ext uri="{BB962C8B-B14F-4D97-AF65-F5344CB8AC3E}">
        <p14:creationId xmlns:p14="http://schemas.microsoft.com/office/powerpoint/2010/main" val="2650712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economists evaluate environmental regulations, we try to measure benefits in dollar terms—not because nature only matters in dollars, but because comparing benefits to costs helps us make informed decisions.</a:t>
            </a:r>
          </a:p>
          <a:p>
            <a:r>
              <a:rPr lang="en-US" sz="1200" b="1" i="0" kern="1200" dirty="0">
                <a:solidFill>
                  <a:schemeClr val="tx1"/>
                </a:solidFill>
                <a:effectLst/>
                <a:latin typeface="+mn-lt"/>
                <a:ea typeface="+mn-ea"/>
                <a:cs typeface="+mn-cs"/>
              </a:rPr>
              <a:t>Health benefits</a:t>
            </a:r>
            <a:r>
              <a:rPr lang="en-US" sz="1200" b="0" i="0" kern="1200" dirty="0">
                <a:solidFill>
                  <a:schemeClr val="tx1"/>
                </a:solidFill>
                <a:effectLst/>
                <a:latin typeface="+mn-lt"/>
                <a:ea typeface="+mn-ea"/>
                <a:cs typeface="+mn-cs"/>
              </a:rPr>
              <a:t> are most concrete: Fewer asthma attacks, less cancer, longer life expectancy. The EPA values a statistical life at $10.5 million (2022 dollars), based on how much people demand in wages for risky jobs.</a:t>
            </a:r>
          </a:p>
          <a:p>
            <a:r>
              <a:rPr lang="en-US" sz="1200" b="1" i="0" kern="1200" dirty="0">
                <a:solidFill>
                  <a:schemeClr val="tx1"/>
                </a:solidFill>
                <a:effectLst/>
                <a:latin typeface="+mn-lt"/>
                <a:ea typeface="+mn-ea"/>
                <a:cs typeface="+mn-cs"/>
              </a:rPr>
              <a:t>Industry benefits</a:t>
            </a:r>
            <a:r>
              <a:rPr lang="en-US" sz="1200" b="0" i="0" kern="1200" dirty="0">
                <a:solidFill>
                  <a:schemeClr val="tx1"/>
                </a:solidFill>
                <a:effectLst/>
                <a:latin typeface="+mn-lt"/>
                <a:ea typeface="+mn-ea"/>
                <a:cs typeface="+mn-cs"/>
              </a:rPr>
              <a:t> are market-based: Clean water helps fisheries and tourism. These are easier to measure because we can observe market prices.</a:t>
            </a:r>
          </a:p>
          <a:p>
            <a:r>
              <a:rPr lang="en-US" sz="1200" b="1" i="0" kern="1200" dirty="0">
                <a:solidFill>
                  <a:schemeClr val="tx1"/>
                </a:solidFill>
                <a:effectLst/>
                <a:latin typeface="+mn-lt"/>
                <a:ea typeface="+mn-ea"/>
                <a:cs typeface="+mn-cs"/>
              </a:rPr>
              <a:t>Property values</a:t>
            </a:r>
            <a:r>
              <a:rPr lang="en-US" sz="1200" b="0" i="0" kern="1200" dirty="0">
                <a:solidFill>
                  <a:schemeClr val="tx1"/>
                </a:solidFill>
                <a:effectLst/>
                <a:latin typeface="+mn-lt"/>
                <a:ea typeface="+mn-ea"/>
                <a:cs typeface="+mn-cs"/>
              </a:rPr>
              <a:t> reveal preferences: People pay more for homes in areas with clean air and low pollution. This difference reflects the value they place on environmental quality.</a:t>
            </a:r>
          </a:p>
          <a:p>
            <a:r>
              <a:rPr lang="en-US" sz="1200" b="1" i="0" kern="1200" dirty="0">
                <a:solidFill>
                  <a:schemeClr val="tx1"/>
                </a:solidFill>
                <a:effectLst/>
                <a:latin typeface="+mn-lt"/>
                <a:ea typeface="+mn-ea"/>
                <a:cs typeface="+mn-cs"/>
              </a:rPr>
              <a:t>Intrinsic value</a:t>
            </a:r>
            <a:r>
              <a:rPr lang="en-US" sz="1200" b="0" i="0" kern="1200" dirty="0">
                <a:solidFill>
                  <a:schemeClr val="tx1"/>
                </a:solidFill>
                <a:effectLst/>
                <a:latin typeface="+mn-lt"/>
                <a:ea typeface="+mn-ea"/>
                <a:cs typeface="+mn-cs"/>
              </a:rPr>
              <a:t> is hardest to measure but real. People donate to environmental causes and express satisfaction from knowing wilderness exists, even if they never visit it. Economists use surveys and statistical methods to estimate these "non-use values."</a:t>
            </a:r>
          </a:p>
          <a:p>
            <a:r>
              <a:rPr lang="en-US" sz="1200" b="1" i="0" kern="1200" dirty="0">
                <a:solidFill>
                  <a:schemeClr val="tx1"/>
                </a:solidFill>
                <a:effectLst/>
                <a:latin typeface="+mn-lt"/>
                <a:ea typeface="+mn-ea"/>
                <a:cs typeface="+mn-cs"/>
              </a:rPr>
              <a:t>Important finding</a:t>
            </a:r>
            <a:r>
              <a:rPr lang="en-US" sz="1200" b="0" i="0" kern="1200" dirty="0">
                <a:solidFill>
                  <a:schemeClr val="tx1"/>
                </a:solidFill>
                <a:effectLst/>
                <a:latin typeface="+mn-lt"/>
                <a:ea typeface="+mn-ea"/>
                <a:cs typeface="+mn-cs"/>
              </a:rPr>
              <a:t>: EPA studies show Clean Air Act benefits exceeded costs by ratios of 4-to-1 or even 44-to-1. Not every regulation is worth it, but overall, we've gotten huge value.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14</a:t>
            </a:fld>
            <a:endParaRPr lang="en-US"/>
          </a:p>
        </p:txBody>
      </p:sp>
    </p:spTree>
    <p:extLst>
      <p:ext uri="{BB962C8B-B14F-4D97-AF65-F5344CB8AC3E}">
        <p14:creationId xmlns:p14="http://schemas.microsoft.com/office/powerpoint/2010/main" val="4045407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Here's a controversial but important truth: the optimal amount of pollution is </a:t>
            </a:r>
            <a:r>
              <a:rPr lang="en-US" sz="1200" b="0" i="1" kern="1200" dirty="0">
                <a:solidFill>
                  <a:schemeClr val="tx1"/>
                </a:solidFill>
                <a:effectLst/>
                <a:latin typeface="+mn-lt"/>
                <a:ea typeface="+mn-ea"/>
                <a:cs typeface="+mn-cs"/>
              </a:rPr>
              <a:t>not zero</a:t>
            </a:r>
            <a:r>
              <a:rPr lang="en-US" sz="1200" b="0" i="0" kern="1200" dirty="0">
                <a:solidFill>
                  <a:schemeClr val="tx1"/>
                </a:solidFill>
                <a:effectLst/>
                <a:latin typeface="+mn-lt"/>
                <a:ea typeface="+mn-ea"/>
                <a:cs typeface="+mn-cs"/>
              </a:rPr>
              <a:t>. Zero pollution would mean zero production—no cars, no electricity, no modern medicine. We'd all starve. The question is how much pollution to reduce, not whether to eliminate it entirely.</a:t>
            </a:r>
          </a:p>
          <a:p>
            <a:r>
              <a:rPr lang="en-US" sz="1200" b="0" i="0" kern="1200" dirty="0">
                <a:solidFill>
                  <a:schemeClr val="tx1"/>
                </a:solidFill>
                <a:effectLst/>
                <a:latin typeface="+mn-lt"/>
                <a:ea typeface="+mn-ea"/>
                <a:cs typeface="+mn-cs"/>
              </a:rPr>
              <a:t>Think of cleaning your house. The first 10 minutes of tidying gives huge benefits—you can walk without tripping. The marginal benefit is high. The next hour brings moderate benefits. But at some point, you're using a toothbrush on grout lines for minimal improvement. The marginal cost (your time) exceeds the marginal benefit (slightly cleaner grout).</a:t>
            </a:r>
          </a:p>
          <a:p>
            <a:r>
              <a:rPr lang="en-US" sz="1200" b="0" i="0" kern="1200" dirty="0">
                <a:solidFill>
                  <a:schemeClr val="tx1"/>
                </a:solidFill>
                <a:effectLst/>
                <a:latin typeface="+mn-lt"/>
                <a:ea typeface="+mn-ea"/>
                <a:cs typeface="+mn-cs"/>
              </a:rPr>
              <a:t>Same with pollution. When pollution is extensive (point </a:t>
            </a:r>
            <a:r>
              <a:rPr lang="en-US" sz="1200" b="0" i="0" kern="1200" dirty="0" err="1">
                <a:solidFill>
                  <a:schemeClr val="tx1"/>
                </a:solidFill>
                <a:effectLst/>
                <a:latin typeface="+mn-lt"/>
                <a:ea typeface="+mn-ea"/>
                <a:cs typeface="+mn-cs"/>
              </a:rPr>
              <a:t>Qa</a:t>
            </a:r>
            <a:r>
              <a:rPr lang="en-US" sz="1200" b="0" i="0" kern="1200" dirty="0">
                <a:solidFill>
                  <a:schemeClr val="tx1"/>
                </a:solidFill>
                <a:effectLst/>
                <a:latin typeface="+mn-lt"/>
                <a:ea typeface="+mn-ea"/>
                <a:cs typeface="+mn-cs"/>
              </a:rPr>
              <a:t> on the graph), there are cheap, easy ways to reduce it with huge benefits. It's worth doing! As we reduce pollution toward </a:t>
            </a:r>
            <a:r>
              <a:rPr lang="en-US" sz="1200" b="0" i="0" kern="1200" dirty="0" err="1">
                <a:solidFill>
                  <a:schemeClr val="tx1"/>
                </a:solidFill>
                <a:effectLst/>
                <a:latin typeface="+mn-lt"/>
                <a:ea typeface="+mn-ea"/>
                <a:cs typeface="+mn-cs"/>
              </a:rPr>
              <a:t>Qb</a:t>
            </a:r>
            <a:r>
              <a:rPr lang="en-US" sz="1200" b="0" i="0" kern="1200" dirty="0">
                <a:solidFill>
                  <a:schemeClr val="tx1"/>
                </a:solidFill>
                <a:effectLst/>
                <a:latin typeface="+mn-lt"/>
                <a:ea typeface="+mn-ea"/>
                <a:cs typeface="+mn-cs"/>
              </a:rPr>
              <a:t>, the gap narrows. At </a:t>
            </a:r>
            <a:r>
              <a:rPr lang="en-US" sz="1200" b="0" i="0" kern="1200" dirty="0" err="1">
                <a:solidFill>
                  <a:schemeClr val="tx1"/>
                </a:solidFill>
                <a:effectLst/>
                <a:latin typeface="+mn-lt"/>
                <a:ea typeface="+mn-ea"/>
                <a:cs typeface="+mn-cs"/>
              </a:rPr>
              <a:t>Qb</a:t>
            </a:r>
            <a:r>
              <a:rPr lang="en-US" sz="1200" b="0" i="0" kern="1200" dirty="0">
                <a:solidFill>
                  <a:schemeClr val="tx1"/>
                </a:solidFill>
                <a:effectLst/>
                <a:latin typeface="+mn-lt"/>
                <a:ea typeface="+mn-ea"/>
                <a:cs typeface="+mn-cs"/>
              </a:rPr>
              <a:t>, marginal benefit equals marginal cost—that's optimal.</a:t>
            </a:r>
          </a:p>
          <a:p>
            <a:r>
              <a:rPr lang="en-US" sz="1200" b="0" i="0" kern="1200" dirty="0">
                <a:solidFill>
                  <a:schemeClr val="tx1"/>
                </a:solidFill>
                <a:effectLst/>
                <a:latin typeface="+mn-lt"/>
                <a:ea typeface="+mn-ea"/>
                <a:cs typeface="+mn-cs"/>
              </a:rPr>
              <a:t>Beyond </a:t>
            </a:r>
            <a:r>
              <a:rPr lang="en-US" sz="1200" b="0" i="0" kern="1200" dirty="0" err="1">
                <a:solidFill>
                  <a:schemeClr val="tx1"/>
                </a:solidFill>
                <a:effectLst/>
                <a:latin typeface="+mn-lt"/>
                <a:ea typeface="+mn-ea"/>
                <a:cs typeface="+mn-cs"/>
              </a:rPr>
              <a:t>Qb</a:t>
            </a:r>
            <a:r>
              <a:rPr lang="en-US" sz="1200" b="0" i="0" kern="1200" dirty="0">
                <a:solidFill>
                  <a:schemeClr val="tx1"/>
                </a:solidFill>
                <a:effectLst/>
                <a:latin typeface="+mn-lt"/>
                <a:ea typeface="+mn-ea"/>
                <a:cs typeface="+mn-cs"/>
              </a:rPr>
              <a:t>, at Qc, marginal costs exceed marginal benefits. We're spending $5 to get $1 of benefit. That's wasteful—we're forfeiting resources (healthcare, education, etc.) for minimal environmental gain.</a:t>
            </a:r>
          </a:p>
          <a:p>
            <a:r>
              <a:rPr lang="en-US" sz="1200" b="1" i="0" kern="1200" dirty="0">
                <a:solidFill>
                  <a:schemeClr val="tx1"/>
                </a:solidFill>
                <a:effectLst/>
                <a:latin typeface="+mn-lt"/>
                <a:ea typeface="+mn-ea"/>
                <a:cs typeface="+mn-cs"/>
              </a:rPr>
              <a:t>Analogy</a:t>
            </a:r>
            <a:r>
              <a:rPr lang="en-US" sz="1200" b="0" i="0" kern="1200" dirty="0">
                <a:solidFill>
                  <a:schemeClr val="tx1"/>
                </a:solidFill>
                <a:effectLst/>
                <a:latin typeface="+mn-lt"/>
                <a:ea typeface="+mn-ea"/>
                <a:cs typeface="+mn-cs"/>
              </a:rPr>
              <a:t>: Medicine dosing. Too little antibiotic doesn't cure the infection; too much causes harmful side effects. There's an optimal dose where benefits exceed costs.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15</a:t>
            </a:fld>
            <a:endParaRPr lang="en-US"/>
          </a:p>
        </p:txBody>
      </p:sp>
    </p:spTree>
    <p:extLst>
      <p:ext uri="{BB962C8B-B14F-4D97-AF65-F5344CB8AC3E}">
        <p14:creationId xmlns:p14="http://schemas.microsoft.com/office/powerpoint/2010/main" val="2323121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Some externalities don't respect borders—carbon dioxide mixes globally in the atmosphere, and biodiversity exists worldwide. This creates a coordination problem.</a:t>
            </a:r>
          </a:p>
          <a:p>
            <a:r>
              <a:rPr lang="en-US" sz="1200" b="0" i="0" kern="1200" dirty="0">
                <a:solidFill>
                  <a:schemeClr val="tx1"/>
                </a:solidFill>
                <a:effectLst/>
                <a:latin typeface="+mn-lt"/>
                <a:ea typeface="+mn-ea"/>
                <a:cs typeface="+mn-cs"/>
              </a:rPr>
              <a:t>Imagine if pollution from North Carolina drifted into South Carolina, but NC made all the environmental rules. South Carolina would be frustrated! That's the international situation: China's emissions affect the whole world, Brazil's deforestation affects global biodiversity, but each nation controls its own policies.</a:t>
            </a:r>
          </a:p>
          <a:p>
            <a:r>
              <a:rPr lang="en-US" sz="1200" b="1" i="0" kern="1200" dirty="0">
                <a:solidFill>
                  <a:schemeClr val="tx1"/>
                </a:solidFill>
                <a:effectLst/>
                <a:latin typeface="+mn-lt"/>
                <a:ea typeface="+mn-ea"/>
                <a:cs typeface="+mn-cs"/>
              </a:rPr>
              <a:t>The moral tension is real</a:t>
            </a:r>
            <a:r>
              <a:rPr lang="en-US" sz="1200" b="0" i="0" kern="1200" dirty="0">
                <a:solidFill>
                  <a:schemeClr val="tx1"/>
                </a:solidFill>
                <a:effectLst/>
                <a:latin typeface="+mn-lt"/>
                <a:ea typeface="+mn-ea"/>
                <a:cs typeface="+mn-cs"/>
              </a:rPr>
              <a:t>: The U.S. and Europe industrialized first, burning fossil fuels for 150+ years. Now we tell developing countries "don't do what we did—it causes climate change." Their response: "You got rich by polluting; now you want to keep us poor?" That's understandable frustration.</a:t>
            </a:r>
          </a:p>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China and India argue they should be allowed to burn fossil fuels like the West did. The West argues everyone must cut emissions now because climate change is urgent. Both perspectives have merit.</a:t>
            </a:r>
          </a:p>
          <a:p>
            <a:r>
              <a:rPr lang="en-US" sz="1200" b="0" i="0" kern="1200" dirty="0">
                <a:solidFill>
                  <a:schemeClr val="tx1"/>
                </a:solidFill>
                <a:effectLst/>
                <a:latin typeface="+mn-lt"/>
                <a:ea typeface="+mn-ea"/>
                <a:cs typeface="+mn-cs"/>
              </a:rPr>
              <a:t>The solution likely involves transfers: Rich countries help fund clean technology for poor countries. It's saying "we'll pay part of the cost of you leapfrogging to clean energy."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16</a:t>
            </a:fld>
            <a:endParaRPr lang="en-US"/>
          </a:p>
        </p:txBody>
      </p:sp>
    </p:spTree>
    <p:extLst>
      <p:ext uri="{BB962C8B-B14F-4D97-AF65-F5344CB8AC3E}">
        <p14:creationId xmlns:p14="http://schemas.microsoft.com/office/powerpoint/2010/main" val="3693500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Paris Climate Agreement represents the most ambitious attempt at global environmental cooperation. 196 entities signed on, including the world's biggest polluters—China and the U.S.</a:t>
            </a:r>
          </a:p>
          <a:p>
            <a:r>
              <a:rPr lang="en-US" sz="1200" b="0" i="0" kern="1200" dirty="0">
                <a:solidFill>
                  <a:schemeClr val="tx1"/>
                </a:solidFill>
                <a:effectLst/>
                <a:latin typeface="+mn-lt"/>
                <a:ea typeface="+mn-ea"/>
                <a:cs typeface="+mn-cs"/>
              </a:rPr>
              <a:t>The agreement is flexible: each country sets its own targets ("Nationally Determined Contributions"). This is more practical than a world government imposing command-and-control regulation globally—imagine trying to enforce the same rules in Norway, Nigeria, and Nepal. It won't work.</a:t>
            </a:r>
          </a:p>
          <a:p>
            <a:r>
              <a:rPr lang="en-US" sz="1200" b="0" i="0" kern="1200" dirty="0">
                <a:solidFill>
                  <a:schemeClr val="tx1"/>
                </a:solidFill>
                <a:effectLst/>
                <a:latin typeface="+mn-lt"/>
                <a:ea typeface="+mn-ea"/>
                <a:cs typeface="+mn-cs"/>
              </a:rPr>
              <a:t>The U.S. committed to the Clean Power Plan: reducing power plant CO₂ emissions 32% by 2030 compared to 2005 levels. That's significant.</a:t>
            </a:r>
          </a:p>
          <a:p>
            <a:r>
              <a:rPr lang="en-US" sz="1200" b="1" i="0" kern="1200" dirty="0">
                <a:solidFill>
                  <a:schemeClr val="tx1"/>
                </a:solidFill>
                <a:effectLst/>
                <a:latin typeface="+mn-lt"/>
                <a:ea typeface="+mn-ea"/>
                <a:cs typeface="+mn-cs"/>
              </a:rPr>
              <a:t>Political reality</a:t>
            </a:r>
            <a:r>
              <a:rPr lang="en-US" sz="1200" b="0" i="0" kern="1200" dirty="0">
                <a:solidFill>
                  <a:schemeClr val="tx1"/>
                </a:solidFill>
                <a:effectLst/>
                <a:latin typeface="+mn-lt"/>
                <a:ea typeface="+mn-ea"/>
                <a:cs typeface="+mn-cs"/>
              </a:rPr>
              <a:t>: Environmental agreements face domestic political challenges. Trump withdrew, calling it unfair to American workers. Biden rejoined on his first day. This back-and-forth illustrates the difficulty: environmental protection competes with other priorities (jobs, economic growth), and different leaders weigh these differently.</a:t>
            </a:r>
          </a:p>
          <a:p>
            <a:r>
              <a:rPr lang="en-US" sz="1200" b="1" i="0" kern="1200" dirty="0">
                <a:solidFill>
                  <a:schemeClr val="tx1"/>
                </a:solidFill>
                <a:effectLst/>
                <a:latin typeface="+mn-lt"/>
                <a:ea typeface="+mn-ea"/>
                <a:cs typeface="+mn-cs"/>
              </a:rPr>
              <a:t>Why market tools matter here</a:t>
            </a:r>
            <a:r>
              <a:rPr lang="en-US" sz="1200" b="0" i="0" kern="1200" dirty="0">
                <a:solidFill>
                  <a:schemeClr val="tx1"/>
                </a:solidFill>
                <a:effectLst/>
                <a:latin typeface="+mn-lt"/>
                <a:ea typeface="+mn-ea"/>
                <a:cs typeface="+mn-cs"/>
              </a:rPr>
              <a:t>: International command-and-control is impossible—no world police force exists. But market mechanisms (carbon taxes, international permit trading) can work across borders because they respect national sovereignty while coordinating incentives.</a:t>
            </a:r>
          </a:p>
          <a:p>
            <a:r>
              <a:rPr lang="en-US" sz="1200" b="1" i="0" kern="1200" dirty="0">
                <a:solidFill>
                  <a:schemeClr val="tx1"/>
                </a:solidFill>
                <a:effectLst/>
                <a:latin typeface="+mn-lt"/>
                <a:ea typeface="+mn-ea"/>
                <a:cs typeface="+mn-cs"/>
              </a:rPr>
              <a:t>Analogy</a:t>
            </a:r>
            <a:r>
              <a:rPr lang="en-US" sz="1200" b="0" i="0" kern="1200" dirty="0">
                <a:solidFill>
                  <a:schemeClr val="tx1"/>
                </a:solidFill>
                <a:effectLst/>
                <a:latin typeface="+mn-lt"/>
                <a:ea typeface="+mn-ea"/>
                <a:cs typeface="+mn-cs"/>
              </a:rPr>
              <a:t>: The Paris Agreement is like neighbors agreeing to keep their lawns maintained without forming an HOA. Each commits to standards, but enforcement is voluntary and based on reputation and self-interest.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17</a:t>
            </a:fld>
            <a:endParaRPr lang="en-US"/>
          </a:p>
        </p:txBody>
      </p:sp>
    </p:spTree>
    <p:extLst>
      <p:ext uri="{BB962C8B-B14F-4D97-AF65-F5344CB8AC3E}">
        <p14:creationId xmlns:p14="http://schemas.microsoft.com/office/powerpoint/2010/main" val="4048504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Production Possibility Frontier shows the fundamental tradeoff: resources spent on environmental protection can't simultaneously be spent on producing other goods.</a:t>
            </a:r>
          </a:p>
          <a:p>
            <a:r>
              <a:rPr lang="en-US" sz="1200" b="0" i="0" kern="1200" dirty="0">
                <a:solidFill>
                  <a:schemeClr val="tx1"/>
                </a:solidFill>
                <a:effectLst/>
                <a:latin typeface="+mn-lt"/>
                <a:ea typeface="+mn-ea"/>
                <a:cs typeface="+mn-cs"/>
              </a:rPr>
              <a:t>At point P, society chooses lots of production and minimal environmental protection. Think of China in the 1990s—rapid growth, terrible pollution. At point T, society chooses pristine environment but limited production. Think of a subsistence economy—no factories, but also no modern medicine or education.</a:t>
            </a:r>
          </a:p>
          <a:p>
            <a:r>
              <a:rPr lang="en-US" sz="1200" b="1" i="0" kern="1200" dirty="0">
                <a:solidFill>
                  <a:schemeClr val="tx1"/>
                </a:solidFill>
                <a:effectLst/>
                <a:latin typeface="+mn-lt"/>
                <a:ea typeface="+mn-ea"/>
                <a:cs typeface="+mn-cs"/>
              </a:rPr>
              <a:t>The critical insight</a:t>
            </a:r>
            <a:r>
              <a:rPr lang="en-US" sz="1200" b="0" i="0" kern="1200" dirty="0">
                <a:solidFill>
                  <a:schemeClr val="tx1"/>
                </a:solidFill>
                <a:effectLst/>
                <a:latin typeface="+mn-lt"/>
                <a:ea typeface="+mn-ea"/>
                <a:cs typeface="+mn-cs"/>
              </a:rPr>
              <a:t>: Points on the frontier are efficient (no waste), but we can prefer different points based on values. Poor countries rationally emphasize point P (need food and shelter). Rich countries can afford point S or T (already have necessities).</a:t>
            </a:r>
          </a:p>
          <a:p>
            <a:r>
              <a:rPr lang="en-US" sz="1200" b="1" i="0" kern="1200" dirty="0">
                <a:solidFill>
                  <a:schemeClr val="tx1"/>
                </a:solidFill>
                <a:effectLst/>
                <a:latin typeface="+mn-lt"/>
                <a:ea typeface="+mn-ea"/>
                <a:cs typeface="+mn-cs"/>
              </a:rPr>
              <a:t>But point M is always wrong</a:t>
            </a:r>
            <a:r>
              <a:rPr lang="en-US" sz="1200" b="0" i="0" kern="1200" dirty="0">
                <a:solidFill>
                  <a:schemeClr val="tx1"/>
                </a:solidFill>
                <a:effectLst/>
                <a:latin typeface="+mn-lt"/>
                <a:ea typeface="+mn-ea"/>
                <a:cs typeface="+mn-cs"/>
              </a:rPr>
              <a:t>—it's off the frontier, meaning we're wasting resources. We could have the same environment with more output (move to Q), or better environment with same output (move to S). Nobody should want M.</a:t>
            </a:r>
          </a:p>
          <a:p>
            <a:r>
              <a:rPr lang="en-US" sz="1200" b="0" i="0" kern="1200" dirty="0">
                <a:solidFill>
                  <a:schemeClr val="tx1"/>
                </a:solidFill>
                <a:effectLst/>
                <a:latin typeface="+mn-lt"/>
                <a:ea typeface="+mn-ea"/>
                <a:cs typeface="+mn-cs"/>
              </a:rPr>
              <a:t>Command-and-control often puts us at M because it's inflexible and expensive. Market-oriented tools move us to the frontier by minimizing cost for any given environmental goal.</a:t>
            </a:r>
          </a:p>
          <a:p>
            <a:r>
              <a:rPr lang="en-US" sz="1200" b="1" i="0" kern="1200" dirty="0">
                <a:solidFill>
                  <a:schemeClr val="tx1"/>
                </a:solidFill>
                <a:effectLst/>
                <a:latin typeface="+mn-lt"/>
                <a:ea typeface="+mn-ea"/>
                <a:cs typeface="+mn-cs"/>
              </a:rPr>
              <a:t>Analogy</a:t>
            </a:r>
            <a:r>
              <a:rPr lang="en-US" sz="1200" b="0" i="0" kern="1200" dirty="0">
                <a:solidFill>
                  <a:schemeClr val="tx1"/>
                </a:solidFill>
                <a:effectLst/>
                <a:latin typeface="+mn-lt"/>
                <a:ea typeface="+mn-ea"/>
                <a:cs typeface="+mn-cs"/>
              </a:rPr>
              <a:t>: The PPF is like your personal budget tradeoff between eating out and saving money. Different people make different choices (some eat out more, some save more), but nobody wants to waste money by overpaying for food. Market tools are like using coupons—you get the same meal cheaper, freeing resources for other uses.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18</a:t>
            </a:fld>
            <a:endParaRPr lang="en-US"/>
          </a:p>
        </p:txBody>
      </p:sp>
    </p:spTree>
    <p:extLst>
      <p:ext uri="{BB962C8B-B14F-4D97-AF65-F5344CB8AC3E}">
        <p14:creationId xmlns:p14="http://schemas.microsoft.com/office/powerpoint/2010/main" val="3148133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Economists don't say "market tools are always better than command-and-control." We say "choose the right tool for the job."</a:t>
            </a:r>
          </a:p>
          <a:p>
            <a:r>
              <a:rPr lang="en-US" sz="1200" b="1" i="0" kern="1200" dirty="0">
                <a:solidFill>
                  <a:schemeClr val="tx1"/>
                </a:solidFill>
                <a:effectLst/>
                <a:latin typeface="+mn-lt"/>
                <a:ea typeface="+mn-ea"/>
                <a:cs typeface="+mn-cs"/>
              </a:rPr>
              <a:t>Pollution charges</a:t>
            </a:r>
            <a:r>
              <a:rPr lang="en-US" sz="1200" b="0" i="0" kern="1200" dirty="0">
                <a:solidFill>
                  <a:schemeClr val="tx1"/>
                </a:solidFill>
                <a:effectLst/>
                <a:latin typeface="+mn-lt"/>
                <a:ea typeface="+mn-ea"/>
                <a:cs typeface="+mn-cs"/>
              </a:rPr>
              <a:t> excel when you have millions of polluters—drivers, households, small businesses. You can't set up a cap-and-trade system for every driver; transaction costs would be huge. But a gasoline tax affects everyone automatically and creates incentives to drive less and buy efficient vehicles.</a:t>
            </a:r>
          </a:p>
          <a:p>
            <a:r>
              <a:rPr lang="en-US" sz="1200" b="1" i="0" kern="1200" dirty="0">
                <a:solidFill>
                  <a:schemeClr val="tx1"/>
                </a:solidFill>
                <a:effectLst/>
                <a:latin typeface="+mn-lt"/>
                <a:ea typeface="+mn-ea"/>
                <a:cs typeface="+mn-cs"/>
              </a:rPr>
              <a:t>Marketable permits</a:t>
            </a:r>
            <a:r>
              <a:rPr lang="en-US" sz="1200" b="0" i="0" kern="1200" dirty="0">
                <a:solidFill>
                  <a:schemeClr val="tx1"/>
                </a:solidFill>
                <a:effectLst/>
                <a:latin typeface="+mn-lt"/>
                <a:ea typeface="+mn-ea"/>
                <a:cs typeface="+mn-cs"/>
              </a:rPr>
              <a:t> shine when you have a manageable number of parties interested in trading. The SO₂ program worked because there were hundreds of power plants that could monitor emissions and trade allowances. They had strong incentives to find trading partners because the cost differences were significant.</a:t>
            </a:r>
          </a:p>
          <a:p>
            <a:r>
              <a:rPr lang="en-US" sz="1200" b="1" i="0" kern="1200" dirty="0">
                <a:solidFill>
                  <a:schemeClr val="tx1"/>
                </a:solidFill>
                <a:effectLst/>
                <a:latin typeface="+mn-lt"/>
                <a:ea typeface="+mn-ea"/>
                <a:cs typeface="+mn-cs"/>
              </a:rPr>
              <a:t>Property rights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Coasean</a:t>
            </a:r>
            <a:r>
              <a:rPr lang="en-US" sz="1200" b="0" i="0" kern="1200" dirty="0">
                <a:solidFill>
                  <a:schemeClr val="tx1"/>
                </a:solidFill>
                <a:effectLst/>
                <a:latin typeface="+mn-lt"/>
                <a:ea typeface="+mn-ea"/>
                <a:cs typeface="+mn-cs"/>
              </a:rPr>
              <a:t> bargaining) works when transaction costs are low—usually meaning few parties. NYC negotiating with upstate farmers? Feasible. NYC negotiating with five million drivers? Impossible.</a:t>
            </a:r>
          </a:p>
          <a:p>
            <a:r>
              <a:rPr lang="en-US" sz="1200" b="1" i="0" kern="1200" dirty="0">
                <a:solidFill>
                  <a:schemeClr val="tx1"/>
                </a:solidFill>
                <a:effectLst/>
                <a:latin typeface="+mn-lt"/>
                <a:ea typeface="+mn-ea"/>
                <a:cs typeface="+mn-cs"/>
              </a:rPr>
              <a:t>Real-world wisdom</a:t>
            </a:r>
            <a:r>
              <a:rPr lang="en-US" sz="1200" b="0" i="0" kern="1200" dirty="0">
                <a:solidFill>
                  <a:schemeClr val="tx1"/>
                </a:solidFill>
                <a:effectLst/>
                <a:latin typeface="+mn-lt"/>
                <a:ea typeface="+mn-ea"/>
                <a:cs typeface="+mn-cs"/>
              </a:rPr>
              <a:t>: Often we combine tools. A carbon cap-and-trade for large emitters, plus a carbon tax on gasoline for small emitters, plus property-right solutions for local issues.</a:t>
            </a:r>
          </a:p>
          <a:p>
            <a:r>
              <a:rPr lang="en-US" sz="1200" b="1" i="0" kern="1200" dirty="0">
                <a:solidFill>
                  <a:schemeClr val="tx1"/>
                </a:solidFill>
                <a:effectLst/>
                <a:latin typeface="+mn-lt"/>
                <a:ea typeface="+mn-ea"/>
                <a:cs typeface="+mn-cs"/>
              </a:rPr>
              <a:t>Key lesson</a:t>
            </a:r>
            <a:r>
              <a:rPr lang="en-US" sz="1200" b="0" i="0" kern="1200" dirty="0">
                <a:solidFill>
                  <a:schemeClr val="tx1"/>
                </a:solidFill>
                <a:effectLst/>
                <a:latin typeface="+mn-lt"/>
                <a:ea typeface="+mn-ea"/>
                <a:cs typeface="+mn-cs"/>
              </a:rPr>
              <a:t>: Economic theory provides a toolkit, not a one-size-fits-all answer. Context matters.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19</a:t>
            </a:fld>
            <a:endParaRPr lang="en-US"/>
          </a:p>
        </p:txBody>
      </p:sp>
    </p:spTree>
    <p:extLst>
      <p:ext uri="{BB962C8B-B14F-4D97-AF65-F5344CB8AC3E}">
        <p14:creationId xmlns:p14="http://schemas.microsoft.com/office/powerpoint/2010/main" val="324264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summarize the chapter's core insights:</a:t>
            </a:r>
          </a:p>
          <a:p>
            <a:r>
              <a:rPr lang="en-US" sz="1200" b="0" i="0" kern="1200" dirty="0">
                <a:solidFill>
                  <a:schemeClr val="tx1"/>
                </a:solidFill>
                <a:effectLst/>
                <a:latin typeface="+mn-lt"/>
                <a:ea typeface="+mn-ea"/>
                <a:cs typeface="+mn-cs"/>
              </a:rPr>
              <a:t>Externalities create market failure because prices don't reflect full social costs. The refrigerator factory doesn't account for the asthma it causes. This leads to overproduction and excessive pollution.</a:t>
            </a:r>
          </a:p>
          <a:p>
            <a:r>
              <a:rPr lang="en-US" sz="1200" b="0" i="0" kern="1200" dirty="0">
                <a:solidFill>
                  <a:schemeClr val="tx1"/>
                </a:solidFill>
                <a:effectLst/>
                <a:latin typeface="+mn-lt"/>
                <a:ea typeface="+mn-ea"/>
                <a:cs typeface="+mn-cs"/>
              </a:rPr>
              <a:t>The solution is internalizing externalities—forcing decision-makers to face the full costs. We can do this through traditional command-and-control (works, but expensive) or market-oriented tools (more flexible, cheaper).</a:t>
            </a:r>
          </a:p>
          <a:p>
            <a:r>
              <a:rPr lang="en-US" sz="1200" b="0" i="0" kern="1200" dirty="0">
                <a:solidFill>
                  <a:schemeClr val="tx1"/>
                </a:solidFill>
                <a:effectLst/>
                <a:latin typeface="+mn-lt"/>
                <a:ea typeface="+mn-ea"/>
                <a:cs typeface="+mn-cs"/>
              </a:rPr>
              <a:t>The key innovation of market tools is recognizing that different firms have different costs. Let the cheap-reducers reduce more; let expensive-reducers reduce less. Same environmental outcome, lower societal cost.</a:t>
            </a:r>
          </a:p>
          <a:p>
            <a:r>
              <a:rPr lang="en-US" sz="1200" b="0" i="0" kern="1200" dirty="0">
                <a:solidFill>
                  <a:schemeClr val="tx1"/>
                </a:solidFill>
                <a:effectLst/>
                <a:latin typeface="+mn-lt"/>
                <a:ea typeface="+mn-ea"/>
                <a:cs typeface="+mn-cs"/>
              </a:rPr>
              <a:t>Remember: optimal pollution is not zero. We want to reduce pollution up to the point where marginal benefit equals marginal cost, not beyond.</a:t>
            </a:r>
          </a:p>
          <a:p>
            <a:r>
              <a:rPr lang="en-US" sz="1200" b="0" i="0" kern="1200" dirty="0">
                <a:solidFill>
                  <a:schemeClr val="tx1"/>
                </a:solidFill>
                <a:effectLst/>
                <a:latin typeface="+mn-lt"/>
                <a:ea typeface="+mn-ea"/>
                <a:cs typeface="+mn-cs"/>
              </a:rPr>
              <a:t>International environmental issues are the frontier challenge. No world government exists to impose rules, so market mechanisms and voluntary agreements like Paris are likely our best tools.</a:t>
            </a:r>
          </a:p>
          <a:p>
            <a:r>
              <a:rPr lang="en-US" sz="1200" b="0" i="0" kern="1200" dirty="0">
                <a:solidFill>
                  <a:schemeClr val="tx1"/>
                </a:solidFill>
                <a:effectLst/>
                <a:latin typeface="+mn-lt"/>
                <a:ea typeface="+mn-ea"/>
                <a:cs typeface="+mn-cs"/>
              </a:rPr>
              <a:t>Finally, choose the right policy tool for the situation. Pollution taxes for many small polluters, cap-and-trade for fewer large polluters, property rights when bargaining is feasible.</a:t>
            </a:r>
          </a:p>
          <a:p>
            <a:r>
              <a:rPr lang="en-US" sz="1200" b="1" i="0" kern="1200" dirty="0">
                <a:solidFill>
                  <a:schemeClr val="tx1"/>
                </a:solidFill>
                <a:effectLst/>
                <a:latin typeface="+mn-lt"/>
                <a:ea typeface="+mn-ea"/>
                <a:cs typeface="+mn-cs"/>
              </a:rPr>
              <a:t>Bottom line</a:t>
            </a:r>
            <a:r>
              <a:rPr lang="en-US" sz="1200" b="0" i="0" kern="1200" dirty="0">
                <a:solidFill>
                  <a:schemeClr val="tx1"/>
                </a:solidFill>
                <a:effectLst/>
                <a:latin typeface="+mn-lt"/>
                <a:ea typeface="+mn-ea"/>
                <a:cs typeface="+mn-cs"/>
              </a:rPr>
              <a:t>: Environmental economics isn't about choosing between economy and environment—it's about achieving our environmental goals as efficiently as possible, freeing resources for other important social objectives like health, education, and poverty reduction.</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20</a:t>
            </a:fld>
            <a:endParaRPr lang="en-US"/>
          </a:p>
        </p:txBody>
      </p:sp>
    </p:spTree>
    <p:extLst>
      <p:ext uri="{BB962C8B-B14F-4D97-AF65-F5344CB8AC3E}">
        <p14:creationId xmlns:p14="http://schemas.microsoft.com/office/powerpoint/2010/main" val="3584136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21693064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96409408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434233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2/27/2026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27158543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9142723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2/27/2026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36947143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2/27/2026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68296262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2/27/2026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11955506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2/27/2026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8294369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6331703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6271339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433764"/>
            <a:ext cx="6675120" cy="513762"/>
          </a:xfrm>
        </p:spPr>
        <p:txBody>
          <a:bodyPr anchor="t">
            <a:normAutofit/>
          </a:bodyPr>
          <a:lstStyle>
            <a:lvl1pPr algn="l">
              <a:defRPr sz="2400"/>
            </a:lvl1pPr>
          </a:lstStyle>
          <a:p>
            <a:r>
              <a:rPr lang="en-US" dirty="0"/>
              <a:t>Click to edit Master title style</a:t>
            </a:r>
          </a:p>
        </p:txBody>
      </p:sp>
    </p:spTree>
    <p:extLst>
      <p:ext uri="{BB962C8B-B14F-4D97-AF65-F5344CB8AC3E}">
        <p14:creationId xmlns:p14="http://schemas.microsoft.com/office/powerpoint/2010/main" val="583280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424583"/>
          </a:xfrm>
        </p:spPr>
        <p:txBody>
          <a:bodyPr>
            <a:normAutofit/>
          </a:bodyPr>
          <a:lstStyle>
            <a:lvl1pPr>
              <a:defRPr sz="2800" b="1"/>
            </a:lvl1pPr>
          </a:lstStyle>
          <a:p>
            <a:r>
              <a:rPr lang="en-US" dirty="0"/>
              <a:t>Title</a:t>
            </a:r>
          </a:p>
        </p:txBody>
      </p:sp>
      <p:sp>
        <p:nvSpPr>
          <p:cNvPr id="3" name="Content Placeholder 2"/>
          <p:cNvSpPr>
            <a:spLocks noGrp="1"/>
          </p:cNvSpPr>
          <p:nvPr>
            <p:ph idx="1"/>
          </p:nvPr>
        </p:nvSpPr>
        <p:spPr>
          <a:xfrm>
            <a:off x="838200" y="955964"/>
            <a:ext cx="10515600" cy="37961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838200" y="6356350"/>
            <a:ext cx="9428018" cy="365125"/>
          </a:xfrm>
        </p:spPr>
        <p:txBody>
          <a:bodyPr/>
          <a:lstStyle/>
          <a:p>
            <a:endParaRPr lang="en-US"/>
          </a:p>
        </p:txBody>
      </p:sp>
      <p:sp>
        <p:nvSpPr>
          <p:cNvPr id="7" name="Content Placeholder 2"/>
          <p:cNvSpPr>
            <a:spLocks noGrp="1"/>
          </p:cNvSpPr>
          <p:nvPr>
            <p:ph idx="13" hasCustomPrompt="1"/>
          </p:nvPr>
        </p:nvSpPr>
        <p:spPr>
          <a:xfrm>
            <a:off x="838200" y="4918364"/>
            <a:ext cx="10515600" cy="1271731"/>
          </a:xfrm>
        </p:spPr>
        <p:txBody>
          <a:bodyPr>
            <a:normAutofit/>
          </a:bodyPr>
          <a:lstStyle>
            <a:lvl1pPr marL="0" indent="0">
              <a:buNone/>
              <a:defRPr sz="1600"/>
            </a:lvl1pPr>
          </a:lstStyle>
          <a:p>
            <a:pPr lvl="0"/>
            <a:r>
              <a:rPr lang="en-US" dirty="0"/>
              <a:t>Caption</a:t>
            </a:r>
          </a:p>
        </p:txBody>
      </p:sp>
    </p:spTree>
    <p:extLst>
      <p:ext uri="{BB962C8B-B14F-4D97-AF65-F5344CB8AC3E}">
        <p14:creationId xmlns:p14="http://schemas.microsoft.com/office/powerpoint/2010/main" val="129951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2/27/2026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75654282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4"/>
            <a:ext cx="4308672" cy="1263175"/>
          </a:xfrm>
        </p:spPr>
        <p:txBody>
          <a:bodyPr anchor="b">
            <a:normAutofit/>
          </a:bodyPr>
          <a:lstStyle/>
          <a:p>
            <a:r>
              <a:rPr lang="en-US" sz="4800" dirty="0"/>
              <a:t>Chapter 12</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4294967295"/>
          </p:nvPr>
        </p:nvSpPr>
        <p:spPr>
          <a:xfrm>
            <a:off x="7537528" y="2671210"/>
            <a:ext cx="4308672" cy="469555"/>
          </a:xfrm>
        </p:spPr>
        <p:txBody>
          <a:bodyPr anchor="t">
            <a:normAutofit/>
          </a:bodyPr>
          <a:lstStyle/>
          <a:p>
            <a:pPr marL="0" indent="0">
              <a:buNone/>
            </a:pPr>
            <a:r>
              <a:rPr lang="en-US" sz="1600" i="1" dirty="0"/>
              <a:t>Environmental Protection and Negative Externalities</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pic>
        <p:nvPicPr>
          <p:cNvPr id="1026" name="Picture 2">
            <a:extLst>
              <a:ext uri="{FF2B5EF4-FFF2-40B4-BE49-F238E27FC236}">
                <a16:creationId xmlns:a16="http://schemas.microsoft.com/office/drawing/2014/main" id="{0075D6F9-2A99-0222-3698-054A269AE3C2}"/>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594" y="3717236"/>
            <a:ext cx="3286539" cy="2189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40237" y="355699"/>
            <a:ext cx="10515600" cy="568640"/>
          </a:xfrm>
        </p:spPr>
        <p:txBody>
          <a:bodyPr>
            <a:noAutofit/>
          </a:bodyPr>
          <a:lstStyle/>
          <a:p>
            <a:r>
              <a:rPr lang="en-US" b="0" dirty="0"/>
              <a:t>The Progress and Challenges</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734505" y="1248195"/>
            <a:ext cx="10515600" cy="4569625"/>
          </a:xfrm>
          <a:ln>
            <a:solidFill>
              <a:schemeClr val="tx1"/>
            </a:solidFill>
          </a:ln>
        </p:spPr>
        <p:txBody>
          <a:bodyPr>
            <a:norm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U.S. Environmental Progress Since 1970</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Key Achievement:</a:t>
            </a:r>
            <a:r>
              <a:rPr lang="en-US" sz="2400" dirty="0">
                <a:latin typeface="Calibri" panose="020F0502020204030204" pitchFamily="34" charset="0"/>
                <a:ea typeface="Calibri" panose="020F0502020204030204" pitchFamily="34" charset="0"/>
                <a:cs typeface="Calibri" panose="020F0502020204030204" pitchFamily="34" charset="0"/>
              </a:rPr>
              <a:t> Coal CO₂ emissions ↓ 66% (1990-2023)</a:t>
            </a:r>
          </a:p>
          <a:p>
            <a:pPr lvl="1"/>
            <a:r>
              <a:rPr lang="en-US" sz="2400" dirty="0">
                <a:latin typeface="Calibri" panose="020F0502020204030204" pitchFamily="34" charset="0"/>
                <a:ea typeface="Calibri" panose="020F0502020204030204" pitchFamily="34" charset="0"/>
                <a:cs typeface="Calibri" panose="020F0502020204030204" pitchFamily="34" charset="0"/>
              </a:rPr>
              <a:t>Despite 38% population growth and 3.5× economic expansion</a:t>
            </a:r>
          </a:p>
          <a:p>
            <a:pPr lvl="1"/>
            <a:r>
              <a:rPr lang="en-US" sz="2400" dirty="0">
                <a:latin typeface="Calibri" panose="020F0502020204030204" pitchFamily="34" charset="0"/>
                <a:ea typeface="Calibri" panose="020F0502020204030204" pitchFamily="34" charset="0"/>
                <a:cs typeface="Calibri" panose="020F0502020204030204" pitchFamily="34" charset="0"/>
              </a:rPr>
              <a:t>Air and water pollution significantly improved</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Remaining Challenges:</a:t>
            </a:r>
            <a:endParaRPr lang="en-US" sz="2400" dirty="0">
              <a:latin typeface="Calibri" panose="020F0502020204030204" pitchFamily="34" charset="0"/>
              <a:ea typeface="Calibri" panose="020F0502020204030204" pitchFamily="34" charset="0"/>
              <a:cs typeface="Calibri" panose="020F0502020204030204" pitchFamily="34" charset="0"/>
            </a:endParaRPr>
          </a:p>
          <a:p>
            <a:pPr lvl="1"/>
            <a:r>
              <a:rPr lang="en-US" sz="2400" dirty="0">
                <a:latin typeface="Calibri" panose="020F0502020204030204" pitchFamily="34" charset="0"/>
                <a:ea typeface="Calibri" panose="020F0502020204030204" pitchFamily="34" charset="0"/>
                <a:cs typeface="Calibri" panose="020F0502020204030204" pitchFamily="34" charset="0"/>
              </a:rPr>
              <a:t>Hazardous waste disposal</a:t>
            </a:r>
          </a:p>
          <a:p>
            <a:pPr lvl="1"/>
            <a:r>
              <a:rPr lang="en-US" sz="2400" dirty="0">
                <a:latin typeface="Calibri" panose="020F0502020204030204" pitchFamily="34" charset="0"/>
                <a:ea typeface="Calibri" panose="020F0502020204030204" pitchFamily="34" charset="0"/>
                <a:cs typeface="Calibri" panose="020F0502020204030204" pitchFamily="34" charset="0"/>
              </a:rPr>
              <a:t>Habitat destruction</a:t>
            </a:r>
          </a:p>
          <a:p>
            <a:pPr lvl="1"/>
            <a:r>
              <a:rPr lang="en-US" sz="2400" dirty="0">
                <a:latin typeface="Calibri" panose="020F0502020204030204" pitchFamily="34" charset="0"/>
                <a:ea typeface="Calibri" panose="020F0502020204030204" pitchFamily="34" charset="0"/>
                <a:cs typeface="Calibri" panose="020F0502020204030204" pitchFamily="34" charset="0"/>
              </a:rPr>
              <a:t>Public health impacts</a:t>
            </a:r>
          </a:p>
          <a:p>
            <a:pPr marL="0" indent="0">
              <a:buNone/>
            </a:pPr>
            <a:endParaRPr lang="en-US" dirty="0"/>
          </a:p>
        </p:txBody>
      </p:sp>
    </p:spTree>
    <p:extLst>
      <p:ext uri="{BB962C8B-B14F-4D97-AF65-F5344CB8AC3E}">
        <p14:creationId xmlns:p14="http://schemas.microsoft.com/office/powerpoint/2010/main" val="2693733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706225" y="365126"/>
            <a:ext cx="10515600" cy="777874"/>
          </a:xfrm>
        </p:spPr>
        <p:txBody>
          <a:bodyPr>
            <a:normAutofit/>
          </a:bodyPr>
          <a:lstStyle/>
          <a:p>
            <a:r>
              <a:rPr lang="en-US" b="0" dirty="0"/>
              <a:t>Understanding Externalities</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706225" y="1238768"/>
            <a:ext cx="10515600" cy="4177739"/>
          </a:xfrm>
          <a:ln>
            <a:solidFill>
              <a:schemeClr val="tx1"/>
            </a:solidFill>
          </a:ln>
        </p:spPr>
        <p:txBody>
          <a:bodyPr>
            <a:norm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What Are Externalities?</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Externality</a:t>
            </a:r>
            <a:r>
              <a:rPr lang="en-US" sz="2400" dirty="0">
                <a:latin typeface="Calibri" panose="020F0502020204030204" pitchFamily="34" charset="0"/>
                <a:ea typeface="Calibri" panose="020F0502020204030204" pitchFamily="34" charset="0"/>
                <a:cs typeface="Calibri" panose="020F0502020204030204" pitchFamily="34" charset="0"/>
              </a:rPr>
              <a:t> = Market exchange affecting uninvolved third parties</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Two Types:</a:t>
            </a:r>
            <a:endParaRPr lang="en-US" sz="2400" dirty="0">
              <a:latin typeface="Calibri" panose="020F0502020204030204" pitchFamily="34" charset="0"/>
              <a:ea typeface="Calibri" panose="020F0502020204030204" pitchFamily="34" charset="0"/>
              <a:cs typeface="Calibri" panose="020F0502020204030204" pitchFamily="34" charset="0"/>
            </a:endParaRPr>
          </a:p>
          <a:p>
            <a:pPr lvl="1"/>
            <a:r>
              <a:rPr lang="en-US" sz="2400" b="1" dirty="0">
                <a:latin typeface="Calibri" panose="020F0502020204030204" pitchFamily="34" charset="0"/>
                <a:ea typeface="Calibri" panose="020F0502020204030204" pitchFamily="34" charset="0"/>
                <a:cs typeface="Calibri" panose="020F0502020204030204" pitchFamily="34" charset="0"/>
              </a:rPr>
              <a:t>Negative Externality</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Third party </a:t>
            </a:r>
            <a:r>
              <a:rPr lang="en-US" sz="2400" i="1" dirty="0">
                <a:latin typeface="Calibri" panose="020F0502020204030204" pitchFamily="34" charset="0"/>
                <a:ea typeface="Calibri" panose="020F0502020204030204" pitchFamily="34" charset="0"/>
                <a:cs typeface="Calibri" panose="020F0502020204030204" pitchFamily="34" charset="0"/>
              </a:rPr>
              <a:t>suffers</a:t>
            </a:r>
            <a:r>
              <a:rPr lang="en-US" sz="2400" dirty="0">
                <a:latin typeface="Calibri" panose="020F0502020204030204" pitchFamily="34" charset="0"/>
                <a:ea typeface="Calibri" panose="020F0502020204030204" pitchFamily="34" charset="0"/>
                <a:cs typeface="Calibri" panose="020F0502020204030204" pitchFamily="34" charset="0"/>
              </a:rPr>
              <a:t> from others' transaction</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i="1" dirty="0">
                <a:latin typeface="Calibri" panose="020F0502020204030204" pitchFamily="34" charset="0"/>
                <a:ea typeface="Calibri" panose="020F0502020204030204" pitchFamily="34" charset="0"/>
                <a:cs typeface="Calibri" panose="020F0502020204030204" pitchFamily="34" charset="0"/>
              </a:rPr>
              <a:t>Example:</a:t>
            </a:r>
            <a:r>
              <a:rPr lang="en-US" sz="2400" dirty="0">
                <a:latin typeface="Calibri" panose="020F0502020204030204" pitchFamily="34" charset="0"/>
                <a:ea typeface="Calibri" panose="020F0502020204030204" pitchFamily="34" charset="0"/>
                <a:cs typeface="Calibri" panose="020F0502020204030204" pitchFamily="34" charset="0"/>
              </a:rPr>
              <a:t> Your neighbor's late-night band practice</a:t>
            </a:r>
          </a:p>
          <a:p>
            <a:pPr lvl="1"/>
            <a:r>
              <a:rPr lang="en-US" sz="2400" b="1" dirty="0">
                <a:latin typeface="Calibri" panose="020F0502020204030204" pitchFamily="34" charset="0"/>
                <a:ea typeface="Calibri" panose="020F0502020204030204" pitchFamily="34" charset="0"/>
                <a:cs typeface="Calibri" panose="020F0502020204030204" pitchFamily="34" charset="0"/>
              </a:rPr>
              <a:t>Positive Externality</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Third party </a:t>
            </a:r>
            <a:r>
              <a:rPr lang="en-US" sz="2400" i="1" dirty="0">
                <a:latin typeface="Calibri" panose="020F0502020204030204" pitchFamily="34" charset="0"/>
                <a:ea typeface="Calibri" panose="020F0502020204030204" pitchFamily="34" charset="0"/>
                <a:cs typeface="Calibri" panose="020F0502020204030204" pitchFamily="34" charset="0"/>
              </a:rPr>
              <a:t>benefits</a:t>
            </a:r>
            <a:r>
              <a:rPr lang="en-US" sz="2400" dirty="0">
                <a:latin typeface="Calibri" panose="020F0502020204030204" pitchFamily="34" charset="0"/>
                <a:ea typeface="Calibri" panose="020F0502020204030204" pitchFamily="34" charset="0"/>
                <a:cs typeface="Calibri" panose="020F0502020204030204" pitchFamily="34" charset="0"/>
              </a:rPr>
              <a:t> from others' transaction</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i="1" dirty="0">
                <a:latin typeface="Calibri" panose="020F0502020204030204" pitchFamily="34" charset="0"/>
                <a:ea typeface="Calibri" panose="020F0502020204030204" pitchFamily="34" charset="0"/>
                <a:cs typeface="Calibri" panose="020F0502020204030204" pitchFamily="34" charset="0"/>
              </a:rPr>
              <a:t>Example:</a:t>
            </a:r>
            <a:r>
              <a:rPr lang="en-US" sz="2400" dirty="0">
                <a:latin typeface="Calibri" panose="020F0502020204030204" pitchFamily="34" charset="0"/>
                <a:ea typeface="Calibri" panose="020F0502020204030204" pitchFamily="34" charset="0"/>
                <a:cs typeface="Calibri" panose="020F0502020204030204" pitchFamily="34" charset="0"/>
              </a:rPr>
              <a:t> Neighbor's beautiful garden increases your property value</a:t>
            </a:r>
          </a:p>
          <a:p>
            <a:endParaRPr lang="en-US" dirty="0"/>
          </a:p>
        </p:txBody>
      </p:sp>
    </p:spTree>
    <p:extLst>
      <p:ext uri="{BB962C8B-B14F-4D97-AF65-F5344CB8AC3E}">
        <p14:creationId xmlns:p14="http://schemas.microsoft.com/office/powerpoint/2010/main" val="591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96798" y="355699"/>
            <a:ext cx="10515600" cy="949056"/>
          </a:xfrm>
        </p:spPr>
        <p:txBody>
          <a:bodyPr>
            <a:normAutofit/>
          </a:bodyPr>
          <a:lstStyle/>
          <a:p>
            <a:r>
              <a:rPr lang="en-US" b="0" dirty="0"/>
              <a:t>Pollution = Negative Externality</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696798" y="1622807"/>
            <a:ext cx="10515600" cy="4668663"/>
          </a:xfrm>
          <a:ln>
            <a:solidFill>
              <a:schemeClr val="tx1"/>
            </a:solidFill>
          </a:ln>
        </p:spPr>
        <p:txBody>
          <a:bodyPr>
            <a:normAutofit fontScale="92500" lnSpcReduction="20000"/>
          </a:bodyPr>
          <a:lstStyle/>
          <a:p>
            <a:pPr marL="0" indent="0">
              <a:buNone/>
            </a:pPr>
            <a:r>
              <a:rPr lang="en-US" sz="2600" dirty="0">
                <a:latin typeface="Calibri" panose="020F0502020204030204" pitchFamily="34" charset="0"/>
                <a:ea typeface="Calibri" panose="020F0502020204030204" pitchFamily="34" charset="0"/>
                <a:cs typeface="Calibri" panose="020F0502020204030204" pitchFamily="34" charset="0"/>
              </a:rPr>
              <a:t>The Core Problem</a:t>
            </a:r>
          </a:p>
          <a:p>
            <a:pPr marL="0" indent="0">
              <a:buNone/>
            </a:pPr>
            <a:r>
              <a:rPr lang="en-US" sz="2600" b="1" dirty="0">
                <a:latin typeface="Calibri" panose="020F0502020204030204" pitchFamily="34" charset="0"/>
                <a:ea typeface="Calibri" panose="020F0502020204030204" pitchFamily="34" charset="0"/>
                <a:cs typeface="Calibri" panose="020F0502020204030204" pitchFamily="34" charset="0"/>
              </a:rPr>
              <a:t>Pollution</a:t>
            </a:r>
            <a:r>
              <a:rPr lang="en-US" sz="2600" dirty="0">
                <a:latin typeface="Calibri" panose="020F0502020204030204" pitchFamily="34" charset="0"/>
                <a:ea typeface="Calibri" panose="020F0502020204030204" pitchFamily="34" charset="0"/>
                <a:cs typeface="Calibri" panose="020F0502020204030204" pitchFamily="34" charset="0"/>
              </a:rPr>
              <a:t> = Classic negative externality</a:t>
            </a:r>
          </a:p>
          <a:p>
            <a:pPr marL="0" indent="0">
              <a:buNone/>
            </a:pPr>
            <a:endParaRPr lang="en-US" sz="26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600" b="1" dirty="0">
                <a:latin typeface="Calibri" panose="020F0502020204030204" pitchFamily="34" charset="0"/>
                <a:ea typeface="Calibri" panose="020F0502020204030204" pitchFamily="34" charset="0"/>
                <a:cs typeface="Calibri" panose="020F0502020204030204" pitchFamily="34" charset="0"/>
              </a:rPr>
              <a:t>Additional External Costs:</a:t>
            </a:r>
            <a:br>
              <a:rPr lang="en-US" sz="2600" dirty="0">
                <a:latin typeface="Calibri" panose="020F0502020204030204" pitchFamily="34" charset="0"/>
                <a:ea typeface="Calibri" panose="020F0502020204030204" pitchFamily="34" charset="0"/>
                <a:cs typeface="Calibri" panose="020F0502020204030204" pitchFamily="34" charset="0"/>
              </a:rPr>
            </a:br>
            <a:r>
              <a:rPr lang="en-US" sz="2600" dirty="0">
                <a:latin typeface="Calibri" panose="020F0502020204030204" pitchFamily="34" charset="0"/>
                <a:ea typeface="Calibri" panose="020F0502020204030204" pitchFamily="34" charset="0"/>
                <a:cs typeface="Calibri" panose="020F0502020204030204" pitchFamily="34" charset="0"/>
              </a:rPr>
              <a:t>Costs imposed on third parties when output is produced</a:t>
            </a:r>
          </a:p>
          <a:p>
            <a:pPr lvl="1"/>
            <a:r>
              <a:rPr lang="en-US" sz="2600" dirty="0">
                <a:latin typeface="Calibri" panose="020F0502020204030204" pitchFamily="34" charset="0"/>
                <a:ea typeface="Calibri" panose="020F0502020204030204" pitchFamily="34" charset="0"/>
                <a:cs typeface="Calibri" panose="020F0502020204030204" pitchFamily="34" charset="0"/>
              </a:rPr>
              <a:t>Health impacts, property damage, ecosystem harm</a:t>
            </a:r>
          </a:p>
          <a:p>
            <a:pPr marL="0" indent="0">
              <a:buNone/>
            </a:pPr>
            <a:endParaRPr lang="en-US" sz="26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600" b="1" dirty="0">
                <a:latin typeface="Calibri" panose="020F0502020204030204" pitchFamily="34" charset="0"/>
                <a:ea typeface="Calibri" panose="020F0502020204030204" pitchFamily="34" charset="0"/>
                <a:cs typeface="Calibri" panose="020F0502020204030204" pitchFamily="34" charset="0"/>
              </a:rPr>
              <a:t>Social Costs</a:t>
            </a:r>
            <a:r>
              <a:rPr lang="en-US" sz="2600" dirty="0">
                <a:latin typeface="Calibri" panose="020F0502020204030204" pitchFamily="34" charset="0"/>
                <a:ea typeface="Calibri" panose="020F0502020204030204" pitchFamily="34" charset="0"/>
                <a:cs typeface="Calibri" panose="020F0502020204030204" pitchFamily="34" charset="0"/>
              </a:rPr>
              <a:t> = Private Costs + External Costs</a:t>
            </a:r>
          </a:p>
          <a:p>
            <a:pPr marL="0" indent="0">
              <a:buNone/>
            </a:pPr>
            <a:endParaRPr lang="en-US" sz="2600" i="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600" i="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600" i="1" dirty="0">
                <a:latin typeface="Calibri" panose="020F0502020204030204" pitchFamily="34" charset="0"/>
                <a:ea typeface="Calibri" panose="020F0502020204030204" pitchFamily="34" charset="0"/>
                <a:cs typeface="Calibri" panose="020F0502020204030204" pitchFamily="34" charset="0"/>
              </a:rPr>
              <a:t>When firms ignore external costs, they overproduce and underprice goods.</a:t>
            </a:r>
            <a:endParaRPr lang="en-US" sz="26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253535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77944" y="331483"/>
            <a:ext cx="10515600" cy="732004"/>
          </a:xfrm>
        </p:spPr>
        <p:txBody>
          <a:bodyPr>
            <a:noAutofit/>
          </a:bodyPr>
          <a:lstStyle/>
          <a:p>
            <a:r>
              <a:rPr lang="en-US" b="0" dirty="0"/>
              <a:t>The Supply Shift Model</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677944" y="1451113"/>
            <a:ext cx="5418056" cy="5185442"/>
          </a:xfrm>
          <a:ln>
            <a:solidFill>
              <a:schemeClr val="tx1"/>
            </a:solidFill>
          </a:ln>
        </p:spPr>
        <p:txBody>
          <a:bodyPr>
            <a:normAutofit/>
          </a:bodyPr>
          <a:lstStyle/>
          <a:p>
            <a:pPr marL="0" indent="0">
              <a:buNone/>
            </a:pPr>
            <a:r>
              <a:rPr lang="en-US" dirty="0"/>
              <a:t>When Firms Internalize Social Costs</a:t>
            </a:r>
          </a:p>
          <a:p>
            <a:pPr marL="0" indent="0">
              <a:buNone/>
            </a:pPr>
            <a:endParaRPr lang="en-US" b="1" dirty="0"/>
          </a:p>
          <a:p>
            <a:pPr marL="0" indent="0">
              <a:buNone/>
            </a:pPr>
            <a:r>
              <a:rPr lang="en-US" b="1" dirty="0"/>
              <a:t>Private Cost Scenario (S-private):</a:t>
            </a:r>
            <a:br>
              <a:rPr lang="en-US" dirty="0"/>
            </a:br>
            <a:r>
              <a:rPr lang="en-US" dirty="0"/>
              <a:t>Equilibrium at E₀: Price = $650, Quantity = 45,000</a:t>
            </a:r>
          </a:p>
          <a:p>
            <a:pPr marL="0" indent="0">
              <a:buNone/>
            </a:pPr>
            <a:endParaRPr lang="en-US" b="1" dirty="0"/>
          </a:p>
          <a:p>
            <a:pPr marL="0" indent="0">
              <a:buNone/>
            </a:pPr>
            <a:r>
              <a:rPr lang="en-US" b="1" dirty="0"/>
              <a:t>Adding External Costs (+$100/unit):</a:t>
            </a:r>
            <a:br>
              <a:rPr lang="en-US" dirty="0"/>
            </a:br>
            <a:r>
              <a:rPr lang="en-US" dirty="0"/>
              <a:t>Supply shifts left to S-social</a:t>
            </a:r>
            <a:br>
              <a:rPr lang="en-US" dirty="0"/>
            </a:br>
            <a:r>
              <a:rPr lang="en-US" dirty="0"/>
              <a:t>New equilibrium at E₁: Price = $700, Quantity = 40,000</a:t>
            </a:r>
          </a:p>
          <a:p>
            <a:pPr marL="0" indent="0">
              <a:buNone/>
            </a:pPr>
            <a:endParaRPr lang="en-US" b="1" dirty="0"/>
          </a:p>
          <a:p>
            <a:pPr marL="0" indent="0">
              <a:buNone/>
            </a:pPr>
            <a:r>
              <a:rPr lang="en-US" b="1" dirty="0"/>
              <a:t>Result:</a:t>
            </a:r>
            <a:r>
              <a:rPr lang="en-US" dirty="0"/>
              <a:t> Higher price, lower quantity, less pollution</a:t>
            </a:r>
          </a:p>
          <a:p>
            <a:endParaRPr lang="en-US" dirty="0"/>
          </a:p>
        </p:txBody>
      </p:sp>
      <p:pic>
        <p:nvPicPr>
          <p:cNvPr id="4" name="Picture 3" descr="This graph shows a market with downward-sloping demand curve, and two upward-sloping supply curves. One of the supply curves is to the right of the other. The one to the right is labeled the private supply curve, and the other is labeled the social supply curve. Two equilibrium points are illustrated. One occurs at the intersection of demand and private supply, a price of 650 dollars and 45,000 quantity. The other equilibrium occurs at the intersection of demand and social supply, a price of 700 dollars and 40,000 quantity.">
            <a:extLst>
              <a:ext uri="{FF2B5EF4-FFF2-40B4-BE49-F238E27FC236}">
                <a16:creationId xmlns:a16="http://schemas.microsoft.com/office/drawing/2014/main" id="{1F09B0F8-7735-93A5-9319-5629A957D371}"/>
              </a:ext>
            </a:extLst>
          </p:cNvPr>
          <p:cNvPicPr>
            <a:picLocks noChangeAspect="1"/>
          </p:cNvPicPr>
          <p:nvPr/>
        </p:nvPicPr>
        <p:blipFill>
          <a:blip r:embed="rId3"/>
          <a:stretch>
            <a:fillRect/>
          </a:stretch>
        </p:blipFill>
        <p:spPr>
          <a:xfrm>
            <a:off x="6307873" y="1451112"/>
            <a:ext cx="4287239" cy="4472939"/>
          </a:xfrm>
          <a:prstGeom prst="rect">
            <a:avLst/>
          </a:prstGeom>
          <a:ln>
            <a:solidFill>
              <a:schemeClr val="tx1"/>
            </a:solidFill>
          </a:ln>
        </p:spPr>
      </p:pic>
    </p:spTree>
    <p:extLst>
      <p:ext uri="{BB962C8B-B14F-4D97-AF65-F5344CB8AC3E}">
        <p14:creationId xmlns:p14="http://schemas.microsoft.com/office/powerpoint/2010/main" val="4200564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68517" y="365126"/>
            <a:ext cx="10515600" cy="638726"/>
          </a:xfrm>
        </p:spPr>
        <p:txBody>
          <a:bodyPr>
            <a:noAutofit/>
          </a:bodyPr>
          <a:lstStyle/>
          <a:p>
            <a:r>
              <a:rPr lang="en-US" b="0" dirty="0"/>
              <a:t>Market Failure</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668517" y="1238768"/>
            <a:ext cx="10515600" cy="5519841"/>
          </a:xfrm>
          <a:ln>
            <a:solidFill>
              <a:schemeClr val="tx1"/>
            </a:solidFill>
          </a:ln>
        </p:spPr>
        <p:txBody>
          <a:bodyPr>
            <a:no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When Markets Get It Wrong</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Market Failure</a:t>
            </a:r>
            <a:r>
              <a:rPr lang="en-US" sz="2400" dirty="0">
                <a:latin typeface="Calibri" panose="020F0502020204030204" pitchFamily="34" charset="0"/>
                <a:ea typeface="Calibri" panose="020F0502020204030204" pitchFamily="34" charset="0"/>
                <a:cs typeface="Calibri" panose="020F0502020204030204" pitchFamily="34" charset="0"/>
              </a:rPr>
              <a:t> = Markets fail to allocate resources efficiently when social costs ≠ private costs</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The Pollution Problem:</a:t>
            </a:r>
            <a:endParaRPr lang="en-US" sz="2400" dirty="0">
              <a:latin typeface="Calibri" panose="020F0502020204030204" pitchFamily="34" charset="0"/>
              <a:ea typeface="Calibri" panose="020F0502020204030204" pitchFamily="34" charset="0"/>
              <a:cs typeface="Calibri" panose="020F0502020204030204" pitchFamily="34" charset="0"/>
            </a:endParaRPr>
          </a:p>
          <a:p>
            <a:pPr lvl="1"/>
            <a:r>
              <a:rPr lang="en-US" sz="2400" dirty="0">
                <a:latin typeface="Calibri" panose="020F0502020204030204" pitchFamily="34" charset="0"/>
                <a:ea typeface="Calibri" panose="020F0502020204030204" pitchFamily="34" charset="0"/>
                <a:cs typeface="Calibri" panose="020F0502020204030204" pitchFamily="34" charset="0"/>
              </a:rPr>
              <a:t>Without regulation: Firms overproduce</a:t>
            </a:r>
          </a:p>
          <a:p>
            <a:pPr lvl="1"/>
            <a:r>
              <a:rPr lang="en-US" sz="2400" dirty="0">
                <a:latin typeface="Calibri" panose="020F0502020204030204" pitchFamily="34" charset="0"/>
                <a:ea typeface="Calibri" panose="020F0502020204030204" pitchFamily="34" charset="0"/>
                <a:cs typeface="Calibri" panose="020F0502020204030204" pitchFamily="34" charset="0"/>
              </a:rPr>
              <a:t>Too much pollution, quantity exceeds social optimum</a:t>
            </a:r>
          </a:p>
          <a:p>
            <a:pPr lvl="1"/>
            <a:r>
              <a:rPr lang="en-US" sz="2400" dirty="0">
                <a:latin typeface="Calibri" panose="020F0502020204030204" pitchFamily="34" charset="0"/>
                <a:ea typeface="Calibri" panose="020F0502020204030204" pitchFamily="34" charset="0"/>
                <a:cs typeface="Calibri" panose="020F0502020204030204" pitchFamily="34" charset="0"/>
              </a:rPr>
              <a:t>Price too low (doesn't reflect full cost)</a:t>
            </a:r>
          </a:p>
          <a:p>
            <a:pPr lvl="1"/>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Solution:</a:t>
            </a:r>
            <a:r>
              <a:rPr lang="en-US" sz="2400" dirty="0">
                <a:latin typeface="Calibri" panose="020F0502020204030204" pitchFamily="34" charset="0"/>
                <a:ea typeface="Calibri" panose="020F0502020204030204" pitchFamily="34" charset="0"/>
                <a:cs typeface="Calibri" panose="020F0502020204030204" pitchFamily="34" charset="0"/>
              </a:rPr>
              <a:t> Force firms to internalize external costs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 Less pollution, higher price, lower quantity</a:t>
            </a:r>
            <a:br>
              <a:rPr lang="en-US" sz="2400" dirty="0">
                <a:latin typeface="Calibri" panose="020F0502020204030204" pitchFamily="34" charset="0"/>
                <a:ea typeface="Calibri" panose="020F0502020204030204" pitchFamily="34" charset="0"/>
                <a:cs typeface="Calibri" panose="020F0502020204030204" pitchFamily="34" charset="0"/>
              </a:rPr>
            </a:b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63899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59091" y="365126"/>
            <a:ext cx="10515600" cy="708300"/>
          </a:xfrm>
        </p:spPr>
        <p:txBody>
          <a:bodyPr>
            <a:noAutofit/>
          </a:bodyPr>
          <a:lstStyle/>
          <a:p>
            <a:r>
              <a:rPr lang="en-US" b="0" dirty="0"/>
              <a:t>Command-and-Control Regulation</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659091" y="1333036"/>
            <a:ext cx="10515600" cy="5159838"/>
          </a:xfrm>
          <a:ln>
            <a:solidFill>
              <a:schemeClr val="tx1"/>
            </a:solidFill>
          </a:ln>
        </p:spPr>
        <p:txBody>
          <a:bodyPr>
            <a:normAutofit lnSpcReduction="10000"/>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The Traditional Approach</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Command-and-Control</a:t>
            </a:r>
            <a:r>
              <a:rPr lang="en-US" sz="2400" dirty="0">
                <a:latin typeface="Calibri" panose="020F0502020204030204" pitchFamily="34" charset="0"/>
                <a:ea typeface="Calibri" panose="020F0502020204030204" pitchFamily="34" charset="0"/>
                <a:cs typeface="Calibri" panose="020F0502020204030204" pitchFamily="34" charset="0"/>
              </a:rPr>
              <a:t> = Government mandates:</a:t>
            </a:r>
          </a:p>
          <a:p>
            <a:pPr lvl="1"/>
            <a:r>
              <a:rPr lang="en-US" sz="2400" dirty="0">
                <a:latin typeface="Calibri" panose="020F0502020204030204" pitchFamily="34" charset="0"/>
                <a:ea typeface="Calibri" panose="020F0502020204030204" pitchFamily="34" charset="0"/>
                <a:cs typeface="Calibri" panose="020F0502020204030204" pitchFamily="34" charset="0"/>
              </a:rPr>
              <a:t>Emission limits per facility</a:t>
            </a:r>
          </a:p>
          <a:p>
            <a:pPr lvl="1"/>
            <a:r>
              <a:rPr lang="en-US" sz="2400" dirty="0">
                <a:latin typeface="Calibri" panose="020F0502020204030204" pitchFamily="34" charset="0"/>
                <a:ea typeface="Calibri" panose="020F0502020204030204" pitchFamily="34" charset="0"/>
                <a:cs typeface="Calibri" panose="020F0502020204030204" pitchFamily="34" charset="0"/>
              </a:rPr>
              <a:t>Required pollution-control technology</a:t>
            </a:r>
          </a:p>
          <a:p>
            <a:pPr lvl="1"/>
            <a:r>
              <a:rPr lang="en-US" sz="2400" dirty="0">
                <a:latin typeface="Calibri" panose="020F0502020204030204" pitchFamily="34" charset="0"/>
                <a:ea typeface="Calibri" panose="020F0502020204030204" pitchFamily="34" charset="0"/>
                <a:cs typeface="Calibri" panose="020F0502020204030204" pitchFamily="34" charset="0"/>
              </a:rPr>
              <a:t>Penalties for exceeding limits</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Example:</a:t>
            </a:r>
            <a:r>
              <a:rPr lang="en-US" sz="2400" dirty="0">
                <a:latin typeface="Calibri" panose="020F0502020204030204" pitchFamily="34" charset="0"/>
                <a:ea typeface="Calibri" panose="020F0502020204030204" pitchFamily="34" charset="0"/>
                <a:cs typeface="Calibri" panose="020F0502020204030204" pitchFamily="34" charset="0"/>
              </a:rPr>
              <a:t> Clean Air Act (1970), Clean Water Act (1972)</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How it works: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Forces firms to install equipment → raises costs → firms internalize social costs</a:t>
            </a:r>
          </a:p>
          <a:p>
            <a:endParaRPr lang="en-US" dirty="0"/>
          </a:p>
        </p:txBody>
      </p:sp>
    </p:spTree>
    <p:extLst>
      <p:ext uri="{BB962C8B-B14F-4D97-AF65-F5344CB8AC3E}">
        <p14:creationId xmlns:p14="http://schemas.microsoft.com/office/powerpoint/2010/main" val="661202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96798" y="365126"/>
            <a:ext cx="10515600" cy="817081"/>
          </a:xfrm>
        </p:spPr>
        <p:txBody>
          <a:bodyPr>
            <a:normAutofit/>
          </a:bodyPr>
          <a:lstStyle/>
          <a:p>
            <a:r>
              <a:rPr lang="en-US" b="0" dirty="0"/>
              <a:t>Problems with Command-and-Control</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696798" y="1430685"/>
            <a:ext cx="10515600" cy="4883133"/>
          </a:xfrm>
          <a:ln>
            <a:solidFill>
              <a:schemeClr val="tx1"/>
            </a:solidFill>
          </a:ln>
        </p:spPr>
        <p:txBody>
          <a:bodyPr>
            <a:norm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Three Major Limitations</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1. No incentive to exceed standards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Once firms meet the target → innovation stops</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2. Inflexibility</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Same rules for all polluters regardless of cost</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(Expensive for some firms, cheap for others)</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3. Political compromises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Loopholes, exemptions, grandfather clauses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Existing firms often exempted; new firms face stricter rules</a:t>
            </a:r>
          </a:p>
          <a:p>
            <a:endParaRPr lang="en-US" dirty="0"/>
          </a:p>
        </p:txBody>
      </p:sp>
    </p:spTree>
    <p:extLst>
      <p:ext uri="{BB962C8B-B14F-4D97-AF65-F5344CB8AC3E}">
        <p14:creationId xmlns:p14="http://schemas.microsoft.com/office/powerpoint/2010/main" val="3070493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49663" y="402834"/>
            <a:ext cx="10515600" cy="690470"/>
          </a:xfrm>
        </p:spPr>
        <p:txBody>
          <a:bodyPr>
            <a:noAutofit/>
          </a:bodyPr>
          <a:lstStyle/>
          <a:p>
            <a:r>
              <a:rPr lang="en-US" b="0" dirty="0"/>
              <a:t>Market-Oriented Tools Overview</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725079" y="1276476"/>
            <a:ext cx="10515600" cy="5178690"/>
          </a:xfrm>
          <a:ln>
            <a:solidFill>
              <a:schemeClr val="tx1"/>
            </a:solidFill>
          </a:ln>
        </p:spPr>
        <p:txBody>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A Flexible Alternative</a:t>
            </a: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Three market-based approaches:</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1. Pollution Charges (Taxes)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Tax per unit of pollution emitted</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2. Marketable Permits (Cap-and-Trade)</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Set total cap, let firms trade emission rights</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3. Better-Defined Property Rights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Clarify who owns what, enable negotiation</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Core principle:</a:t>
            </a:r>
            <a:r>
              <a:rPr lang="en-US" sz="2000" dirty="0">
                <a:latin typeface="Calibri" panose="020F0502020204030204" pitchFamily="34" charset="0"/>
                <a:ea typeface="Calibri" panose="020F0502020204030204" pitchFamily="34" charset="0"/>
                <a:cs typeface="Calibri" panose="020F0502020204030204" pitchFamily="34" charset="0"/>
              </a:rPr>
              <a:t> Give firms </a:t>
            </a:r>
            <a:r>
              <a:rPr lang="en-US" sz="2000" i="1" dirty="0">
                <a:latin typeface="Calibri" panose="020F0502020204030204" pitchFamily="34" charset="0"/>
                <a:ea typeface="Calibri" panose="020F0502020204030204" pitchFamily="34" charset="0"/>
                <a:cs typeface="Calibri" panose="020F0502020204030204" pitchFamily="34" charset="0"/>
              </a:rPr>
              <a:t>flexibility</a:t>
            </a:r>
            <a:r>
              <a:rPr lang="en-US" sz="2000" dirty="0">
                <a:latin typeface="Calibri" panose="020F0502020204030204" pitchFamily="34" charset="0"/>
                <a:ea typeface="Calibri" panose="020F0502020204030204" pitchFamily="34" charset="0"/>
                <a:cs typeface="Calibri" panose="020F0502020204030204" pitchFamily="34" charset="0"/>
              </a:rPr>
              <a:t> in HOW to reduce pollution, while achieving the SAME environmental goal at LOWER cost.</a:t>
            </a:r>
          </a:p>
          <a:p>
            <a:pPr marL="0" indent="0">
              <a:buNone/>
            </a:pPr>
            <a:endParaRPr lang="en-US" dirty="0"/>
          </a:p>
        </p:txBody>
      </p:sp>
    </p:spTree>
    <p:extLst>
      <p:ext uri="{BB962C8B-B14F-4D97-AF65-F5344CB8AC3E}">
        <p14:creationId xmlns:p14="http://schemas.microsoft.com/office/powerpoint/2010/main" val="5491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715651" y="365126"/>
            <a:ext cx="10515600" cy="424583"/>
          </a:xfrm>
        </p:spPr>
        <p:txBody>
          <a:bodyPr>
            <a:normAutofit fontScale="90000"/>
          </a:bodyPr>
          <a:lstStyle/>
          <a:p>
            <a:r>
              <a:rPr lang="en-US" dirty="0"/>
              <a:t>A Pollution Charge Example</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715651" y="1083365"/>
            <a:ext cx="5380349" cy="5541115"/>
          </a:xfrm>
          <a:ln>
            <a:solidFill>
              <a:schemeClr val="tx1"/>
            </a:solidFill>
          </a:ln>
        </p:spPr>
        <p:txBody>
          <a:bodyPr>
            <a:normAutofit lnSpcReduction="10000"/>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How Pollution Taxes Work</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Pollution Charge</a:t>
            </a:r>
            <a:r>
              <a:rPr lang="en-US" sz="2000" dirty="0">
                <a:latin typeface="Calibri" panose="020F0502020204030204" pitchFamily="34" charset="0"/>
                <a:ea typeface="Calibri" panose="020F0502020204030204" pitchFamily="34" charset="0"/>
                <a:cs typeface="Calibri" panose="020F0502020204030204" pitchFamily="34" charset="0"/>
              </a:rPr>
              <a:t> = Tax per unit of pollution emitted</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Example:</a:t>
            </a:r>
            <a:r>
              <a:rPr lang="en-US" sz="2000" dirty="0">
                <a:latin typeface="Calibri" panose="020F0502020204030204" pitchFamily="34" charset="0"/>
                <a:ea typeface="Calibri" panose="020F0502020204030204" pitchFamily="34" charset="0"/>
                <a:cs typeface="Calibri" panose="020F0502020204030204" pitchFamily="34" charset="0"/>
              </a:rPr>
              <a:t> $1,000 tax per 10 pounds of particulates</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Firm's decision:</a:t>
            </a:r>
            <a:endParaRPr lang="en-US" sz="2000" dirty="0">
              <a:latin typeface="Calibri" panose="020F0502020204030204" pitchFamily="34" charset="0"/>
              <a:ea typeface="Calibri" panose="020F0502020204030204" pitchFamily="34" charset="0"/>
              <a:cs typeface="Calibri" panose="020F0502020204030204" pitchFamily="34" charset="0"/>
            </a:endParaRPr>
          </a:p>
          <a:p>
            <a:pPr lvl="1"/>
            <a:r>
              <a:rPr lang="en-US" sz="2000" dirty="0">
                <a:latin typeface="Calibri" panose="020F0502020204030204" pitchFamily="34" charset="0"/>
                <a:ea typeface="Calibri" panose="020F0502020204030204" pitchFamily="34" charset="0"/>
                <a:cs typeface="Calibri" panose="020F0502020204030204" pitchFamily="34" charset="0"/>
              </a:rPr>
              <a:t>If abatement cost &lt; tax → reduce pollution</a:t>
            </a:r>
          </a:p>
          <a:p>
            <a:pPr lvl="1"/>
            <a:r>
              <a:rPr lang="en-US" sz="2000" dirty="0">
                <a:latin typeface="Calibri" panose="020F0502020204030204" pitchFamily="34" charset="0"/>
                <a:ea typeface="Calibri" panose="020F0502020204030204" pitchFamily="34" charset="0"/>
                <a:cs typeface="Calibri" panose="020F0502020204030204" pitchFamily="34" charset="0"/>
              </a:rPr>
              <a:t>If abatement cost &gt; tax → pay tax</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Outcome:</a:t>
            </a:r>
            <a:r>
              <a:rPr lang="en-US" sz="2000" dirty="0">
                <a:latin typeface="Calibri" panose="020F0502020204030204" pitchFamily="34" charset="0"/>
                <a:ea typeface="Calibri" panose="020F0502020204030204" pitchFamily="34" charset="0"/>
                <a:cs typeface="Calibri" panose="020F0502020204030204" pitchFamily="34" charset="0"/>
              </a:rPr>
              <a:t> </a:t>
            </a:r>
          </a:p>
          <a:p>
            <a:pPr lvl="1"/>
            <a:r>
              <a:rPr lang="en-US" sz="2000" dirty="0">
                <a:latin typeface="Calibri" panose="020F0502020204030204" pitchFamily="34" charset="0"/>
                <a:ea typeface="Calibri" panose="020F0502020204030204" pitchFamily="34" charset="0"/>
                <a:cs typeface="Calibri" panose="020F0502020204030204" pitchFamily="34" charset="0"/>
              </a:rPr>
              <a:t>Firm reduces first 30 pounds (costs $300, $500, $900)</a:t>
            </a:r>
          </a:p>
          <a:p>
            <a:pPr lvl="1"/>
            <a:r>
              <a:rPr lang="en-US" sz="2000" dirty="0">
                <a:latin typeface="Calibri" panose="020F0502020204030204" pitchFamily="34" charset="0"/>
                <a:ea typeface="Calibri" panose="020F0502020204030204" pitchFamily="34" charset="0"/>
                <a:cs typeface="Calibri" panose="020F0502020204030204" pitchFamily="34" charset="0"/>
              </a:rPr>
              <a:t>Stops when marginal cost ($1,500) exceeds tax ($1,000)</a:t>
            </a:r>
          </a:p>
          <a:p>
            <a:endParaRPr lang="en-US" dirty="0"/>
          </a:p>
        </p:txBody>
      </p:sp>
      <p:pic>
        <p:nvPicPr>
          <p:cNvPr id="4" name="Picture 3" descr="This graph illustrates an upward-sloping marginal cost of reducing particle emissions curve, and a pollution charge. The y-axis shows cost and price. The x-axis shows quantity that particle emissions are reduced. The pollution charge is a horizontal line at 1,000 dollars. Marginal cost and the pollution charge intersect at a pollution reduction quantity of 30.">
            <a:extLst>
              <a:ext uri="{FF2B5EF4-FFF2-40B4-BE49-F238E27FC236}">
                <a16:creationId xmlns:a16="http://schemas.microsoft.com/office/drawing/2014/main" id="{A82FB23D-12DF-ED97-FBF8-ADCC78468EA0}"/>
              </a:ext>
            </a:extLst>
          </p:cNvPr>
          <p:cNvPicPr>
            <a:picLocks noChangeAspect="1"/>
          </p:cNvPicPr>
          <p:nvPr/>
        </p:nvPicPr>
        <p:blipFill>
          <a:blip r:embed="rId3"/>
          <a:stretch>
            <a:fillRect/>
          </a:stretch>
        </p:blipFill>
        <p:spPr>
          <a:xfrm>
            <a:off x="6231834" y="1083365"/>
            <a:ext cx="5737856" cy="3533250"/>
          </a:xfrm>
          <a:prstGeom prst="rect">
            <a:avLst/>
          </a:prstGeom>
          <a:ln>
            <a:solidFill>
              <a:schemeClr val="tx1"/>
            </a:solidFill>
          </a:ln>
        </p:spPr>
      </p:pic>
    </p:spTree>
    <p:extLst>
      <p:ext uri="{BB962C8B-B14F-4D97-AF65-F5344CB8AC3E}">
        <p14:creationId xmlns:p14="http://schemas.microsoft.com/office/powerpoint/2010/main" val="4041571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40237" y="365126"/>
            <a:ext cx="10515600" cy="713356"/>
          </a:xfrm>
        </p:spPr>
        <p:txBody>
          <a:bodyPr>
            <a:noAutofit/>
          </a:bodyPr>
          <a:lstStyle/>
          <a:p>
            <a:r>
              <a:rPr lang="en-US" b="0" dirty="0"/>
              <a:t>Marketable Permits (Cap-and-Trade)</a:t>
            </a:r>
          </a:p>
        </p:txBody>
      </p:sp>
      <p:sp>
        <p:nvSpPr>
          <p:cNvPr id="2" name="Content Placeholder 1">
            <a:extLst>
              <a:ext uri="{FF2B5EF4-FFF2-40B4-BE49-F238E27FC236}">
                <a16:creationId xmlns:a16="http://schemas.microsoft.com/office/drawing/2014/main" id="{E4D44C7E-4449-B53B-0C87-0505F28E2650}"/>
              </a:ext>
            </a:extLst>
          </p:cNvPr>
          <p:cNvSpPr>
            <a:spLocks noGrp="1" noChangeArrowheads="1"/>
          </p:cNvSpPr>
          <p:nvPr>
            <p:ph idx="1"/>
          </p:nvPr>
        </p:nvSpPr>
        <p:spPr bwMode="auto">
          <a:xfrm>
            <a:off x="640237" y="1306839"/>
            <a:ext cx="10515600" cy="518603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Real-World Success: U.S. Acid Rain Program</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The System:</a:t>
            </a:r>
            <a:endParaRPr lang="en-US" sz="2000" dirty="0">
              <a:latin typeface="Calibri" panose="020F0502020204030204" pitchFamily="34" charset="0"/>
              <a:ea typeface="Calibri" panose="020F0502020204030204" pitchFamily="34" charset="0"/>
              <a:cs typeface="Calibri" panose="020F0502020204030204" pitchFamily="34" charset="0"/>
            </a:endParaRPr>
          </a:p>
          <a:p>
            <a:pPr lvl="1"/>
            <a:r>
              <a:rPr lang="en-US" sz="2000" b="1" dirty="0">
                <a:latin typeface="Calibri" panose="020F0502020204030204" pitchFamily="34" charset="0"/>
                <a:ea typeface="Calibri" panose="020F0502020204030204" pitchFamily="34" charset="0"/>
                <a:cs typeface="Calibri" panose="020F0502020204030204" pitchFamily="34" charset="0"/>
              </a:rPr>
              <a:t>Cap:</a:t>
            </a:r>
            <a:r>
              <a:rPr lang="en-US" sz="2000" dirty="0">
                <a:latin typeface="Calibri" panose="020F0502020204030204" pitchFamily="34" charset="0"/>
                <a:ea typeface="Calibri" panose="020F0502020204030204" pitchFamily="34" charset="0"/>
                <a:cs typeface="Calibri" panose="020F0502020204030204" pitchFamily="34" charset="0"/>
              </a:rPr>
              <a:t> Government sets total emissions limit (8.95M tons SO₂ by 2010)</a:t>
            </a:r>
          </a:p>
          <a:p>
            <a:pPr lvl="1"/>
            <a:r>
              <a:rPr lang="en-US" sz="2000" b="1" dirty="0">
                <a:latin typeface="Calibri" panose="020F0502020204030204" pitchFamily="34" charset="0"/>
                <a:ea typeface="Calibri" panose="020F0502020204030204" pitchFamily="34" charset="0"/>
                <a:cs typeface="Calibri" panose="020F0502020204030204" pitchFamily="34" charset="0"/>
              </a:rPr>
              <a:t>Permits:</a:t>
            </a:r>
            <a:r>
              <a:rPr lang="en-US" sz="2000" dirty="0">
                <a:latin typeface="Calibri" panose="020F0502020204030204" pitchFamily="34" charset="0"/>
                <a:ea typeface="Calibri" panose="020F0502020204030204" pitchFamily="34" charset="0"/>
                <a:cs typeface="Calibri" panose="020F0502020204030204" pitchFamily="34" charset="0"/>
              </a:rPr>
              <a:t> 1 permit = right to emit 1 ton</a:t>
            </a:r>
          </a:p>
          <a:p>
            <a:pPr lvl="1"/>
            <a:r>
              <a:rPr lang="en-US" sz="2000" b="1" dirty="0">
                <a:latin typeface="Calibri" panose="020F0502020204030204" pitchFamily="34" charset="0"/>
                <a:ea typeface="Calibri" panose="020F0502020204030204" pitchFamily="34" charset="0"/>
                <a:cs typeface="Calibri" panose="020F0502020204030204" pitchFamily="34" charset="0"/>
              </a:rPr>
              <a:t>Trade:</a:t>
            </a:r>
            <a:r>
              <a:rPr lang="en-US" sz="2000" dirty="0">
                <a:latin typeface="Calibri" panose="020F0502020204030204" pitchFamily="34" charset="0"/>
                <a:ea typeface="Calibri" panose="020F0502020204030204" pitchFamily="34" charset="0"/>
                <a:cs typeface="Calibri" panose="020F0502020204030204" pitchFamily="34" charset="0"/>
              </a:rPr>
              <a:t> Firms can buy, sell, or bank permits</a:t>
            </a:r>
          </a:p>
          <a:p>
            <a:pPr lvl="1"/>
            <a:r>
              <a:rPr lang="en-US" sz="2000" b="1" dirty="0">
                <a:latin typeface="Calibri" panose="020F0502020204030204" pitchFamily="34" charset="0"/>
                <a:ea typeface="Calibri" panose="020F0502020204030204" pitchFamily="34" charset="0"/>
                <a:cs typeface="Calibri" panose="020F0502020204030204" pitchFamily="34" charset="0"/>
              </a:rPr>
              <a:t>Shrinking:</a:t>
            </a:r>
            <a:r>
              <a:rPr lang="en-US" sz="2000" dirty="0">
                <a:latin typeface="Calibri" panose="020F0502020204030204" pitchFamily="34" charset="0"/>
                <a:ea typeface="Calibri" panose="020F0502020204030204" pitchFamily="34" charset="0"/>
                <a:cs typeface="Calibri" panose="020F0502020204030204" pitchFamily="34" charset="0"/>
              </a:rPr>
              <a:t> Cap decreases over time</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Why Trading Works: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Firms with cheap abatement reduce more, sell extra permits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Firms with expensive abatement buy permits instead</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Result:</a:t>
            </a:r>
            <a:r>
              <a:rPr lang="en-US" sz="2000" dirty="0">
                <a:latin typeface="Calibri" panose="020F0502020204030204" pitchFamily="34" charset="0"/>
                <a:ea typeface="Calibri" panose="020F0502020204030204" pitchFamily="34" charset="0"/>
                <a:cs typeface="Calibri" panose="020F0502020204030204" pitchFamily="34" charset="0"/>
              </a:rPr>
              <a:t> Same environmental goal at </a:t>
            </a:r>
            <a:r>
              <a:rPr lang="en-US" sz="2000" i="1" dirty="0">
                <a:latin typeface="Calibri" panose="020F0502020204030204" pitchFamily="34" charset="0"/>
                <a:ea typeface="Calibri" panose="020F0502020204030204" pitchFamily="34" charset="0"/>
                <a:cs typeface="Calibri" panose="020F0502020204030204" pitchFamily="34" charset="0"/>
              </a:rPr>
              <a:t>half the expected cost</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pic>
        <p:nvPicPr>
          <p:cNvPr id="2050" name="Picture 2" descr="Cap and Trade Illustration">
            <a:extLst>
              <a:ext uri="{FF2B5EF4-FFF2-40B4-BE49-F238E27FC236}">
                <a16:creationId xmlns:a16="http://schemas.microsoft.com/office/drawing/2014/main" id="{C0A99F64-AECD-BAC4-1971-55E725C62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5138" y="2844853"/>
            <a:ext cx="4677822" cy="2636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846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EEB86-B82B-451D-151F-12FD3E353D6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D39D90-8482-83FB-5D63-36DA3A4B9970}"/>
              </a:ext>
            </a:extLst>
          </p:cNvPr>
          <p:cNvSpPr>
            <a:spLocks noGrp="1"/>
          </p:cNvSpPr>
          <p:nvPr>
            <p:ph type="title"/>
          </p:nvPr>
        </p:nvSpPr>
        <p:spPr>
          <a:xfrm>
            <a:off x="640237" y="365126"/>
            <a:ext cx="10515600" cy="767935"/>
          </a:xfrm>
        </p:spPr>
        <p:txBody>
          <a:bodyPr>
            <a:normAutofit/>
          </a:bodyPr>
          <a:lstStyle/>
          <a:p>
            <a:r>
              <a:rPr lang="en-US" b="0" dirty="0"/>
              <a:t>Trading Example - The Math</a:t>
            </a:r>
          </a:p>
        </p:txBody>
      </p:sp>
      <p:sp>
        <p:nvSpPr>
          <p:cNvPr id="2" name="Content Placeholder 1">
            <a:extLst>
              <a:ext uri="{FF2B5EF4-FFF2-40B4-BE49-F238E27FC236}">
                <a16:creationId xmlns:a16="http://schemas.microsoft.com/office/drawing/2014/main" id="{A543560B-B12A-C3F5-505B-3D87EA1F3DC7}"/>
              </a:ext>
            </a:extLst>
          </p:cNvPr>
          <p:cNvSpPr>
            <a:spLocks noGrp="1" noChangeArrowheads="1"/>
          </p:cNvSpPr>
          <p:nvPr>
            <p:ph idx="1"/>
          </p:nvPr>
        </p:nvSpPr>
        <p:spPr bwMode="auto">
          <a:xfrm>
            <a:off x="640237" y="1192978"/>
            <a:ext cx="10515600" cy="544764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Why Trading Cuts Costs in Half</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Scenario:</a:t>
            </a:r>
            <a:r>
              <a:rPr lang="en-US" dirty="0">
                <a:latin typeface="Calibri" panose="020F0502020204030204" pitchFamily="34" charset="0"/>
                <a:ea typeface="Calibri" panose="020F0502020204030204" pitchFamily="34" charset="0"/>
                <a:cs typeface="Calibri" panose="020F0502020204030204" pitchFamily="34" charset="0"/>
              </a:rPr>
              <a:t> Two plants must cut 10,000 tons total</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Without Trading (each cuts 5,000):</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Plant A: 5,000 × $300 = $1.5M</a:t>
            </a:r>
          </a:p>
          <a:p>
            <a:pPr lvl="1"/>
            <a:r>
              <a:rPr lang="en-US" sz="1800" dirty="0">
                <a:latin typeface="Calibri" panose="020F0502020204030204" pitchFamily="34" charset="0"/>
                <a:ea typeface="Calibri" panose="020F0502020204030204" pitchFamily="34" charset="0"/>
                <a:cs typeface="Calibri" panose="020F0502020204030204" pitchFamily="34" charset="0"/>
              </a:rPr>
              <a:t>Plant B: 5,000 × $900 = $4.5M</a:t>
            </a:r>
          </a:p>
          <a:p>
            <a:pPr lvl="1"/>
            <a:r>
              <a:rPr lang="en-US" sz="1800" b="1" dirty="0">
                <a:latin typeface="Calibri" panose="020F0502020204030204" pitchFamily="34" charset="0"/>
                <a:ea typeface="Calibri" panose="020F0502020204030204" pitchFamily="34" charset="0"/>
                <a:cs typeface="Calibri" panose="020F0502020204030204" pitchFamily="34" charset="0"/>
              </a:rPr>
              <a:t>Total cost = $6.0M</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With Trading (at $600/ton permit price):</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Plant A cuts all 10,000 for $3.0M, sells 5,000 permits for $3.0M (nets $0)</a:t>
            </a:r>
          </a:p>
          <a:p>
            <a:pPr lvl="1"/>
            <a:r>
              <a:rPr lang="en-US" sz="1800" dirty="0">
                <a:latin typeface="Calibri" panose="020F0502020204030204" pitchFamily="34" charset="0"/>
                <a:ea typeface="Calibri" panose="020F0502020204030204" pitchFamily="34" charset="0"/>
                <a:cs typeface="Calibri" panose="020F0502020204030204" pitchFamily="34" charset="0"/>
              </a:rPr>
              <a:t>Plant B cuts 0, buys 5,000 permits for $3.0M</a:t>
            </a: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Total resource cost = $3.0M</a:t>
            </a:r>
            <a:r>
              <a:rPr lang="en-US" dirty="0">
                <a:latin typeface="Calibri" panose="020F0502020204030204" pitchFamily="34" charset="0"/>
                <a:ea typeface="Calibri" panose="020F0502020204030204" pitchFamily="34" charset="0"/>
                <a:cs typeface="Calibri" panose="020F0502020204030204" pitchFamily="34" charset="0"/>
              </a:rPr>
              <a:t> (only A's abatement)</a:t>
            </a:r>
          </a:p>
          <a:p>
            <a:r>
              <a:rPr lang="en-US" i="1" dirty="0">
                <a:latin typeface="Calibri" panose="020F0502020204030204" pitchFamily="34" charset="0"/>
                <a:ea typeface="Calibri" panose="020F0502020204030204" pitchFamily="34" charset="0"/>
                <a:cs typeface="Calibri" panose="020F0502020204030204" pitchFamily="34" charset="0"/>
              </a:rPr>
              <a:t>Trading saves $3M while achieving identical environmental outcome</a:t>
            </a:r>
            <a:endParaRPr lang="en-US"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704250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96797" y="365126"/>
            <a:ext cx="10515600" cy="638726"/>
          </a:xfrm>
        </p:spPr>
        <p:txBody>
          <a:bodyPr>
            <a:noAutofit/>
          </a:bodyPr>
          <a:lstStyle/>
          <a:p>
            <a:r>
              <a:rPr lang="en-US" b="0" dirty="0"/>
              <a:t>Property Rights - Coase Theorem</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696797" y="1256216"/>
            <a:ext cx="9718219" cy="5314266"/>
          </a:xfrm>
          <a:ln>
            <a:solidFill>
              <a:schemeClr val="tx1"/>
            </a:solidFill>
          </a:ln>
        </p:spPr>
        <p:txBody>
          <a:bodyPr>
            <a:norm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When Negotiation Solves Externalities</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Property Rights</a:t>
            </a:r>
            <a:r>
              <a:rPr lang="en-US" sz="2400" dirty="0">
                <a:latin typeface="Calibri" panose="020F0502020204030204" pitchFamily="34" charset="0"/>
                <a:ea typeface="Calibri" panose="020F0502020204030204" pitchFamily="34" charset="0"/>
                <a:cs typeface="Calibri" panose="020F0502020204030204" pitchFamily="34" charset="0"/>
              </a:rPr>
              <a:t> = Legal ownership that others can't infringe without compensation</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Coase Theorem:</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With clear property rights and low bargaining costs,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parties negotiate to the efficient outcome—regardless of who initially owns the rights</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Three Real Examples:</a:t>
            </a:r>
            <a:endParaRPr lang="en-US" sz="2400" dirty="0">
              <a:latin typeface="Calibri" panose="020F0502020204030204" pitchFamily="34" charset="0"/>
              <a:ea typeface="Calibri" panose="020F0502020204030204" pitchFamily="34" charset="0"/>
              <a:cs typeface="Calibri" panose="020F0502020204030204" pitchFamily="34" charset="0"/>
            </a:endParaRPr>
          </a:p>
          <a:p>
            <a:pPr lvl="1"/>
            <a:r>
              <a:rPr lang="en-US" sz="2400" dirty="0">
                <a:latin typeface="Calibri" panose="020F0502020204030204" pitchFamily="34" charset="0"/>
                <a:ea typeface="Calibri" panose="020F0502020204030204" pitchFamily="34" charset="0"/>
                <a:cs typeface="Calibri" panose="020F0502020204030204" pitchFamily="34" charset="0"/>
              </a:rPr>
              <a:t>NYC watershed: City paid upstate farmers to reduce runoff</a:t>
            </a:r>
          </a:p>
          <a:p>
            <a:pPr lvl="1"/>
            <a:r>
              <a:rPr lang="en-US" sz="2400" dirty="0">
                <a:latin typeface="Calibri" panose="020F0502020204030204" pitchFamily="34" charset="0"/>
                <a:ea typeface="Calibri" panose="020F0502020204030204" pitchFamily="34" charset="0"/>
                <a:cs typeface="Calibri" panose="020F0502020204030204" pitchFamily="34" charset="0"/>
              </a:rPr>
              <a:t>SO₂ cap-and-trade: Government defined emission rights, firms traded</a:t>
            </a:r>
          </a:p>
          <a:p>
            <a:pPr lvl="1"/>
            <a:r>
              <a:rPr lang="en-US" sz="2400" dirty="0">
                <a:latin typeface="Calibri" panose="020F0502020204030204" pitchFamily="34" charset="0"/>
                <a:ea typeface="Calibri" panose="020F0502020204030204" pitchFamily="34" charset="0"/>
                <a:cs typeface="Calibri" panose="020F0502020204030204" pitchFamily="34" charset="0"/>
              </a:rPr>
              <a:t>Airport noise: Airports buy easements or soundproof homes</a:t>
            </a:r>
          </a:p>
          <a:p>
            <a:pPr lvl="1"/>
            <a:endParaRPr lang="en-US" sz="1600" dirty="0"/>
          </a:p>
          <a:p>
            <a:pPr lvl="1"/>
            <a:endParaRPr lang="en-US" sz="1600" dirty="0"/>
          </a:p>
          <a:p>
            <a:endParaRPr lang="en-US" dirty="0"/>
          </a:p>
          <a:p>
            <a:endParaRPr lang="en-US" dirty="0"/>
          </a:p>
        </p:txBody>
      </p:sp>
      <p:pic>
        <p:nvPicPr>
          <p:cNvPr id="3074" name="Picture 2" descr="Coase Theorem">
            <a:extLst>
              <a:ext uri="{FF2B5EF4-FFF2-40B4-BE49-F238E27FC236}">
                <a16:creationId xmlns:a16="http://schemas.microsoft.com/office/drawing/2014/main" id="{1271C11B-7D6D-6990-B59A-F2F2C9094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7162" y="1256216"/>
            <a:ext cx="2655672" cy="1770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028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87371" y="365126"/>
            <a:ext cx="10515600" cy="814450"/>
          </a:xfrm>
        </p:spPr>
        <p:txBody>
          <a:bodyPr>
            <a:normAutofit/>
          </a:bodyPr>
          <a:lstStyle/>
          <a:p>
            <a:r>
              <a:rPr lang="en-US" b="0" dirty="0"/>
              <a:t>Benefits of Environmental Protection</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687371" y="1285902"/>
            <a:ext cx="10515600" cy="5206972"/>
          </a:xfrm>
          <a:ln>
            <a:solidFill>
              <a:schemeClr val="tx1"/>
            </a:solidFill>
          </a:ln>
        </p:spPr>
        <p:txBody>
          <a:bodyPr>
            <a:normAutofit/>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Four Categories of Benefits</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1. Health &amp; Longevity</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People live healthier, longer lives</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2. Industry Benefits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Farming, fishing, tourism thrive with clean environment</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3. Property Values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Higher real estate values in clean areas</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4. Intrinsic Value</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People value clean environment beyond market transactions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(e.g., satisfaction knowing Grand Canyon has clear air)</a:t>
            </a:r>
          </a:p>
          <a:p>
            <a:endParaRPr lang="en-US" dirty="0"/>
          </a:p>
        </p:txBody>
      </p:sp>
    </p:spTree>
    <p:extLst>
      <p:ext uri="{BB962C8B-B14F-4D97-AF65-F5344CB8AC3E}">
        <p14:creationId xmlns:p14="http://schemas.microsoft.com/office/powerpoint/2010/main" val="1366767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734505" y="365126"/>
            <a:ext cx="10515600" cy="686434"/>
          </a:xfrm>
        </p:spPr>
        <p:txBody>
          <a:bodyPr>
            <a:noAutofit/>
          </a:bodyPr>
          <a:lstStyle/>
          <a:p>
            <a:r>
              <a:rPr lang="en-US" b="0" dirty="0"/>
              <a:t>Marginal Analysis of Pollution</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734505" y="1248195"/>
            <a:ext cx="10515600" cy="4648002"/>
          </a:xfrm>
          <a:ln>
            <a:solidFill>
              <a:schemeClr val="tx1"/>
            </a:solidFill>
          </a:ln>
        </p:spPr>
        <p:txBody>
          <a:bodyPr>
            <a:normAutofit lnSpcReduction="10000"/>
          </a:bodyPr>
          <a:lstStyle/>
          <a:p>
            <a:pPr marL="0" indent="0">
              <a:buNone/>
            </a:pPr>
            <a:r>
              <a:rPr lang="en-US" dirty="0"/>
              <a:t>Finding the Optimal Level</a:t>
            </a:r>
          </a:p>
          <a:p>
            <a:pPr marL="0" indent="0">
              <a:buNone/>
            </a:pPr>
            <a:r>
              <a:rPr lang="en-US" b="1" dirty="0"/>
              <a:t>Key Insight:</a:t>
            </a:r>
            <a:r>
              <a:rPr lang="en-US" dirty="0"/>
              <a:t> Optimal pollution is </a:t>
            </a:r>
            <a:r>
              <a:rPr lang="en-US" i="1" dirty="0"/>
              <a:t>not zero</a:t>
            </a:r>
            <a:br>
              <a:rPr lang="en-US" dirty="0"/>
            </a:br>
            <a:r>
              <a:rPr lang="en-US" dirty="0"/>
              <a:t>(Zero pollution means zero production—starvation is worse than pollution)</a:t>
            </a:r>
          </a:p>
          <a:p>
            <a:pPr marL="0" indent="0">
              <a:buNone/>
            </a:pPr>
            <a:endParaRPr lang="en-US" b="1" dirty="0"/>
          </a:p>
          <a:p>
            <a:pPr marL="0" indent="0">
              <a:buNone/>
            </a:pPr>
            <a:r>
              <a:rPr lang="en-US" b="1" dirty="0"/>
              <a:t>Marginal Benefit</a:t>
            </a:r>
            <a:r>
              <a:rPr lang="en-US" dirty="0"/>
              <a:t> of reducing pollution:</a:t>
            </a:r>
          </a:p>
          <a:p>
            <a:pPr lvl="1"/>
            <a:r>
              <a:rPr lang="en-US" dirty="0"/>
              <a:t>High when pollution is extensive (low-hanging fruit)</a:t>
            </a:r>
          </a:p>
          <a:p>
            <a:pPr lvl="1"/>
            <a:r>
              <a:rPr lang="en-US" dirty="0"/>
              <a:t>Decreases as environment gets cleaner</a:t>
            </a:r>
          </a:p>
          <a:p>
            <a:pPr marL="0" indent="0">
              <a:buNone/>
            </a:pPr>
            <a:endParaRPr lang="en-US" b="1" dirty="0"/>
          </a:p>
          <a:p>
            <a:pPr marL="0" indent="0">
              <a:buNone/>
            </a:pPr>
            <a:r>
              <a:rPr lang="en-US" b="1" dirty="0"/>
              <a:t>Marginal Cost</a:t>
            </a:r>
            <a:r>
              <a:rPr lang="en-US" dirty="0"/>
              <a:t> of reducing pollution:</a:t>
            </a:r>
          </a:p>
          <a:p>
            <a:pPr lvl="1"/>
            <a:r>
              <a:rPr lang="en-US" dirty="0"/>
              <a:t>Low initially (cheap methods used first)</a:t>
            </a:r>
          </a:p>
          <a:p>
            <a:pPr lvl="1"/>
            <a:r>
              <a:rPr lang="en-US" dirty="0"/>
              <a:t>Increases as cleaner environment requires costly methods</a:t>
            </a:r>
          </a:p>
          <a:p>
            <a:pPr marL="0" indent="0">
              <a:buNone/>
            </a:pPr>
            <a:endParaRPr lang="en-US" b="1" dirty="0"/>
          </a:p>
          <a:p>
            <a:pPr marL="0" indent="0">
              <a:buNone/>
            </a:pPr>
            <a:r>
              <a:rPr lang="en-US" b="1" dirty="0"/>
              <a:t>Optimal point (</a:t>
            </a:r>
            <a:r>
              <a:rPr lang="en-US" b="1" dirty="0" err="1"/>
              <a:t>Qb</a:t>
            </a:r>
            <a:r>
              <a:rPr lang="en-US" b="1" dirty="0"/>
              <a:t>):</a:t>
            </a:r>
            <a:r>
              <a:rPr lang="en-US" dirty="0"/>
              <a:t> MB = MC</a:t>
            </a:r>
          </a:p>
          <a:p>
            <a:endParaRPr lang="en-US" dirty="0"/>
          </a:p>
        </p:txBody>
      </p:sp>
      <p:pic>
        <p:nvPicPr>
          <p:cNvPr id="2" name="Picture 1" descr="The graph shows that reducing pollution to avoid a pollution charge can negatively affect the productivity of a firm.">
            <a:extLst>
              <a:ext uri="{FF2B5EF4-FFF2-40B4-BE49-F238E27FC236}">
                <a16:creationId xmlns:a16="http://schemas.microsoft.com/office/drawing/2014/main" id="{46F15272-24E4-278F-903E-E0EDDC377223}"/>
              </a:ext>
            </a:extLst>
          </p:cNvPr>
          <p:cNvPicPr>
            <a:picLocks noChangeAspect="1"/>
          </p:cNvPicPr>
          <p:nvPr/>
        </p:nvPicPr>
        <p:blipFill>
          <a:blip r:embed="rId3"/>
          <a:stretch>
            <a:fillRect/>
          </a:stretch>
        </p:blipFill>
        <p:spPr>
          <a:xfrm>
            <a:off x="7132547" y="2505541"/>
            <a:ext cx="4053385" cy="3294760"/>
          </a:xfrm>
          <a:prstGeom prst="rect">
            <a:avLst/>
          </a:prstGeom>
        </p:spPr>
      </p:pic>
    </p:spTree>
    <p:extLst>
      <p:ext uri="{BB962C8B-B14F-4D97-AF65-F5344CB8AC3E}">
        <p14:creationId xmlns:p14="http://schemas.microsoft.com/office/powerpoint/2010/main" val="426105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49664" y="365126"/>
            <a:ext cx="10515600" cy="649858"/>
          </a:xfrm>
        </p:spPr>
        <p:txBody>
          <a:bodyPr>
            <a:noAutofit/>
          </a:bodyPr>
          <a:lstStyle/>
          <a:p>
            <a:r>
              <a:rPr lang="en-US" b="0" dirty="0"/>
              <a:t>International Environmental Issues</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734506" y="1370744"/>
            <a:ext cx="10515600" cy="4572856"/>
          </a:xfrm>
          <a:ln>
            <a:solidFill>
              <a:schemeClr val="tx1"/>
            </a:solidFill>
          </a:ln>
        </p:spPr>
        <p:txBody>
          <a:bodyPr>
            <a:normAutofit fontScale="85000" lnSpcReduction="20000"/>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Global Externalities Require Global Solutions</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Problems that cross borders:</a:t>
            </a:r>
            <a:endParaRPr lang="en-US" sz="2400" dirty="0">
              <a:latin typeface="Calibri" panose="020F0502020204030204" pitchFamily="34" charset="0"/>
              <a:ea typeface="Calibri" panose="020F0502020204030204" pitchFamily="34" charset="0"/>
              <a:cs typeface="Calibri" panose="020F0502020204030204" pitchFamily="34" charset="0"/>
            </a:endParaRPr>
          </a:p>
          <a:p>
            <a:pPr lvl="1"/>
            <a:r>
              <a:rPr lang="en-US" sz="2400" dirty="0">
                <a:latin typeface="Calibri" panose="020F0502020204030204" pitchFamily="34" charset="0"/>
                <a:ea typeface="Calibri" panose="020F0502020204030204" pitchFamily="34" charset="0"/>
                <a:cs typeface="Calibri" panose="020F0502020204030204" pitchFamily="34" charset="0"/>
              </a:rPr>
              <a:t>Climate change (CO₂ emissions)</a:t>
            </a:r>
          </a:p>
          <a:p>
            <a:pPr lvl="1"/>
            <a:r>
              <a:rPr lang="en-US" sz="2400" dirty="0">
                <a:latin typeface="Calibri" panose="020F0502020204030204" pitchFamily="34" charset="0"/>
                <a:ea typeface="Calibri" panose="020F0502020204030204" pitchFamily="34" charset="0"/>
                <a:cs typeface="Calibri" panose="020F0502020204030204" pitchFamily="34" charset="0"/>
              </a:rPr>
              <a:t>Biodiversity loss</a:t>
            </a:r>
          </a:p>
          <a:p>
            <a:pPr lvl="1"/>
            <a:r>
              <a:rPr lang="en-US" sz="2400" dirty="0">
                <a:latin typeface="Calibri" panose="020F0502020204030204" pitchFamily="34" charset="0"/>
                <a:ea typeface="Calibri" panose="020F0502020204030204" pitchFamily="34" charset="0"/>
                <a:cs typeface="Calibri" panose="020F0502020204030204" pitchFamily="34" charset="0"/>
              </a:rPr>
              <a:t>Ocean pollution</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The Challenge:</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No nation acting alone can solve these</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 Requires international cooperation</a:t>
            </a: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Tension:</a:t>
            </a:r>
            <a:r>
              <a:rPr lang="en-US" sz="2400" dirty="0">
                <a:latin typeface="Calibri" panose="020F0502020204030204" pitchFamily="34" charset="0"/>
                <a:ea typeface="Calibri" panose="020F0502020204030204" pitchFamily="34" charset="0"/>
                <a:cs typeface="Calibri" panose="020F0502020204030204" pitchFamily="34" charset="0"/>
              </a:rPr>
              <a:t> High-income countries lecture low-income countries,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but high-income created the problem historically</a:t>
            </a:r>
          </a:p>
          <a:p>
            <a:endParaRPr lang="en-US" dirty="0"/>
          </a:p>
        </p:txBody>
      </p:sp>
    </p:spTree>
    <p:extLst>
      <p:ext uri="{BB962C8B-B14F-4D97-AF65-F5344CB8AC3E}">
        <p14:creationId xmlns:p14="http://schemas.microsoft.com/office/powerpoint/2010/main" val="2770267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649664" y="365126"/>
            <a:ext cx="10515600" cy="649858"/>
          </a:xfrm>
        </p:spPr>
        <p:txBody>
          <a:bodyPr>
            <a:noAutofit/>
          </a:bodyPr>
          <a:lstStyle/>
          <a:p>
            <a:r>
              <a:rPr lang="en-US" b="0" dirty="0">
                <a:latin typeface="Calibri" panose="020F0502020204030204" pitchFamily="34" charset="0"/>
                <a:ea typeface="Calibri" panose="020F0502020204030204" pitchFamily="34" charset="0"/>
                <a:cs typeface="Calibri" panose="020F0502020204030204" pitchFamily="34" charset="0"/>
              </a:rPr>
              <a:t>The Paris Climate Agreement</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649664" y="1248195"/>
            <a:ext cx="10515600" cy="5152605"/>
          </a:xfrm>
          <a:ln>
            <a:solidFill>
              <a:schemeClr val="tx1"/>
            </a:solidFill>
          </a:ln>
        </p:spPr>
        <p:txBody>
          <a:bodyPr>
            <a:normAutofit fontScale="92500" lnSpcReduction="10000"/>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Global Cooperation Attempt</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Paris Agreement (2015):</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196 countries committed to CO₂ emission limits</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Key Players: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China and U.S. (world's two largest emitters) signed on</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U.S. Approach:</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Clean Power Plan targeted 32% power plant emission reduction by 2030</a:t>
            </a:r>
          </a:p>
          <a:p>
            <a:pPr marL="0" indent="0">
              <a:buNone/>
            </a:pPr>
            <a:br>
              <a:rPr lang="en-US" sz="2000" b="1" dirty="0">
                <a:latin typeface="Calibri" panose="020F0502020204030204" pitchFamily="34" charset="0"/>
                <a:ea typeface="Calibri" panose="020F0502020204030204" pitchFamily="34" charset="0"/>
                <a:cs typeface="Calibri" panose="020F0502020204030204" pitchFamily="34" charset="0"/>
              </a:rPr>
            </a:br>
            <a:r>
              <a:rPr lang="en-US" sz="2000" b="1" dirty="0">
                <a:latin typeface="Calibri" panose="020F0502020204030204" pitchFamily="34" charset="0"/>
                <a:ea typeface="Calibri" panose="020F0502020204030204" pitchFamily="34" charset="0"/>
                <a:cs typeface="Calibri" panose="020F0502020204030204" pitchFamily="34" charset="0"/>
              </a:rPr>
              <a:t>Political challenges: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Trump admin withdrew (2017), Biden admin rejoined (2021), Trump admin withdrew (2025)</a:t>
            </a:r>
          </a:p>
          <a:p>
            <a:pPr marL="0" indent="0">
              <a:buNone/>
            </a:pPr>
            <a:endParaRPr lang="en-US" sz="2000" i="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i="1" dirty="0">
                <a:latin typeface="Calibri" panose="020F0502020204030204" pitchFamily="34" charset="0"/>
                <a:ea typeface="Calibri" panose="020F0502020204030204" pitchFamily="34" charset="0"/>
                <a:cs typeface="Calibri" panose="020F0502020204030204" pitchFamily="34" charset="0"/>
              </a:rPr>
              <a:t>Market-oriented approaches likely only practical international solution</a:t>
            </a: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603901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DA31C5-1BB4-4AF6-941D-22FC77F901DA}"/>
              </a:ext>
            </a:extLst>
          </p:cNvPr>
          <p:cNvSpPr>
            <a:spLocks noGrp="1"/>
          </p:cNvSpPr>
          <p:nvPr>
            <p:ph type="title"/>
          </p:nvPr>
        </p:nvSpPr>
        <p:spPr>
          <a:xfrm>
            <a:off x="762785" y="72895"/>
            <a:ext cx="10515600" cy="747236"/>
          </a:xfrm>
        </p:spPr>
        <p:txBody>
          <a:bodyPr>
            <a:noAutofit/>
          </a:bodyPr>
          <a:lstStyle/>
          <a:p>
            <a:r>
              <a:rPr lang="en-US" b="0" dirty="0"/>
              <a:t>The Economic-Environmental Tradeoff</a:t>
            </a:r>
          </a:p>
        </p:txBody>
      </p:sp>
      <p:sp>
        <p:nvSpPr>
          <p:cNvPr id="7" name="Content Placeholder 6">
            <a:extLst>
              <a:ext uri="{FF2B5EF4-FFF2-40B4-BE49-F238E27FC236}">
                <a16:creationId xmlns:a16="http://schemas.microsoft.com/office/drawing/2014/main" id="{D851E8A5-7290-7CBC-E7F5-0F4D593F52C0}"/>
              </a:ext>
            </a:extLst>
          </p:cNvPr>
          <p:cNvSpPr>
            <a:spLocks noGrp="1"/>
          </p:cNvSpPr>
          <p:nvPr>
            <p:ph idx="1"/>
          </p:nvPr>
        </p:nvSpPr>
        <p:spPr>
          <a:xfrm>
            <a:off x="838200" y="1212556"/>
            <a:ext cx="7427976" cy="5352836"/>
          </a:xfrm>
          <a:ln>
            <a:solidFill>
              <a:schemeClr val="tx1"/>
            </a:solidFill>
          </a:ln>
        </p:spPr>
        <p:txBody>
          <a:bodyPr>
            <a:normAutofit/>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Production Possibility Frontier (PPF)</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PPF shows tradeoff:</a:t>
            </a:r>
            <a:r>
              <a:rPr lang="en-US" sz="2000" dirty="0">
                <a:latin typeface="Calibri" panose="020F0502020204030204" pitchFamily="34" charset="0"/>
                <a:ea typeface="Calibri" panose="020F0502020204030204" pitchFamily="34" charset="0"/>
                <a:cs typeface="Calibri" panose="020F0502020204030204" pitchFamily="34" charset="0"/>
              </a:rPr>
              <a:t> Economic output vs. Environmental protection</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Point P:</a:t>
            </a:r>
            <a:r>
              <a:rPr lang="en-US" sz="2000" dirty="0">
                <a:latin typeface="Calibri" panose="020F0502020204030204" pitchFamily="34" charset="0"/>
                <a:ea typeface="Calibri" panose="020F0502020204030204" pitchFamily="34" charset="0"/>
                <a:cs typeface="Calibri" panose="020F0502020204030204" pitchFamily="34" charset="0"/>
              </a:rPr>
              <a:t> High output, low environmental protection</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Point T:</a:t>
            </a:r>
            <a:r>
              <a:rPr lang="en-US" sz="2000" dirty="0">
                <a:latin typeface="Calibri" panose="020F0502020204030204" pitchFamily="34" charset="0"/>
                <a:ea typeface="Calibri" panose="020F0502020204030204" pitchFamily="34" charset="0"/>
                <a:cs typeface="Calibri" panose="020F0502020204030204" pitchFamily="34" charset="0"/>
              </a:rPr>
              <a:t> High environmental protection, low output</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Point M (OFF frontier):</a:t>
            </a:r>
            <a:r>
              <a:rPr lang="en-US" sz="2000" dirty="0">
                <a:latin typeface="Calibri" panose="020F0502020204030204" pitchFamily="34" charset="0"/>
                <a:ea typeface="Calibri" panose="020F0502020204030204" pitchFamily="34" charset="0"/>
                <a:cs typeface="Calibri" panose="020F0502020204030204" pitchFamily="34" charset="0"/>
              </a:rPr>
              <a:t> Inefficient—wastes resources</a:t>
            </a:r>
          </a:p>
          <a:p>
            <a:pPr marL="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Key insight:</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Market-oriented tools move us FROM inefficient point M</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TO the frontier (points Q, S)</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 Same environment at lower cost, OR cleaner environment at same cost</a:t>
            </a:r>
          </a:p>
          <a:p>
            <a:endParaRPr lang="en-US" dirty="0"/>
          </a:p>
        </p:txBody>
      </p:sp>
      <p:pic>
        <p:nvPicPr>
          <p:cNvPr id="2" name="Picture 1" descr="The graph shows a trade-off example in which a society must prioritize either economic output or environmental protection.">
            <a:extLst>
              <a:ext uri="{FF2B5EF4-FFF2-40B4-BE49-F238E27FC236}">
                <a16:creationId xmlns:a16="http://schemas.microsoft.com/office/drawing/2014/main" id="{371A9169-B598-6A9C-04ED-EE90AF16CAE0}"/>
              </a:ext>
            </a:extLst>
          </p:cNvPr>
          <p:cNvPicPr>
            <a:picLocks noChangeAspect="1"/>
          </p:cNvPicPr>
          <p:nvPr/>
        </p:nvPicPr>
        <p:blipFill>
          <a:blip r:embed="rId3"/>
          <a:stretch>
            <a:fillRect/>
          </a:stretch>
        </p:blipFill>
        <p:spPr>
          <a:xfrm>
            <a:off x="7669902" y="2261479"/>
            <a:ext cx="4180721" cy="3254990"/>
          </a:xfrm>
          <a:prstGeom prst="rect">
            <a:avLst/>
          </a:prstGeom>
        </p:spPr>
      </p:pic>
    </p:spTree>
    <p:extLst>
      <p:ext uri="{BB962C8B-B14F-4D97-AF65-F5344CB8AC3E}">
        <p14:creationId xmlns:p14="http://schemas.microsoft.com/office/powerpoint/2010/main" val="3393884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CAAD9-6309-72CE-B878-454DD1A9B2BD}"/>
              </a:ext>
            </a:extLst>
          </p:cNvPr>
          <p:cNvSpPr>
            <a:spLocks noGrp="1"/>
          </p:cNvSpPr>
          <p:nvPr>
            <p:ph type="title"/>
          </p:nvPr>
        </p:nvSpPr>
        <p:spPr>
          <a:xfrm>
            <a:off x="838200" y="365126"/>
            <a:ext cx="10515600" cy="805306"/>
          </a:xfrm>
        </p:spPr>
        <p:txBody>
          <a:bodyPr>
            <a:normAutofit/>
          </a:bodyPr>
          <a:lstStyle/>
          <a:p>
            <a:r>
              <a:rPr lang="en-US" b="0" dirty="0"/>
              <a:t>Choosing the Right Tool</a:t>
            </a:r>
          </a:p>
        </p:txBody>
      </p:sp>
      <p:sp>
        <p:nvSpPr>
          <p:cNvPr id="3" name="Content Placeholder 2">
            <a:extLst>
              <a:ext uri="{FF2B5EF4-FFF2-40B4-BE49-F238E27FC236}">
                <a16:creationId xmlns:a16="http://schemas.microsoft.com/office/drawing/2014/main" id="{87A1DBBC-216E-C320-426C-CD178CF25755}"/>
              </a:ext>
            </a:extLst>
          </p:cNvPr>
          <p:cNvSpPr>
            <a:spLocks noGrp="1"/>
          </p:cNvSpPr>
          <p:nvPr>
            <p:ph idx="1"/>
          </p:nvPr>
        </p:nvSpPr>
        <p:spPr>
          <a:xfrm>
            <a:off x="838200" y="1530927"/>
            <a:ext cx="10515600" cy="5180769"/>
          </a:xfrm>
          <a:ln>
            <a:solidFill>
              <a:schemeClr val="tx1"/>
            </a:solidFill>
          </a:ln>
        </p:spPr>
        <p:txBody>
          <a:bodyPr>
            <a:normAutofit fontScale="92500" lnSpcReduction="20000"/>
          </a:bodyPr>
          <a:lstStyle/>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Matching Policy to Problem</a:t>
            </a:r>
          </a:p>
          <a:p>
            <a:pPr marL="0" indent="0">
              <a:buNone/>
            </a:pPr>
            <a:r>
              <a:rPr lang="en-US" sz="1900" b="1" dirty="0">
                <a:latin typeface="Calibri" panose="020F0502020204030204" pitchFamily="34" charset="0"/>
                <a:ea typeface="Calibri" panose="020F0502020204030204" pitchFamily="34" charset="0"/>
                <a:cs typeface="Calibri" panose="020F0502020204030204" pitchFamily="34" charset="0"/>
              </a:rPr>
              <a:t>Pollution Charges work best when:</a:t>
            </a:r>
            <a:endParaRPr lang="en-US" sz="1900" dirty="0">
              <a:latin typeface="Calibri" panose="020F0502020204030204" pitchFamily="34" charset="0"/>
              <a:ea typeface="Calibri" panose="020F0502020204030204" pitchFamily="34" charset="0"/>
              <a:cs typeface="Calibri" panose="020F0502020204030204" pitchFamily="34" charset="0"/>
            </a:endParaRPr>
          </a:p>
          <a:p>
            <a:pPr lvl="1"/>
            <a:r>
              <a:rPr lang="en-US" sz="1900" dirty="0">
                <a:latin typeface="Calibri" panose="020F0502020204030204" pitchFamily="34" charset="0"/>
                <a:ea typeface="Calibri" panose="020F0502020204030204" pitchFamily="34" charset="0"/>
                <a:cs typeface="Calibri" panose="020F0502020204030204" pitchFamily="34" charset="0"/>
              </a:rPr>
              <a:t>Millions of small polluters (cars, households)</a:t>
            </a:r>
          </a:p>
          <a:p>
            <a:pPr lvl="1"/>
            <a:r>
              <a:rPr lang="en-US" sz="1900" dirty="0">
                <a:latin typeface="Calibri" panose="020F0502020204030204" pitchFamily="34" charset="0"/>
                <a:ea typeface="Calibri" panose="020F0502020204030204" pitchFamily="34" charset="0"/>
                <a:cs typeface="Calibri" panose="020F0502020204030204" pitchFamily="34" charset="0"/>
              </a:rPr>
              <a:t>Low transaction costs for collection</a:t>
            </a:r>
            <a:br>
              <a:rPr lang="en-US" sz="1900" dirty="0">
                <a:latin typeface="Calibri" panose="020F0502020204030204" pitchFamily="34" charset="0"/>
                <a:ea typeface="Calibri" panose="020F0502020204030204" pitchFamily="34" charset="0"/>
                <a:cs typeface="Calibri" panose="020F0502020204030204" pitchFamily="34" charset="0"/>
              </a:rPr>
            </a:br>
            <a:r>
              <a:rPr lang="en-US" sz="1900" i="1" dirty="0">
                <a:latin typeface="Calibri" panose="020F0502020204030204" pitchFamily="34" charset="0"/>
                <a:ea typeface="Calibri" panose="020F0502020204030204" pitchFamily="34" charset="0"/>
                <a:cs typeface="Calibri" panose="020F0502020204030204" pitchFamily="34" charset="0"/>
              </a:rPr>
              <a:t>Examples: Gasoline tax, pay-as-you-throw garbage fees</a:t>
            </a:r>
            <a:endParaRPr lang="en-US" sz="19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9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900" b="1" dirty="0">
                <a:latin typeface="Calibri" panose="020F0502020204030204" pitchFamily="34" charset="0"/>
                <a:ea typeface="Calibri" panose="020F0502020204030204" pitchFamily="34" charset="0"/>
                <a:cs typeface="Calibri" panose="020F0502020204030204" pitchFamily="34" charset="0"/>
              </a:rPr>
              <a:t>Marketable Permits work best when:</a:t>
            </a:r>
            <a:endParaRPr lang="en-US" sz="1900" dirty="0">
              <a:latin typeface="Calibri" panose="020F0502020204030204" pitchFamily="34" charset="0"/>
              <a:ea typeface="Calibri" panose="020F0502020204030204" pitchFamily="34" charset="0"/>
              <a:cs typeface="Calibri" panose="020F0502020204030204" pitchFamily="34" charset="0"/>
            </a:endParaRPr>
          </a:p>
          <a:p>
            <a:pPr lvl="1"/>
            <a:r>
              <a:rPr lang="en-US" sz="1900" dirty="0">
                <a:latin typeface="Calibri" panose="020F0502020204030204" pitchFamily="34" charset="0"/>
                <a:ea typeface="Calibri" panose="020F0502020204030204" pitchFamily="34" charset="0"/>
                <a:cs typeface="Calibri" panose="020F0502020204030204" pitchFamily="34" charset="0"/>
              </a:rPr>
              <a:t>Dozens to hundreds of large polluters</a:t>
            </a:r>
          </a:p>
          <a:p>
            <a:pPr lvl="1"/>
            <a:r>
              <a:rPr lang="en-US" sz="1900" dirty="0">
                <a:latin typeface="Calibri" panose="020F0502020204030204" pitchFamily="34" charset="0"/>
                <a:ea typeface="Calibri" panose="020F0502020204030204" pitchFamily="34" charset="0"/>
                <a:cs typeface="Calibri" panose="020F0502020204030204" pitchFamily="34" charset="0"/>
              </a:rPr>
              <a:t>High interest in trading</a:t>
            </a:r>
            <a:br>
              <a:rPr lang="en-US" sz="1900" dirty="0">
                <a:latin typeface="Calibri" panose="020F0502020204030204" pitchFamily="34" charset="0"/>
                <a:ea typeface="Calibri" panose="020F0502020204030204" pitchFamily="34" charset="0"/>
                <a:cs typeface="Calibri" panose="020F0502020204030204" pitchFamily="34" charset="0"/>
              </a:rPr>
            </a:br>
            <a:r>
              <a:rPr lang="en-US" sz="1900" i="1" dirty="0">
                <a:latin typeface="Calibri" panose="020F0502020204030204" pitchFamily="34" charset="0"/>
                <a:ea typeface="Calibri" panose="020F0502020204030204" pitchFamily="34" charset="0"/>
                <a:cs typeface="Calibri" panose="020F0502020204030204" pitchFamily="34" charset="0"/>
              </a:rPr>
              <a:t>Examples: Power plants (SO₂), oil refineries (lead)</a:t>
            </a:r>
            <a:endParaRPr lang="en-US" sz="1900" dirty="0">
              <a:latin typeface="Calibri" panose="020F0502020204030204" pitchFamily="34" charset="0"/>
              <a:ea typeface="Calibri" panose="020F0502020204030204" pitchFamily="34" charset="0"/>
              <a:cs typeface="Calibri" panose="020F0502020204030204" pitchFamily="34" charset="0"/>
            </a:endParaRPr>
          </a:p>
          <a:p>
            <a:endParaRPr lang="en-US" sz="1900" b="1" dirty="0">
              <a:latin typeface="Calibri" panose="020F0502020204030204" pitchFamily="34" charset="0"/>
              <a:ea typeface="Calibri" panose="020F0502020204030204" pitchFamily="34" charset="0"/>
              <a:cs typeface="Calibri" panose="020F0502020204030204" pitchFamily="34" charset="0"/>
            </a:endParaRPr>
          </a:p>
          <a:p>
            <a:r>
              <a:rPr lang="en-US" sz="1900" b="1" dirty="0">
                <a:latin typeface="Calibri" panose="020F0502020204030204" pitchFamily="34" charset="0"/>
                <a:ea typeface="Calibri" panose="020F0502020204030204" pitchFamily="34" charset="0"/>
                <a:cs typeface="Calibri" panose="020F0502020204030204" pitchFamily="34" charset="0"/>
              </a:rPr>
              <a:t>Property Rights work best when:</a:t>
            </a:r>
            <a:endParaRPr lang="en-US" sz="1900" dirty="0">
              <a:latin typeface="Calibri" panose="020F0502020204030204" pitchFamily="34" charset="0"/>
              <a:ea typeface="Calibri" panose="020F0502020204030204" pitchFamily="34" charset="0"/>
              <a:cs typeface="Calibri" panose="020F0502020204030204" pitchFamily="34" charset="0"/>
            </a:endParaRPr>
          </a:p>
          <a:p>
            <a:pPr lvl="1"/>
            <a:r>
              <a:rPr lang="en-US" sz="1900" dirty="0">
                <a:latin typeface="Calibri" panose="020F0502020204030204" pitchFamily="34" charset="0"/>
                <a:ea typeface="Calibri" panose="020F0502020204030204" pitchFamily="34" charset="0"/>
                <a:cs typeface="Calibri" panose="020F0502020204030204" pitchFamily="34" charset="0"/>
              </a:rPr>
              <a:t>Few parties can negotiate directly</a:t>
            </a:r>
          </a:p>
          <a:p>
            <a:pPr lvl="1"/>
            <a:r>
              <a:rPr lang="en-US" sz="1900" dirty="0">
                <a:latin typeface="Calibri" panose="020F0502020204030204" pitchFamily="34" charset="0"/>
                <a:ea typeface="Calibri" panose="020F0502020204030204" pitchFamily="34" charset="0"/>
                <a:cs typeface="Calibri" panose="020F0502020204030204" pitchFamily="34" charset="0"/>
              </a:rPr>
              <a:t>Bargaining costs are low</a:t>
            </a:r>
            <a:br>
              <a:rPr lang="en-US" sz="1900" dirty="0">
                <a:latin typeface="Calibri" panose="020F0502020204030204" pitchFamily="34" charset="0"/>
                <a:ea typeface="Calibri" panose="020F0502020204030204" pitchFamily="34" charset="0"/>
                <a:cs typeface="Calibri" panose="020F0502020204030204" pitchFamily="34" charset="0"/>
              </a:rPr>
            </a:br>
            <a:r>
              <a:rPr lang="en-US" sz="1900" i="1" dirty="0">
                <a:latin typeface="Calibri" panose="020F0502020204030204" pitchFamily="34" charset="0"/>
                <a:ea typeface="Calibri" panose="020F0502020204030204" pitchFamily="34" charset="0"/>
                <a:cs typeface="Calibri" panose="020F0502020204030204" pitchFamily="34" charset="0"/>
              </a:rPr>
              <a:t>Examples: Watershed protection, airport noise</a:t>
            </a:r>
            <a:endParaRPr lang="en-US" sz="19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460999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4A189-21D1-24EC-2EC5-1BCCE367BC81}"/>
              </a:ext>
            </a:extLst>
          </p:cNvPr>
          <p:cNvSpPr>
            <a:spLocks noGrp="1"/>
          </p:cNvSpPr>
          <p:nvPr>
            <p:ph type="title"/>
          </p:nvPr>
        </p:nvSpPr>
        <p:spPr>
          <a:xfrm>
            <a:off x="838200" y="365126"/>
            <a:ext cx="10515600" cy="704722"/>
          </a:xfrm>
        </p:spPr>
        <p:txBody>
          <a:bodyPr>
            <a:noAutofit/>
          </a:bodyPr>
          <a:lstStyle/>
          <a:p>
            <a:r>
              <a:rPr lang="en-US" b="0" dirty="0"/>
              <a:t>Key Takeaways</a:t>
            </a:r>
          </a:p>
        </p:txBody>
      </p:sp>
      <p:sp>
        <p:nvSpPr>
          <p:cNvPr id="3" name="Content Placeholder 2">
            <a:extLst>
              <a:ext uri="{FF2B5EF4-FFF2-40B4-BE49-F238E27FC236}">
                <a16:creationId xmlns:a16="http://schemas.microsoft.com/office/drawing/2014/main" id="{5E571476-FD21-954B-54C0-1441FA223630}"/>
              </a:ext>
            </a:extLst>
          </p:cNvPr>
          <p:cNvSpPr>
            <a:spLocks noGrp="1"/>
          </p:cNvSpPr>
          <p:nvPr>
            <p:ph idx="1"/>
          </p:nvPr>
        </p:nvSpPr>
        <p:spPr>
          <a:xfrm>
            <a:off x="838200" y="1742348"/>
            <a:ext cx="10515600" cy="4750526"/>
          </a:xfrm>
          <a:ln>
            <a:solidFill>
              <a:schemeClr val="tx1"/>
            </a:solidFill>
          </a:ln>
        </p:spPr>
        <p:txBody>
          <a:bodyPr>
            <a:normAutofit/>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Core Lessons from Chapter 12</a:t>
            </a:r>
          </a:p>
          <a:p>
            <a:pPr marL="342900" indent="-3429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Externalities</a:t>
            </a:r>
            <a:r>
              <a:rPr lang="en-US" sz="2000" dirty="0">
                <a:latin typeface="Calibri" panose="020F0502020204030204" pitchFamily="34" charset="0"/>
                <a:ea typeface="Calibri" panose="020F0502020204030204" pitchFamily="34" charset="0"/>
                <a:cs typeface="Calibri" panose="020F0502020204030204" pitchFamily="34" charset="0"/>
              </a:rPr>
              <a:t> = spillover effects causing market failure</a:t>
            </a:r>
          </a:p>
          <a:p>
            <a:pPr marL="342900" indent="-3429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Social costs</a:t>
            </a:r>
            <a:r>
              <a:rPr lang="en-US" sz="2000" dirty="0">
                <a:latin typeface="Calibri" panose="020F0502020204030204" pitchFamily="34" charset="0"/>
                <a:ea typeface="Calibri" panose="020F0502020204030204" pitchFamily="34" charset="0"/>
                <a:cs typeface="Calibri" panose="020F0502020204030204" pitchFamily="34" charset="0"/>
              </a:rPr>
              <a:t> must be internalized for efficient outcomes</a:t>
            </a:r>
          </a:p>
          <a:p>
            <a:pPr marL="342900" indent="-3429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Command-and-control</a:t>
            </a:r>
            <a:r>
              <a:rPr lang="en-US" sz="2000" dirty="0">
                <a:latin typeface="Calibri" panose="020F0502020204030204" pitchFamily="34" charset="0"/>
                <a:ea typeface="Calibri" panose="020F0502020204030204" pitchFamily="34" charset="0"/>
                <a:cs typeface="Calibri" panose="020F0502020204030204" pitchFamily="34" charset="0"/>
              </a:rPr>
              <a:t> works but is inflexible and costly</a:t>
            </a:r>
          </a:p>
          <a:p>
            <a:pPr marL="342900" indent="-3429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Market-oriented tools</a:t>
            </a:r>
            <a:r>
              <a:rPr lang="en-US" sz="2000" dirty="0">
                <a:latin typeface="Calibri" panose="020F0502020204030204" pitchFamily="34" charset="0"/>
                <a:ea typeface="Calibri" panose="020F0502020204030204" pitchFamily="34" charset="0"/>
                <a:cs typeface="Calibri" panose="020F0502020204030204" pitchFamily="34" charset="0"/>
              </a:rPr>
              <a:t> (taxes, permits, property rights) achieve environmental goals at lower cost</a:t>
            </a:r>
          </a:p>
          <a:p>
            <a:pPr marL="342900" indent="-3429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Optimal pollution ≠ zero</a:t>
            </a:r>
            <a:r>
              <a:rPr lang="en-US" sz="2000" dirty="0">
                <a:latin typeface="Calibri" panose="020F0502020204030204" pitchFamily="34" charset="0"/>
                <a:ea typeface="Calibri" panose="020F0502020204030204" pitchFamily="34" charset="0"/>
                <a:cs typeface="Calibri" panose="020F0502020204030204" pitchFamily="34" charset="0"/>
              </a:rPr>
              <a:t>; find where MB = MC</a:t>
            </a:r>
          </a:p>
          <a:p>
            <a:pPr marL="342900" indent="-3429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International cooperation</a:t>
            </a:r>
            <a:r>
              <a:rPr lang="en-US" sz="2000" dirty="0">
                <a:latin typeface="Calibri" panose="020F0502020204030204" pitchFamily="34" charset="0"/>
                <a:ea typeface="Calibri" panose="020F0502020204030204" pitchFamily="34" charset="0"/>
                <a:cs typeface="Calibri" panose="020F0502020204030204" pitchFamily="34" charset="0"/>
              </a:rPr>
              <a:t> necessary for global externalities</a:t>
            </a:r>
          </a:p>
          <a:p>
            <a:pPr marL="342900" indent="-3429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Different tools</a:t>
            </a:r>
            <a:r>
              <a:rPr lang="en-US" sz="2000" dirty="0">
                <a:latin typeface="Calibri" panose="020F0502020204030204" pitchFamily="34" charset="0"/>
                <a:ea typeface="Calibri" panose="020F0502020204030204" pitchFamily="34" charset="0"/>
                <a:cs typeface="Calibri" panose="020F0502020204030204" pitchFamily="34" charset="0"/>
              </a:rPr>
              <a:t> for different situations—no single solution</a:t>
            </a:r>
          </a:p>
          <a:p>
            <a:pPr marL="0" indent="0">
              <a:buNone/>
            </a:pPr>
            <a:endParaRPr lang="en-US" sz="2000" i="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i="1" dirty="0">
                <a:latin typeface="Calibri" panose="020F0502020204030204" pitchFamily="34" charset="0"/>
                <a:ea typeface="Calibri" panose="020F0502020204030204" pitchFamily="34" charset="0"/>
                <a:cs typeface="Calibri" panose="020F0502020204030204" pitchFamily="34" charset="0"/>
              </a:rPr>
              <a:t>The goal: Balance economic output and environmental protection efficiently</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0551212"/>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1010</TotalTime>
  <Words>5388</Words>
  <Application>Microsoft Office PowerPoint</Application>
  <PresentationFormat>Widescreen</PresentationFormat>
  <Paragraphs>318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Gill Sans MT</vt:lpstr>
      <vt:lpstr>Parcel</vt:lpstr>
      <vt:lpstr>Chapter 12</vt:lpstr>
      <vt:lpstr>The Progress and Challenges</vt:lpstr>
      <vt:lpstr>Understanding Externalities</vt:lpstr>
      <vt:lpstr>Pollution = Negative Externality</vt:lpstr>
      <vt:lpstr>The Supply Shift Model</vt:lpstr>
      <vt:lpstr>Market Failure</vt:lpstr>
      <vt:lpstr>Command-and-Control Regulation</vt:lpstr>
      <vt:lpstr>Problems with Command-and-Control</vt:lpstr>
      <vt:lpstr>Market-Oriented Tools Overview</vt:lpstr>
      <vt:lpstr>A Pollution Charge Example</vt:lpstr>
      <vt:lpstr>Marketable Permits (Cap-and-Trade)</vt:lpstr>
      <vt:lpstr>Trading Example - The Math</vt:lpstr>
      <vt:lpstr>Property Rights - Coase Theorem</vt:lpstr>
      <vt:lpstr>Benefits of Environmental Protection</vt:lpstr>
      <vt:lpstr>Marginal Analysis of Pollution</vt:lpstr>
      <vt:lpstr>International Environmental Issues</vt:lpstr>
      <vt:lpstr>The Paris Climate Agreement</vt:lpstr>
      <vt:lpstr>The Economic-Environmental Tradeoff</vt:lpstr>
      <vt:lpstr>Choosing the Right Tool</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2026-02-27T14:42:50Z</dcterms:modified>
</cp:coreProperties>
</file>