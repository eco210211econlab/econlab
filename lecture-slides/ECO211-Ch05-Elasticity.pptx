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20"/>
  </p:notesMasterIdLst>
  <p:sldIdLst>
    <p:sldId id="256" r:id="rId2"/>
    <p:sldId id="280" r:id="rId3"/>
    <p:sldId id="261" r:id="rId4"/>
    <p:sldId id="281" r:id="rId5"/>
    <p:sldId id="262" r:id="rId6"/>
    <p:sldId id="282" r:id="rId7"/>
    <p:sldId id="266" r:id="rId8"/>
    <p:sldId id="267" r:id="rId9"/>
    <p:sldId id="268" r:id="rId10"/>
    <p:sldId id="283" r:id="rId11"/>
    <p:sldId id="270" r:id="rId12"/>
    <p:sldId id="271" r:id="rId13"/>
    <p:sldId id="272" r:id="rId14"/>
    <p:sldId id="273" r:id="rId15"/>
    <p:sldId id="279" r:id="rId16"/>
    <p:sldId id="284" r:id="rId17"/>
    <p:sldId id="285" r:id="rId18"/>
    <p:sldId id="28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06" autoAdjust="0"/>
    <p:restoredTop sz="95519" autoAdjust="0"/>
  </p:normalViewPr>
  <p:slideViewPr>
    <p:cSldViewPr snapToGrid="0">
      <p:cViewPr varScale="1">
        <p:scale>
          <a:sx n="88" d="100"/>
          <a:sy n="88" d="100"/>
        </p:scale>
        <p:origin x="82" y="1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T Lane" userId="c97bbaa9-35da-4a3b-a646-d12e455ac46e" providerId="ADAL" clId="{2FF3E2E3-7818-4E76-9C63-7C10A568D9B9}"/>
    <pc:docChg chg="undo custSel addSld delSld modSld sldOrd modMainMaster">
      <pc:chgData name="Scott T Lane" userId="c97bbaa9-35da-4a3b-a646-d12e455ac46e" providerId="ADAL" clId="{2FF3E2E3-7818-4E76-9C63-7C10A568D9B9}" dt="2026-04-02T12:09:40.926" v="718"/>
      <pc:docMkLst>
        <pc:docMk/>
      </pc:docMkLst>
      <pc:sldChg chg="delSp modSp mod setBg delDesignElem">
        <pc:chgData name="Scott T Lane" userId="c97bbaa9-35da-4a3b-a646-d12e455ac46e" providerId="ADAL" clId="{2FF3E2E3-7818-4E76-9C63-7C10A568D9B9}" dt="2026-03-25T13:12:40.424" v="80" actId="1076"/>
        <pc:sldMkLst>
          <pc:docMk/>
          <pc:sldMk cId="2946475127" sldId="256"/>
        </pc:sldMkLst>
        <pc:spChg chg="mod">
          <ac:chgData name="Scott T Lane" userId="c97bbaa9-35da-4a3b-a646-d12e455ac46e" providerId="ADAL" clId="{2FF3E2E3-7818-4E76-9C63-7C10A568D9B9}" dt="2026-03-25T13:12:36.520" v="79" actId="14100"/>
          <ac:spMkLst>
            <pc:docMk/>
            <pc:sldMk cId="2946475127" sldId="256"/>
            <ac:spMk id="2" creationId="{E63B7D4F-ED2B-026B-3DCC-FC25D75BF3F3}"/>
          </ac:spMkLst>
        </pc:spChg>
        <pc:spChg chg="mod">
          <ac:chgData name="Scott T Lane" userId="c97bbaa9-35da-4a3b-a646-d12e455ac46e" providerId="ADAL" clId="{2FF3E2E3-7818-4E76-9C63-7C10A568D9B9}" dt="2026-03-25T13:12:40.424" v="80" actId="1076"/>
          <ac:spMkLst>
            <pc:docMk/>
            <pc:sldMk cId="2946475127" sldId="256"/>
            <ac:spMk id="3" creationId="{046F5DC3-0C75-250B-266C-A3F19543BE11}"/>
          </ac:spMkLst>
        </pc:spChg>
      </pc:sldChg>
      <pc:sldChg chg="modSp mod">
        <pc:chgData name="Scott T Lane" userId="c97bbaa9-35da-4a3b-a646-d12e455ac46e" providerId="ADAL" clId="{2FF3E2E3-7818-4E76-9C63-7C10A568D9B9}" dt="2026-03-25T13:18:40.597" v="135" actId="20577"/>
        <pc:sldMkLst>
          <pc:docMk/>
          <pc:sldMk cId="1019098297" sldId="261"/>
        </pc:sldMkLst>
        <pc:spChg chg="mod">
          <ac:chgData name="Scott T Lane" userId="c97bbaa9-35da-4a3b-a646-d12e455ac46e" providerId="ADAL" clId="{2FF3E2E3-7818-4E76-9C63-7C10A568D9B9}" dt="2026-03-25T13:18:14.949" v="130" actId="255"/>
          <ac:spMkLst>
            <pc:docMk/>
            <pc:sldMk cId="1019098297" sldId="261"/>
            <ac:spMk id="6" creationId="{D71A7479-65DA-69D3-46CE-B0CFA8D7B701}"/>
          </ac:spMkLst>
        </pc:spChg>
        <pc:spChg chg="mod">
          <ac:chgData name="Scott T Lane" userId="c97bbaa9-35da-4a3b-a646-d12e455ac46e" providerId="ADAL" clId="{2FF3E2E3-7818-4E76-9C63-7C10A568D9B9}" dt="2026-03-25T13:18:40.597" v="135" actId="20577"/>
          <ac:spMkLst>
            <pc:docMk/>
            <pc:sldMk cId="1019098297" sldId="261"/>
            <ac:spMk id="7" creationId="{2027E8B6-B57E-F620-240E-4BB252513E65}"/>
          </ac:spMkLst>
        </pc:spChg>
      </pc:sldChg>
      <pc:sldChg chg="addSp delSp modSp mod">
        <pc:chgData name="Scott T Lane" userId="c97bbaa9-35da-4a3b-a646-d12e455ac46e" providerId="ADAL" clId="{2FF3E2E3-7818-4E76-9C63-7C10A568D9B9}" dt="2026-03-25T13:22:56.445" v="266" actId="255"/>
        <pc:sldMkLst>
          <pc:docMk/>
          <pc:sldMk cId="2273201207" sldId="262"/>
        </pc:sldMkLst>
        <pc:spChg chg="mod">
          <ac:chgData name="Scott T Lane" userId="c97bbaa9-35da-4a3b-a646-d12e455ac46e" providerId="ADAL" clId="{2FF3E2E3-7818-4E76-9C63-7C10A568D9B9}" dt="2026-03-25T13:21:43.210" v="243" actId="20577"/>
          <ac:spMkLst>
            <pc:docMk/>
            <pc:sldMk cId="2273201207" sldId="262"/>
            <ac:spMk id="6" creationId="{D71A7479-65DA-69D3-46CE-B0CFA8D7B701}"/>
          </ac:spMkLst>
        </pc:spChg>
        <pc:spChg chg="mod">
          <ac:chgData name="Scott T Lane" userId="c97bbaa9-35da-4a3b-a646-d12e455ac46e" providerId="ADAL" clId="{2FF3E2E3-7818-4E76-9C63-7C10A568D9B9}" dt="2026-03-25T13:22:56.445" v="266" actId="255"/>
          <ac:spMkLst>
            <pc:docMk/>
            <pc:sldMk cId="2273201207" sldId="262"/>
            <ac:spMk id="7" creationId="{2027E8B6-B57E-F620-240E-4BB252513E65}"/>
          </ac:spMkLst>
        </pc:spChg>
        <pc:graphicFrameChg chg="add mod modGraphic">
          <ac:chgData name="Scott T Lane" userId="c97bbaa9-35da-4a3b-a646-d12e455ac46e" providerId="ADAL" clId="{2FF3E2E3-7818-4E76-9C63-7C10A568D9B9}" dt="2026-03-25T13:22:35.266" v="255"/>
          <ac:graphicFrameMkLst>
            <pc:docMk/>
            <pc:sldMk cId="2273201207" sldId="262"/>
            <ac:graphicFrameMk id="3" creationId="{01369A14-BFDD-79D8-A735-032402C4C3AA}"/>
          </ac:graphicFrameMkLst>
        </pc:graphicFrameChg>
      </pc:sldChg>
      <pc:sldChg chg="modSp mod">
        <pc:chgData name="Scott T Lane" userId="c97bbaa9-35da-4a3b-a646-d12e455ac46e" providerId="ADAL" clId="{2FF3E2E3-7818-4E76-9C63-7C10A568D9B9}" dt="2026-03-25T13:33:10.094" v="450" actId="20577"/>
        <pc:sldMkLst>
          <pc:docMk/>
          <pc:sldMk cId="486547149" sldId="266"/>
        </pc:sldMkLst>
        <pc:spChg chg="mod">
          <ac:chgData name="Scott T Lane" userId="c97bbaa9-35da-4a3b-a646-d12e455ac46e" providerId="ADAL" clId="{2FF3E2E3-7818-4E76-9C63-7C10A568D9B9}" dt="2026-03-25T13:33:10.094" v="450" actId="20577"/>
          <ac:spMkLst>
            <pc:docMk/>
            <pc:sldMk cId="486547149" sldId="266"/>
            <ac:spMk id="6" creationId="{D71A7479-65DA-69D3-46CE-B0CFA8D7B701}"/>
          </ac:spMkLst>
        </pc:spChg>
        <pc:spChg chg="mod">
          <ac:chgData name="Scott T Lane" userId="c97bbaa9-35da-4a3b-a646-d12e455ac46e" providerId="ADAL" clId="{2FF3E2E3-7818-4E76-9C63-7C10A568D9B9}" dt="2026-03-25T13:33:04.829" v="449" actId="12"/>
          <ac:spMkLst>
            <pc:docMk/>
            <pc:sldMk cId="486547149" sldId="266"/>
            <ac:spMk id="7" creationId="{2027E8B6-B57E-F620-240E-4BB252513E65}"/>
          </ac:spMkLst>
        </pc:spChg>
        <pc:picChg chg="mod">
          <ac:chgData name="Scott T Lane" userId="c97bbaa9-35da-4a3b-a646-d12e455ac46e" providerId="ADAL" clId="{2FF3E2E3-7818-4E76-9C63-7C10A568D9B9}" dt="2026-03-25T13:32:47.276" v="444" actId="208"/>
          <ac:picMkLst>
            <pc:docMk/>
            <pc:sldMk cId="486547149" sldId="266"/>
            <ac:picMk id="4" creationId="{F9E3641D-A4FF-8FD7-716C-A7C4B5B5966E}"/>
          </ac:picMkLst>
        </pc:picChg>
      </pc:sldChg>
      <pc:sldChg chg="modSp mod">
        <pc:chgData name="Scott T Lane" userId="c97bbaa9-35da-4a3b-a646-d12e455ac46e" providerId="ADAL" clId="{2FF3E2E3-7818-4E76-9C63-7C10A568D9B9}" dt="2026-03-25T13:34:25.257" v="472" actId="15"/>
        <pc:sldMkLst>
          <pc:docMk/>
          <pc:sldMk cId="3936586755" sldId="267"/>
        </pc:sldMkLst>
        <pc:spChg chg="mod">
          <ac:chgData name="Scott T Lane" userId="c97bbaa9-35da-4a3b-a646-d12e455ac46e" providerId="ADAL" clId="{2FF3E2E3-7818-4E76-9C63-7C10A568D9B9}" dt="2026-03-25T13:33:37.885" v="459" actId="20577"/>
          <ac:spMkLst>
            <pc:docMk/>
            <pc:sldMk cId="3936586755" sldId="267"/>
            <ac:spMk id="6" creationId="{D71A7479-65DA-69D3-46CE-B0CFA8D7B701}"/>
          </ac:spMkLst>
        </pc:spChg>
        <pc:spChg chg="mod">
          <ac:chgData name="Scott T Lane" userId="c97bbaa9-35da-4a3b-a646-d12e455ac46e" providerId="ADAL" clId="{2FF3E2E3-7818-4E76-9C63-7C10A568D9B9}" dt="2026-03-25T13:34:25.257" v="472" actId="15"/>
          <ac:spMkLst>
            <pc:docMk/>
            <pc:sldMk cId="3936586755" sldId="267"/>
            <ac:spMk id="7" creationId="{2027E8B6-B57E-F620-240E-4BB252513E65}"/>
          </ac:spMkLst>
        </pc:spChg>
        <pc:picChg chg="mod">
          <ac:chgData name="Scott T Lane" userId="c97bbaa9-35da-4a3b-a646-d12e455ac46e" providerId="ADAL" clId="{2FF3E2E3-7818-4E76-9C63-7C10A568D9B9}" dt="2026-03-25T13:34:08.155" v="464" actId="208"/>
          <ac:picMkLst>
            <pc:docMk/>
            <pc:sldMk cId="3936586755" sldId="267"/>
            <ac:picMk id="5" creationId="{DBF3E19A-36C8-249D-3822-693D0F489DAD}"/>
          </ac:picMkLst>
        </pc:picChg>
      </pc:sldChg>
      <pc:sldChg chg="addSp delSp modSp mod">
        <pc:chgData name="Scott T Lane" userId="c97bbaa9-35da-4a3b-a646-d12e455ac46e" providerId="ADAL" clId="{2FF3E2E3-7818-4E76-9C63-7C10A568D9B9}" dt="2026-03-25T13:36:25.016" v="502" actId="15"/>
        <pc:sldMkLst>
          <pc:docMk/>
          <pc:sldMk cId="3601074788" sldId="268"/>
        </pc:sldMkLst>
        <pc:spChg chg="mod">
          <ac:chgData name="Scott T Lane" userId="c97bbaa9-35da-4a3b-a646-d12e455ac46e" providerId="ADAL" clId="{2FF3E2E3-7818-4E76-9C63-7C10A568D9B9}" dt="2026-03-25T13:34:37.853" v="481" actId="20577"/>
          <ac:spMkLst>
            <pc:docMk/>
            <pc:sldMk cId="3601074788" sldId="268"/>
            <ac:spMk id="6" creationId="{D71A7479-65DA-69D3-46CE-B0CFA8D7B701}"/>
          </ac:spMkLst>
        </pc:spChg>
        <pc:spChg chg="mod">
          <ac:chgData name="Scott T Lane" userId="c97bbaa9-35da-4a3b-a646-d12e455ac46e" providerId="ADAL" clId="{2FF3E2E3-7818-4E76-9C63-7C10A568D9B9}" dt="2026-03-25T13:36:25.016" v="502" actId="15"/>
          <ac:spMkLst>
            <pc:docMk/>
            <pc:sldMk cId="3601074788" sldId="268"/>
            <ac:spMk id="7" creationId="{2027E8B6-B57E-F620-240E-4BB252513E65}"/>
          </ac:spMkLst>
        </pc:spChg>
        <pc:picChg chg="mod">
          <ac:chgData name="Scott T Lane" userId="c97bbaa9-35da-4a3b-a646-d12e455ac46e" providerId="ADAL" clId="{2FF3E2E3-7818-4E76-9C63-7C10A568D9B9}" dt="2026-03-25T13:36:13.845" v="499" actId="1076"/>
          <ac:picMkLst>
            <pc:docMk/>
            <pc:sldMk cId="3601074788" sldId="268"/>
            <ac:picMk id="3" creationId="{57303A85-E3DE-08D0-23AE-532CA4BCF8E0}"/>
          </ac:picMkLst>
        </pc:picChg>
        <pc:picChg chg="add mod">
          <ac:chgData name="Scott T Lane" userId="c97bbaa9-35da-4a3b-a646-d12e455ac46e" providerId="ADAL" clId="{2FF3E2E3-7818-4E76-9C63-7C10A568D9B9}" dt="2026-03-25T13:36:10.372" v="498" actId="1076"/>
          <ac:picMkLst>
            <pc:docMk/>
            <pc:sldMk cId="3601074788" sldId="268"/>
            <ac:picMk id="4" creationId="{1827527E-3045-9044-6A5F-C849AEA7B0B6}"/>
          </ac:picMkLst>
        </pc:picChg>
      </pc:sldChg>
      <pc:sldChg chg="modSp mod">
        <pc:chgData name="Scott T Lane" userId="c97bbaa9-35da-4a3b-a646-d12e455ac46e" providerId="ADAL" clId="{2FF3E2E3-7818-4E76-9C63-7C10A568D9B9}" dt="2026-03-25T13:38:33.467" v="536" actId="20577"/>
        <pc:sldMkLst>
          <pc:docMk/>
          <pc:sldMk cId="22397279" sldId="270"/>
        </pc:sldMkLst>
        <pc:spChg chg="mod">
          <ac:chgData name="Scott T Lane" userId="c97bbaa9-35da-4a3b-a646-d12e455ac46e" providerId="ADAL" clId="{2FF3E2E3-7818-4E76-9C63-7C10A568D9B9}" dt="2026-03-25T13:37:13.278" v="523" actId="14100"/>
          <ac:spMkLst>
            <pc:docMk/>
            <pc:sldMk cId="22397279" sldId="270"/>
            <ac:spMk id="6" creationId="{D71A7479-65DA-69D3-46CE-B0CFA8D7B701}"/>
          </ac:spMkLst>
        </pc:spChg>
        <pc:spChg chg="mod">
          <ac:chgData name="Scott T Lane" userId="c97bbaa9-35da-4a3b-a646-d12e455ac46e" providerId="ADAL" clId="{2FF3E2E3-7818-4E76-9C63-7C10A568D9B9}" dt="2026-03-25T13:38:33.467" v="536" actId="20577"/>
          <ac:spMkLst>
            <pc:docMk/>
            <pc:sldMk cId="22397279" sldId="270"/>
            <ac:spMk id="7" creationId="{2027E8B6-B57E-F620-240E-4BB252513E65}"/>
          </ac:spMkLst>
        </pc:spChg>
        <pc:picChg chg="mod">
          <ac:chgData name="Scott T Lane" userId="c97bbaa9-35da-4a3b-a646-d12e455ac46e" providerId="ADAL" clId="{2FF3E2E3-7818-4E76-9C63-7C10A568D9B9}" dt="2026-03-25T13:38:14.174" v="529" actId="1076"/>
          <ac:picMkLst>
            <pc:docMk/>
            <pc:sldMk cId="22397279" sldId="270"/>
            <ac:picMk id="4" creationId="{7E4E9180-13D8-75B3-D668-C6010E40AC24}"/>
          </ac:picMkLst>
        </pc:picChg>
        <pc:picChg chg="mod">
          <ac:chgData name="Scott T Lane" userId="c97bbaa9-35da-4a3b-a646-d12e455ac46e" providerId="ADAL" clId="{2FF3E2E3-7818-4E76-9C63-7C10A568D9B9}" dt="2026-03-25T13:38:17.140" v="530" actId="1076"/>
          <ac:picMkLst>
            <pc:docMk/>
            <pc:sldMk cId="22397279" sldId="270"/>
            <ac:picMk id="8" creationId="{1F582D2E-D87A-8DD9-74FA-F13BE09A0364}"/>
          </ac:picMkLst>
        </pc:picChg>
      </pc:sldChg>
      <pc:sldChg chg="modSp mod">
        <pc:chgData name="Scott T Lane" userId="c97bbaa9-35da-4a3b-a646-d12e455ac46e" providerId="ADAL" clId="{2FF3E2E3-7818-4E76-9C63-7C10A568D9B9}" dt="2026-03-25T13:41:03.262" v="587" actId="15"/>
        <pc:sldMkLst>
          <pc:docMk/>
          <pc:sldMk cId="1873017081" sldId="271"/>
        </pc:sldMkLst>
        <pc:spChg chg="mod">
          <ac:chgData name="Scott T Lane" userId="c97bbaa9-35da-4a3b-a646-d12e455ac46e" providerId="ADAL" clId="{2FF3E2E3-7818-4E76-9C63-7C10A568D9B9}" dt="2026-03-25T13:40:25.380" v="583" actId="255"/>
          <ac:spMkLst>
            <pc:docMk/>
            <pc:sldMk cId="1873017081" sldId="271"/>
            <ac:spMk id="6" creationId="{D71A7479-65DA-69D3-46CE-B0CFA8D7B701}"/>
          </ac:spMkLst>
        </pc:spChg>
        <pc:spChg chg="mod">
          <ac:chgData name="Scott T Lane" userId="c97bbaa9-35da-4a3b-a646-d12e455ac46e" providerId="ADAL" clId="{2FF3E2E3-7818-4E76-9C63-7C10A568D9B9}" dt="2026-03-25T13:41:03.262" v="587" actId="15"/>
          <ac:spMkLst>
            <pc:docMk/>
            <pc:sldMk cId="1873017081" sldId="271"/>
            <ac:spMk id="7" creationId="{2027E8B6-B57E-F620-240E-4BB252513E65}"/>
          </ac:spMkLst>
        </pc:spChg>
      </pc:sldChg>
      <pc:sldChg chg="modSp mod">
        <pc:chgData name="Scott T Lane" userId="c97bbaa9-35da-4a3b-a646-d12e455ac46e" providerId="ADAL" clId="{2FF3E2E3-7818-4E76-9C63-7C10A568D9B9}" dt="2026-03-25T13:42:10.330" v="612" actId="15"/>
        <pc:sldMkLst>
          <pc:docMk/>
          <pc:sldMk cId="1338979007" sldId="272"/>
        </pc:sldMkLst>
        <pc:spChg chg="mod">
          <ac:chgData name="Scott T Lane" userId="c97bbaa9-35da-4a3b-a646-d12e455ac46e" providerId="ADAL" clId="{2FF3E2E3-7818-4E76-9C63-7C10A568D9B9}" dt="2026-03-25T13:41:33.456" v="608" actId="20577"/>
          <ac:spMkLst>
            <pc:docMk/>
            <pc:sldMk cId="1338979007" sldId="272"/>
            <ac:spMk id="6" creationId="{D71A7479-65DA-69D3-46CE-B0CFA8D7B701}"/>
          </ac:spMkLst>
        </pc:spChg>
        <pc:spChg chg="mod">
          <ac:chgData name="Scott T Lane" userId="c97bbaa9-35da-4a3b-a646-d12e455ac46e" providerId="ADAL" clId="{2FF3E2E3-7818-4E76-9C63-7C10A568D9B9}" dt="2026-03-25T13:42:10.330" v="612" actId="15"/>
          <ac:spMkLst>
            <pc:docMk/>
            <pc:sldMk cId="1338979007" sldId="272"/>
            <ac:spMk id="7" creationId="{2027E8B6-B57E-F620-240E-4BB252513E65}"/>
          </ac:spMkLst>
        </pc:spChg>
      </pc:sldChg>
      <pc:sldChg chg="modSp mod">
        <pc:chgData name="Scott T Lane" userId="c97bbaa9-35da-4a3b-a646-d12e455ac46e" providerId="ADAL" clId="{2FF3E2E3-7818-4E76-9C63-7C10A568D9B9}" dt="2026-03-25T13:43:29.199" v="633" actId="1076"/>
        <pc:sldMkLst>
          <pc:docMk/>
          <pc:sldMk cId="2714076819" sldId="273"/>
        </pc:sldMkLst>
        <pc:spChg chg="mod">
          <ac:chgData name="Scott T Lane" userId="c97bbaa9-35da-4a3b-a646-d12e455ac46e" providerId="ADAL" clId="{2FF3E2E3-7818-4E76-9C63-7C10A568D9B9}" dt="2026-03-25T13:43:08.119" v="630" actId="14100"/>
          <ac:spMkLst>
            <pc:docMk/>
            <pc:sldMk cId="2714076819" sldId="273"/>
            <ac:spMk id="6" creationId="{D71A7479-65DA-69D3-46CE-B0CFA8D7B701}"/>
          </ac:spMkLst>
        </pc:spChg>
        <pc:picChg chg="mod">
          <ac:chgData name="Scott T Lane" userId="c97bbaa9-35da-4a3b-a646-d12e455ac46e" providerId="ADAL" clId="{2FF3E2E3-7818-4E76-9C63-7C10A568D9B9}" dt="2026-03-25T13:43:20.207" v="631" actId="1076"/>
          <ac:picMkLst>
            <pc:docMk/>
            <pc:sldMk cId="2714076819" sldId="273"/>
            <ac:picMk id="3" creationId="{DBCEDC56-2B68-59F3-4A20-9FDC047419E5}"/>
          </ac:picMkLst>
        </pc:picChg>
        <pc:picChg chg="mod">
          <ac:chgData name="Scott T Lane" userId="c97bbaa9-35da-4a3b-a646-d12e455ac46e" providerId="ADAL" clId="{2FF3E2E3-7818-4E76-9C63-7C10A568D9B9}" dt="2026-03-25T13:43:25.631" v="632" actId="1076"/>
          <ac:picMkLst>
            <pc:docMk/>
            <pc:sldMk cId="2714076819" sldId="273"/>
            <ac:picMk id="5" creationId="{AE9A5360-BA83-4ADC-0FFE-1F9B6F94D2C8}"/>
          </ac:picMkLst>
        </pc:picChg>
        <pc:picChg chg="mod">
          <ac:chgData name="Scott T Lane" userId="c97bbaa9-35da-4a3b-a646-d12e455ac46e" providerId="ADAL" clId="{2FF3E2E3-7818-4E76-9C63-7C10A568D9B9}" dt="2026-03-25T13:43:29.199" v="633" actId="1076"/>
          <ac:picMkLst>
            <pc:docMk/>
            <pc:sldMk cId="2714076819" sldId="273"/>
            <ac:picMk id="9" creationId="{AA823AA7-5365-FC8E-1ECE-702F8C4F5700}"/>
          </ac:picMkLst>
        </pc:picChg>
      </pc:sldChg>
      <pc:sldChg chg="modSp new mod">
        <pc:chgData name="Scott T Lane" userId="c97bbaa9-35da-4a3b-a646-d12e455ac46e" providerId="ADAL" clId="{2FF3E2E3-7818-4E76-9C63-7C10A568D9B9}" dt="2026-03-25T13:15:24.212" v="119" actId="14100"/>
        <pc:sldMkLst>
          <pc:docMk/>
          <pc:sldMk cId="2247936235" sldId="280"/>
        </pc:sldMkLst>
        <pc:spChg chg="mod">
          <ac:chgData name="Scott T Lane" userId="c97bbaa9-35da-4a3b-a646-d12e455ac46e" providerId="ADAL" clId="{2FF3E2E3-7818-4E76-9C63-7C10A568D9B9}" dt="2026-03-25T13:15:24.212" v="119" actId="14100"/>
          <ac:spMkLst>
            <pc:docMk/>
            <pc:sldMk cId="2247936235" sldId="280"/>
            <ac:spMk id="2" creationId="{38DA5C3A-DE27-8765-B034-C44A996A7EF2}"/>
          </ac:spMkLst>
        </pc:spChg>
        <pc:spChg chg="mod">
          <ac:chgData name="Scott T Lane" userId="c97bbaa9-35da-4a3b-a646-d12e455ac46e" providerId="ADAL" clId="{2FF3E2E3-7818-4E76-9C63-7C10A568D9B9}" dt="2026-03-25T13:14:56.723" v="117" actId="20577"/>
          <ac:spMkLst>
            <pc:docMk/>
            <pc:sldMk cId="2247936235" sldId="280"/>
            <ac:spMk id="3" creationId="{1CD37EA4-297B-154B-B229-BE9CDF04CE29}"/>
          </ac:spMkLst>
        </pc:spChg>
      </pc:sldChg>
      <pc:sldChg chg="modSp new mod">
        <pc:chgData name="Scott T Lane" userId="c97bbaa9-35da-4a3b-a646-d12e455ac46e" providerId="ADAL" clId="{2FF3E2E3-7818-4E76-9C63-7C10A568D9B9}" dt="2026-03-25T13:20:59.901" v="212" actId="20577"/>
        <pc:sldMkLst>
          <pc:docMk/>
          <pc:sldMk cId="1638407365" sldId="281"/>
        </pc:sldMkLst>
        <pc:spChg chg="mod">
          <ac:chgData name="Scott T Lane" userId="c97bbaa9-35da-4a3b-a646-d12e455ac46e" providerId="ADAL" clId="{2FF3E2E3-7818-4E76-9C63-7C10A568D9B9}" dt="2026-03-25T13:19:22.111" v="169" actId="20577"/>
          <ac:spMkLst>
            <pc:docMk/>
            <pc:sldMk cId="1638407365" sldId="281"/>
            <ac:spMk id="2" creationId="{FEF02713-D929-A5DF-AAF5-55940914685A}"/>
          </ac:spMkLst>
        </pc:spChg>
        <pc:spChg chg="mod">
          <ac:chgData name="Scott T Lane" userId="c97bbaa9-35da-4a3b-a646-d12e455ac46e" providerId="ADAL" clId="{2FF3E2E3-7818-4E76-9C63-7C10A568D9B9}" dt="2026-03-25T13:20:59.901" v="212" actId="20577"/>
          <ac:spMkLst>
            <pc:docMk/>
            <pc:sldMk cId="1638407365" sldId="281"/>
            <ac:spMk id="3" creationId="{BF54CD48-A3CC-6741-542D-DA4A50B6DA81}"/>
          </ac:spMkLst>
        </pc:spChg>
      </pc:sldChg>
      <pc:sldChg chg="modSp new mod modNotesTx">
        <pc:chgData name="Scott T Lane" userId="c97bbaa9-35da-4a3b-a646-d12e455ac46e" providerId="ADAL" clId="{2FF3E2E3-7818-4E76-9C63-7C10A568D9B9}" dt="2026-03-25T13:30:28.305" v="401" actId="20577"/>
        <pc:sldMkLst>
          <pc:docMk/>
          <pc:sldMk cId="1842642459" sldId="282"/>
        </pc:sldMkLst>
        <pc:spChg chg="mod">
          <ac:chgData name="Scott T Lane" userId="c97bbaa9-35da-4a3b-a646-d12e455ac46e" providerId="ADAL" clId="{2FF3E2E3-7818-4E76-9C63-7C10A568D9B9}" dt="2026-03-25T13:24:22.814" v="272" actId="113"/>
          <ac:spMkLst>
            <pc:docMk/>
            <pc:sldMk cId="1842642459" sldId="282"/>
            <ac:spMk id="2" creationId="{295B69C9-CDF0-B3A0-B65A-CD357704E905}"/>
          </ac:spMkLst>
        </pc:spChg>
        <pc:spChg chg="mod">
          <ac:chgData name="Scott T Lane" userId="c97bbaa9-35da-4a3b-a646-d12e455ac46e" providerId="ADAL" clId="{2FF3E2E3-7818-4E76-9C63-7C10A568D9B9}" dt="2026-03-25T13:30:16.423" v="400" actId="20577"/>
          <ac:spMkLst>
            <pc:docMk/>
            <pc:sldMk cId="1842642459" sldId="282"/>
            <ac:spMk id="3" creationId="{5BA5AB39-5344-7A60-DF17-80B071FC2F60}"/>
          </ac:spMkLst>
        </pc:spChg>
      </pc:sldChg>
      <pc:sldChg chg="modSp new mod ord">
        <pc:chgData name="Scott T Lane" userId="c97bbaa9-35da-4a3b-a646-d12e455ac46e" providerId="ADAL" clId="{2FF3E2E3-7818-4E76-9C63-7C10A568D9B9}" dt="2026-04-02T12:09:40.926" v="718"/>
        <pc:sldMkLst>
          <pc:docMk/>
          <pc:sldMk cId="2340657219" sldId="283"/>
        </pc:sldMkLst>
        <pc:spChg chg="mod">
          <ac:chgData name="Scott T Lane" userId="c97bbaa9-35da-4a3b-a646-d12e455ac46e" providerId="ADAL" clId="{2FF3E2E3-7818-4E76-9C63-7C10A568D9B9}" dt="2026-03-25T13:38:55.681" v="564" actId="20577"/>
          <ac:spMkLst>
            <pc:docMk/>
            <pc:sldMk cId="2340657219" sldId="283"/>
            <ac:spMk id="2" creationId="{0C3A44C5-8B84-97AF-4860-9DFE9441B608}"/>
          </ac:spMkLst>
        </pc:spChg>
        <pc:spChg chg="mod">
          <ac:chgData name="Scott T Lane" userId="c97bbaa9-35da-4a3b-a646-d12e455ac46e" providerId="ADAL" clId="{2FF3E2E3-7818-4E76-9C63-7C10A568D9B9}" dt="2026-03-25T13:39:24.061" v="572" actId="15"/>
          <ac:spMkLst>
            <pc:docMk/>
            <pc:sldMk cId="2340657219" sldId="283"/>
            <ac:spMk id="3" creationId="{76327832-200A-FA82-406B-62E2ACF76F1F}"/>
          </ac:spMkLst>
        </pc:spChg>
      </pc:sldChg>
      <pc:sldChg chg="modSp new mod">
        <pc:chgData name="Scott T Lane" userId="c97bbaa9-35da-4a3b-a646-d12e455ac46e" providerId="ADAL" clId="{2FF3E2E3-7818-4E76-9C63-7C10A568D9B9}" dt="2026-03-25T13:44:36.795" v="648" actId="27636"/>
        <pc:sldMkLst>
          <pc:docMk/>
          <pc:sldMk cId="4017342314" sldId="284"/>
        </pc:sldMkLst>
        <pc:spChg chg="mod">
          <ac:chgData name="Scott T Lane" userId="c97bbaa9-35da-4a3b-a646-d12e455ac46e" providerId="ADAL" clId="{2FF3E2E3-7818-4E76-9C63-7C10A568D9B9}" dt="2026-03-25T13:44:04.439" v="637" actId="113"/>
          <ac:spMkLst>
            <pc:docMk/>
            <pc:sldMk cId="4017342314" sldId="284"/>
            <ac:spMk id="2" creationId="{B8A03EB3-F22F-B0A9-FF3C-77DBB366AE1C}"/>
          </ac:spMkLst>
        </pc:spChg>
        <pc:spChg chg="mod">
          <ac:chgData name="Scott T Lane" userId="c97bbaa9-35da-4a3b-a646-d12e455ac46e" providerId="ADAL" clId="{2FF3E2E3-7818-4E76-9C63-7C10A568D9B9}" dt="2026-03-25T13:44:36.795" v="648" actId="27636"/>
          <ac:spMkLst>
            <pc:docMk/>
            <pc:sldMk cId="4017342314" sldId="284"/>
            <ac:spMk id="3" creationId="{B3652BD6-1BEC-212C-7585-CD42E04B2456}"/>
          </ac:spMkLst>
        </pc:spChg>
      </pc:sldChg>
      <pc:sldChg chg="modSp new mod">
        <pc:chgData name="Scott T Lane" userId="c97bbaa9-35da-4a3b-a646-d12e455ac46e" providerId="ADAL" clId="{2FF3E2E3-7818-4E76-9C63-7C10A568D9B9}" dt="2026-03-25T13:46:22.994" v="686"/>
        <pc:sldMkLst>
          <pc:docMk/>
          <pc:sldMk cId="2957611176" sldId="285"/>
        </pc:sldMkLst>
        <pc:spChg chg="mod">
          <ac:chgData name="Scott T Lane" userId="c97bbaa9-35da-4a3b-a646-d12e455ac46e" providerId="ADAL" clId="{2FF3E2E3-7818-4E76-9C63-7C10A568D9B9}" dt="2026-03-25T13:45:54.872" v="674"/>
          <ac:spMkLst>
            <pc:docMk/>
            <pc:sldMk cId="2957611176" sldId="285"/>
            <ac:spMk id="2" creationId="{BD02A04D-1C93-FE99-427E-370CC292B4A6}"/>
          </ac:spMkLst>
        </pc:spChg>
        <pc:spChg chg="mod">
          <ac:chgData name="Scott T Lane" userId="c97bbaa9-35da-4a3b-a646-d12e455ac46e" providerId="ADAL" clId="{2FF3E2E3-7818-4E76-9C63-7C10A568D9B9}" dt="2026-03-25T13:46:22.994" v="686"/>
          <ac:spMkLst>
            <pc:docMk/>
            <pc:sldMk cId="2957611176" sldId="285"/>
            <ac:spMk id="3" creationId="{CA39F8F7-B55C-71D3-2728-06547864DCAF}"/>
          </ac:spMkLst>
        </pc:spChg>
      </pc:sldChg>
      <pc:sldChg chg="modSp new mod">
        <pc:chgData name="Scott T Lane" userId="c97bbaa9-35da-4a3b-a646-d12e455ac46e" providerId="ADAL" clId="{2FF3E2E3-7818-4E76-9C63-7C10A568D9B9}" dt="2026-03-25T13:47:20.173" v="716" actId="255"/>
        <pc:sldMkLst>
          <pc:docMk/>
          <pc:sldMk cId="1978838906" sldId="286"/>
        </pc:sldMkLst>
        <pc:spChg chg="mod">
          <ac:chgData name="Scott T Lane" userId="c97bbaa9-35da-4a3b-a646-d12e455ac46e" providerId="ADAL" clId="{2FF3E2E3-7818-4E76-9C63-7C10A568D9B9}" dt="2026-03-25T13:46:48.837" v="708"/>
          <ac:spMkLst>
            <pc:docMk/>
            <pc:sldMk cId="1978838906" sldId="286"/>
            <ac:spMk id="2" creationId="{D9D7CCA3-0210-D287-E985-C93C4390B5D3}"/>
          </ac:spMkLst>
        </pc:spChg>
        <pc:spChg chg="mod">
          <ac:chgData name="Scott T Lane" userId="c97bbaa9-35da-4a3b-a646-d12e455ac46e" providerId="ADAL" clId="{2FF3E2E3-7818-4E76-9C63-7C10A568D9B9}" dt="2026-03-25T13:47:20.173" v="716" actId="255"/>
          <ac:spMkLst>
            <pc:docMk/>
            <pc:sldMk cId="1978838906" sldId="286"/>
            <ac:spMk id="3" creationId="{32B49631-F3E9-D174-AF3F-91C9A8DB9059}"/>
          </ac:spMkLst>
        </pc:spChg>
      </pc:sldChg>
      <pc:sldMasterChg chg="delSp mod modSldLayout">
        <pc:chgData name="Scott T Lane" userId="c97bbaa9-35da-4a3b-a646-d12e455ac46e" providerId="ADAL" clId="{2FF3E2E3-7818-4E76-9C63-7C10A568D9B9}" dt="2026-03-25T13:15:41.165" v="123" actId="14100"/>
        <pc:sldMasterMkLst>
          <pc:docMk/>
          <pc:sldMasterMk cId="3696665229" sldId="2147483688"/>
        </pc:sldMasterMkLst>
        <pc:sldLayoutChg chg="modSp mod">
          <pc:chgData name="Scott T Lane" userId="c97bbaa9-35da-4a3b-a646-d12e455ac46e" providerId="ADAL" clId="{2FF3E2E3-7818-4E76-9C63-7C10A568D9B9}" dt="2026-03-25T13:15:41.165" v="123" actId="14100"/>
          <pc:sldLayoutMkLst>
            <pc:docMk/>
            <pc:sldMasterMk cId="3696665229" sldId="2147483688"/>
            <pc:sldLayoutMk cId="3598142597" sldId="2147483700"/>
          </pc:sldLayoutMkLst>
          <pc:spChg chg="mod">
            <ac:chgData name="Scott T Lane" userId="c97bbaa9-35da-4a3b-a646-d12e455ac46e" providerId="ADAL" clId="{2FF3E2E3-7818-4E76-9C63-7C10A568D9B9}" dt="2026-03-25T13:15:41.165" v="123" actId="14100"/>
            <ac:spMkLst>
              <pc:docMk/>
              <pc:sldMasterMk cId="3696665229" sldId="2147483688"/>
              <pc:sldLayoutMk cId="3598142597" sldId="2147483700"/>
              <ac:spMk id="2" creationId="{00000000-0000-0000-0000-000000000000}"/>
            </ac:spMkLst>
          </pc:spChg>
          <pc:spChg chg="mod">
            <ac:chgData name="Scott T Lane" userId="c97bbaa9-35da-4a3b-a646-d12e455ac46e" providerId="ADAL" clId="{2FF3E2E3-7818-4E76-9C63-7C10A568D9B9}" dt="2026-03-25T13:15:38.612" v="122" actId="14100"/>
            <ac:spMkLst>
              <pc:docMk/>
              <pc:sldMasterMk cId="3696665229" sldId="2147483688"/>
              <pc:sldLayoutMk cId="3598142597" sldId="2147483700"/>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8F3A2-8E25-4A3A-A5C5-30CE7D552B9E}"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92C0B-33F8-41E1-8332-0E4CBB15B695}" type="slidenum">
              <a:rPr lang="en-US" smtClean="0"/>
              <a:t>‹#›</a:t>
            </a:fld>
            <a:endParaRPr lang="en-US"/>
          </a:p>
        </p:txBody>
      </p:sp>
    </p:spTree>
    <p:extLst>
      <p:ext uri="{BB962C8B-B14F-4D97-AF65-F5344CB8AC3E}">
        <p14:creationId xmlns:p14="http://schemas.microsoft.com/office/powerpoint/2010/main" val="181864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Welcome to Chapter 5 on Elasticity. This chapter examines one of the most practical concepts in economics—how responsive buyers and sellers are to price changes. Understanding elasticity helps explain everything from why Netflix can raise prices without losing all its customers, to why cigarette taxes generate revenue but don't stop people from smoking, to why farmers can have a great harvest but earn less money. We'll explore how businesses use elasticity to make pricing decisions and how governments use it to design effective policies.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a:t>
            </a:fld>
            <a:endParaRPr lang="en-US"/>
          </a:p>
        </p:txBody>
      </p:sp>
    </p:spTree>
    <p:extLst>
      <p:ext uri="{BB962C8B-B14F-4D97-AF65-F5344CB8AC3E}">
        <p14:creationId xmlns:p14="http://schemas.microsoft.com/office/powerpoint/2010/main" val="4085196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Elasticity is fundamentally about responsiveness. Think about dropping a tennis ball versus a brick—the tennis ball bounces back dramatically, while the brick barely moves. In economics, we use the same concept. When a price changes, some goods see huge changes in quantity demanded—like restaurant meals—while others, like electricity or housing, see very little change. The tennis ball is like restaurant meals (elastic), and the brick is like electricity (inelastic). This responsiveness determines business strategies and policy outcomes.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2</a:t>
            </a:fld>
            <a:endParaRPr lang="en-US"/>
          </a:p>
        </p:txBody>
      </p:sp>
    </p:spTree>
    <p:extLst>
      <p:ext uri="{BB962C8B-B14F-4D97-AF65-F5344CB8AC3E}">
        <p14:creationId xmlns:p14="http://schemas.microsoft.com/office/powerpoint/2010/main" val="2304518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elasticity of demand measures how much quantity demanded responds to price changes. We calculate it as the percentage change in quantity divided by percentage change in price. Economists use the midpoint method because it gives the same elasticity whether price goes up or down—it uses the average of the two prices and quantities as the base. Technically, PED is negative because price and quantity move in opposite directions, but by convention we report it as an absolute value. A PED of 2.0 means a 1% price increase causes a 2% decrease in quantity demanded.</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3</a:t>
            </a:fld>
            <a:endParaRPr lang="en-US"/>
          </a:p>
        </p:txBody>
      </p:sp>
    </p:spTree>
    <p:extLst>
      <p:ext uri="{BB962C8B-B14F-4D97-AF65-F5344CB8AC3E}">
        <p14:creationId xmlns:p14="http://schemas.microsoft.com/office/powerpoint/2010/main" val="2904080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work through a real-world example. When Spotify increased its monthly price from ten to twelve dollars—a 20% increase—they lost 20,000 subscribers out of 100,000. Using the midpoint method, the percentage change in quantity is negative 22.2%, and the percentage change in price is 18.2%. Dividing these gives us an elasticity of 1.22. Since this is greater than one, demand is elastic—meaning customers are quite responsive to the price change. For every 1% price increase, Spotify loses 1.22% of subscribers. This tells Spotify they need to be careful with price increases or they'll lose significant market share.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4</a:t>
            </a:fld>
            <a:endParaRPr lang="en-US"/>
          </a:p>
        </p:txBody>
      </p:sp>
    </p:spTree>
    <p:extLst>
      <p:ext uri="{BB962C8B-B14F-4D97-AF65-F5344CB8AC3E}">
        <p14:creationId xmlns:p14="http://schemas.microsoft.com/office/powerpoint/2010/main" val="108542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Elasticity falls into three categories. Elastic demand, greater than one, means quantity is very responsive to price changes—like restaurant meals with an elasticity of 2.27. A 10% price increase causes a 22.7% drop in quantity. Unit elastic, exactly one, means percentage changes are proportional. Inelastic demand, less than one, means quantity barely responds—like electricity at 0.20. A 10% price increase only reduces quantity by 2%. The pattern is clear: necessities like housing, electricity, and gasoline are inelastic because people need them regardless of price. Luxuries like restaurant meals, premium cable TV, and new computers are elastic because they're discretionary—consumers can easily cut back when prices rise.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5</a:t>
            </a:fld>
            <a:endParaRPr lang="en-US"/>
          </a:p>
        </p:txBody>
      </p:sp>
    </p:spTree>
    <p:extLst>
      <p:ext uri="{BB962C8B-B14F-4D97-AF65-F5344CB8AC3E}">
        <p14:creationId xmlns:p14="http://schemas.microsoft.com/office/powerpoint/2010/main" val="910270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Price elasticity of supply measures how responsive producers are to price changes. Let's look at an electric truck manufacturer. When market price increases from forty to fifty thousand dollars, they boost production from one thousand to fourteen hundred trucks. Using the midpoint method, the percentage change in quantity is 33.33%, and the percentage change in price is 22.22%. Dividing these gives an elasticity of 1.50—elastic supply. This makes sense for a startup: they probably have excess capacity and can hire more workers or add shifts when it's profitable. In contrast, diamond mines or prime Manhattan real estate have inelastic supply—no matter how much price increases, you can't quickly produce more diamonds or create more apartments facing Central Park.</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6</a:t>
            </a:fld>
            <a:endParaRPr lang="en-US"/>
          </a:p>
        </p:txBody>
      </p:sp>
    </p:spTree>
    <p:extLst>
      <p:ext uri="{BB962C8B-B14F-4D97-AF65-F5344CB8AC3E}">
        <p14:creationId xmlns:p14="http://schemas.microsoft.com/office/powerpoint/2010/main" val="1230367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 elasticity is an extreme case where the demand or supply curve is completely horizontal. Think of a wheat farmer in a competitive market. If they try to charge even one penny more than the market price, they'll sell zero bushels—consumers will buy from other farmers selling at the market price. But at the market price, they can sell as much as they produce. While true perfect elasticity is rare, many competitive commodity markets approximate this behavior. The horizontal curve means consumers or producers are infinitely responsive to even the tiniest price change.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7</a:t>
            </a:fld>
            <a:endParaRPr lang="en-US"/>
          </a:p>
        </p:txBody>
      </p:sp>
    </p:spTree>
    <p:extLst>
      <p:ext uri="{BB962C8B-B14F-4D97-AF65-F5344CB8AC3E}">
        <p14:creationId xmlns:p14="http://schemas.microsoft.com/office/powerpoint/2010/main" val="2636940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Perfect inelasticity is the opposite extreme—a vertical curve where quantity doesn't change at all regardless of price. Think of insulin for diabetics. Whether the price is $50 or $500, they need the same amount to survive—their demand is perfectly inelastic. Similarly, there's a fixed supply of apartments facing Central Park in New York—no matter how high the price goes, you can't create more of them. While perfect inelasticity is rare, many necessities and life-saving goods approximate this behavior. Understanding this helps explain why pharmaceutical companies can charge high prices for patented medications—demand is extremely inelastic.</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8</a:t>
            </a:fld>
            <a:endParaRPr lang="en-US"/>
          </a:p>
        </p:txBody>
      </p:sp>
    </p:spTree>
    <p:extLst>
      <p:ext uri="{BB962C8B-B14F-4D97-AF65-F5344CB8AC3E}">
        <p14:creationId xmlns:p14="http://schemas.microsoft.com/office/powerpoint/2010/main" val="2433885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Constant unitary elasticity is a special case where elasticity equals exactly one at every point on the curve. For every 1% change in price, quantity changes by exactly 1% in the opposite direction. Interestingly, unitary elastic demand curves are curved—they form what's called a rectangular hyperbola. Unitary elastic supply curves are straight lines that pass through the origin. This is rare in the real world but represents a perfect balance point. When demand is unit elastic, total revenue stays constant regardless of price—raising price by 10% reduces quantity by exactly 10%, leaving revenue unchanged.</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9</a:t>
            </a:fld>
            <a:endParaRPr lang="en-US"/>
          </a:p>
        </p:txBody>
      </p:sp>
    </p:spTree>
    <p:extLst>
      <p:ext uri="{BB962C8B-B14F-4D97-AF65-F5344CB8AC3E}">
        <p14:creationId xmlns:p14="http://schemas.microsoft.com/office/powerpoint/2010/main" val="1326449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Several factors determine whether demand is elastic or inelastic. First, substitutes: if close alternatives exist, demand is elastic—consumers easily switch. Restaurant meals have many substitutes, so elasticity is high at 2.27. But electricity has no good substitutes, giving it an elasticity of only 0.20. Second, necessity versus luxury: people cut luxuries when prices rise but not necessities. Third, budget share: a 10% increase in salt prices barely affects your budget, but a 10% increase in rent does. Finally, time matters: in the short run, it's hard to change consumption patterns. After the 1973 oil crisis, demand was inelastic initially. But over a decade, people bought fuel-efficient cars, insulated homes, and moved closer to work—demand became much more elastic.</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10</a:t>
            </a:fld>
            <a:endParaRPr lang="en-US"/>
          </a:p>
        </p:txBody>
      </p:sp>
    </p:spTree>
    <p:extLst>
      <p:ext uri="{BB962C8B-B14F-4D97-AF65-F5344CB8AC3E}">
        <p14:creationId xmlns:p14="http://schemas.microsoft.com/office/powerpoint/2010/main" val="3373242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is where elasticity becomes powerfully practical for businesses. The relationship between elasticity and total revenue determines pricing strategy. If your demand is elastic—like premium cable TV at 1.77—raising prices backfires. The percentage drop in quantity sold exceeds the percentage price increase, so revenue falls. You should lower price to boost revenue. But if demand is inelastic—like gasoline at 0.35—raising prices increases revenue because quantity barely drops. The price increase more than compensates for the small loss in sales. Unit elastic demand is the breakeven point where revenue doesn't change. Smart businesses estimate their elasticity before making pricing decisions.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11</a:t>
            </a:fld>
            <a:endParaRPr lang="en-US"/>
          </a:p>
        </p:txBody>
      </p:sp>
    </p:spTree>
    <p:extLst>
      <p:ext uri="{BB962C8B-B14F-4D97-AF65-F5344CB8AC3E}">
        <p14:creationId xmlns:p14="http://schemas.microsoft.com/office/powerpoint/2010/main" val="465270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explore how elasticity affects who benefits when costs change. Imagine aspirin manufacturers achieve a technological breakthrough that cuts production costs. This shifts supply to the right—at every price, firms want to supply more. But the outcome depends on demand elasticity. If demand is inelastic—like aspirin, a necessity—the price drops substantially but quantity barely increases. Consumers get much lower prices. But if demand is elastic, the lower cost results in only slightly lower prices but a huge increase in quantity sold. Here's the paradox: when demand is inelastic, the technological improvement might actually hurt producer revenues because prices fall so much. This explains why farmers sometimes destroy crops—a bumper harvest with inelastic demand crashes prices and reduces their income.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12</a:t>
            </a:fld>
            <a:endParaRPr lang="en-US"/>
          </a:p>
        </p:txBody>
      </p:sp>
    </p:spTree>
    <p:extLst>
      <p:ext uri="{BB962C8B-B14F-4D97-AF65-F5344CB8AC3E}">
        <p14:creationId xmlns:p14="http://schemas.microsoft.com/office/powerpoint/2010/main" val="1755006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let's flip the scenario—what happens when costs increase due to taxes? Cigarette taxes are a perfect example. When government raises cigarette taxes, supply shifts left. But because cigarette demand is inelastic—around 0.3 for adults—smokers don't quit much when prices rise. Producers simply pass most of the tax to consumers as higher prices. A 10% price increase from taxes only reduces adult smoking by 3%. This is great for government revenue but frustrating for public health officials. If the goal is reducing smoking, taxes alone won't work well with inelastic demand. You need to shift demand itself through education, addiction treatment, or advertising restrictions. Interestingly, youth smoking is more elastic than adult smoking, so taxes are more effective at preventing young people from starting.</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13</a:t>
            </a:fld>
            <a:endParaRPr lang="en-US"/>
          </a:p>
        </p:txBody>
      </p:sp>
    </p:spTree>
    <p:extLst>
      <p:ext uri="{BB962C8B-B14F-4D97-AF65-F5344CB8AC3E}">
        <p14:creationId xmlns:p14="http://schemas.microsoft.com/office/powerpoint/2010/main" val="1449100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Tax incidence reveals who actually pays a tax, regardless of who legally writes the check to the government. The key principle: the more inelastic side of the market bears more of the tax burden. Why? Because they can't easily change their behavior. Cigarette smokers have inelastic demand—they're somewhat addicted—so they can't reduce consumption much. Producers pass most of the tax to them. But consider beachfront hotels. Demand is elastic—tourists have many vacation options—but supply is perfectly inelastic. You can't move a beachfront hotel inland. So even though tourists might pay the tax at checkout, the hotels bear the burden through lower revenues. They can't escape. This explains why it's nearly impossible for businesses to "pass along costs"—it depends entirely on relative elasticities, not on who the law says pays.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14</a:t>
            </a:fld>
            <a:endParaRPr lang="en-US"/>
          </a:p>
        </p:txBody>
      </p:sp>
    </p:spTree>
    <p:extLst>
      <p:ext uri="{BB962C8B-B14F-4D97-AF65-F5344CB8AC3E}">
        <p14:creationId xmlns:p14="http://schemas.microsoft.com/office/powerpoint/2010/main" val="36152484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One of the most important insights about elasticity is that it changes with time. In the short run, both demand and supply tend to be more inelastic because people and businesses can't adjust quickly. The 1973 oil crisis is the classic example. When OPEC cut oil exports, the U.S. initially had very inelastic demand—people still needed to drive to work, heat their homes, and run factories. Prices doubled from twelve to twenty-five dollars per barrel, but quantity demanded dropped only slightly. However, over the next decade, demand became much more elastic. People bought fuel-efficient cars, insulated their homes, businesses relocated closer to workers, and new technologies emerged. By 1983, oil consumption was lower despite a 25% larger economy. This pattern applies broadly: in the short run, prices bounce dramatically. In the long run, quantities adjust more and prices stabilize.</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16</a:t>
            </a:fld>
            <a:endParaRPr lang="en-US"/>
          </a:p>
        </p:txBody>
      </p:sp>
    </p:spTree>
    <p:extLst>
      <p:ext uri="{BB962C8B-B14F-4D97-AF65-F5344CB8AC3E}">
        <p14:creationId xmlns:p14="http://schemas.microsoft.com/office/powerpoint/2010/main" val="37300118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at actual elasticity estimates from economic research. At the inelastic end, housing has an elasticity of only 0.12—a 10% rent increase reduces quantity demanded by just 1.2%. People need somewhere to live and can't easily relocate. Electricity at 0.20 and gasoline at 0.35 are similarly inelastic necessities. In the middle range, beef, wine, and new vehicles have elasticities between 0.5 and 1. These are somewhat discretionary but still important to consumers. At the elastic end, restaurant meals at 2.27 are highly responsive to price—a 10% price increase causes a 22.7% drop in demand because eating out is a luxury with many substitutes, including eating at home. Premium cable TV at 1.77 is similarly elastic—consumers can easily cancel or downgrade. These numbers guide real pricing decisions for businesses in these industries.</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17</a:t>
            </a:fld>
            <a:endParaRPr lang="en-US"/>
          </a:p>
        </p:txBody>
      </p:sp>
    </p:spTree>
    <p:extLst>
      <p:ext uri="{BB962C8B-B14F-4D97-AF65-F5344CB8AC3E}">
        <p14:creationId xmlns:p14="http://schemas.microsoft.com/office/powerpoint/2010/main" val="3921831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summarize the key insights from this chapter. First, elasticity is about how much things respond, not just whether they respond—the magnitude matters enormously for decisions. Second, there's a clear pattern: necessities with few substitutes are inelastic, while luxuries with many alternatives are elastic. Third, businesses must know their elasticity before changing prices. If demand is elastic, lower prices to increase revenue. If inelastic, raise prices. Fourth, tax incidence doesn't depend on who legally pays the tax—it falls on whoever can't easily adjust their behavior. Fifth, time matters crucially. What appears inelastic in the short run often becomes elastic as people adapt over years. Finally, always use the midpoint method for elasticity calculations—it gives consistent answers regardless of direction. Understanding elasticity transforms you from someone who knows demand curves slope downward to someone who can predict exactly how much quantity will change and what that means for revenue, pricing, and policy.</a:t>
            </a:r>
            <a:endParaRPr lang="en-US" dirty="0"/>
          </a:p>
        </p:txBody>
      </p:sp>
      <p:sp>
        <p:nvSpPr>
          <p:cNvPr id="4" name="Slide Number Placeholder 3"/>
          <p:cNvSpPr>
            <a:spLocks noGrp="1"/>
          </p:cNvSpPr>
          <p:nvPr>
            <p:ph type="sldNum" sz="quarter" idx="5"/>
          </p:nvPr>
        </p:nvSpPr>
        <p:spPr/>
        <p:txBody>
          <a:bodyPr/>
          <a:lstStyle/>
          <a:p>
            <a:fld id="{98E92C0B-33F8-41E1-8332-0E4CBB15B695}" type="slidenum">
              <a:rPr lang="en-US" smtClean="0"/>
              <a:t>18</a:t>
            </a:fld>
            <a:endParaRPr lang="en-US"/>
          </a:p>
        </p:txBody>
      </p:sp>
    </p:spTree>
    <p:extLst>
      <p:ext uri="{BB962C8B-B14F-4D97-AF65-F5344CB8AC3E}">
        <p14:creationId xmlns:p14="http://schemas.microsoft.com/office/powerpoint/2010/main" val="61584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7821429" y="6238816"/>
            <a:ext cx="2753746" cy="323968"/>
          </a:xfrm>
          <a:prstGeom prst="rect">
            <a:avLst/>
          </a:prstGeom>
        </p:spPr>
        <p:txBody>
          <a:bodyPr/>
          <a:lstStyle/>
          <a:p>
            <a:fld id="{6444479B-705B-4489-957E-7E8A228BDFA0}" type="datetime1">
              <a:rPr lang="en-US" smtClean="0"/>
              <a:t>4/2/2026</a:t>
            </a:fld>
            <a:endParaRPr lang="en-US"/>
          </a:p>
        </p:txBody>
      </p:sp>
      <p:sp>
        <p:nvSpPr>
          <p:cNvPr id="8" name="Footer Placeholder 7"/>
          <p:cNvSpPr>
            <a:spLocks noGrp="1"/>
          </p:cNvSpPr>
          <p:nvPr>
            <p:ph type="ftr" sz="quarter" idx="11"/>
          </p:nvPr>
        </p:nvSpPr>
        <p:spPr>
          <a:xfrm>
            <a:off x="1600200" y="6236208"/>
            <a:ext cx="5901189" cy="320040"/>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758922" y="6217920"/>
            <a:ext cx="365760" cy="365760"/>
          </a:xfrm>
          <a:prstGeom prst="ellipse">
            <a:avLst/>
          </a:prstGeom>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7640470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365125"/>
            <a:ext cx="10515600" cy="618943"/>
          </a:xfrm>
          <a:ln>
            <a:solidFill>
              <a:schemeClr val="tx1"/>
            </a:solidFill>
          </a:ln>
        </p:spPr>
        <p:txBody>
          <a:bodyPr>
            <a:noAutofit/>
          </a:bodyPr>
          <a:lstStyle>
            <a:lvl1pPr>
              <a:defRPr sz="2800" b="0">
                <a:solidFill>
                  <a:schemeClr val="tx1"/>
                </a:solidFill>
              </a:defRPr>
            </a:lvl1pPr>
          </a:lstStyle>
          <a:p>
            <a:r>
              <a:rPr lang="en-US" dirty="0"/>
              <a:t>Title</a:t>
            </a:r>
          </a:p>
        </p:txBody>
      </p:sp>
      <p:sp>
        <p:nvSpPr>
          <p:cNvPr id="3" name="Content Placeholder 2"/>
          <p:cNvSpPr>
            <a:spLocks noGrp="1"/>
          </p:cNvSpPr>
          <p:nvPr>
            <p:ph idx="1"/>
          </p:nvPr>
        </p:nvSpPr>
        <p:spPr>
          <a:xfrm>
            <a:off x="838200" y="1132114"/>
            <a:ext cx="10515600" cy="5590903"/>
          </a:xfrm>
          <a:ln>
            <a:solidFill>
              <a:schemeClr val="tx1"/>
            </a:solidFill>
          </a:ln>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9814259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96665229"/>
      </p:ext>
    </p:extLst>
  </p:cSld>
  <p:clrMap bg1="lt1" tx1="dk1" bg2="lt2" tx2="dk2" accent1="accent1" accent2="accent2" accent3="accent3" accent4="accent4" accent5="accent5" accent6="accent6" hlink="hlink" folHlink="folHlink"/>
  <p:sldLayoutIdLst>
    <p:sldLayoutId id="2147483689" r:id="rId1"/>
    <p:sldLayoutId id="2147483700" r:id="rId2"/>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tx1"/>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tx1"/>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B7D4F-ED2B-026B-3DCC-FC25D75BF3F3}"/>
              </a:ext>
            </a:extLst>
          </p:cNvPr>
          <p:cNvSpPr>
            <a:spLocks noGrp="1"/>
          </p:cNvSpPr>
          <p:nvPr>
            <p:ph type="ctrTitle"/>
          </p:nvPr>
        </p:nvSpPr>
        <p:spPr>
          <a:xfrm>
            <a:off x="7537528" y="1032764"/>
            <a:ext cx="4308672" cy="1235651"/>
          </a:xfrm>
        </p:spPr>
        <p:txBody>
          <a:bodyPr anchor="b">
            <a:normAutofit/>
          </a:bodyPr>
          <a:lstStyle/>
          <a:p>
            <a:r>
              <a:rPr lang="en-US" sz="5400" dirty="0"/>
              <a:t>Chapter 5</a:t>
            </a:r>
          </a:p>
        </p:txBody>
      </p:sp>
      <p:sp>
        <p:nvSpPr>
          <p:cNvPr id="3" name="Subtitle 2">
            <a:extLst>
              <a:ext uri="{FF2B5EF4-FFF2-40B4-BE49-F238E27FC236}">
                <a16:creationId xmlns:a16="http://schemas.microsoft.com/office/drawing/2014/main" id="{046F5DC3-0C75-250B-266C-A3F19543BE11}"/>
              </a:ext>
            </a:extLst>
          </p:cNvPr>
          <p:cNvSpPr>
            <a:spLocks noGrp="1"/>
          </p:cNvSpPr>
          <p:nvPr>
            <p:ph type="subTitle" idx="1"/>
          </p:nvPr>
        </p:nvSpPr>
        <p:spPr>
          <a:xfrm>
            <a:off x="7537528" y="2566850"/>
            <a:ext cx="4308672" cy="967654"/>
          </a:xfrm>
          <a:ln>
            <a:solidFill>
              <a:schemeClr val="bg1"/>
            </a:solidFill>
          </a:ln>
        </p:spPr>
        <p:txBody>
          <a:bodyPr anchor="t">
            <a:normAutofit/>
          </a:bodyPr>
          <a:lstStyle/>
          <a:p>
            <a:r>
              <a:rPr lang="en-US" dirty="0">
                <a:solidFill>
                  <a:schemeClr val="bg1"/>
                </a:solidFill>
              </a:rPr>
              <a:t>Elasticity</a:t>
            </a:r>
          </a:p>
          <a:p>
            <a:r>
              <a:rPr lang="en-US" sz="1200" i="1" dirty="0">
                <a:solidFill>
                  <a:schemeClr val="bg1"/>
                </a:solidFill>
              </a:rPr>
              <a:t>Measuring Market responsiveness</a:t>
            </a:r>
          </a:p>
        </p:txBody>
      </p:sp>
      <p:pic>
        <p:nvPicPr>
          <p:cNvPr id="4" name="Picture 3" descr="Colored pencils inside a pencil holder which is on top of a wood table">
            <a:extLst>
              <a:ext uri="{FF2B5EF4-FFF2-40B4-BE49-F238E27FC236}">
                <a16:creationId xmlns:a16="http://schemas.microsoft.com/office/drawing/2014/main" id="{77531D5D-61A1-09F3-9506-55CD6D1C52C3}"/>
              </a:ext>
            </a:extLst>
          </p:cNvPr>
          <p:cNvPicPr>
            <a:picLocks noChangeAspect="1"/>
          </p:cNvPicPr>
          <p:nvPr/>
        </p:nvPicPr>
        <p:blipFill>
          <a:blip r:embed="rId3"/>
          <a:srcRect l="32539" r="-1" b="-1"/>
          <a:stretch/>
        </p:blipFill>
        <p:spPr>
          <a:xfrm>
            <a:off x="20" y="10"/>
            <a:ext cx="6931132" cy="6857990"/>
          </a:xfrm>
          <a:prstGeom prst="rect">
            <a:avLst/>
          </a:prstGeom>
        </p:spPr>
      </p:pic>
    </p:spTree>
    <p:extLst>
      <p:ext uri="{BB962C8B-B14F-4D97-AF65-F5344CB8AC3E}">
        <p14:creationId xmlns:p14="http://schemas.microsoft.com/office/powerpoint/2010/main" val="2946475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A5C3A-DE27-8765-B034-C44A996A7EF2}"/>
              </a:ext>
            </a:extLst>
          </p:cNvPr>
          <p:cNvSpPr>
            <a:spLocks noGrp="1"/>
          </p:cNvSpPr>
          <p:nvPr>
            <p:ph type="title"/>
          </p:nvPr>
        </p:nvSpPr>
        <p:spPr>
          <a:xfrm>
            <a:off x="838200" y="365126"/>
            <a:ext cx="10515600" cy="504669"/>
          </a:xfrm>
        </p:spPr>
        <p:txBody>
          <a:bodyPr/>
          <a:lstStyle/>
          <a:p>
            <a:r>
              <a:rPr lang="en-US" sz="2800" b="0" dirty="0"/>
              <a:t>What is Elasticity?</a:t>
            </a:r>
          </a:p>
        </p:txBody>
      </p:sp>
      <p:sp>
        <p:nvSpPr>
          <p:cNvPr id="3" name="Content Placeholder 2">
            <a:extLst>
              <a:ext uri="{FF2B5EF4-FFF2-40B4-BE49-F238E27FC236}">
                <a16:creationId xmlns:a16="http://schemas.microsoft.com/office/drawing/2014/main" id="{1CD37EA4-297B-154B-B229-BE9CDF04CE29}"/>
              </a:ext>
            </a:extLst>
          </p:cNvPr>
          <p:cNvSpPr>
            <a:spLocks noGrp="1"/>
          </p:cNvSpPr>
          <p:nvPr>
            <p:ph idx="1"/>
          </p:nvPr>
        </p:nvSpPr>
        <p:spPr/>
        <p:txBody>
          <a:bodyPr/>
          <a:lstStyle/>
          <a:p>
            <a:pPr marL="0" indent="0">
              <a:buNone/>
            </a:pPr>
            <a:r>
              <a:rPr lang="en-US" sz="2400" b="1" dirty="0"/>
              <a:t>ELASTICITY: Measuring Responsiveness</a:t>
            </a:r>
            <a:endParaRPr lang="en-US" sz="2400" dirty="0"/>
          </a:p>
          <a:p>
            <a:pPr marL="0" indent="0">
              <a:buNone/>
            </a:pPr>
            <a:endParaRPr lang="en-US" sz="2400" b="1" dirty="0"/>
          </a:p>
          <a:p>
            <a:pPr marL="0" indent="0">
              <a:buNone/>
            </a:pPr>
            <a:r>
              <a:rPr lang="en-US" sz="2400" b="1" dirty="0"/>
              <a:t>Definition:</a:t>
            </a:r>
            <a:r>
              <a:rPr lang="en-US" sz="2400" dirty="0"/>
              <a:t> How much one variable responds to changes in another variable</a:t>
            </a:r>
          </a:p>
          <a:p>
            <a:pPr marL="0" indent="0">
              <a:buNone/>
            </a:pPr>
            <a:endParaRPr lang="en-US" sz="2400" b="1" dirty="0"/>
          </a:p>
          <a:p>
            <a:pPr marL="0" indent="0">
              <a:buNone/>
            </a:pPr>
            <a:r>
              <a:rPr lang="en-US" sz="2400" b="1" dirty="0"/>
              <a:t>Analogy:</a:t>
            </a:r>
            <a:r>
              <a:rPr lang="en-US" sz="2400" dirty="0"/>
              <a:t> Drop a tennis ball and a brick from the same height</a:t>
            </a:r>
          </a:p>
          <a:p>
            <a:pPr lvl="1"/>
            <a:r>
              <a:rPr lang="en-US" sz="2200" dirty="0"/>
              <a:t>Tennis ball bounces high → </a:t>
            </a:r>
            <a:r>
              <a:rPr lang="en-US" sz="2200" b="1" dirty="0"/>
              <a:t>highly elastic</a:t>
            </a:r>
            <a:endParaRPr lang="en-US" sz="2200" dirty="0"/>
          </a:p>
          <a:p>
            <a:pPr lvl="1"/>
            <a:r>
              <a:rPr lang="en-US" sz="2200" dirty="0"/>
              <a:t>Brick barely bounces → </a:t>
            </a:r>
            <a:r>
              <a:rPr lang="en-US" sz="2200" b="1" dirty="0"/>
              <a:t>highly inelastic</a:t>
            </a:r>
            <a:endParaRPr lang="en-US" sz="2200" dirty="0"/>
          </a:p>
          <a:p>
            <a:pPr marL="0" indent="0">
              <a:buNone/>
            </a:pPr>
            <a:endParaRPr lang="en-US" sz="2400" b="1" dirty="0"/>
          </a:p>
          <a:p>
            <a:pPr marL="0" indent="0">
              <a:buNone/>
            </a:pPr>
            <a:r>
              <a:rPr lang="en-US" sz="2400" b="1" dirty="0"/>
              <a:t>In Economics:</a:t>
            </a:r>
            <a:r>
              <a:rPr lang="en-US" sz="2400" dirty="0"/>
              <a:t> How much does quantity demanded or supplied change when price changes?</a:t>
            </a:r>
          </a:p>
          <a:p>
            <a:endParaRPr lang="en-US" dirty="0"/>
          </a:p>
        </p:txBody>
      </p:sp>
    </p:spTree>
    <p:extLst>
      <p:ext uri="{BB962C8B-B14F-4D97-AF65-F5344CB8AC3E}">
        <p14:creationId xmlns:p14="http://schemas.microsoft.com/office/powerpoint/2010/main" val="2247936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49664" y="365126"/>
            <a:ext cx="10515600" cy="609740"/>
          </a:xfrm>
        </p:spPr>
        <p:txBody>
          <a:bodyPr>
            <a:noAutofit/>
          </a:bodyPr>
          <a:lstStyle/>
          <a:p>
            <a:r>
              <a:rPr lang="en-US" dirty="0"/>
              <a:t>Price Elasticity of Demand</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649664" y="1248195"/>
            <a:ext cx="10515600" cy="4634939"/>
          </a:xfrm>
        </p:spPr>
        <p:txBody>
          <a:bodyPr>
            <a:normAutofit/>
          </a:bodyPr>
          <a:lstStyle/>
          <a:p>
            <a:pPr marL="0" indent="0">
              <a:buNone/>
            </a:pPr>
            <a:r>
              <a:rPr lang="en-US" b="1" dirty="0"/>
              <a:t>PRICE ELASTICITY OF DEMAND</a:t>
            </a:r>
            <a:endParaRPr lang="en-US" dirty="0"/>
          </a:p>
          <a:p>
            <a:pPr marL="0" indent="0">
              <a:buNone/>
            </a:pPr>
            <a:endParaRPr lang="en-US" b="1" dirty="0"/>
          </a:p>
          <a:p>
            <a:pPr marL="0" indent="0">
              <a:buNone/>
            </a:pPr>
            <a:r>
              <a:rPr lang="en-US" b="1" dirty="0"/>
              <a:t>Formula:</a:t>
            </a:r>
            <a:br>
              <a:rPr lang="en-US" dirty="0"/>
            </a:br>
            <a:r>
              <a:rPr lang="en-US" dirty="0"/>
              <a:t>PED = % Change in Quantity Demanded ÷ % Change in Price</a:t>
            </a:r>
          </a:p>
          <a:p>
            <a:pPr marL="0" indent="0">
              <a:buNone/>
            </a:pPr>
            <a:endParaRPr lang="en-US" b="1" dirty="0"/>
          </a:p>
          <a:p>
            <a:pPr marL="0" indent="0">
              <a:buNone/>
            </a:pPr>
            <a:r>
              <a:rPr lang="en-US" b="1" dirty="0"/>
              <a:t>The Midpoint Method (for accuracy):</a:t>
            </a:r>
            <a:br>
              <a:rPr lang="en-US" dirty="0"/>
            </a:br>
            <a:r>
              <a:rPr lang="en-US" dirty="0"/>
              <a:t>PED = [(Q₂ - Q₁) / (Q₂ + Q₁)/2] ÷ [(P₂ - P₁) / (P₂ + P₁)/2]</a:t>
            </a:r>
          </a:p>
          <a:p>
            <a:pPr marL="0" indent="0">
              <a:buNone/>
            </a:pPr>
            <a:endParaRPr lang="en-US" b="1" dirty="0"/>
          </a:p>
          <a:p>
            <a:pPr marL="0" indent="0">
              <a:buNone/>
            </a:pPr>
            <a:r>
              <a:rPr lang="en-US" b="1" dirty="0"/>
              <a:t>Key Point:</a:t>
            </a:r>
            <a:r>
              <a:rPr lang="en-US" dirty="0"/>
              <a:t> Always reported as absolute value (ignore negative sign)</a:t>
            </a:r>
          </a:p>
          <a:p>
            <a:endParaRPr lang="en-US" dirty="0"/>
          </a:p>
        </p:txBody>
      </p:sp>
    </p:spTree>
    <p:extLst>
      <p:ext uri="{BB962C8B-B14F-4D97-AF65-F5344CB8AC3E}">
        <p14:creationId xmlns:p14="http://schemas.microsoft.com/office/powerpoint/2010/main" val="1019098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2713-D929-A5DF-AAF5-55940914685A}"/>
              </a:ext>
            </a:extLst>
          </p:cNvPr>
          <p:cNvSpPr>
            <a:spLocks noGrp="1"/>
          </p:cNvSpPr>
          <p:nvPr>
            <p:ph type="title"/>
          </p:nvPr>
        </p:nvSpPr>
        <p:spPr/>
        <p:txBody>
          <a:bodyPr/>
          <a:lstStyle/>
          <a:p>
            <a:r>
              <a:rPr lang="en-US" dirty="0"/>
              <a:t>Example – Spotify Subscription</a:t>
            </a:r>
          </a:p>
        </p:txBody>
      </p:sp>
      <p:sp>
        <p:nvSpPr>
          <p:cNvPr id="3" name="Content Placeholder 2">
            <a:extLst>
              <a:ext uri="{FF2B5EF4-FFF2-40B4-BE49-F238E27FC236}">
                <a16:creationId xmlns:a16="http://schemas.microsoft.com/office/drawing/2014/main" id="{BF54CD48-A3CC-6741-542D-DA4A50B6DA81}"/>
              </a:ext>
            </a:extLst>
          </p:cNvPr>
          <p:cNvSpPr>
            <a:spLocks noGrp="1"/>
          </p:cNvSpPr>
          <p:nvPr>
            <p:ph idx="1"/>
          </p:nvPr>
        </p:nvSpPr>
        <p:spPr/>
        <p:txBody>
          <a:bodyPr>
            <a:normAutofit/>
          </a:bodyPr>
          <a:lstStyle/>
          <a:p>
            <a:pPr marL="0" indent="0">
              <a:buNone/>
            </a:pPr>
            <a:r>
              <a:rPr lang="en-US" sz="2400" b="1" dirty="0"/>
              <a:t>CALCULATING PED:  SPOTIFY EXAMPLE</a:t>
            </a:r>
            <a:endParaRPr lang="en-US" sz="2400" dirty="0"/>
          </a:p>
          <a:p>
            <a:pPr marL="0" indent="0">
              <a:buNone/>
            </a:pPr>
            <a:endParaRPr lang="en-US" sz="2400" b="1" dirty="0"/>
          </a:p>
          <a:p>
            <a:pPr marL="0" indent="0">
              <a:buNone/>
            </a:pPr>
            <a:r>
              <a:rPr lang="en-US" sz="2400" b="1" dirty="0"/>
              <a:t>Scenario:</a:t>
            </a:r>
            <a:r>
              <a:rPr lang="en-US" sz="2400" dirty="0"/>
              <a:t> Spotify raises price from $10 to $12 per month</a:t>
            </a:r>
            <a:br>
              <a:rPr lang="en-US" sz="2400" dirty="0"/>
            </a:br>
            <a:r>
              <a:rPr lang="en-US" sz="2400" dirty="0"/>
              <a:t>Subscribers drop from 100,000 to 80,000</a:t>
            </a:r>
          </a:p>
          <a:p>
            <a:pPr marL="0" indent="0">
              <a:buNone/>
            </a:pPr>
            <a:r>
              <a:rPr lang="en-US" sz="2400" b="1" dirty="0"/>
              <a:t>Midpoint Method:</a:t>
            </a:r>
          </a:p>
          <a:p>
            <a:pPr lvl="1"/>
            <a:r>
              <a:rPr lang="en-US" sz="2200" b="1" dirty="0"/>
              <a:t>Step 1:</a:t>
            </a:r>
            <a:r>
              <a:rPr lang="en-US" sz="2200" dirty="0"/>
              <a:t> % Change in Quantity = [(80K - 100K)/(90K)] = -22.2%</a:t>
            </a:r>
            <a:endParaRPr lang="en-US" sz="2200" b="1" dirty="0"/>
          </a:p>
          <a:p>
            <a:pPr lvl="1"/>
            <a:r>
              <a:rPr lang="en-US" sz="2200" b="1" dirty="0"/>
              <a:t>Step 2:</a:t>
            </a:r>
            <a:r>
              <a:rPr lang="en-US" sz="2200" dirty="0"/>
              <a:t> % Change in Price = [($12 - $10)/($11)] = 18.2%</a:t>
            </a:r>
            <a:endParaRPr lang="en-US" sz="2200" b="1" dirty="0"/>
          </a:p>
          <a:p>
            <a:pPr lvl="1"/>
            <a:r>
              <a:rPr lang="en-US" sz="2200" b="1" dirty="0"/>
              <a:t>Step 3:</a:t>
            </a:r>
            <a:r>
              <a:rPr lang="en-US" sz="2200" dirty="0"/>
              <a:t> PED = |-22.2% ÷ 18.2%| = </a:t>
            </a:r>
            <a:r>
              <a:rPr lang="en-US" sz="2200" b="1" dirty="0"/>
              <a:t>1.22</a:t>
            </a:r>
            <a:endParaRPr lang="en-US" sz="2200" dirty="0"/>
          </a:p>
          <a:p>
            <a:pPr marL="0" indent="0">
              <a:buNone/>
            </a:pPr>
            <a:endParaRPr lang="en-US" sz="2400" b="1" dirty="0"/>
          </a:p>
          <a:p>
            <a:pPr marL="0" indent="0">
              <a:buNone/>
            </a:pPr>
            <a:r>
              <a:rPr lang="en-US" sz="2400" b="1" dirty="0"/>
              <a:t>Result:</a:t>
            </a:r>
            <a:r>
              <a:rPr lang="en-US" sz="2400" dirty="0"/>
              <a:t> </a:t>
            </a:r>
            <a:r>
              <a:rPr lang="en-US" sz="2400" b="1" dirty="0"/>
              <a:t>Elastic demand</a:t>
            </a:r>
            <a:r>
              <a:rPr lang="en-US" sz="2400" dirty="0"/>
              <a:t> (PED &gt; 1) - subscribers are price-sensitive</a:t>
            </a:r>
          </a:p>
          <a:p>
            <a:endParaRPr lang="en-US" dirty="0"/>
          </a:p>
        </p:txBody>
      </p:sp>
    </p:spTree>
    <p:extLst>
      <p:ext uri="{BB962C8B-B14F-4D97-AF65-F5344CB8AC3E}">
        <p14:creationId xmlns:p14="http://schemas.microsoft.com/office/powerpoint/2010/main" val="1638407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21384" y="374553"/>
            <a:ext cx="10515600" cy="424583"/>
          </a:xfrm>
        </p:spPr>
        <p:txBody>
          <a:bodyPr>
            <a:noAutofit/>
          </a:bodyPr>
          <a:lstStyle/>
          <a:p>
            <a:r>
              <a:rPr lang="en-US" sz="2400" dirty="0"/>
              <a:t>Three Categories of Elasticity</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621384" y="1210489"/>
            <a:ext cx="10515600" cy="5145706"/>
          </a:xfrm>
        </p:spPr>
        <p:txBody>
          <a:bodyPr/>
          <a:lstStyle/>
          <a:p>
            <a:pPr marL="0" indent="0">
              <a:buNone/>
            </a:pPr>
            <a:r>
              <a:rPr lang="en-US" b="1" dirty="0"/>
              <a:t>THREE TYPES OF ELASTICITY</a:t>
            </a:r>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endParaRPr lang="en-US" b="1" dirty="0"/>
          </a:p>
          <a:p>
            <a:pPr marL="0" indent="0">
              <a:buNone/>
            </a:pPr>
            <a:r>
              <a:rPr lang="en-US" sz="2000" b="1" dirty="0"/>
              <a:t>Rule of Thumb:</a:t>
            </a:r>
            <a:r>
              <a:rPr lang="en-US" sz="2000" dirty="0"/>
              <a:t> Necessities are inelastic; luxuries are elastic</a:t>
            </a:r>
            <a:endParaRPr lang="en-US" sz="2000" b="1" dirty="0"/>
          </a:p>
          <a:p>
            <a:pPr marL="0" indent="0">
              <a:buNone/>
            </a:pPr>
            <a:endParaRPr lang="en-US" b="1" dirty="0"/>
          </a:p>
          <a:p>
            <a:pPr marL="0" indent="0">
              <a:buNone/>
            </a:pPr>
            <a:endParaRPr lang="en-US" dirty="0"/>
          </a:p>
        </p:txBody>
      </p:sp>
      <p:graphicFrame>
        <p:nvGraphicFramePr>
          <p:cNvPr id="3" name="Table 2">
            <a:extLst>
              <a:ext uri="{FF2B5EF4-FFF2-40B4-BE49-F238E27FC236}">
                <a16:creationId xmlns:a16="http://schemas.microsoft.com/office/drawing/2014/main" id="{01369A14-BFDD-79D8-A735-032402C4C3AA}"/>
              </a:ext>
            </a:extLst>
          </p:cNvPr>
          <p:cNvGraphicFramePr>
            <a:graphicFrameLocks noGrp="1"/>
          </p:cNvGraphicFramePr>
          <p:nvPr>
            <p:extLst>
              <p:ext uri="{D42A27DB-BD31-4B8C-83A1-F6EECF244321}">
                <p14:modId xmlns:p14="http://schemas.microsoft.com/office/powerpoint/2010/main" val="3888122828"/>
              </p:ext>
            </p:extLst>
          </p:nvPr>
        </p:nvGraphicFramePr>
        <p:xfrm>
          <a:off x="747326" y="1914935"/>
          <a:ext cx="7731124" cy="2407920"/>
        </p:xfrm>
        <a:graphic>
          <a:graphicData uri="http://schemas.openxmlformats.org/drawingml/2006/table">
            <a:tbl>
              <a:tblPr firstRow="1"/>
              <a:tblGrid>
                <a:gridCol w="1932781">
                  <a:extLst>
                    <a:ext uri="{9D8B030D-6E8A-4147-A177-3AD203B41FA5}">
                      <a16:colId xmlns:a16="http://schemas.microsoft.com/office/drawing/2014/main" val="3001347305"/>
                    </a:ext>
                  </a:extLst>
                </a:gridCol>
                <a:gridCol w="1932781">
                  <a:extLst>
                    <a:ext uri="{9D8B030D-6E8A-4147-A177-3AD203B41FA5}">
                      <a16:colId xmlns:a16="http://schemas.microsoft.com/office/drawing/2014/main" val="1155403393"/>
                    </a:ext>
                  </a:extLst>
                </a:gridCol>
                <a:gridCol w="1932781">
                  <a:extLst>
                    <a:ext uri="{9D8B030D-6E8A-4147-A177-3AD203B41FA5}">
                      <a16:colId xmlns:a16="http://schemas.microsoft.com/office/drawing/2014/main" val="3412569865"/>
                    </a:ext>
                  </a:extLst>
                </a:gridCol>
                <a:gridCol w="1932781">
                  <a:extLst>
                    <a:ext uri="{9D8B030D-6E8A-4147-A177-3AD203B41FA5}">
                      <a16:colId xmlns:a16="http://schemas.microsoft.com/office/drawing/2014/main" val="3627930779"/>
                    </a:ext>
                  </a:extLst>
                </a:gridCol>
              </a:tblGrid>
              <a:tr h="0">
                <a:tc>
                  <a:txBody>
                    <a:bodyPr/>
                    <a:lstStyle/>
                    <a:p>
                      <a:pPr algn="l">
                        <a:buNone/>
                      </a:pPr>
                      <a:r>
                        <a:rPr lang="en-US" b="1" dirty="0">
                          <a:effectLst/>
                        </a:rPr>
                        <a:t>Type</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b="1">
                          <a:effectLst/>
                        </a:rPr>
                        <a:t>Value</a:t>
                      </a:r>
                      <a:endParaRPr lang="en-US">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b="1">
                          <a:effectLst/>
                        </a:rPr>
                        <a:t>Meaning</a:t>
                      </a:r>
                      <a:endParaRPr lang="en-US">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algn="l">
                        <a:buNone/>
                      </a:pPr>
                      <a:r>
                        <a:rPr lang="en-US" b="1">
                          <a:effectLst/>
                        </a:rPr>
                        <a:t>Example</a:t>
                      </a:r>
                      <a:endParaRPr lang="en-US">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1709978774"/>
                  </a:ext>
                </a:extLst>
              </a:tr>
              <a:tr h="0">
                <a:tc>
                  <a:txBody>
                    <a:bodyPr/>
                    <a:lstStyle/>
                    <a:p>
                      <a:pPr algn="l">
                        <a:buNone/>
                      </a:pPr>
                      <a:r>
                        <a:rPr lang="en-US" b="1" dirty="0">
                          <a:effectLst/>
                        </a:rPr>
                        <a:t>Elastic</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&gt; 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High responsiveness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Restaurant meals (2.27)</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3849845"/>
                  </a:ext>
                </a:extLst>
              </a:tr>
              <a:tr h="0">
                <a:tc>
                  <a:txBody>
                    <a:bodyPr/>
                    <a:lstStyle/>
                    <a:p>
                      <a:pPr algn="l">
                        <a:buNone/>
                      </a:pPr>
                      <a:r>
                        <a:rPr lang="en-US" b="1" dirty="0">
                          <a:effectLst/>
                        </a:rPr>
                        <a:t>Unit Elastic</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 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Proportional response</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effectLst/>
                        </a:rPr>
                        <a:t>Off-peak rail transit (1.00)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1462357"/>
                  </a:ext>
                </a:extLst>
              </a:tr>
              <a:tr h="0">
                <a:tc>
                  <a:txBody>
                    <a:bodyPr/>
                    <a:lstStyle/>
                    <a:p>
                      <a:pPr algn="l">
                        <a:buNone/>
                      </a:pPr>
                      <a:r>
                        <a:rPr lang="en-US" b="1" dirty="0">
                          <a:effectLst/>
                        </a:rPr>
                        <a:t>Inelastic</a:t>
                      </a:r>
                      <a:endParaRPr lang="en-US" dirty="0">
                        <a:effectLst/>
                      </a:endParaRP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dirty="0">
                          <a:effectLst/>
                        </a:rPr>
                        <a:t>&lt; 1</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dirty="0">
                          <a:effectLst/>
                        </a:rPr>
                        <a:t>Low responsiveness</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dirty="0">
                          <a:effectLst/>
                        </a:rPr>
                        <a:t>Electricity (0.20)</a:t>
                      </a:r>
                    </a:p>
                  </a:txBody>
                  <a:tcPr marL="60960" marR="6096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7701067"/>
                  </a:ext>
                </a:extLst>
              </a:tr>
            </a:tbl>
          </a:graphicData>
        </a:graphic>
      </p:graphicFrame>
    </p:spTree>
    <p:extLst>
      <p:ext uri="{BB962C8B-B14F-4D97-AF65-F5344CB8AC3E}">
        <p14:creationId xmlns:p14="http://schemas.microsoft.com/office/powerpoint/2010/main" val="2273201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B69C9-CDF0-B3A0-B65A-CD357704E905}"/>
              </a:ext>
            </a:extLst>
          </p:cNvPr>
          <p:cNvSpPr>
            <a:spLocks noGrp="1"/>
          </p:cNvSpPr>
          <p:nvPr>
            <p:ph type="title"/>
          </p:nvPr>
        </p:nvSpPr>
        <p:spPr/>
        <p:txBody>
          <a:bodyPr/>
          <a:lstStyle/>
          <a:p>
            <a:r>
              <a:rPr lang="en-US" dirty="0"/>
              <a:t>Price Elasticity of Supply (PES)</a:t>
            </a:r>
          </a:p>
        </p:txBody>
      </p:sp>
      <p:sp>
        <p:nvSpPr>
          <p:cNvPr id="3" name="Content Placeholder 2">
            <a:extLst>
              <a:ext uri="{FF2B5EF4-FFF2-40B4-BE49-F238E27FC236}">
                <a16:creationId xmlns:a16="http://schemas.microsoft.com/office/drawing/2014/main" id="{5BA5AB39-5344-7A60-DF17-80B071FC2F60}"/>
              </a:ext>
            </a:extLst>
          </p:cNvPr>
          <p:cNvSpPr>
            <a:spLocks noGrp="1"/>
          </p:cNvSpPr>
          <p:nvPr>
            <p:ph idx="1"/>
          </p:nvPr>
        </p:nvSpPr>
        <p:spPr/>
        <p:txBody>
          <a:bodyPr>
            <a:normAutofit fontScale="92500" lnSpcReduction="20000"/>
          </a:bodyPr>
          <a:lstStyle/>
          <a:p>
            <a:pPr marL="0" indent="0">
              <a:buNone/>
            </a:pPr>
            <a:r>
              <a:rPr lang="en-US" sz="2400" b="1" dirty="0"/>
              <a:t>PRICE ELASTICITY OF SUPPLY</a:t>
            </a:r>
            <a:endParaRPr lang="en-US" sz="2400" dirty="0"/>
          </a:p>
          <a:p>
            <a:pPr marL="0" indent="0">
              <a:buNone/>
            </a:pPr>
            <a:endParaRPr lang="en-US" sz="2400" b="1" dirty="0"/>
          </a:p>
          <a:p>
            <a:pPr marL="0" indent="0">
              <a:buNone/>
            </a:pPr>
            <a:r>
              <a:rPr lang="en-US" sz="2400" b="1" dirty="0"/>
              <a:t>Formula:</a:t>
            </a:r>
            <a:br>
              <a:rPr lang="en-US" sz="2400" dirty="0"/>
            </a:br>
            <a:r>
              <a:rPr lang="en-US" sz="2400" dirty="0"/>
              <a:t>PES = % Change in Quantity Supplied ÷ % Change in Price</a:t>
            </a:r>
          </a:p>
          <a:p>
            <a:pPr marL="0" indent="0">
              <a:buNone/>
            </a:pPr>
            <a:endParaRPr lang="en-US" sz="2400" b="1" dirty="0"/>
          </a:p>
          <a:p>
            <a:pPr marL="0" indent="0">
              <a:buNone/>
            </a:pPr>
            <a:r>
              <a:rPr lang="en-US" sz="2400" b="1" dirty="0"/>
              <a:t>Example: Electric Truck Startup</a:t>
            </a:r>
            <a:endParaRPr lang="en-US" sz="2400" dirty="0"/>
          </a:p>
          <a:p>
            <a:pPr lvl="1"/>
            <a:r>
              <a:rPr lang="en-US" sz="2200" dirty="0"/>
              <a:t>Price rises from $40,000 to $50,000</a:t>
            </a:r>
          </a:p>
          <a:p>
            <a:pPr lvl="2"/>
            <a:r>
              <a:rPr lang="en-US" sz="2200" dirty="0"/>
              <a:t>(50,000 – 40,000)/45,000 = 0.222</a:t>
            </a:r>
          </a:p>
          <a:p>
            <a:pPr lvl="1"/>
            <a:r>
              <a:rPr lang="en-US" sz="2200" dirty="0"/>
              <a:t>Production increases from 1,000 to 1,400 trucks</a:t>
            </a:r>
          </a:p>
          <a:p>
            <a:pPr lvl="2"/>
            <a:r>
              <a:rPr lang="en-US" sz="2200" dirty="0"/>
              <a:t>(1400 – 1000)/1200 = 0.333</a:t>
            </a:r>
          </a:p>
          <a:p>
            <a:pPr lvl="1"/>
            <a:r>
              <a:rPr lang="en-US" sz="2200" dirty="0"/>
              <a:t>PES = 1.5 (elastic supply)</a:t>
            </a:r>
          </a:p>
          <a:p>
            <a:pPr lvl="2"/>
            <a:r>
              <a:rPr lang="en-US" sz="2200" dirty="0"/>
              <a:t>33.3%/22.2%</a:t>
            </a:r>
          </a:p>
          <a:p>
            <a:pPr marL="0" indent="0">
              <a:buNone/>
            </a:pPr>
            <a:endParaRPr lang="en-US" sz="2400" b="1" dirty="0"/>
          </a:p>
          <a:p>
            <a:pPr marL="0" indent="0">
              <a:buNone/>
            </a:pPr>
            <a:r>
              <a:rPr lang="en-US" sz="2400" b="1" dirty="0"/>
              <a:t>Interpretation:</a:t>
            </a:r>
            <a:r>
              <a:rPr lang="en-US" sz="2400" dirty="0"/>
              <a:t> Producers can ramp up production when prices rise</a:t>
            </a:r>
            <a:br>
              <a:rPr lang="en-US" dirty="0"/>
            </a:br>
            <a:endParaRPr lang="en-US" dirty="0"/>
          </a:p>
        </p:txBody>
      </p:sp>
    </p:spTree>
    <p:extLst>
      <p:ext uri="{BB962C8B-B14F-4D97-AF65-F5344CB8AC3E}">
        <p14:creationId xmlns:p14="http://schemas.microsoft.com/office/powerpoint/2010/main" val="184264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49664" y="365126"/>
            <a:ext cx="10515600" cy="424583"/>
          </a:xfrm>
        </p:spPr>
        <p:txBody>
          <a:bodyPr>
            <a:noAutofit/>
          </a:bodyPr>
          <a:lstStyle/>
          <a:p>
            <a:r>
              <a:rPr lang="en-US" sz="2400" dirty="0"/>
              <a:t>Perfect Elasticity</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715652" y="1191634"/>
            <a:ext cx="10449612" cy="3190795"/>
          </a:xfrm>
        </p:spPr>
        <p:txBody>
          <a:bodyPr>
            <a:normAutofit/>
          </a:bodyPr>
          <a:lstStyle/>
          <a:p>
            <a:pPr marL="0" indent="0">
              <a:buNone/>
            </a:pPr>
            <a:r>
              <a:rPr lang="en-US" b="1" dirty="0"/>
              <a:t>POLAR CASE 1: PERFECTLY ELASTIC (Horizontal Curves)</a:t>
            </a:r>
            <a:endParaRPr lang="en-US" dirty="0"/>
          </a:p>
          <a:p>
            <a:pPr marL="0" indent="0">
              <a:buNone/>
            </a:pPr>
            <a:r>
              <a:rPr lang="en-US" b="1" dirty="0"/>
              <a:t>Characteristics:</a:t>
            </a:r>
            <a:endParaRPr lang="en-US" dirty="0"/>
          </a:p>
          <a:p>
            <a:r>
              <a:rPr lang="en-US" dirty="0"/>
              <a:t>Elasticity = </a:t>
            </a:r>
            <a:r>
              <a:rPr lang="en-US" b="1" dirty="0"/>
              <a:t>∞ (infinity)</a:t>
            </a:r>
            <a:endParaRPr lang="en-US" dirty="0"/>
          </a:p>
          <a:p>
            <a:r>
              <a:rPr lang="en-US" dirty="0"/>
              <a:t>Quantity changes infinitely for any price change</a:t>
            </a:r>
          </a:p>
          <a:p>
            <a:r>
              <a:rPr lang="en-US" dirty="0"/>
              <a:t>Horizontal demand or supply curve</a:t>
            </a:r>
          </a:p>
          <a:p>
            <a:pPr marL="0" indent="0">
              <a:buNone/>
            </a:pPr>
            <a:r>
              <a:rPr lang="en-US" b="1" dirty="0"/>
              <a:t>Real-World Approximations:</a:t>
            </a:r>
            <a:endParaRPr lang="en-US" dirty="0"/>
          </a:p>
          <a:p>
            <a:r>
              <a:rPr lang="en-US" dirty="0"/>
              <a:t>Commodities in perfectly competitive markets (wheat, corn from one farmer)</a:t>
            </a:r>
          </a:p>
          <a:p>
            <a:r>
              <a:rPr lang="en-US" dirty="0"/>
              <a:t>Goods with perfect substitutes at same price</a:t>
            </a:r>
          </a:p>
          <a:p>
            <a:endParaRPr lang="en-US" dirty="0"/>
          </a:p>
        </p:txBody>
      </p:sp>
      <p:pic>
        <p:nvPicPr>
          <p:cNvPr id="4" name="Picture 3" descr="Two graphs, side by side, show that perfectly elastic demand and perfectly elastic supply are both straight, horizontal lines.">
            <a:extLst>
              <a:ext uri="{FF2B5EF4-FFF2-40B4-BE49-F238E27FC236}">
                <a16:creationId xmlns:a16="http://schemas.microsoft.com/office/drawing/2014/main" id="{F9E3641D-A4FF-8FD7-716C-A7C4B5B5966E}"/>
              </a:ext>
            </a:extLst>
          </p:cNvPr>
          <p:cNvPicPr>
            <a:picLocks noChangeAspect="1"/>
          </p:cNvPicPr>
          <p:nvPr/>
        </p:nvPicPr>
        <p:blipFill>
          <a:blip r:embed="rId3"/>
          <a:stretch>
            <a:fillRect/>
          </a:stretch>
        </p:blipFill>
        <p:spPr>
          <a:xfrm>
            <a:off x="3611493" y="4672867"/>
            <a:ext cx="4584654" cy="1986997"/>
          </a:xfrm>
          <a:prstGeom prst="rect">
            <a:avLst/>
          </a:prstGeom>
          <a:ln>
            <a:solidFill>
              <a:schemeClr val="tx1"/>
            </a:solidFill>
          </a:ln>
        </p:spPr>
      </p:pic>
    </p:spTree>
    <p:extLst>
      <p:ext uri="{BB962C8B-B14F-4D97-AF65-F5344CB8AC3E}">
        <p14:creationId xmlns:p14="http://schemas.microsoft.com/office/powerpoint/2010/main" val="48654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583677" y="317150"/>
            <a:ext cx="10515600" cy="424583"/>
          </a:xfrm>
        </p:spPr>
        <p:txBody>
          <a:bodyPr>
            <a:noAutofit/>
          </a:bodyPr>
          <a:lstStyle/>
          <a:p>
            <a:r>
              <a:rPr lang="en-US" dirty="0"/>
              <a:t>Perfect </a:t>
            </a:r>
            <a:r>
              <a:rPr lang="en-US" dirty="0" err="1"/>
              <a:t>inElasticity</a:t>
            </a:r>
            <a:endParaRPr lang="en-US" dirty="0"/>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715651" y="1170195"/>
            <a:ext cx="10515600" cy="3368351"/>
          </a:xfrm>
        </p:spPr>
        <p:txBody>
          <a:bodyPr>
            <a:normAutofit lnSpcReduction="10000"/>
          </a:bodyPr>
          <a:lstStyle/>
          <a:p>
            <a:pPr marL="0" indent="0">
              <a:buNone/>
            </a:pPr>
            <a:r>
              <a:rPr lang="en-US" b="1" dirty="0"/>
              <a:t>POLAR CASE 2: PERFECTLY INELASTIC (Vertical Curves)</a:t>
            </a:r>
            <a:endParaRPr lang="en-US" dirty="0"/>
          </a:p>
          <a:p>
            <a:pPr marL="0" indent="0">
              <a:buNone/>
            </a:pPr>
            <a:r>
              <a:rPr lang="en-US" b="1" dirty="0"/>
              <a:t>Characteristics:</a:t>
            </a:r>
            <a:endParaRPr lang="en-US" dirty="0"/>
          </a:p>
          <a:p>
            <a:pPr lvl="1"/>
            <a:r>
              <a:rPr lang="en-US" dirty="0"/>
              <a:t>Elasticity = </a:t>
            </a:r>
            <a:r>
              <a:rPr lang="en-US" b="1" dirty="0"/>
              <a:t>0 (zero)</a:t>
            </a:r>
            <a:endParaRPr lang="en-US" dirty="0"/>
          </a:p>
          <a:p>
            <a:pPr lvl="1"/>
            <a:r>
              <a:rPr lang="en-US" dirty="0"/>
              <a:t>Quantity doesn't change regardless of price</a:t>
            </a:r>
          </a:p>
          <a:p>
            <a:pPr lvl="1"/>
            <a:r>
              <a:rPr lang="en-US" dirty="0"/>
              <a:t>Vertical demand or supply curve</a:t>
            </a:r>
          </a:p>
          <a:p>
            <a:pPr marL="0" indent="0">
              <a:buNone/>
            </a:pPr>
            <a:r>
              <a:rPr lang="en-US" b="1" dirty="0"/>
              <a:t>Real-World Approximations:</a:t>
            </a:r>
            <a:endParaRPr lang="en-US" dirty="0"/>
          </a:p>
          <a:p>
            <a:pPr lvl="1"/>
            <a:r>
              <a:rPr lang="en-US" dirty="0"/>
              <a:t>Life-saving medications (insulin for diabetics)</a:t>
            </a:r>
          </a:p>
          <a:p>
            <a:pPr lvl="1"/>
            <a:r>
              <a:rPr lang="en-US" dirty="0"/>
              <a:t>Housing in fixed locations (Manhattan apartments)</a:t>
            </a:r>
          </a:p>
          <a:p>
            <a:pPr lvl="1"/>
            <a:r>
              <a:rPr lang="en-US" dirty="0"/>
              <a:t>Addictive substances (short-run)</a:t>
            </a:r>
          </a:p>
          <a:p>
            <a:endParaRPr lang="en-US" dirty="0"/>
          </a:p>
        </p:txBody>
      </p:sp>
      <p:pic>
        <p:nvPicPr>
          <p:cNvPr id="5" name="Picture 4" descr="The two graphs show that zero elasticity of supply and zero elasticity of demand are straight, vertical lines.">
            <a:extLst>
              <a:ext uri="{FF2B5EF4-FFF2-40B4-BE49-F238E27FC236}">
                <a16:creationId xmlns:a16="http://schemas.microsoft.com/office/drawing/2014/main" id="{DBF3E19A-36C8-249D-3822-693D0F489DAD}"/>
              </a:ext>
            </a:extLst>
          </p:cNvPr>
          <p:cNvPicPr>
            <a:picLocks noChangeAspect="1"/>
          </p:cNvPicPr>
          <p:nvPr/>
        </p:nvPicPr>
        <p:blipFill>
          <a:blip r:embed="rId3"/>
          <a:stretch>
            <a:fillRect/>
          </a:stretch>
        </p:blipFill>
        <p:spPr>
          <a:xfrm>
            <a:off x="3938653" y="4759438"/>
            <a:ext cx="4314693" cy="1856733"/>
          </a:xfrm>
          <a:prstGeom prst="rect">
            <a:avLst/>
          </a:prstGeom>
          <a:ln>
            <a:solidFill>
              <a:schemeClr val="tx1"/>
            </a:solidFill>
          </a:ln>
        </p:spPr>
      </p:pic>
    </p:spTree>
    <p:extLst>
      <p:ext uri="{BB962C8B-B14F-4D97-AF65-F5344CB8AC3E}">
        <p14:creationId xmlns:p14="http://schemas.microsoft.com/office/powerpoint/2010/main" val="3936586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583677" y="336846"/>
            <a:ext cx="10515600" cy="424583"/>
          </a:xfrm>
        </p:spPr>
        <p:txBody>
          <a:bodyPr>
            <a:noAutofit/>
          </a:bodyPr>
          <a:lstStyle/>
          <a:p>
            <a:r>
              <a:rPr lang="en-US" dirty="0"/>
              <a:t>Constant Unitary Elasticity</a:t>
            </a:r>
          </a:p>
        </p:txBody>
      </p:sp>
      <p:sp>
        <p:nvSpPr>
          <p:cNvPr id="7" name="Content Placeholder 6">
            <a:extLst>
              <a:ext uri="{FF2B5EF4-FFF2-40B4-BE49-F238E27FC236}">
                <a16:creationId xmlns:a16="http://schemas.microsoft.com/office/drawing/2014/main" id="{2027E8B6-B57E-F620-240E-4BB252513E65}"/>
              </a:ext>
              <a:ext uri="{C183D7F6-B498-43B3-948B-1728B52AA6E4}">
                <adec:decorative xmlns:adec="http://schemas.microsoft.com/office/drawing/2017/decorative" val="1"/>
              </a:ext>
            </a:extLst>
          </p:cNvPr>
          <p:cNvSpPr>
            <a:spLocks noGrp="1"/>
          </p:cNvSpPr>
          <p:nvPr>
            <p:ph idx="1"/>
          </p:nvPr>
        </p:nvSpPr>
        <p:spPr>
          <a:xfrm>
            <a:off x="659091" y="1135073"/>
            <a:ext cx="10440186" cy="2845911"/>
          </a:xfrm>
        </p:spPr>
        <p:txBody>
          <a:bodyPr>
            <a:normAutofit/>
          </a:bodyPr>
          <a:lstStyle/>
          <a:p>
            <a:pPr marL="0" indent="0">
              <a:buNone/>
            </a:pPr>
            <a:r>
              <a:rPr lang="en-US" b="1" dirty="0"/>
              <a:t>CONSTANT UNITARY ELASTICITY</a:t>
            </a:r>
            <a:endParaRPr lang="en-US" dirty="0"/>
          </a:p>
          <a:p>
            <a:pPr marL="0" indent="0">
              <a:buNone/>
            </a:pPr>
            <a:r>
              <a:rPr lang="en-US" b="1" dirty="0"/>
              <a:t>Characteristics:</a:t>
            </a:r>
            <a:endParaRPr lang="en-US" dirty="0"/>
          </a:p>
          <a:p>
            <a:pPr lvl="1"/>
            <a:r>
              <a:rPr lang="en-US" dirty="0"/>
              <a:t>Elasticity = </a:t>
            </a:r>
            <a:r>
              <a:rPr lang="en-US" b="1" dirty="0"/>
              <a:t>1 at all points</a:t>
            </a:r>
            <a:endParaRPr lang="en-US" dirty="0"/>
          </a:p>
          <a:p>
            <a:pPr lvl="1"/>
            <a:r>
              <a:rPr lang="en-US" dirty="0"/>
              <a:t>1% price change → 1% quantity change</a:t>
            </a:r>
          </a:p>
          <a:p>
            <a:pPr lvl="1"/>
            <a:r>
              <a:rPr lang="en-US" b="1" dirty="0"/>
              <a:t>Demand curve:</a:t>
            </a:r>
            <a:r>
              <a:rPr lang="en-US" dirty="0"/>
              <a:t> Curved (rectangular hyperbola)</a:t>
            </a:r>
          </a:p>
          <a:p>
            <a:pPr lvl="1"/>
            <a:r>
              <a:rPr lang="en-US" b="1" dirty="0"/>
              <a:t>Supply curve:</a:t>
            </a:r>
            <a:r>
              <a:rPr lang="en-US" dirty="0"/>
              <a:t> Straight line through origin</a:t>
            </a:r>
          </a:p>
          <a:p>
            <a:pPr marL="0" indent="0">
              <a:buNone/>
            </a:pPr>
            <a:r>
              <a:rPr lang="en-US" b="1" dirty="0"/>
              <a:t>Significance:</a:t>
            </a:r>
            <a:r>
              <a:rPr lang="en-US" dirty="0"/>
              <a:t> Price and quantity changes always proportional</a:t>
            </a:r>
          </a:p>
          <a:p>
            <a:endParaRPr lang="en-US" dirty="0"/>
          </a:p>
        </p:txBody>
      </p:sp>
      <p:pic>
        <p:nvPicPr>
          <p:cNvPr id="3" name="Picture 2">
            <a:extLst>
              <a:ext uri="{FF2B5EF4-FFF2-40B4-BE49-F238E27FC236}">
                <a16:creationId xmlns:a16="http://schemas.microsoft.com/office/drawing/2014/main" id="{57303A85-E3DE-08D0-23AE-532CA4BCF8E0}"/>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9364" y="4372271"/>
            <a:ext cx="2778181" cy="228448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 name="Picture 3" descr="This graph shows that a supply curve with unitary elasticity at all points will always be a straight line.">
            <a:extLst>
              <a:ext uri="{FF2B5EF4-FFF2-40B4-BE49-F238E27FC236}">
                <a16:creationId xmlns:a16="http://schemas.microsoft.com/office/drawing/2014/main" id="{1827527E-3045-9044-6A5F-C849AEA7B0B6}"/>
              </a:ext>
            </a:extLst>
          </p:cNvPr>
          <p:cNvPicPr>
            <a:picLocks noChangeAspect="1"/>
          </p:cNvPicPr>
          <p:nvPr/>
        </p:nvPicPr>
        <p:blipFill>
          <a:blip r:embed="rId4"/>
          <a:stretch>
            <a:fillRect/>
          </a:stretch>
        </p:blipFill>
        <p:spPr>
          <a:xfrm>
            <a:off x="5879184" y="4372271"/>
            <a:ext cx="4152053" cy="2284480"/>
          </a:xfrm>
          <a:prstGeom prst="rect">
            <a:avLst/>
          </a:prstGeom>
          <a:ln>
            <a:solidFill>
              <a:schemeClr val="tx1"/>
            </a:solidFill>
          </a:ln>
        </p:spPr>
      </p:pic>
    </p:spTree>
    <p:extLst>
      <p:ext uri="{BB962C8B-B14F-4D97-AF65-F5344CB8AC3E}">
        <p14:creationId xmlns:p14="http://schemas.microsoft.com/office/powerpoint/2010/main" val="3601074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A44C5-8B84-97AF-4860-9DFE9441B608}"/>
              </a:ext>
            </a:extLst>
          </p:cNvPr>
          <p:cNvSpPr>
            <a:spLocks noGrp="1"/>
          </p:cNvSpPr>
          <p:nvPr>
            <p:ph type="title"/>
          </p:nvPr>
        </p:nvSpPr>
        <p:spPr/>
        <p:txBody>
          <a:bodyPr/>
          <a:lstStyle/>
          <a:p>
            <a:r>
              <a:rPr lang="en-US" dirty="0"/>
              <a:t>Determinants of elasticity</a:t>
            </a:r>
          </a:p>
        </p:txBody>
      </p:sp>
      <p:sp>
        <p:nvSpPr>
          <p:cNvPr id="3" name="Content Placeholder 2">
            <a:extLst>
              <a:ext uri="{FF2B5EF4-FFF2-40B4-BE49-F238E27FC236}">
                <a16:creationId xmlns:a16="http://schemas.microsoft.com/office/drawing/2014/main" id="{76327832-200A-FA82-406B-62E2ACF76F1F}"/>
              </a:ext>
            </a:extLst>
          </p:cNvPr>
          <p:cNvSpPr>
            <a:spLocks noGrp="1"/>
          </p:cNvSpPr>
          <p:nvPr>
            <p:ph idx="1"/>
          </p:nvPr>
        </p:nvSpPr>
        <p:spPr/>
        <p:txBody>
          <a:bodyPr/>
          <a:lstStyle/>
          <a:p>
            <a:pPr marL="0" indent="0">
              <a:buNone/>
            </a:pPr>
            <a:r>
              <a:rPr lang="en-US" sz="2400" b="1" dirty="0"/>
              <a:t>WHAT MAKES DEMAND ELASTIC OR INELASTIC?</a:t>
            </a:r>
            <a:endParaRPr lang="en-US" sz="2400" dirty="0"/>
          </a:p>
          <a:p>
            <a:pPr marL="0" indent="0">
              <a:buNone/>
            </a:pPr>
            <a:r>
              <a:rPr lang="en-US" sz="2400" b="1" dirty="0"/>
              <a:t>More Elastic When:</a:t>
            </a:r>
            <a:endParaRPr lang="en-US" sz="2400" dirty="0"/>
          </a:p>
          <a:p>
            <a:pPr lvl="1"/>
            <a:r>
              <a:rPr lang="en-US" sz="2200" dirty="0"/>
              <a:t>Many close substitutes available</a:t>
            </a:r>
          </a:p>
          <a:p>
            <a:pPr lvl="1"/>
            <a:r>
              <a:rPr lang="en-US" sz="2200" dirty="0"/>
              <a:t>Luxury or discretionary item</a:t>
            </a:r>
          </a:p>
          <a:p>
            <a:pPr lvl="1"/>
            <a:r>
              <a:rPr lang="en-US" sz="2200" dirty="0"/>
              <a:t>Large portion of consumer budget</a:t>
            </a:r>
          </a:p>
          <a:p>
            <a:pPr lvl="1"/>
            <a:r>
              <a:rPr lang="en-US" sz="2200" dirty="0"/>
              <a:t>Longer time horizon (long-run)</a:t>
            </a:r>
          </a:p>
          <a:p>
            <a:pPr marL="0" indent="0">
              <a:buNone/>
            </a:pPr>
            <a:r>
              <a:rPr lang="en-US" sz="2400" b="1" dirty="0"/>
              <a:t>More Inelastic When:</a:t>
            </a:r>
            <a:endParaRPr lang="en-US" sz="2400" dirty="0"/>
          </a:p>
          <a:p>
            <a:pPr lvl="1"/>
            <a:r>
              <a:rPr lang="en-US" sz="2200" dirty="0"/>
              <a:t>Few or no substitutes</a:t>
            </a:r>
          </a:p>
          <a:p>
            <a:pPr lvl="1"/>
            <a:r>
              <a:rPr lang="en-US" sz="2200" dirty="0"/>
              <a:t>Necessity (food, medicine, housing)</a:t>
            </a:r>
          </a:p>
          <a:p>
            <a:pPr lvl="1"/>
            <a:r>
              <a:rPr lang="en-US" sz="2200" dirty="0"/>
              <a:t>Small portion of budget</a:t>
            </a:r>
          </a:p>
          <a:p>
            <a:pPr lvl="1"/>
            <a:r>
              <a:rPr lang="en-US" sz="2200" dirty="0"/>
              <a:t>Shorter time horizon (short-run)</a:t>
            </a:r>
          </a:p>
          <a:p>
            <a:endParaRPr lang="en-US" dirty="0"/>
          </a:p>
        </p:txBody>
      </p:sp>
    </p:spTree>
    <p:extLst>
      <p:ext uri="{BB962C8B-B14F-4D97-AF65-F5344CB8AC3E}">
        <p14:creationId xmlns:p14="http://schemas.microsoft.com/office/powerpoint/2010/main" val="234065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68518" y="365126"/>
            <a:ext cx="10515600" cy="501739"/>
          </a:xfrm>
        </p:spPr>
        <p:txBody>
          <a:bodyPr>
            <a:noAutofit/>
          </a:bodyPr>
          <a:lstStyle/>
          <a:p>
            <a:r>
              <a:rPr lang="en-US" dirty="0"/>
              <a:t>Elasticity and Total Revenue</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668517" y="1323610"/>
            <a:ext cx="4427589" cy="4555756"/>
          </a:xfrm>
        </p:spPr>
        <p:txBody>
          <a:bodyPr>
            <a:normAutofit/>
          </a:bodyPr>
          <a:lstStyle/>
          <a:p>
            <a:pPr marL="0" indent="0">
              <a:buNone/>
            </a:pPr>
            <a:r>
              <a:rPr lang="en-US" b="1" dirty="0"/>
              <a:t>THE REVENUE TEST</a:t>
            </a:r>
            <a:endParaRPr lang="en-US" dirty="0"/>
          </a:p>
          <a:p>
            <a:pPr marL="0" indent="0">
              <a:buNone/>
            </a:pPr>
            <a:endParaRPr lang="en-US" b="1" dirty="0"/>
          </a:p>
          <a:p>
            <a:pPr marL="0" indent="0">
              <a:buNone/>
            </a:pPr>
            <a:r>
              <a:rPr lang="en-US" b="1" dirty="0"/>
              <a:t>Key Business Question:</a:t>
            </a:r>
            <a:r>
              <a:rPr lang="en-US" dirty="0"/>
              <a:t> Should we raise prices or lower them?</a:t>
            </a:r>
          </a:p>
          <a:p>
            <a:pPr marL="0" indent="0">
              <a:buNone/>
            </a:pPr>
            <a:endParaRPr lang="en-US" b="1" dirty="0"/>
          </a:p>
          <a:p>
            <a:pPr marL="0" indent="0">
              <a:buNone/>
            </a:pPr>
            <a:r>
              <a:rPr lang="en-US" b="1" dirty="0"/>
              <a:t>Strategy:</a:t>
            </a:r>
            <a:r>
              <a:rPr lang="en-US" dirty="0"/>
              <a:t> Know your elasticity before changing prices!</a:t>
            </a:r>
          </a:p>
        </p:txBody>
      </p:sp>
      <p:pic>
        <p:nvPicPr>
          <p:cNvPr id="4" name="Picture 3" descr="Graphs showing effects of price changes on revenue, given different elasticities of demand">
            <a:extLst>
              <a:ext uri="{FF2B5EF4-FFF2-40B4-BE49-F238E27FC236}">
                <a16:creationId xmlns:a16="http://schemas.microsoft.com/office/drawing/2014/main" id="{7E4E9180-13D8-75B3-D668-C6010E40AC24}"/>
              </a:ext>
            </a:extLst>
          </p:cNvPr>
          <p:cNvPicPr>
            <a:picLocks noChangeAspect="1"/>
          </p:cNvPicPr>
          <p:nvPr/>
        </p:nvPicPr>
        <p:blipFill>
          <a:blip r:embed="rId3"/>
          <a:stretch>
            <a:fillRect/>
          </a:stretch>
        </p:blipFill>
        <p:spPr>
          <a:xfrm>
            <a:off x="5303252" y="1323610"/>
            <a:ext cx="5648920" cy="2234623"/>
          </a:xfrm>
          <a:prstGeom prst="rect">
            <a:avLst/>
          </a:prstGeom>
          <a:ln>
            <a:solidFill>
              <a:schemeClr val="tx1"/>
            </a:solidFill>
          </a:ln>
        </p:spPr>
      </p:pic>
      <p:pic>
        <p:nvPicPr>
          <p:cNvPr id="8" name="Picture 7" descr="Price Elasticity of Demand and Revenue Effect Summary Table">
            <a:extLst>
              <a:ext uri="{FF2B5EF4-FFF2-40B4-BE49-F238E27FC236}">
                <a16:creationId xmlns:a16="http://schemas.microsoft.com/office/drawing/2014/main" id="{1F582D2E-D87A-8DD9-74FA-F13BE09A0364}"/>
              </a:ext>
            </a:extLst>
          </p:cNvPr>
          <p:cNvPicPr>
            <a:picLocks noChangeAspect="1"/>
          </p:cNvPicPr>
          <p:nvPr/>
        </p:nvPicPr>
        <p:blipFill>
          <a:blip r:embed="rId4"/>
          <a:stretch>
            <a:fillRect/>
          </a:stretch>
        </p:blipFill>
        <p:spPr>
          <a:xfrm>
            <a:off x="5303252" y="3883842"/>
            <a:ext cx="5561753" cy="1995524"/>
          </a:xfrm>
          <a:prstGeom prst="rect">
            <a:avLst/>
          </a:prstGeom>
          <a:ln>
            <a:solidFill>
              <a:schemeClr val="tx1"/>
            </a:solidFill>
          </a:ln>
        </p:spPr>
      </p:pic>
    </p:spTree>
    <p:extLst>
      <p:ext uri="{BB962C8B-B14F-4D97-AF65-F5344CB8AC3E}">
        <p14:creationId xmlns:p14="http://schemas.microsoft.com/office/powerpoint/2010/main" val="22397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77945" y="269054"/>
            <a:ext cx="11124414" cy="590838"/>
          </a:xfrm>
        </p:spPr>
        <p:txBody>
          <a:bodyPr>
            <a:noAutofit/>
          </a:bodyPr>
          <a:lstStyle/>
          <a:p>
            <a:pPr marL="0" marR="0" lvl="0" indent="0" rtl="0">
              <a:spcBef>
                <a:spcPts val="0"/>
              </a:spcBef>
            </a:pPr>
            <a:r>
              <a:rPr lang="en-US" dirty="0"/>
              <a:t>Passing Cost Savings to Consumers - Technology</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838200" y="4428045"/>
            <a:ext cx="10515600" cy="2204852"/>
          </a:xfrm>
        </p:spPr>
        <p:txBody>
          <a:bodyPr>
            <a:normAutofit fontScale="92500" lnSpcReduction="10000"/>
          </a:bodyPr>
          <a:lstStyle/>
          <a:p>
            <a:pPr marL="0" indent="0">
              <a:buNone/>
            </a:pPr>
            <a:r>
              <a:rPr lang="en-US" b="1" dirty="0"/>
              <a:t>COST SAVINGS + INELASTIC DEMAND = LOWER PRICES</a:t>
            </a:r>
            <a:endParaRPr lang="en-US" dirty="0"/>
          </a:p>
          <a:p>
            <a:pPr marL="0" indent="0">
              <a:buNone/>
            </a:pPr>
            <a:r>
              <a:rPr lang="en-US" b="1" dirty="0"/>
              <a:t>Scenario:</a:t>
            </a:r>
            <a:r>
              <a:rPr lang="en-US" dirty="0"/>
              <a:t> Technological improvement reduces production costs → Supply shifts right</a:t>
            </a:r>
          </a:p>
          <a:p>
            <a:pPr marL="0" indent="0">
              <a:buNone/>
            </a:pPr>
            <a:r>
              <a:rPr lang="en-US" b="1" dirty="0"/>
              <a:t>Outcome depends on elasticity:</a:t>
            </a:r>
            <a:endParaRPr lang="en-US" dirty="0"/>
          </a:p>
          <a:p>
            <a:pPr lvl="1"/>
            <a:r>
              <a:rPr lang="en-US" b="1" dirty="0"/>
              <a:t>Inelastic demand:</a:t>
            </a:r>
            <a:r>
              <a:rPr lang="en-US" dirty="0"/>
              <a:t> Prices fall dramatically; quantity increases slightly</a:t>
            </a:r>
          </a:p>
          <a:p>
            <a:pPr lvl="1"/>
            <a:r>
              <a:rPr lang="en-US" b="1" dirty="0"/>
              <a:t>Elastic demand:</a:t>
            </a:r>
            <a:r>
              <a:rPr lang="en-US" dirty="0"/>
              <a:t> Prices fall slightly; quantity increases dramatically</a:t>
            </a:r>
          </a:p>
          <a:p>
            <a:pPr marL="0" indent="0">
              <a:buNone/>
            </a:pPr>
            <a:r>
              <a:rPr lang="en-US" b="1" dirty="0"/>
              <a:t>Who benefits more?</a:t>
            </a:r>
            <a:r>
              <a:rPr lang="en-US" dirty="0"/>
              <a:t> Consumers benefit more with inelastic demand (bigger price drop)</a:t>
            </a:r>
          </a:p>
          <a:p>
            <a:endParaRPr lang="en-US" dirty="0"/>
          </a:p>
        </p:txBody>
      </p:sp>
      <p:pic>
        <p:nvPicPr>
          <p:cNvPr id="4" name="Picture 3" descr="The two graphs show a highly elastic demand curve (on the left) and highly inelastic demand curve (on the right).">
            <a:extLst>
              <a:ext uri="{FF2B5EF4-FFF2-40B4-BE49-F238E27FC236}">
                <a16:creationId xmlns:a16="http://schemas.microsoft.com/office/drawing/2014/main" id="{049AEBCC-E025-1AAC-9D06-7857CAF3B747}"/>
              </a:ext>
            </a:extLst>
          </p:cNvPr>
          <p:cNvPicPr>
            <a:picLocks noChangeAspect="1"/>
          </p:cNvPicPr>
          <p:nvPr/>
        </p:nvPicPr>
        <p:blipFill>
          <a:blip r:embed="rId3"/>
          <a:stretch>
            <a:fillRect/>
          </a:stretch>
        </p:blipFill>
        <p:spPr>
          <a:xfrm>
            <a:off x="3411166" y="1078545"/>
            <a:ext cx="5369668" cy="3229503"/>
          </a:xfrm>
          <a:prstGeom prst="rect">
            <a:avLst/>
          </a:prstGeom>
          <a:ln>
            <a:solidFill>
              <a:schemeClr val="tx1"/>
            </a:solidFill>
          </a:ln>
        </p:spPr>
      </p:pic>
    </p:spTree>
    <p:extLst>
      <p:ext uri="{BB962C8B-B14F-4D97-AF65-F5344CB8AC3E}">
        <p14:creationId xmlns:p14="http://schemas.microsoft.com/office/powerpoint/2010/main" val="1873017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49664" y="234176"/>
            <a:ext cx="10515600" cy="555533"/>
          </a:xfrm>
        </p:spPr>
        <p:txBody>
          <a:bodyPr>
            <a:noAutofit/>
          </a:bodyPr>
          <a:lstStyle/>
          <a:p>
            <a:pPr marL="0" marR="0" lvl="0" indent="0" rtl="0">
              <a:spcBef>
                <a:spcPts val="0"/>
              </a:spcBef>
            </a:pPr>
            <a:r>
              <a:rPr lang="en-US" dirty="0"/>
              <a:t>Passing Costs to Consumers - Taxes</a:t>
            </a:r>
          </a:p>
        </p:txBody>
      </p:sp>
      <p:sp>
        <p:nvSpPr>
          <p:cNvPr id="7" name="Content Placeholder 6">
            <a:extLst>
              <a:ext uri="{FF2B5EF4-FFF2-40B4-BE49-F238E27FC236}">
                <a16:creationId xmlns:a16="http://schemas.microsoft.com/office/drawing/2014/main" id="{2027E8B6-B57E-F620-240E-4BB252513E65}"/>
              </a:ext>
            </a:extLst>
          </p:cNvPr>
          <p:cNvSpPr>
            <a:spLocks noGrp="1"/>
          </p:cNvSpPr>
          <p:nvPr>
            <p:ph idx="1"/>
          </p:nvPr>
        </p:nvSpPr>
        <p:spPr>
          <a:xfrm>
            <a:off x="838199" y="4212570"/>
            <a:ext cx="10515600" cy="2534828"/>
          </a:xfrm>
          <a:ln>
            <a:solidFill>
              <a:schemeClr val="tx1"/>
            </a:solidFill>
          </a:ln>
        </p:spPr>
        <p:txBody>
          <a:bodyPr>
            <a:normAutofit/>
          </a:bodyPr>
          <a:lstStyle/>
          <a:p>
            <a:pPr marL="0" indent="0">
              <a:buNone/>
            </a:pPr>
            <a:r>
              <a:rPr lang="en-US" b="1" dirty="0"/>
              <a:t>TAX INCREASES + INELASTIC DEMAND = HIGHER CONSUMER PRICES</a:t>
            </a:r>
            <a:endParaRPr lang="en-US" dirty="0"/>
          </a:p>
          <a:p>
            <a:pPr marL="0" indent="0">
              <a:buNone/>
            </a:pPr>
            <a:r>
              <a:rPr lang="en-US" b="1" dirty="0"/>
              <a:t>Scenario:</a:t>
            </a:r>
            <a:r>
              <a:rPr lang="en-US" dirty="0"/>
              <a:t> Government imposes tax (cigarettes) → Supply shifts left</a:t>
            </a:r>
          </a:p>
          <a:p>
            <a:pPr marL="0" indent="0">
              <a:buNone/>
            </a:pPr>
            <a:r>
              <a:rPr lang="en-US" b="1" dirty="0"/>
              <a:t>Outcome depends on elasticity:</a:t>
            </a:r>
            <a:endParaRPr lang="en-US" dirty="0"/>
          </a:p>
          <a:p>
            <a:pPr lvl="1"/>
            <a:r>
              <a:rPr lang="en-US" b="1" dirty="0"/>
              <a:t>Inelastic demand:</a:t>
            </a:r>
            <a:r>
              <a:rPr lang="en-US" dirty="0"/>
              <a:t> Firms pass tax to consumers (higher prices); quantity barely falls</a:t>
            </a:r>
          </a:p>
          <a:p>
            <a:pPr lvl="1"/>
            <a:r>
              <a:rPr lang="en-US" b="1" dirty="0"/>
              <a:t>Elastic demand:</a:t>
            </a:r>
            <a:r>
              <a:rPr lang="en-US" dirty="0"/>
              <a:t> Quantity falls dramatically; prices rise only slightly</a:t>
            </a:r>
          </a:p>
          <a:p>
            <a:pPr marL="0" indent="0">
              <a:buNone/>
            </a:pPr>
            <a:r>
              <a:rPr lang="en-US" b="1" dirty="0"/>
              <a:t>Policy implication:</a:t>
            </a:r>
            <a:r>
              <a:rPr lang="en-US" dirty="0"/>
              <a:t> Cigarette taxes raise revenue but don't reduce smoking much</a:t>
            </a:r>
          </a:p>
          <a:p>
            <a:endParaRPr lang="en-US" dirty="0"/>
          </a:p>
        </p:txBody>
      </p:sp>
      <p:pic>
        <p:nvPicPr>
          <p:cNvPr id="5" name="Picture 4" descr="These two graphs show how a supply shift affects price and quantity. Figure (a) shows how supply shifts when demand is inelastic and figure (b) shows how supply shifts when demand is elastic.">
            <a:extLst>
              <a:ext uri="{FF2B5EF4-FFF2-40B4-BE49-F238E27FC236}">
                <a16:creationId xmlns:a16="http://schemas.microsoft.com/office/drawing/2014/main" id="{96FC9CCF-3244-66B8-D9BE-0F5A03ECC3C4}"/>
              </a:ext>
            </a:extLst>
          </p:cNvPr>
          <p:cNvPicPr>
            <a:picLocks noChangeAspect="1"/>
          </p:cNvPicPr>
          <p:nvPr/>
        </p:nvPicPr>
        <p:blipFill>
          <a:blip r:embed="rId3"/>
          <a:stretch>
            <a:fillRect/>
          </a:stretch>
        </p:blipFill>
        <p:spPr>
          <a:xfrm>
            <a:off x="2872335" y="1174943"/>
            <a:ext cx="6447330" cy="2940974"/>
          </a:xfrm>
          <a:prstGeom prst="rect">
            <a:avLst/>
          </a:prstGeom>
          <a:ln>
            <a:solidFill>
              <a:schemeClr val="tx1"/>
            </a:solidFill>
          </a:ln>
        </p:spPr>
      </p:pic>
    </p:spTree>
    <p:extLst>
      <p:ext uri="{BB962C8B-B14F-4D97-AF65-F5344CB8AC3E}">
        <p14:creationId xmlns:p14="http://schemas.microsoft.com/office/powerpoint/2010/main" val="1338979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1A7479-65DA-69D3-46CE-B0CFA8D7B701}"/>
              </a:ext>
            </a:extLst>
          </p:cNvPr>
          <p:cNvSpPr>
            <a:spLocks noGrp="1"/>
          </p:cNvSpPr>
          <p:nvPr>
            <p:ph type="title"/>
          </p:nvPr>
        </p:nvSpPr>
        <p:spPr>
          <a:xfrm>
            <a:off x="649664" y="365126"/>
            <a:ext cx="10515600" cy="546289"/>
          </a:xfrm>
        </p:spPr>
        <p:txBody>
          <a:bodyPr>
            <a:noAutofit/>
          </a:bodyPr>
          <a:lstStyle/>
          <a:p>
            <a:r>
              <a:rPr lang="en-US" dirty="0"/>
              <a:t>Tax Incidence</a:t>
            </a:r>
          </a:p>
        </p:txBody>
      </p:sp>
      <p:pic>
        <p:nvPicPr>
          <p:cNvPr id="3" name="Picture 2" descr="Definition of tax incidence">
            <a:extLst>
              <a:ext uri="{FF2B5EF4-FFF2-40B4-BE49-F238E27FC236}">
                <a16:creationId xmlns:a16="http://schemas.microsoft.com/office/drawing/2014/main" id="{DBCEDC56-2B68-59F3-4A20-9FDC047419E5}"/>
              </a:ext>
            </a:extLst>
          </p:cNvPr>
          <p:cNvPicPr>
            <a:picLocks noChangeAspect="1"/>
          </p:cNvPicPr>
          <p:nvPr/>
        </p:nvPicPr>
        <p:blipFill>
          <a:blip r:embed="rId3"/>
          <a:stretch>
            <a:fillRect/>
          </a:stretch>
        </p:blipFill>
        <p:spPr>
          <a:xfrm>
            <a:off x="649664" y="1199238"/>
            <a:ext cx="6866788" cy="1172899"/>
          </a:xfrm>
          <a:prstGeom prst="rect">
            <a:avLst/>
          </a:prstGeom>
        </p:spPr>
      </p:pic>
      <p:pic>
        <p:nvPicPr>
          <p:cNvPr id="5" name="Picture 4" descr="tax Incidence and Elasticity Summary Table">
            <a:extLst>
              <a:ext uri="{FF2B5EF4-FFF2-40B4-BE49-F238E27FC236}">
                <a16:creationId xmlns:a16="http://schemas.microsoft.com/office/drawing/2014/main" id="{AE9A5360-BA83-4ADC-0FFE-1F9B6F94D2C8}"/>
              </a:ext>
            </a:extLst>
          </p:cNvPr>
          <p:cNvPicPr>
            <a:picLocks noChangeAspect="1"/>
          </p:cNvPicPr>
          <p:nvPr/>
        </p:nvPicPr>
        <p:blipFill>
          <a:blip r:embed="rId4"/>
          <a:stretch>
            <a:fillRect/>
          </a:stretch>
        </p:blipFill>
        <p:spPr>
          <a:xfrm>
            <a:off x="649664" y="2599720"/>
            <a:ext cx="6961614" cy="2850200"/>
          </a:xfrm>
          <a:prstGeom prst="rect">
            <a:avLst/>
          </a:prstGeom>
        </p:spPr>
      </p:pic>
      <p:pic>
        <p:nvPicPr>
          <p:cNvPr id="9" name="Picture 8" descr="Intuition of Elasticity and Tax Incidence">
            <a:extLst>
              <a:ext uri="{FF2B5EF4-FFF2-40B4-BE49-F238E27FC236}">
                <a16:creationId xmlns:a16="http://schemas.microsoft.com/office/drawing/2014/main" id="{AA823AA7-5365-FC8E-1ECE-702F8C4F5700}"/>
              </a:ext>
            </a:extLst>
          </p:cNvPr>
          <p:cNvPicPr>
            <a:picLocks noChangeAspect="1"/>
          </p:cNvPicPr>
          <p:nvPr/>
        </p:nvPicPr>
        <p:blipFill>
          <a:blip r:embed="rId5"/>
          <a:stretch>
            <a:fillRect/>
          </a:stretch>
        </p:blipFill>
        <p:spPr>
          <a:xfrm>
            <a:off x="649664" y="5677503"/>
            <a:ext cx="6184769" cy="999818"/>
          </a:xfrm>
          <a:prstGeom prst="rect">
            <a:avLst/>
          </a:prstGeom>
        </p:spPr>
      </p:pic>
    </p:spTree>
    <p:extLst>
      <p:ext uri="{BB962C8B-B14F-4D97-AF65-F5344CB8AC3E}">
        <p14:creationId xmlns:p14="http://schemas.microsoft.com/office/powerpoint/2010/main" val="2714076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39D4-9332-1569-F7C9-8280DAF7CA8C}"/>
              </a:ext>
            </a:extLst>
          </p:cNvPr>
          <p:cNvSpPr>
            <a:spLocks noGrp="1"/>
          </p:cNvSpPr>
          <p:nvPr>
            <p:ph type="title"/>
          </p:nvPr>
        </p:nvSpPr>
        <p:spPr>
          <a:xfrm>
            <a:off x="616706" y="355699"/>
            <a:ext cx="10515600" cy="424583"/>
          </a:xfrm>
        </p:spPr>
        <p:txBody>
          <a:bodyPr>
            <a:noAutofit/>
          </a:bodyPr>
          <a:lstStyle/>
          <a:p>
            <a:r>
              <a:rPr lang="en-US" dirty="0"/>
              <a:t>Example:  Elasticity </a:t>
            </a:r>
            <a:r>
              <a:rPr lang="en-US"/>
              <a:t>and Tax </a:t>
            </a:r>
            <a:r>
              <a:rPr lang="en-US" dirty="0"/>
              <a:t>Incidence</a:t>
            </a:r>
          </a:p>
        </p:txBody>
      </p:sp>
      <p:pic>
        <p:nvPicPr>
          <p:cNvPr id="6" name="Picture 5" descr="Examples of Elasticity and Tax Incidence">
            <a:extLst>
              <a:ext uri="{FF2B5EF4-FFF2-40B4-BE49-F238E27FC236}">
                <a16:creationId xmlns:a16="http://schemas.microsoft.com/office/drawing/2014/main" id="{5846892F-8AA4-3927-E3BB-146F400148D3}"/>
              </a:ext>
            </a:extLst>
          </p:cNvPr>
          <p:cNvPicPr>
            <a:picLocks noChangeAspect="1"/>
          </p:cNvPicPr>
          <p:nvPr/>
        </p:nvPicPr>
        <p:blipFill>
          <a:blip r:embed="rId2"/>
          <a:stretch>
            <a:fillRect/>
          </a:stretch>
        </p:blipFill>
        <p:spPr>
          <a:xfrm>
            <a:off x="748680" y="1629415"/>
            <a:ext cx="10988929" cy="2989719"/>
          </a:xfrm>
          <a:prstGeom prst="rect">
            <a:avLst/>
          </a:prstGeom>
        </p:spPr>
      </p:pic>
    </p:spTree>
    <p:extLst>
      <p:ext uri="{BB962C8B-B14F-4D97-AF65-F5344CB8AC3E}">
        <p14:creationId xmlns:p14="http://schemas.microsoft.com/office/powerpoint/2010/main" val="253377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3EB3-F22F-B0A9-FF3C-77DBB366AE1C}"/>
              </a:ext>
            </a:extLst>
          </p:cNvPr>
          <p:cNvSpPr>
            <a:spLocks noGrp="1"/>
          </p:cNvSpPr>
          <p:nvPr>
            <p:ph type="title"/>
          </p:nvPr>
        </p:nvSpPr>
        <p:spPr/>
        <p:txBody>
          <a:bodyPr/>
          <a:lstStyle/>
          <a:p>
            <a:r>
              <a:rPr lang="en-US" dirty="0"/>
              <a:t>Short-Run vs Long-Run Elasticity</a:t>
            </a:r>
          </a:p>
        </p:txBody>
      </p:sp>
      <p:sp>
        <p:nvSpPr>
          <p:cNvPr id="3" name="Content Placeholder 2">
            <a:extLst>
              <a:ext uri="{FF2B5EF4-FFF2-40B4-BE49-F238E27FC236}">
                <a16:creationId xmlns:a16="http://schemas.microsoft.com/office/drawing/2014/main" id="{B3652BD6-1BEC-212C-7585-CD42E04B2456}"/>
              </a:ext>
            </a:extLst>
          </p:cNvPr>
          <p:cNvSpPr>
            <a:spLocks noGrp="1"/>
          </p:cNvSpPr>
          <p:nvPr>
            <p:ph idx="1"/>
          </p:nvPr>
        </p:nvSpPr>
        <p:spPr/>
        <p:txBody>
          <a:bodyPr>
            <a:normAutofit fontScale="92500" lnSpcReduction="20000"/>
          </a:bodyPr>
          <a:lstStyle/>
          <a:p>
            <a:pPr marL="0" indent="0">
              <a:buNone/>
            </a:pPr>
            <a:r>
              <a:rPr lang="en-US" sz="2400" b="1" dirty="0"/>
              <a:t>TIME MATTERS: ELASTICITY INCREASES OVER TIME</a:t>
            </a:r>
            <a:endParaRPr lang="en-US" sz="2400" dirty="0"/>
          </a:p>
          <a:p>
            <a:pPr marL="0" indent="0">
              <a:buNone/>
            </a:pPr>
            <a:endParaRPr lang="en-US" sz="2400" b="1" dirty="0"/>
          </a:p>
          <a:p>
            <a:pPr marL="0" indent="0">
              <a:buNone/>
            </a:pPr>
            <a:r>
              <a:rPr lang="en-US" sz="2400" b="1" dirty="0"/>
              <a:t>Short-Run (months):</a:t>
            </a:r>
            <a:endParaRPr lang="en-US" sz="2400" dirty="0"/>
          </a:p>
          <a:p>
            <a:pPr lvl="1"/>
            <a:r>
              <a:rPr lang="en-US" sz="2400" dirty="0"/>
              <a:t>Harder to adjust consumption/production</a:t>
            </a:r>
          </a:p>
          <a:p>
            <a:pPr lvl="1"/>
            <a:r>
              <a:rPr lang="en-US" sz="2400" dirty="0"/>
              <a:t>More inelastic</a:t>
            </a:r>
          </a:p>
          <a:p>
            <a:pPr lvl="1"/>
            <a:r>
              <a:rPr lang="en-US" sz="2400" dirty="0"/>
              <a:t>Prices change more; quantities change less</a:t>
            </a:r>
          </a:p>
          <a:p>
            <a:pPr marL="0" indent="0">
              <a:buNone/>
            </a:pPr>
            <a:r>
              <a:rPr lang="en-US" sz="2400" b="1" dirty="0"/>
              <a:t>Long-Run (years):</a:t>
            </a:r>
            <a:endParaRPr lang="en-US" sz="2400" dirty="0"/>
          </a:p>
          <a:p>
            <a:pPr lvl="1"/>
            <a:r>
              <a:rPr lang="en-US" sz="2400" dirty="0"/>
              <a:t>Easier to adjust (new technology, habits, infrastructure)</a:t>
            </a:r>
          </a:p>
          <a:p>
            <a:pPr lvl="1"/>
            <a:r>
              <a:rPr lang="en-US" sz="2400" dirty="0"/>
              <a:t>More elastic</a:t>
            </a:r>
          </a:p>
          <a:p>
            <a:pPr lvl="1"/>
            <a:r>
              <a:rPr lang="en-US" sz="2400" dirty="0"/>
              <a:t>Quantities change more; prices stabilize</a:t>
            </a:r>
          </a:p>
          <a:p>
            <a:pPr marL="0" indent="0">
              <a:buNone/>
            </a:pPr>
            <a:endParaRPr lang="en-US" sz="2400" b="1" dirty="0"/>
          </a:p>
          <a:p>
            <a:pPr marL="0" indent="0">
              <a:buNone/>
            </a:pPr>
            <a:r>
              <a:rPr lang="en-US" sz="2400" b="1" dirty="0"/>
              <a:t>Example:</a:t>
            </a:r>
            <a:r>
              <a:rPr lang="en-US" sz="2400" dirty="0"/>
              <a:t> 1973 Oil Crisis - Initially inelastic demand; became elastic over decade</a:t>
            </a:r>
          </a:p>
          <a:p>
            <a:pPr marL="0" indent="0">
              <a:buNone/>
            </a:pPr>
            <a:br>
              <a:rPr lang="en-US" dirty="0"/>
            </a:br>
            <a:endParaRPr lang="en-US" dirty="0"/>
          </a:p>
        </p:txBody>
      </p:sp>
    </p:spTree>
    <p:extLst>
      <p:ext uri="{BB962C8B-B14F-4D97-AF65-F5344CB8AC3E}">
        <p14:creationId xmlns:p14="http://schemas.microsoft.com/office/powerpoint/2010/main" val="4017342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2A04D-1C93-FE99-427E-370CC292B4A6}"/>
              </a:ext>
            </a:extLst>
          </p:cNvPr>
          <p:cNvSpPr>
            <a:spLocks noGrp="1"/>
          </p:cNvSpPr>
          <p:nvPr>
            <p:ph type="title"/>
          </p:nvPr>
        </p:nvSpPr>
        <p:spPr/>
        <p:txBody>
          <a:bodyPr/>
          <a:lstStyle/>
          <a:p>
            <a:r>
              <a:rPr lang="en-US" dirty="0"/>
              <a:t>Real-world elasticities</a:t>
            </a:r>
          </a:p>
        </p:txBody>
      </p:sp>
      <p:sp>
        <p:nvSpPr>
          <p:cNvPr id="3" name="Content Placeholder 2">
            <a:extLst>
              <a:ext uri="{FF2B5EF4-FFF2-40B4-BE49-F238E27FC236}">
                <a16:creationId xmlns:a16="http://schemas.microsoft.com/office/drawing/2014/main" id="{CA39F8F7-B55C-71D3-2728-06547864DCAF}"/>
              </a:ext>
            </a:extLst>
          </p:cNvPr>
          <p:cNvSpPr>
            <a:spLocks noGrp="1"/>
          </p:cNvSpPr>
          <p:nvPr>
            <p:ph idx="1"/>
          </p:nvPr>
        </p:nvSpPr>
        <p:spPr/>
        <p:txBody>
          <a:bodyPr/>
          <a:lstStyle/>
          <a:p>
            <a:pPr marL="0" indent="0">
              <a:buNone/>
            </a:pPr>
            <a:r>
              <a:rPr lang="en-US" b="1" dirty="0"/>
              <a:t>ELASTICITY IN THE REAL WORLD</a:t>
            </a:r>
            <a:endParaRPr lang="en-US" dirty="0"/>
          </a:p>
          <a:p>
            <a:pPr marL="0" indent="0">
              <a:buNone/>
            </a:pPr>
            <a:r>
              <a:rPr lang="en-US" b="1" dirty="0"/>
              <a:t>Highly Inelastic (&lt;0.5):</a:t>
            </a:r>
            <a:endParaRPr lang="en-US" dirty="0"/>
          </a:p>
          <a:p>
            <a:pPr lvl="1"/>
            <a:r>
              <a:rPr lang="en-US" dirty="0"/>
              <a:t>Housing: 0.12</a:t>
            </a:r>
          </a:p>
          <a:p>
            <a:pPr lvl="1"/>
            <a:r>
              <a:rPr lang="en-US" dirty="0"/>
              <a:t>Electricity: 0.20</a:t>
            </a:r>
          </a:p>
          <a:p>
            <a:pPr lvl="1"/>
            <a:r>
              <a:rPr lang="en-US" dirty="0"/>
              <a:t>Gasoline: 0.35</a:t>
            </a:r>
          </a:p>
          <a:p>
            <a:pPr marL="0" indent="0">
              <a:buNone/>
            </a:pPr>
            <a:r>
              <a:rPr lang="en-US" b="1" dirty="0"/>
              <a:t>Moderately Elastic (0.5-1.5):</a:t>
            </a:r>
            <a:endParaRPr lang="en-US" dirty="0"/>
          </a:p>
          <a:p>
            <a:pPr lvl="1"/>
            <a:r>
              <a:rPr lang="en-US" dirty="0"/>
              <a:t>Beef: 0.59</a:t>
            </a:r>
          </a:p>
          <a:p>
            <a:pPr lvl="1"/>
            <a:r>
              <a:rPr lang="en-US" dirty="0"/>
              <a:t>Wine: 0.55</a:t>
            </a:r>
          </a:p>
          <a:p>
            <a:pPr lvl="1"/>
            <a:r>
              <a:rPr lang="en-US" dirty="0"/>
              <a:t>New vehicles: 0.87</a:t>
            </a:r>
          </a:p>
          <a:p>
            <a:pPr marL="0" indent="0">
              <a:buNone/>
            </a:pPr>
            <a:r>
              <a:rPr lang="en-US" b="1" dirty="0"/>
              <a:t>Highly Elastic (&gt;1.5):</a:t>
            </a:r>
            <a:endParaRPr lang="en-US" dirty="0"/>
          </a:p>
          <a:p>
            <a:pPr lvl="1"/>
            <a:r>
              <a:rPr lang="en-US" dirty="0"/>
              <a:t>Restaurant meals: 2.27</a:t>
            </a:r>
          </a:p>
          <a:p>
            <a:pPr lvl="1"/>
            <a:r>
              <a:rPr lang="en-US" dirty="0"/>
              <a:t>Premium cable TV: 1.77</a:t>
            </a:r>
          </a:p>
          <a:p>
            <a:pPr lvl="1"/>
            <a:r>
              <a:rPr lang="en-US" dirty="0"/>
              <a:t>Computers: 1.44</a:t>
            </a:r>
          </a:p>
          <a:p>
            <a:endParaRPr lang="en-US" dirty="0"/>
          </a:p>
        </p:txBody>
      </p:sp>
    </p:spTree>
    <p:extLst>
      <p:ext uri="{BB962C8B-B14F-4D97-AF65-F5344CB8AC3E}">
        <p14:creationId xmlns:p14="http://schemas.microsoft.com/office/powerpoint/2010/main" val="295761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7CCA3-0210-D287-E985-C93C4390B5D3}"/>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32B49631-F3E9-D174-AF3F-91C9A8DB9059}"/>
              </a:ext>
            </a:extLst>
          </p:cNvPr>
          <p:cNvSpPr>
            <a:spLocks noGrp="1"/>
          </p:cNvSpPr>
          <p:nvPr>
            <p:ph idx="1"/>
          </p:nvPr>
        </p:nvSpPr>
        <p:spPr/>
        <p:txBody>
          <a:bodyPr/>
          <a:lstStyle/>
          <a:p>
            <a:pPr marL="0" indent="0">
              <a:buNone/>
            </a:pPr>
            <a:r>
              <a:rPr lang="en-US" sz="2400" dirty="0"/>
              <a:t>ELASTICITY: KEY INSIGHTS</a:t>
            </a:r>
          </a:p>
          <a:p>
            <a:pPr marL="342900" indent="-342900">
              <a:buFont typeface="+mj-lt"/>
              <a:buAutoNum type="arabicPeriod"/>
            </a:pPr>
            <a:r>
              <a:rPr lang="en-US" sz="2400" dirty="0"/>
              <a:t>Elasticity measures responsiveness - not just direction of change</a:t>
            </a:r>
          </a:p>
          <a:p>
            <a:pPr marL="342900" indent="-342900">
              <a:buFont typeface="+mj-lt"/>
              <a:buAutoNum type="arabicPeriod"/>
            </a:pPr>
            <a:r>
              <a:rPr lang="en-US" sz="2400" dirty="0"/>
              <a:t>Necessities are inelastic; luxuries are elastic</a:t>
            </a:r>
          </a:p>
          <a:p>
            <a:pPr marL="342900" indent="-342900">
              <a:buFont typeface="+mj-lt"/>
              <a:buAutoNum type="arabicPeriod"/>
            </a:pPr>
            <a:r>
              <a:rPr lang="en-US" sz="2400" dirty="0"/>
              <a:t>Business pricing strategy depends on elasticity</a:t>
            </a:r>
          </a:p>
          <a:p>
            <a:pPr lvl="1"/>
            <a:r>
              <a:rPr lang="en-US" sz="2400" dirty="0"/>
              <a:t>Elastic → Lower prices to boost revenue</a:t>
            </a:r>
          </a:p>
          <a:p>
            <a:pPr lvl="1"/>
            <a:r>
              <a:rPr lang="en-US" sz="2400" dirty="0"/>
              <a:t>Inelastic → Raise prices to boost revenue</a:t>
            </a:r>
          </a:p>
          <a:p>
            <a:pPr marL="342900" indent="-342900">
              <a:buFont typeface="+mj-lt"/>
              <a:buAutoNum type="arabicPeriod"/>
            </a:pPr>
            <a:r>
              <a:rPr lang="en-US" sz="2400" dirty="0"/>
              <a:t>Tax incidence falls on the less elastic side</a:t>
            </a:r>
          </a:p>
          <a:p>
            <a:pPr marL="342900" indent="-342900">
              <a:buFont typeface="+mj-lt"/>
              <a:buAutoNum type="arabicPeriod"/>
            </a:pPr>
            <a:r>
              <a:rPr lang="en-US" sz="2400" dirty="0"/>
              <a:t>Elasticity increases over time (short-run vs long-run)</a:t>
            </a:r>
          </a:p>
          <a:p>
            <a:pPr marL="342900" indent="-342900">
              <a:buFont typeface="+mj-lt"/>
              <a:buAutoNum type="arabicPeriod"/>
            </a:pPr>
            <a:r>
              <a:rPr lang="en-US" sz="2400" dirty="0"/>
              <a:t>Use midpoint method for accurate calculations</a:t>
            </a:r>
            <a:br>
              <a:rPr lang="en-US" dirty="0"/>
            </a:br>
            <a:endParaRPr lang="en-US" dirty="0"/>
          </a:p>
        </p:txBody>
      </p:sp>
    </p:spTree>
    <p:extLst>
      <p:ext uri="{BB962C8B-B14F-4D97-AF65-F5344CB8AC3E}">
        <p14:creationId xmlns:p14="http://schemas.microsoft.com/office/powerpoint/2010/main" val="197883890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760</TotalTime>
  <Words>3200</Words>
  <Application>Microsoft Office PowerPoint</Application>
  <PresentationFormat>Widescreen</PresentationFormat>
  <Paragraphs>205</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Gill Sans MT</vt:lpstr>
      <vt:lpstr>Parcel</vt:lpstr>
      <vt:lpstr>Chapter 5</vt:lpstr>
      <vt:lpstr>What is Elasticity?</vt:lpstr>
      <vt:lpstr>Price Elasticity of Demand</vt:lpstr>
      <vt:lpstr>Example – Spotify Subscription</vt:lpstr>
      <vt:lpstr>Three Categories of Elasticity</vt:lpstr>
      <vt:lpstr>Price Elasticity of Supply (PES)</vt:lpstr>
      <vt:lpstr>Perfect Elasticity</vt:lpstr>
      <vt:lpstr>Perfect inElasticity</vt:lpstr>
      <vt:lpstr>Constant Unitary Elasticity</vt:lpstr>
      <vt:lpstr>Determinants of elasticity</vt:lpstr>
      <vt:lpstr>Elasticity and Total Revenue</vt:lpstr>
      <vt:lpstr>Passing Cost Savings to Consumers - Technology</vt:lpstr>
      <vt:lpstr>Passing Costs to Consumers - Taxes</vt:lpstr>
      <vt:lpstr>Tax Incidence</vt:lpstr>
      <vt:lpstr>Example:  Elasticity and Tax Incidence</vt:lpstr>
      <vt:lpstr>Short-Run vs Long-Run Elasticity</vt:lpstr>
      <vt:lpstr>Real-world elasticities</vt:lpstr>
      <vt:lpstr>Key 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Scott T Lane</dc:creator>
  <cp:lastModifiedBy>Scott T Lane</cp:lastModifiedBy>
  <cp:revision>1</cp:revision>
  <dcterms:created xsi:type="dcterms:W3CDTF">2025-05-05T14:11:37Z</dcterms:created>
  <dcterms:modified xsi:type="dcterms:W3CDTF">2026-04-02T12:09:49Z</dcterms:modified>
</cp:coreProperties>
</file>