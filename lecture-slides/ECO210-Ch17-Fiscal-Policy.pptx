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6AC8F-B9EC-AC47-9CAD-D60089AD3B26}" v="4" dt="2026-04-20T19:34:50.2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65"/>
    <p:restoredTop sz="96327"/>
  </p:normalViewPr>
  <p:slideViewPr>
    <p:cSldViewPr snapToGrid="0" snapToObjects="1">
      <p:cViewPr varScale="1">
        <p:scale>
          <a:sx n="123" d="100"/>
          <a:sy n="123" d="100"/>
        </p:scale>
        <p:origin x="880" y="19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7E70BB95-7D27-52BD-BFCA-66981E18D4F3}"/>
    <pc:docChg chg="custSel modSld">
      <pc:chgData name="Scott T Lane" userId="c97bbaa9-35da-4a3b-a646-d12e455ac46e" providerId="ADAL" clId="{7E70BB95-7D27-52BD-BFCA-66981E18D4F3}" dt="2026-04-20T19:47:07.910" v="152" actId="207"/>
      <pc:docMkLst>
        <pc:docMk/>
      </pc:docMkLst>
      <pc:sldChg chg="modSp mod">
        <pc:chgData name="Scott T Lane" userId="c97bbaa9-35da-4a3b-a646-d12e455ac46e" providerId="ADAL" clId="{7E70BB95-7D27-52BD-BFCA-66981E18D4F3}" dt="2026-04-20T19:46:16.236" v="116" actId="207"/>
        <pc:sldMkLst>
          <pc:docMk/>
          <pc:sldMk cId="0" sldId="257"/>
        </pc:sldMkLst>
        <pc:spChg chg="mod">
          <ac:chgData name="Scott T Lane" userId="c97bbaa9-35da-4a3b-a646-d12e455ac46e" providerId="ADAL" clId="{7E70BB95-7D27-52BD-BFCA-66981E18D4F3}" dt="2026-04-20T19:46:16.236" v="116" actId="207"/>
          <ac:spMkLst>
            <pc:docMk/>
            <pc:sldMk cId="0" sldId="257"/>
            <ac:spMk id="5" creationId="{00000000-0000-0000-0000-000000000000}"/>
          </ac:spMkLst>
        </pc:spChg>
        <pc:spChg chg="mod">
          <ac:chgData name="Scott T Lane" userId="c97bbaa9-35da-4a3b-a646-d12e455ac46e" providerId="ADAL" clId="{7E70BB95-7D27-52BD-BFCA-66981E18D4F3}" dt="2026-04-20T19:46:16.236" v="116" actId="207"/>
          <ac:spMkLst>
            <pc:docMk/>
            <pc:sldMk cId="0" sldId="257"/>
            <ac:spMk id="6" creationId="{00000000-0000-0000-0000-000000000000}"/>
          </ac:spMkLst>
        </pc:spChg>
        <pc:spChg chg="mod">
          <ac:chgData name="Scott T Lane" userId="c97bbaa9-35da-4a3b-a646-d12e455ac46e" providerId="ADAL" clId="{7E70BB95-7D27-52BD-BFCA-66981E18D4F3}" dt="2026-04-20T19:46:16.236" v="116" actId="207"/>
          <ac:spMkLst>
            <pc:docMk/>
            <pc:sldMk cId="0" sldId="257"/>
            <ac:spMk id="7" creationId="{00000000-0000-0000-0000-000000000000}"/>
          </ac:spMkLst>
        </pc:spChg>
        <pc:spChg chg="mod">
          <ac:chgData name="Scott T Lane" userId="c97bbaa9-35da-4a3b-a646-d12e455ac46e" providerId="ADAL" clId="{7E70BB95-7D27-52BD-BFCA-66981E18D4F3}" dt="2026-04-20T19:46:16.236" v="116" actId="207"/>
          <ac:spMkLst>
            <pc:docMk/>
            <pc:sldMk cId="0" sldId="257"/>
            <ac:spMk id="8" creationId="{00000000-0000-0000-0000-000000000000}"/>
          </ac:spMkLst>
        </pc:spChg>
        <pc:spChg chg="mod">
          <ac:chgData name="Scott T Lane" userId="c97bbaa9-35da-4a3b-a646-d12e455ac46e" providerId="ADAL" clId="{7E70BB95-7D27-52BD-BFCA-66981E18D4F3}" dt="2026-04-20T19:46:16.236" v="116" actId="207"/>
          <ac:spMkLst>
            <pc:docMk/>
            <pc:sldMk cId="0" sldId="257"/>
            <ac:spMk id="9" creationId="{00000000-0000-0000-0000-000000000000}"/>
          </ac:spMkLst>
        </pc:spChg>
        <pc:spChg chg="mod">
          <ac:chgData name="Scott T Lane" userId="c97bbaa9-35da-4a3b-a646-d12e455ac46e" providerId="ADAL" clId="{7E70BB95-7D27-52BD-BFCA-66981E18D4F3}" dt="2026-04-20T19:46:16.236" v="116" actId="207"/>
          <ac:spMkLst>
            <pc:docMk/>
            <pc:sldMk cId="0" sldId="257"/>
            <ac:spMk id="10" creationId="{00000000-0000-0000-0000-000000000000}"/>
          </ac:spMkLst>
        </pc:spChg>
      </pc:sldChg>
      <pc:sldChg chg="modSp mod">
        <pc:chgData name="Scott T Lane" userId="c97bbaa9-35da-4a3b-a646-d12e455ac46e" providerId="ADAL" clId="{7E70BB95-7D27-52BD-BFCA-66981E18D4F3}" dt="2026-04-20T19:46:24.342" v="117" actId="207"/>
        <pc:sldMkLst>
          <pc:docMk/>
          <pc:sldMk cId="0" sldId="258"/>
        </pc:sldMkLst>
        <pc:spChg chg="mod">
          <ac:chgData name="Scott T Lane" userId="c97bbaa9-35da-4a3b-a646-d12e455ac46e" providerId="ADAL" clId="{7E70BB95-7D27-52BD-BFCA-66981E18D4F3}" dt="2026-04-20T19:46:24.342" v="117" actId="207"/>
          <ac:spMkLst>
            <pc:docMk/>
            <pc:sldMk cId="0" sldId="258"/>
            <ac:spMk id="9" creationId="{00000000-0000-0000-0000-000000000000}"/>
          </ac:spMkLst>
        </pc:spChg>
        <pc:spChg chg="mod">
          <ac:chgData name="Scott T Lane" userId="c97bbaa9-35da-4a3b-a646-d12e455ac46e" providerId="ADAL" clId="{7E70BB95-7D27-52BD-BFCA-66981E18D4F3}" dt="2026-04-20T19:46:24.342" v="117" actId="207"/>
          <ac:spMkLst>
            <pc:docMk/>
            <pc:sldMk cId="0" sldId="258"/>
            <ac:spMk id="13" creationId="{00000000-0000-0000-0000-000000000000}"/>
          </ac:spMkLst>
        </pc:spChg>
      </pc:sldChg>
      <pc:sldChg chg="modSp mod">
        <pc:chgData name="Scott T Lane" userId="c97bbaa9-35da-4a3b-a646-d12e455ac46e" providerId="ADAL" clId="{7E70BB95-7D27-52BD-BFCA-66981E18D4F3}" dt="2026-04-20T19:46:31.509" v="118" actId="207"/>
        <pc:sldMkLst>
          <pc:docMk/>
          <pc:sldMk cId="0" sldId="259"/>
        </pc:sldMkLst>
        <pc:spChg chg="mod">
          <ac:chgData name="Scott T Lane" userId="c97bbaa9-35da-4a3b-a646-d12e455ac46e" providerId="ADAL" clId="{7E70BB95-7D27-52BD-BFCA-66981E18D4F3}" dt="2026-04-20T19:46:31.509" v="118" actId="207"/>
          <ac:spMkLst>
            <pc:docMk/>
            <pc:sldMk cId="0" sldId="259"/>
            <ac:spMk id="5" creationId="{00000000-0000-0000-0000-000000000000}"/>
          </ac:spMkLst>
        </pc:spChg>
        <pc:spChg chg="mod">
          <ac:chgData name="Scott T Lane" userId="c97bbaa9-35da-4a3b-a646-d12e455ac46e" providerId="ADAL" clId="{7E70BB95-7D27-52BD-BFCA-66981E18D4F3}" dt="2026-04-20T19:46:31.509" v="118" actId="207"/>
          <ac:spMkLst>
            <pc:docMk/>
            <pc:sldMk cId="0" sldId="259"/>
            <ac:spMk id="9" creationId="{00000000-0000-0000-0000-000000000000}"/>
          </ac:spMkLst>
        </pc:spChg>
        <pc:spChg chg="mod">
          <ac:chgData name="Scott T Lane" userId="c97bbaa9-35da-4a3b-a646-d12e455ac46e" providerId="ADAL" clId="{7E70BB95-7D27-52BD-BFCA-66981E18D4F3}" dt="2026-04-20T19:46:31.509" v="118" actId="207"/>
          <ac:spMkLst>
            <pc:docMk/>
            <pc:sldMk cId="0" sldId="259"/>
            <ac:spMk id="13" creationId="{00000000-0000-0000-0000-000000000000}"/>
          </ac:spMkLst>
        </pc:spChg>
      </pc:sldChg>
      <pc:sldChg chg="modSp mod">
        <pc:chgData name="Scott T Lane" userId="c97bbaa9-35da-4a3b-a646-d12e455ac46e" providerId="ADAL" clId="{7E70BB95-7D27-52BD-BFCA-66981E18D4F3}" dt="2026-04-20T19:46:37.355" v="119" actId="207"/>
        <pc:sldMkLst>
          <pc:docMk/>
          <pc:sldMk cId="0" sldId="260"/>
        </pc:sldMkLst>
        <pc:spChg chg="mod">
          <ac:chgData name="Scott T Lane" userId="c97bbaa9-35da-4a3b-a646-d12e455ac46e" providerId="ADAL" clId="{7E70BB95-7D27-52BD-BFCA-66981E18D4F3}" dt="2026-04-20T19:46:37.355" v="119" actId="207"/>
          <ac:spMkLst>
            <pc:docMk/>
            <pc:sldMk cId="0" sldId="260"/>
            <ac:spMk id="3" creationId="{00000000-0000-0000-0000-000000000000}"/>
          </ac:spMkLst>
        </pc:spChg>
        <pc:spChg chg="mod">
          <ac:chgData name="Scott T Lane" userId="c97bbaa9-35da-4a3b-a646-d12e455ac46e" providerId="ADAL" clId="{7E70BB95-7D27-52BD-BFCA-66981E18D4F3}" dt="2026-04-20T19:46:37.355" v="119" actId="207"/>
          <ac:spMkLst>
            <pc:docMk/>
            <pc:sldMk cId="0" sldId="260"/>
            <ac:spMk id="4" creationId="{00000000-0000-0000-0000-000000000000}"/>
          </ac:spMkLst>
        </pc:spChg>
        <pc:spChg chg="mod">
          <ac:chgData name="Scott T Lane" userId="c97bbaa9-35da-4a3b-a646-d12e455ac46e" providerId="ADAL" clId="{7E70BB95-7D27-52BD-BFCA-66981E18D4F3}" dt="2026-04-20T19:46:37.355" v="119" actId="207"/>
          <ac:spMkLst>
            <pc:docMk/>
            <pc:sldMk cId="0" sldId="260"/>
            <ac:spMk id="5" creationId="{00000000-0000-0000-0000-000000000000}"/>
          </ac:spMkLst>
        </pc:spChg>
      </pc:sldChg>
      <pc:sldChg chg="modSp mod">
        <pc:chgData name="Scott T Lane" userId="c97bbaa9-35da-4a3b-a646-d12e455ac46e" providerId="ADAL" clId="{7E70BB95-7D27-52BD-BFCA-66981E18D4F3}" dt="2026-04-20T19:46:59.769" v="151" actId="1038"/>
        <pc:sldMkLst>
          <pc:docMk/>
          <pc:sldMk cId="0" sldId="267"/>
        </pc:sldMkLst>
        <pc:spChg chg="mod">
          <ac:chgData name="Scott T Lane" userId="c97bbaa9-35da-4a3b-a646-d12e455ac46e" providerId="ADAL" clId="{7E70BB95-7D27-52BD-BFCA-66981E18D4F3}" dt="2026-04-20T19:35:59.512" v="93" actId="962"/>
          <ac:spMkLst>
            <pc:docMk/>
            <pc:sldMk cId="0" sldId="267"/>
            <ac:spMk id="5" creationId="{00000000-0000-0000-0000-000000000000}"/>
          </ac:spMkLst>
        </pc:spChg>
        <pc:spChg chg="mod">
          <ac:chgData name="Scott T Lane" userId="c97bbaa9-35da-4a3b-a646-d12e455ac46e" providerId="ADAL" clId="{7E70BB95-7D27-52BD-BFCA-66981E18D4F3}" dt="2026-04-20T19:35:58.914" v="92" actId="962"/>
          <ac:spMkLst>
            <pc:docMk/>
            <pc:sldMk cId="0" sldId="267"/>
            <ac:spMk id="6" creationId="{00000000-0000-0000-0000-000000000000}"/>
          </ac:spMkLst>
        </pc:spChg>
        <pc:spChg chg="mod">
          <ac:chgData name="Scott T Lane" userId="c97bbaa9-35da-4a3b-a646-d12e455ac46e" providerId="ADAL" clId="{7E70BB95-7D27-52BD-BFCA-66981E18D4F3}" dt="2026-04-20T19:35:52.708" v="91" actId="962"/>
          <ac:spMkLst>
            <pc:docMk/>
            <pc:sldMk cId="0" sldId="267"/>
            <ac:spMk id="8" creationId="{00000000-0000-0000-0000-000000000000}"/>
          </ac:spMkLst>
        </pc:spChg>
        <pc:spChg chg="mod">
          <ac:chgData name="Scott T Lane" userId="c97bbaa9-35da-4a3b-a646-d12e455ac46e" providerId="ADAL" clId="{7E70BB95-7D27-52BD-BFCA-66981E18D4F3}" dt="2026-04-20T19:35:51.991" v="90" actId="962"/>
          <ac:spMkLst>
            <pc:docMk/>
            <pc:sldMk cId="0" sldId="267"/>
            <ac:spMk id="10" creationId="{00000000-0000-0000-0000-000000000000}"/>
          </ac:spMkLst>
        </pc:spChg>
        <pc:spChg chg="mod">
          <ac:chgData name="Scott T Lane" userId="c97bbaa9-35da-4a3b-a646-d12e455ac46e" providerId="ADAL" clId="{7E70BB95-7D27-52BD-BFCA-66981E18D4F3}" dt="2026-04-20T19:46:55.955" v="148" actId="1038"/>
          <ac:spMkLst>
            <pc:docMk/>
            <pc:sldMk cId="0" sldId="267"/>
            <ac:spMk id="12" creationId="{00000000-0000-0000-0000-000000000000}"/>
          </ac:spMkLst>
        </pc:spChg>
        <pc:spChg chg="mod">
          <ac:chgData name="Scott T Lane" userId="c97bbaa9-35da-4a3b-a646-d12e455ac46e" providerId="ADAL" clId="{7E70BB95-7D27-52BD-BFCA-66981E18D4F3}" dt="2026-04-20T19:46:59.769" v="151" actId="1038"/>
          <ac:spMkLst>
            <pc:docMk/>
            <pc:sldMk cId="0" sldId="267"/>
            <ac:spMk id="14" creationId="{00000000-0000-0000-0000-000000000000}"/>
          </ac:spMkLst>
        </pc:spChg>
        <pc:spChg chg="mod">
          <ac:chgData name="Scott T Lane" userId="c97bbaa9-35da-4a3b-a646-d12e455ac46e" providerId="ADAL" clId="{7E70BB95-7D27-52BD-BFCA-66981E18D4F3}" dt="2026-04-20T19:31:09.299" v="29" actId="962"/>
          <ac:spMkLst>
            <pc:docMk/>
            <pc:sldMk cId="0" sldId="267"/>
            <ac:spMk id="16" creationId="{00000000-0000-0000-0000-000000000000}"/>
          </ac:spMkLst>
        </pc:spChg>
        <pc:spChg chg="mod">
          <ac:chgData name="Scott T Lane" userId="c97bbaa9-35da-4a3b-a646-d12e455ac46e" providerId="ADAL" clId="{7E70BB95-7D27-52BD-BFCA-66981E18D4F3}" dt="2026-04-20T19:35:43.155" v="87" actId="962"/>
          <ac:spMkLst>
            <pc:docMk/>
            <pc:sldMk cId="0" sldId="267"/>
            <ac:spMk id="19" creationId="{00000000-0000-0000-0000-000000000000}"/>
          </ac:spMkLst>
        </pc:spChg>
        <pc:spChg chg="mod">
          <ac:chgData name="Scott T Lane" userId="c97bbaa9-35da-4a3b-a646-d12e455ac46e" providerId="ADAL" clId="{7E70BB95-7D27-52BD-BFCA-66981E18D4F3}" dt="2026-04-20T19:35:31.814" v="78" actId="962"/>
          <ac:spMkLst>
            <pc:docMk/>
            <pc:sldMk cId="0" sldId="267"/>
            <ac:spMk id="21" creationId="{00000000-0000-0000-0000-000000000000}"/>
          </ac:spMkLst>
        </pc:spChg>
        <pc:spChg chg="mod">
          <ac:chgData name="Scott T Lane" userId="c97bbaa9-35da-4a3b-a646-d12e455ac46e" providerId="ADAL" clId="{7E70BB95-7D27-52BD-BFCA-66981E18D4F3}" dt="2026-04-20T19:35:32.360" v="79" actId="962"/>
          <ac:spMkLst>
            <pc:docMk/>
            <pc:sldMk cId="0" sldId="267"/>
            <ac:spMk id="22" creationId="{00000000-0000-0000-0000-000000000000}"/>
          </ac:spMkLst>
        </pc:spChg>
        <pc:spChg chg="mod">
          <ac:chgData name="Scott T Lane" userId="c97bbaa9-35da-4a3b-a646-d12e455ac46e" providerId="ADAL" clId="{7E70BB95-7D27-52BD-BFCA-66981E18D4F3}" dt="2026-04-20T19:35:33.023" v="80" actId="962"/>
          <ac:spMkLst>
            <pc:docMk/>
            <pc:sldMk cId="0" sldId="267"/>
            <ac:spMk id="23" creationId="{00000000-0000-0000-0000-000000000000}"/>
          </ac:spMkLst>
        </pc:spChg>
        <pc:spChg chg="mod">
          <ac:chgData name="Scott T Lane" userId="c97bbaa9-35da-4a3b-a646-d12e455ac46e" providerId="ADAL" clId="{7E70BB95-7D27-52BD-BFCA-66981E18D4F3}" dt="2026-04-20T19:35:33.609" v="81" actId="962"/>
          <ac:spMkLst>
            <pc:docMk/>
            <pc:sldMk cId="0" sldId="267"/>
            <ac:spMk id="24" creationId="{00000000-0000-0000-0000-000000000000}"/>
          </ac:spMkLst>
        </pc:spChg>
        <pc:spChg chg="mod">
          <ac:chgData name="Scott T Lane" userId="c97bbaa9-35da-4a3b-a646-d12e455ac46e" providerId="ADAL" clId="{7E70BB95-7D27-52BD-BFCA-66981E18D4F3}" dt="2026-04-20T19:35:34.411" v="82" actId="962"/>
          <ac:spMkLst>
            <pc:docMk/>
            <pc:sldMk cId="0" sldId="267"/>
            <ac:spMk id="25" creationId="{00000000-0000-0000-0000-000000000000}"/>
          </ac:spMkLst>
        </pc:spChg>
        <pc:spChg chg="mod">
          <ac:chgData name="Scott T Lane" userId="c97bbaa9-35da-4a3b-a646-d12e455ac46e" providerId="ADAL" clId="{7E70BB95-7D27-52BD-BFCA-66981E18D4F3}" dt="2026-04-20T19:35:35.097" v="83" actId="962"/>
          <ac:spMkLst>
            <pc:docMk/>
            <pc:sldMk cId="0" sldId="267"/>
            <ac:spMk id="27" creationId="{00000000-0000-0000-0000-000000000000}"/>
          </ac:spMkLst>
        </pc:spChg>
      </pc:sldChg>
      <pc:sldChg chg="modSp mod">
        <pc:chgData name="Scott T Lane" userId="c97bbaa9-35da-4a3b-a646-d12e455ac46e" providerId="ADAL" clId="{7E70BB95-7D27-52BD-BFCA-66981E18D4F3}" dt="2026-04-20T19:42:21.382" v="106" actId="962"/>
        <pc:sldMkLst>
          <pc:docMk/>
          <pc:sldMk cId="0" sldId="268"/>
        </pc:sldMkLst>
        <pc:spChg chg="mod">
          <ac:chgData name="Scott T Lane" userId="c97bbaa9-35da-4a3b-a646-d12e455ac46e" providerId="ADAL" clId="{7E70BB95-7D27-52BD-BFCA-66981E18D4F3}" dt="2026-04-20T19:42:21.382" v="106" actId="962"/>
          <ac:spMkLst>
            <pc:docMk/>
            <pc:sldMk cId="0" sldId="268"/>
            <ac:spMk id="5" creationId="{00000000-0000-0000-0000-000000000000}"/>
          </ac:spMkLst>
        </pc:spChg>
        <pc:spChg chg="mod">
          <ac:chgData name="Scott T Lane" userId="c97bbaa9-35da-4a3b-a646-d12e455ac46e" providerId="ADAL" clId="{7E70BB95-7D27-52BD-BFCA-66981E18D4F3}" dt="2026-04-20T19:42:20.749" v="105" actId="962"/>
          <ac:spMkLst>
            <pc:docMk/>
            <pc:sldMk cId="0" sldId="268"/>
            <ac:spMk id="6" creationId="{00000000-0000-0000-0000-000000000000}"/>
          </ac:spMkLst>
        </pc:spChg>
        <pc:spChg chg="mod">
          <ac:chgData name="Scott T Lane" userId="c97bbaa9-35da-4a3b-a646-d12e455ac46e" providerId="ADAL" clId="{7E70BB95-7D27-52BD-BFCA-66981E18D4F3}" dt="2026-04-20T19:42:17.366" v="104" actId="962"/>
          <ac:spMkLst>
            <pc:docMk/>
            <pc:sldMk cId="0" sldId="268"/>
            <ac:spMk id="8" creationId="{00000000-0000-0000-0000-000000000000}"/>
          </ac:spMkLst>
        </pc:spChg>
        <pc:spChg chg="mod">
          <ac:chgData name="Scott T Lane" userId="c97bbaa9-35da-4a3b-a646-d12e455ac46e" providerId="ADAL" clId="{7E70BB95-7D27-52BD-BFCA-66981E18D4F3}" dt="2026-04-20T19:42:11.081" v="102" actId="962"/>
          <ac:spMkLst>
            <pc:docMk/>
            <pc:sldMk cId="0" sldId="268"/>
            <ac:spMk id="10" creationId="{00000000-0000-0000-0000-000000000000}"/>
          </ac:spMkLst>
        </pc:spChg>
        <pc:spChg chg="mod">
          <ac:chgData name="Scott T Lane" userId="c97bbaa9-35da-4a3b-a646-d12e455ac46e" providerId="ADAL" clId="{7E70BB95-7D27-52BD-BFCA-66981E18D4F3}" dt="2026-04-20T19:41:52.317" v="94" actId="962"/>
          <ac:spMkLst>
            <pc:docMk/>
            <pc:sldMk cId="0" sldId="268"/>
            <ac:spMk id="12" creationId="{00000000-0000-0000-0000-000000000000}"/>
          </ac:spMkLst>
        </pc:spChg>
        <pc:spChg chg="mod">
          <ac:chgData name="Scott T Lane" userId="c97bbaa9-35da-4a3b-a646-d12e455ac46e" providerId="ADAL" clId="{7E70BB95-7D27-52BD-BFCA-66981E18D4F3}" dt="2026-04-20T19:41:53.229" v="95" actId="962"/>
          <ac:spMkLst>
            <pc:docMk/>
            <pc:sldMk cId="0" sldId="268"/>
            <ac:spMk id="14" creationId="{00000000-0000-0000-0000-000000000000}"/>
          </ac:spMkLst>
        </pc:spChg>
        <pc:spChg chg="mod">
          <ac:chgData name="Scott T Lane" userId="c97bbaa9-35da-4a3b-a646-d12e455ac46e" providerId="ADAL" clId="{7E70BB95-7D27-52BD-BFCA-66981E18D4F3}" dt="2026-04-20T19:31:55.902" v="31" actId="962"/>
          <ac:spMkLst>
            <pc:docMk/>
            <pc:sldMk cId="0" sldId="268"/>
            <ac:spMk id="16" creationId="{00000000-0000-0000-0000-000000000000}"/>
          </ac:spMkLst>
        </pc:spChg>
        <pc:spChg chg="mod">
          <ac:chgData name="Scott T Lane" userId="c97bbaa9-35da-4a3b-a646-d12e455ac46e" providerId="ADAL" clId="{7E70BB95-7D27-52BD-BFCA-66981E18D4F3}" dt="2026-04-20T19:42:15.231" v="103" actId="962"/>
          <ac:spMkLst>
            <pc:docMk/>
            <pc:sldMk cId="0" sldId="268"/>
            <ac:spMk id="17" creationId="{00000000-0000-0000-0000-000000000000}"/>
          </ac:spMkLst>
        </pc:spChg>
        <pc:spChg chg="mod">
          <ac:chgData name="Scott T Lane" userId="c97bbaa9-35da-4a3b-a646-d12e455ac46e" providerId="ADAL" clId="{7E70BB95-7D27-52BD-BFCA-66981E18D4F3}" dt="2026-04-20T19:41:56.230" v="96" actId="962"/>
          <ac:spMkLst>
            <pc:docMk/>
            <pc:sldMk cId="0" sldId="268"/>
            <ac:spMk id="19" creationId="{00000000-0000-0000-0000-000000000000}"/>
          </ac:spMkLst>
        </pc:spChg>
        <pc:spChg chg="mod">
          <ac:chgData name="Scott T Lane" userId="c97bbaa9-35da-4a3b-a646-d12e455ac46e" providerId="ADAL" clId="{7E70BB95-7D27-52BD-BFCA-66981E18D4F3}" dt="2026-04-20T19:28:56.261" v="19" actId="1036"/>
          <ac:spMkLst>
            <pc:docMk/>
            <pc:sldMk cId="0" sldId="268"/>
            <ac:spMk id="20" creationId="{00000000-0000-0000-0000-000000000000}"/>
          </ac:spMkLst>
        </pc:spChg>
        <pc:spChg chg="mod">
          <ac:chgData name="Scott T Lane" userId="c97bbaa9-35da-4a3b-a646-d12e455ac46e" providerId="ADAL" clId="{7E70BB95-7D27-52BD-BFCA-66981E18D4F3}" dt="2026-04-20T19:41:57.547" v="97" actId="962"/>
          <ac:spMkLst>
            <pc:docMk/>
            <pc:sldMk cId="0" sldId="268"/>
            <ac:spMk id="21" creationId="{00000000-0000-0000-0000-000000000000}"/>
          </ac:spMkLst>
        </pc:spChg>
        <pc:spChg chg="mod">
          <ac:chgData name="Scott T Lane" userId="c97bbaa9-35da-4a3b-a646-d12e455ac46e" providerId="ADAL" clId="{7E70BB95-7D27-52BD-BFCA-66981E18D4F3}" dt="2026-04-20T19:41:58.048" v="98" actId="962"/>
          <ac:spMkLst>
            <pc:docMk/>
            <pc:sldMk cId="0" sldId="268"/>
            <ac:spMk id="22" creationId="{00000000-0000-0000-0000-000000000000}"/>
          </ac:spMkLst>
        </pc:spChg>
        <pc:spChg chg="mod">
          <ac:chgData name="Scott T Lane" userId="c97bbaa9-35da-4a3b-a646-d12e455ac46e" providerId="ADAL" clId="{7E70BB95-7D27-52BD-BFCA-66981E18D4F3}" dt="2026-04-20T19:41:58.576" v="99" actId="962"/>
          <ac:spMkLst>
            <pc:docMk/>
            <pc:sldMk cId="0" sldId="268"/>
            <ac:spMk id="23" creationId="{00000000-0000-0000-0000-000000000000}"/>
          </ac:spMkLst>
        </pc:spChg>
        <pc:spChg chg="mod">
          <ac:chgData name="Scott T Lane" userId="c97bbaa9-35da-4a3b-a646-d12e455ac46e" providerId="ADAL" clId="{7E70BB95-7D27-52BD-BFCA-66981E18D4F3}" dt="2026-04-20T19:42:02.131" v="101" actId="962"/>
          <ac:spMkLst>
            <pc:docMk/>
            <pc:sldMk cId="0" sldId="268"/>
            <ac:spMk id="24" creationId="{00000000-0000-0000-0000-000000000000}"/>
          </ac:spMkLst>
        </pc:spChg>
        <pc:spChg chg="mod">
          <ac:chgData name="Scott T Lane" userId="c97bbaa9-35da-4a3b-a646-d12e455ac46e" providerId="ADAL" clId="{7E70BB95-7D27-52BD-BFCA-66981E18D4F3}" dt="2026-04-20T19:41:59.849" v="100" actId="962"/>
          <ac:spMkLst>
            <pc:docMk/>
            <pc:sldMk cId="0" sldId="268"/>
            <ac:spMk id="25" creationId="{00000000-0000-0000-0000-000000000000}"/>
          </ac:spMkLst>
        </pc:spChg>
      </pc:sldChg>
      <pc:sldChg chg="modSp mod">
        <pc:chgData name="Scott T Lane" userId="c97bbaa9-35da-4a3b-a646-d12e455ac46e" providerId="ADAL" clId="{7E70BB95-7D27-52BD-BFCA-66981E18D4F3}" dt="2026-04-20T19:47:07.910" v="152" actId="207"/>
        <pc:sldMkLst>
          <pc:docMk/>
          <pc:sldMk cId="0" sldId="269"/>
        </pc:sldMkLst>
        <pc:spChg chg="mod">
          <ac:chgData name="Scott T Lane" userId="c97bbaa9-35da-4a3b-a646-d12e455ac46e" providerId="ADAL" clId="{7E70BB95-7D27-52BD-BFCA-66981E18D4F3}" dt="2026-04-20T19:47:07.910" v="152" actId="207"/>
          <ac:spMkLst>
            <pc:docMk/>
            <pc:sldMk cId="0" sldId="269"/>
            <ac:spMk id="10" creationId="{00000000-0000-0000-0000-000000000000}"/>
          </ac:spMkLst>
        </pc:spChg>
      </pc:sldChg>
      <pc:sldChg chg="delSp modSp mod">
        <pc:chgData name="Scott T Lane" userId="c97bbaa9-35da-4a3b-a646-d12e455ac46e" providerId="ADAL" clId="{7E70BB95-7D27-52BD-BFCA-66981E18D4F3}" dt="2026-04-20T19:43:15.584" v="115" actId="962"/>
        <pc:sldMkLst>
          <pc:docMk/>
          <pc:sldMk cId="0" sldId="272"/>
        </pc:sldMkLst>
        <pc:spChg chg="mod">
          <ac:chgData name="Scott T Lane" userId="c97bbaa9-35da-4a3b-a646-d12e455ac46e" providerId="ADAL" clId="{7E70BB95-7D27-52BD-BFCA-66981E18D4F3}" dt="2026-04-20T19:43:15.584" v="115" actId="962"/>
          <ac:spMkLst>
            <pc:docMk/>
            <pc:sldMk cId="0" sldId="272"/>
            <ac:spMk id="9" creationId="{00000000-0000-0000-0000-000000000000}"/>
          </ac:spMkLst>
        </pc:spChg>
        <pc:spChg chg="mod">
          <ac:chgData name="Scott T Lane" userId="c97bbaa9-35da-4a3b-a646-d12e455ac46e" providerId="ADAL" clId="{7E70BB95-7D27-52BD-BFCA-66981E18D4F3}" dt="2026-04-20T19:42:50.497" v="108" actId="962"/>
          <ac:spMkLst>
            <pc:docMk/>
            <pc:sldMk cId="0" sldId="272"/>
            <ac:spMk id="12" creationId="{00000000-0000-0000-0000-000000000000}"/>
          </ac:spMkLst>
        </pc:spChg>
        <pc:spChg chg="mod">
          <ac:chgData name="Scott T Lane" userId="c97bbaa9-35da-4a3b-a646-d12e455ac46e" providerId="ADAL" clId="{7E70BB95-7D27-52BD-BFCA-66981E18D4F3}" dt="2026-04-20T19:42:49.515" v="107" actId="962"/>
          <ac:spMkLst>
            <pc:docMk/>
            <pc:sldMk cId="0" sldId="272"/>
            <ac:spMk id="13" creationId="{00000000-0000-0000-0000-000000000000}"/>
          </ac:spMkLst>
        </pc:spChg>
        <pc:spChg chg="del mod">
          <ac:chgData name="Scott T Lane" userId="c97bbaa9-35da-4a3b-a646-d12e455ac46e" providerId="ADAL" clId="{7E70BB95-7D27-52BD-BFCA-66981E18D4F3}" dt="2026-04-20T19:42:59.517" v="111" actId="478"/>
          <ac:spMkLst>
            <pc:docMk/>
            <pc:sldMk cId="0" sldId="272"/>
            <ac:spMk id="15" creationId="{00000000-0000-0000-0000-000000000000}"/>
          </ac:spMkLst>
        </pc:spChg>
        <pc:spChg chg="mod">
          <ac:chgData name="Scott T Lane" userId="c97bbaa9-35da-4a3b-a646-d12e455ac46e" providerId="ADAL" clId="{7E70BB95-7D27-52BD-BFCA-66981E18D4F3}" dt="2026-04-20T19:42:52.665" v="110" actId="962"/>
          <ac:spMkLst>
            <pc:docMk/>
            <pc:sldMk cId="0" sldId="272"/>
            <ac:spMk id="17" creationId="{00000000-0000-0000-0000-000000000000}"/>
          </ac:spMkLst>
        </pc:spChg>
        <pc:spChg chg="mod">
          <ac:chgData name="Scott T Lane" userId="c97bbaa9-35da-4a3b-a646-d12e455ac46e" providerId="ADAL" clId="{7E70BB95-7D27-52BD-BFCA-66981E18D4F3}" dt="2026-04-20T19:43:01.818" v="112" actId="962"/>
          <ac:spMkLst>
            <pc:docMk/>
            <pc:sldMk cId="0" sldId="272"/>
            <ac:spMk id="19" creationId="{00000000-0000-0000-0000-000000000000}"/>
          </ac:spMkLst>
        </pc:spChg>
        <pc:spChg chg="mod">
          <ac:chgData name="Scott T Lane" userId="c97bbaa9-35da-4a3b-a646-d12e455ac46e" providerId="ADAL" clId="{7E70BB95-7D27-52BD-BFCA-66981E18D4F3}" dt="2026-04-20T19:43:02.500" v="113" actId="962"/>
          <ac:spMkLst>
            <pc:docMk/>
            <pc:sldMk cId="0" sldId="272"/>
            <ac:spMk id="21" creationId="{00000000-0000-0000-0000-000000000000}"/>
          </ac:spMkLst>
        </pc:spChg>
        <pc:spChg chg="mod">
          <ac:chgData name="Scott T Lane" userId="c97bbaa9-35da-4a3b-a646-d12e455ac46e" providerId="ADAL" clId="{7E70BB95-7D27-52BD-BFCA-66981E18D4F3}" dt="2026-04-20T19:43:03.234" v="114" actId="962"/>
          <ac:spMkLst>
            <pc:docMk/>
            <pc:sldMk cId="0" sldId="272"/>
            <ac:spMk id="23" creationId="{00000000-0000-0000-0000-000000000000}"/>
          </ac:spMkLst>
        </pc:spChg>
        <pc:spChg chg="mod">
          <ac:chgData name="Scott T Lane" userId="c97bbaa9-35da-4a3b-a646-d12e455ac46e" providerId="ADAL" clId="{7E70BB95-7D27-52BD-BFCA-66981E18D4F3}" dt="2026-04-20T19:32:49.050" v="72" actId="1038"/>
          <ac:spMkLst>
            <pc:docMk/>
            <pc:sldMk cId="0" sldId="272"/>
            <ac:spMk id="24" creationId="{00000000-0000-0000-0000-000000000000}"/>
          </ac:spMkLst>
        </pc:spChg>
        <pc:spChg chg="mod">
          <ac:chgData name="Scott T Lane" userId="c97bbaa9-35da-4a3b-a646-d12e455ac46e" providerId="ADAL" clId="{7E70BB95-7D27-52BD-BFCA-66981E18D4F3}" dt="2026-04-20T19:32:55.248" v="73" actId="962"/>
          <ac:spMkLst>
            <pc:docMk/>
            <pc:sldMk cId="0" sldId="272"/>
            <ac:spMk id="2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799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Fiscal policy is one of two main tools governments use to manage the macroeconomy — the other is monetary policy (the Fed). Fiscal policy is set by Congress and the President. Unlike monetary policy, which can change direction within weeks, fiscal policy must navigate the legislative process. Think of it as the government's checkbook: how much comes in (taxes), how much goes out (spending), and what happens when those two don't match.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Federal spending has grown from $93 billion in 1960 to nearly $7 trillion today — but as a share of GDP it has stayed relatively stable at 18–22%. The four big categories — Social Security, defense, health programs, and interest — account for roughly 75% of the federal budget. The remaining 25% covers everything from highway construction to NASA. Notably, if you care about education and public safety, that's primarily a state and local story — 90% of K-12 and public higher ed spending happens at those levels.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mandatory spending like your fixed bills — your rent, your car payment. They go out whether Congress holds hearings or not. Discretionary spending is what Congress debates every year in the appropriations process. Defense, highways, federal parks — those are discretionary. Then there's supplemental: emergency spending when events outrun the annual budget process, like the four COVID relief packages in 2020 that added trillions in a matter of months.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federal government runs primarily on two tax streams: the personal income tax and the payroll tax. Together they account for more than 85% of revenue. The payroll tax funds Social Security and Medicare specifically — it's earmarked. Here's a surprising fact: about three-quarters of American households actually pay more in payroll taxes than in federal income taxes. The corporate income tax has shrunk as a share of GDP from about 4% in the 1960s to roughly 1–2% today.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whether a tax is progressive, proportional, or regressive matters for both efficiency and fairness debates. The U.S. federal income tax is strongly progressive — the marginal rate climbs from 10% on the first dollars of income to 37% at high incomes. The Medicare payroll tax is proportional — 2.9% with no ceiling. The Social Security payroll tax is actually regressive above a certain wage: only the first ~$160,000 of wages is taxed, so a millionaire pays the same dollar amount as someone earning $160,000 — a much smaller share of their income.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common misconceptions students have is that moving into a higher tax bracket means ALL of your income is taxed at the higher rate. That's wrong. Only the dollars above each threshold are taxed at the higher rate — the lower dollars still get the lower rate. The marginal rate is 22% on this example, but the average (effective) rate is only about 13.5%. This distinction matters enormously when evaluating tax policy arguments.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distinctions in all of fiscal policy — and one of the most frequently confused. The deficit is a flow: how much more did we spend than we took in this year? The debt is a stock: the total amount accumulated over all the years we've run deficits. A useful analogy: the deficit is like the amount you charged to your credit card last month. The debt is the total credit card balance you've been building since you opened the account. You can run a surplus — pay down the balance — but until the balance hits zero, the debt remains.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federal government runs a deficit, it finances that gap by selling Treasury securities — bills (short-term), notes (medium-term), and bonds (long-term). These are essentially IOUs backed by the full faith and credit of the U.S. government. A common misconception is that China 'owns' most of U.S. debt. In fact, the majority is held domestically — by Social Security trust funds, American pension funds, banks, and individual investors. Foreign holdings are significant but not dominant.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Economists care more about the debt-to-GDP ratio than the raw dollar amount of debt. Why? Because the economy's ability to service debt grows with GDP. Think of it like your debt-to-income ratio on a mortgage application — what matters is not just how much you owe, but how much you earn relative to what you owe. The U.S. ran deficits for most of the period from WWII through 1980 but the debt/GDP ratio actually fell, because the economy was growing faster than the debt. The dangerous moments are when debt outpaces economic growth — as happened in the 2008–09 recession and again dramatically in 2020.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Expansionary fiscal policy shifts the aggregate demand curve to the right — either by putting more government dollars into the economy directly (spending) or by letting households keep more of their money (tax cuts). Contractionary policy does the opposite, pulling AD back. In practice, governments find it much easier to apply expansionary policy than contractionary: cutting spending or raising taxes is politically painful. This asymmetry is one reason deficits tend to persist.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Keynesian story. When aggregate demand falls short of potential GDP, the economy sits in a recessionary gap — output is too low, unemployment is too high. Expansionary fiscal policy — spending increases or tax cuts — shifts the AD curve rightward. If done correctly, this closes the gap and returns output to potential GDP. The price level rises somewhat, but since we started below full employment, the inflationary effect is modest. The 2009 stimulus and 2020 COVID packages are real-world examples of this playbook.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mirror image: when aggregate demand exceeds potential GDP, the economy overheats. Workers demand higher wages, firms raise prices, and inflation builds. Contractionary fiscal policy — spending cuts or tax increases — pulls AD back toward potential GDP. In practice, this is much harder to execute politically. During the late 1990s dot-com boom, the Congressional Budget Office noted the economy was running above potential GDP — but no major politician proposed contractionary measures.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Automatic stabilizers are the economy's built-in airbags. They don't prevent crashes, but they cushion the impact. The key insight is that they require no new legislation — they're already in the law. When a recession hits and workers lose jobs, unemployment insurance payments automatically increase and income tax bills automatically decrease, both of which put a floor under household spending. Economists estimate automatic stabilizers offset roughly 10% of any initial shock to output. They've also grown stronger as government has grown: federal spending was 4% of GDP in 1929; today it's over 20%, so the automatic cushion is much larger.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debate between automatic and discretionary fiscal policy really comes down to speed and certainty versus scale and targeting. Automatic stabilizers act immediately and predictably. Discretionary policy can potentially be larger and more precisely targeted — but it takes time and political will to enact. Most economists today recommend relying on automatic stabilizers for normal cyclical fluctuations and reserving discretionary fiscal policy for severe, prolonged downturns like the Great Recession or pandemic.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you're a doctor treating a patient, but you don't get the test results for six months, the prescription takes another six months to fill, and the medication takes a year to kick in. That's the timing challenge with fiscal policy. The recognition lag means we're often not sure a recession has started until it's well underway. The legislative lag means by the time Congress passes a stimulus bill, the recession may have already bottomed out. And the implementation lag means the money may not flow until the economy is already recovering — potentially overheating it. George Shultz was Treasury Secretary under Nixon and Director of the Office of Management and Budget — a man who understood both the economics and the politics intimately.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paradox of expansionary fiscal policy: the very borrowing that funds the stimulus can work against itself. When the government sells Treasury bonds, it competes with private borrowers for the same pool of savings. This pushes up interest rates. Higher interest rates discourage business investment and household borrowing — the opposite of what fiscal stimulus is trying to achieve. Research suggests a 1% of GDP increase in the deficit raises long-term rates by roughly half a percentage point to a full percentage point. This is called crowding out — government demand crowding private demand out of the credit market.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timing lags, there are two other structural problems with discretionary fiscal policy. First, permanent policy changes have bigger effects than temporary ones — people and firms adjust their behavior based on what they expect over the long run, not just the next year or two. Second, fiscal policy is politically asymmetric: it's easy to expand (voters like tax cuts and spending) and hard to contract (voters hate tax hikes and cuts). This means governments tend to run structural deficits even in good times, limiting their firepower when bad times arrive. Most economists by the 1990s concluded fiscal policy should be reserved for severe downturns.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balanced budget debate has been simmering since the 1930s. In 1995, a balanced budget amendment passed the House by a wide margin but failed the Senate by a single vote. Supporters make the intuitive household analogy — if families can't spend more than they earn forever, why should the government? But that analogy has important limits. Households borrow constantly — for homes, cars, education — and they don't face the obligation of stabilizing the entire economy during a recession. The stronger argument against a balanced budget requirement is that it would tie the government's hands precisely when automatic stabilizers and discretionary policy are most needed: during a recession.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isn't whether deficits are ever acceptable — they clearly are, in recessions, wars, and periods of high-return public investment. The question is whether the trajectory is sustainable. The U.S. ran deficits in most years from WWII through 1980 but the debt/GDP ratio actually fell because economic growth outpaced the debt. The concerning scenario is when structural deficits exist even during good times, and when demographic trends — the baby boom generation retiring and drawing on Social Security and Medicare — add permanent upward pressure on spending.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17 covers the full lifecycle of fiscal policy — where the government gets its money, where it spends it, what happens when spending exceeds revenue, and how policymakers attempt to use that budget power to stabilize the economy. The key takeaway: fiscal policy is a powerful but blunt tool. It works best in extreme situations, and its effectiveness depends heavily on timing, political will, and coordination with monetary policy.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4727448" y="3017520"/>
            <a:ext cx="2743200" cy="54864"/>
          </a:xfrm>
          <a:prstGeom prst="rect">
            <a:avLst/>
          </a:prstGeom>
          <a:solidFill>
            <a:srgbClr val="8AAAD4"/>
          </a:solidFill>
          <a:ln w="12700">
            <a:solidFill>
              <a:srgbClr val="8AAAD4"/>
            </a:solidFill>
            <a:prstDash val="solid"/>
          </a:ln>
        </p:spPr>
        <p:txBody>
          <a:bodyPr/>
          <a:lstStyle/>
          <a:p>
            <a:endParaRPr lang="en-US"/>
          </a:p>
        </p:txBody>
      </p:sp>
      <p:sp>
        <p:nvSpPr>
          <p:cNvPr id="3" name="Text 1"/>
          <p:cNvSpPr>
            <a:spLocks noGrp="1"/>
          </p:cNvSpPr>
          <p:nvPr>
            <p:ph type="title" idx="4294967295"/>
          </p:nvPr>
        </p:nvSpPr>
        <p:spPr>
          <a:xfrm>
            <a:off x="685800" y="1463040"/>
            <a:ext cx="10817352" cy="10058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Chapter 17</a:t>
            </a:r>
            <a:endParaRPr kumimoji="0" lang="en-US" sz="5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685800" y="2514600"/>
            <a:ext cx="10817352" cy="457200"/>
          </a:xfrm>
          <a:prstGeom prst="rect">
            <a:avLst/>
          </a:prstGeom>
          <a:noFill/>
          <a:ln/>
        </p:spPr>
        <p:txBody>
          <a:bodyPr wrap="square" rtlCol="0" anchor="ctr"/>
          <a:lstStyle/>
          <a:p>
            <a:pPr marL="0" indent="0" algn="ctr">
              <a:buNone/>
            </a:pPr>
            <a:r>
              <a:rPr lang="en-US" sz="2600" dirty="0">
                <a:solidFill>
                  <a:srgbClr val="FFFFFF"/>
                </a:solidFill>
                <a:latin typeface="Calibri" pitchFamily="34" charset="0"/>
                <a:ea typeface="Calibri" pitchFamily="34" charset="-122"/>
                <a:cs typeface="Calibri" pitchFamily="34" charset="-120"/>
              </a:rPr>
              <a:t>Government Budgets and Fiscal Policy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What Is Fiscal Policy?</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Text 1"/>
          <p:cNvSpPr/>
          <p:nvPr/>
        </p:nvSpPr>
        <p:spPr>
          <a:xfrm>
            <a:off x="457200" y="960120"/>
            <a:ext cx="5303520" cy="50292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Definition: </a:t>
            </a:r>
            <a:r>
              <a:rPr lang="en-US" sz="1400" dirty="0">
                <a:solidFill>
                  <a:srgbClr val="1A1A2E"/>
                </a:solidFill>
                <a:latin typeface="Calibri" pitchFamily="34" charset="0"/>
                <a:ea typeface="Calibri" pitchFamily="34" charset="-122"/>
                <a:cs typeface="Calibri" pitchFamily="34" charset="-120"/>
              </a:rPr>
              <a:t>Government's use of spending and taxation to influence the economy</a:t>
            </a:r>
            <a:endParaRPr lang="en-US" sz="1400" dirty="0"/>
          </a:p>
        </p:txBody>
      </p:sp>
      <p:sp>
        <p:nvSpPr>
          <p:cNvPr id="4" name="Text 2"/>
          <p:cNvSpPr/>
          <p:nvPr/>
        </p:nvSpPr>
        <p:spPr>
          <a:xfrm>
            <a:off x="457200" y="1536192"/>
            <a:ext cx="5303520" cy="91440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Two tools:</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Increase or decrease government spending</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Raise or lower taxes</a:t>
            </a:r>
            <a:endParaRPr lang="en-US" sz="1400" dirty="0"/>
          </a:p>
        </p:txBody>
      </p:sp>
      <p:sp>
        <p:nvSpPr>
          <p:cNvPr id="5" name="Text 3"/>
          <p:cNvSpPr/>
          <p:nvPr/>
        </p:nvSpPr>
        <p:spPr>
          <a:xfrm>
            <a:off x="457200" y="2560320"/>
            <a:ext cx="5303520" cy="777240"/>
          </a:xfrm>
          <a:prstGeom prst="rect">
            <a:avLst/>
          </a:prstGeom>
          <a:noFill/>
          <a:ln/>
        </p:spPr>
        <p:txBody>
          <a:bodyPr wrap="square" rtlCol="0" anchor="ctr"/>
          <a:lstStyle/>
          <a:p>
            <a:pPr marL="0" indent="0">
              <a:buNone/>
            </a:pPr>
            <a:r>
              <a:rPr lang="en-US" sz="1300" b="1" i="1" dirty="0">
                <a:latin typeface="Calibri" pitchFamily="34" charset="0"/>
                <a:ea typeface="Calibri" pitchFamily="34" charset="-122"/>
                <a:cs typeface="Calibri" pitchFamily="34" charset="-120"/>
              </a:rPr>
              <a:t>Analogy: </a:t>
            </a:r>
            <a:r>
              <a:rPr lang="en-US" sz="1300" i="1" dirty="0">
                <a:latin typeface="Calibri" pitchFamily="34" charset="0"/>
                <a:ea typeface="Calibri" pitchFamily="34" charset="-122"/>
                <a:cs typeface="Calibri" pitchFamily="34" charset="-120"/>
              </a:rPr>
              <a:t>"Like a household budget — but the government's decisions ripple across the entire economy"</a:t>
            </a:r>
            <a:endParaRPr lang="en-US" sz="1300" dirty="0"/>
          </a:p>
        </p:txBody>
      </p:sp>
      <p:sp>
        <p:nvSpPr>
          <p:cNvPr id="6" name="Text 4"/>
          <p:cNvSpPr/>
          <p:nvPr/>
        </p:nvSpPr>
        <p:spPr>
          <a:xfrm>
            <a:off x="6126480" y="960120"/>
            <a:ext cx="2743200" cy="347472"/>
          </a:xfrm>
          <a:prstGeom prst="rect">
            <a:avLst/>
          </a:prstGeom>
          <a:noFill/>
          <a:ln/>
        </p:spPr>
        <p:txBody>
          <a:bodyPr wrap="square" rtlCol="0" anchor="ctr"/>
          <a:lstStyle/>
          <a:p>
            <a:pPr marL="0" indent="0" algn="ctr">
              <a:buNone/>
            </a:pPr>
            <a:r>
              <a:rPr lang="en-US" sz="1200" b="1" dirty="0">
                <a:latin typeface="Calibri" pitchFamily="34" charset="0"/>
                <a:ea typeface="Calibri" pitchFamily="34" charset="-122"/>
                <a:cs typeface="Calibri" pitchFamily="34" charset="-120"/>
              </a:rPr>
              <a:t>Tool</a:t>
            </a:r>
            <a:endParaRPr lang="en-US" sz="1200" dirty="0"/>
          </a:p>
        </p:txBody>
      </p:sp>
      <p:sp>
        <p:nvSpPr>
          <p:cNvPr id="7" name="Text 5"/>
          <p:cNvSpPr/>
          <p:nvPr/>
        </p:nvSpPr>
        <p:spPr>
          <a:xfrm>
            <a:off x="9052560" y="960120"/>
            <a:ext cx="2743200" cy="347472"/>
          </a:xfrm>
          <a:prstGeom prst="rect">
            <a:avLst/>
          </a:prstGeom>
          <a:noFill/>
          <a:ln/>
        </p:spPr>
        <p:txBody>
          <a:bodyPr wrap="square" rtlCol="0" anchor="ctr"/>
          <a:lstStyle/>
          <a:p>
            <a:pPr marL="0" indent="0" algn="ctr">
              <a:buNone/>
            </a:pPr>
            <a:r>
              <a:rPr lang="en-US" sz="1200" b="1" dirty="0">
                <a:latin typeface="Calibri" pitchFamily="34" charset="0"/>
                <a:ea typeface="Calibri" pitchFamily="34" charset="-122"/>
                <a:cs typeface="Calibri" pitchFamily="34" charset="-120"/>
              </a:rPr>
              <a:t>Tool</a:t>
            </a:r>
            <a:endParaRPr lang="en-US" sz="1200" dirty="0"/>
          </a:p>
        </p:txBody>
      </p:sp>
      <p:sp>
        <p:nvSpPr>
          <p:cNvPr id="8" name="Text 6"/>
          <p:cNvSpPr/>
          <p:nvPr/>
        </p:nvSpPr>
        <p:spPr>
          <a:xfrm>
            <a:off x="5577840" y="2578608"/>
            <a:ext cx="548640" cy="347472"/>
          </a:xfrm>
          <a:prstGeom prst="rect">
            <a:avLst/>
          </a:prstGeom>
          <a:noFill/>
          <a:ln/>
        </p:spPr>
        <p:txBody>
          <a:bodyPr wrap="square" rtlCol="0" anchor="ctr"/>
          <a:lstStyle/>
          <a:p>
            <a:pPr marL="0" indent="0" algn="r">
              <a:buNone/>
            </a:pPr>
            <a:r>
              <a:rPr lang="en-US" sz="1100" b="1" dirty="0">
                <a:latin typeface="Calibri" pitchFamily="34" charset="0"/>
                <a:ea typeface="Calibri" pitchFamily="34" charset="-122"/>
                <a:cs typeface="Calibri" pitchFamily="34" charset="-120"/>
              </a:rPr>
              <a:t>Goal →</a:t>
            </a:r>
            <a:endParaRPr lang="en-US" sz="1100" dirty="0"/>
          </a:p>
        </p:txBody>
      </p:sp>
      <p:sp>
        <p:nvSpPr>
          <p:cNvPr id="9" name="Text 7">
            <a:extLst>
              <a:ext uri="{C183D7F6-B498-43B3-948B-1728B52AA6E4}">
                <adec:decorative xmlns:adec="http://schemas.microsoft.com/office/drawing/2017/decorative" val="1"/>
              </a:ext>
            </a:extLst>
          </p:cNvPr>
          <p:cNvSpPr/>
          <p:nvPr/>
        </p:nvSpPr>
        <p:spPr>
          <a:xfrm>
            <a:off x="7360920" y="2770632"/>
            <a:ext cx="457200" cy="164592"/>
          </a:xfrm>
          <a:prstGeom prst="rect">
            <a:avLst/>
          </a:prstGeom>
          <a:noFill/>
          <a:ln/>
        </p:spPr>
        <p:txBody>
          <a:bodyPr wrap="square" rtlCol="0" anchor="ctr"/>
          <a:lstStyle/>
          <a:p>
            <a:pPr marL="0" indent="0" algn="ctr">
              <a:buNone/>
            </a:pPr>
            <a:r>
              <a:rPr lang="en-US" sz="1400" dirty="0">
                <a:latin typeface="Calibri" pitchFamily="34" charset="0"/>
                <a:ea typeface="Calibri" pitchFamily="34" charset="-122"/>
                <a:cs typeface="Calibri" pitchFamily="34" charset="-120"/>
              </a:rPr>
              <a:t>↓</a:t>
            </a:r>
            <a:endParaRPr lang="en-US" sz="1400" dirty="0"/>
          </a:p>
        </p:txBody>
      </p:sp>
      <p:sp>
        <p:nvSpPr>
          <p:cNvPr id="10" name="Text 8">
            <a:extLst>
              <a:ext uri="{C183D7F6-B498-43B3-948B-1728B52AA6E4}">
                <adec:decorative xmlns:adec="http://schemas.microsoft.com/office/drawing/2017/decorative" val="1"/>
              </a:ext>
            </a:extLst>
          </p:cNvPr>
          <p:cNvSpPr/>
          <p:nvPr/>
        </p:nvSpPr>
        <p:spPr>
          <a:xfrm>
            <a:off x="10287000" y="2770632"/>
            <a:ext cx="457200" cy="164592"/>
          </a:xfrm>
          <a:prstGeom prst="rect">
            <a:avLst/>
          </a:prstGeom>
          <a:noFill/>
          <a:ln/>
        </p:spPr>
        <p:txBody>
          <a:bodyPr wrap="square" rtlCol="0" anchor="ctr"/>
          <a:lstStyle/>
          <a:p>
            <a:pPr marL="0" indent="0" algn="ctr">
              <a:buNone/>
            </a:pPr>
            <a:r>
              <a:rPr lang="en-US" sz="1400" dirty="0">
                <a:latin typeface="Calibri" pitchFamily="34" charset="0"/>
                <a:ea typeface="Calibri" pitchFamily="34" charset="-122"/>
                <a:cs typeface="Calibri" pitchFamily="34" charset="-120"/>
              </a:rPr>
              <a:t>↓</a:t>
            </a:r>
            <a:endParaRPr lang="en-US" sz="1400" dirty="0"/>
          </a:p>
        </p:txBody>
      </p:sp>
      <p:sp>
        <p:nvSpPr>
          <p:cNvPr id="11" name="Shape 9">
            <a:extLst>
              <a:ext uri="{C183D7F6-B498-43B3-948B-1728B52AA6E4}">
                <adec:decorative xmlns:adec="http://schemas.microsoft.com/office/drawing/2017/decorative" val="1"/>
              </a:ext>
            </a:extLst>
          </p:cNvPr>
          <p:cNvSpPr/>
          <p:nvPr/>
        </p:nvSpPr>
        <p:spPr>
          <a:xfrm>
            <a:off x="6126480" y="1353312"/>
            <a:ext cx="2743200" cy="1417320"/>
          </a:xfrm>
          <a:prstGeom prst="rect">
            <a:avLst/>
          </a:prstGeom>
          <a:solidFill>
            <a:srgbClr val="1B3A6B"/>
          </a:solidFill>
          <a:ln w="12700">
            <a:solidFill>
              <a:srgbClr val="1B3A6B"/>
            </a:solidFill>
            <a:prstDash val="solid"/>
          </a:ln>
        </p:spPr>
        <p:txBody>
          <a:bodyPr/>
          <a:lstStyle/>
          <a:p>
            <a:endParaRPr lang="en-US"/>
          </a:p>
        </p:txBody>
      </p:sp>
      <p:sp>
        <p:nvSpPr>
          <p:cNvPr id="12" name="Text 10"/>
          <p:cNvSpPr/>
          <p:nvPr/>
        </p:nvSpPr>
        <p:spPr>
          <a:xfrm>
            <a:off x="6126480" y="1353312"/>
            <a:ext cx="2743200" cy="1417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Spending / ↓ Taxes</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 Expansionary</a:t>
            </a:r>
            <a:endParaRPr lang="en-US" sz="1300" dirty="0"/>
          </a:p>
        </p:txBody>
      </p:sp>
      <p:sp>
        <p:nvSpPr>
          <p:cNvPr id="13" name="Shape 11">
            <a:extLst>
              <a:ext uri="{C183D7F6-B498-43B3-948B-1728B52AA6E4}">
                <adec:decorative xmlns:adec="http://schemas.microsoft.com/office/drawing/2017/decorative" val="1"/>
              </a:ext>
            </a:extLst>
          </p:cNvPr>
          <p:cNvSpPr/>
          <p:nvPr/>
        </p:nvSpPr>
        <p:spPr>
          <a:xfrm>
            <a:off x="9052560" y="1353312"/>
            <a:ext cx="2743200" cy="1417320"/>
          </a:xfrm>
          <a:prstGeom prst="rect">
            <a:avLst/>
          </a:prstGeom>
          <a:solidFill>
            <a:srgbClr val="1B3A6B"/>
          </a:solidFill>
          <a:ln w="12700">
            <a:solidFill>
              <a:srgbClr val="1B3A6B"/>
            </a:solidFill>
            <a:prstDash val="solid"/>
          </a:ln>
        </p:spPr>
        <p:txBody>
          <a:bodyPr/>
          <a:lstStyle/>
          <a:p>
            <a:endParaRPr lang="en-US"/>
          </a:p>
        </p:txBody>
      </p:sp>
      <p:sp>
        <p:nvSpPr>
          <p:cNvPr id="14" name="Text 12"/>
          <p:cNvSpPr/>
          <p:nvPr/>
        </p:nvSpPr>
        <p:spPr>
          <a:xfrm>
            <a:off x="9052560" y="1353312"/>
            <a:ext cx="2743200" cy="1417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Spending / ↑ Taxes</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 Contractionary</a:t>
            </a:r>
            <a:endParaRPr lang="en-US" sz="1300" dirty="0"/>
          </a:p>
        </p:txBody>
      </p:sp>
      <p:sp>
        <p:nvSpPr>
          <p:cNvPr id="15" name="Shape 13">
            <a:extLst>
              <a:ext uri="{C183D7F6-B498-43B3-948B-1728B52AA6E4}">
                <adec:decorative xmlns:adec="http://schemas.microsoft.com/office/drawing/2017/decorative" val="1"/>
              </a:ext>
            </a:extLst>
          </p:cNvPr>
          <p:cNvSpPr/>
          <p:nvPr/>
        </p:nvSpPr>
        <p:spPr>
          <a:xfrm>
            <a:off x="6126480" y="2944368"/>
            <a:ext cx="2743200" cy="1417320"/>
          </a:xfrm>
          <a:prstGeom prst="rect">
            <a:avLst/>
          </a:prstGeom>
          <a:solidFill>
            <a:srgbClr val="E8ECF0"/>
          </a:solidFill>
          <a:ln w="12700">
            <a:solidFill>
              <a:srgbClr val="E8ECF0"/>
            </a:solidFill>
            <a:prstDash val="solid"/>
          </a:ln>
        </p:spPr>
        <p:txBody>
          <a:bodyPr/>
          <a:lstStyle/>
          <a:p>
            <a:endParaRPr lang="en-US"/>
          </a:p>
        </p:txBody>
      </p:sp>
      <p:sp>
        <p:nvSpPr>
          <p:cNvPr id="16" name="Text 14"/>
          <p:cNvSpPr/>
          <p:nvPr/>
        </p:nvSpPr>
        <p:spPr>
          <a:xfrm>
            <a:off x="6126480" y="2944368"/>
            <a:ext cx="2743200" cy="141732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Fight recession /</a:t>
            </a:r>
            <a:endParaRPr lang="en-US" sz="1300" dirty="0"/>
          </a:p>
          <a:p>
            <a:pPr marL="0" indent="0" algn="ctr">
              <a:buNone/>
            </a:pPr>
            <a:r>
              <a:rPr lang="en-US" sz="1300" b="1" dirty="0">
                <a:solidFill>
                  <a:srgbClr val="1A1A2E"/>
                </a:solidFill>
                <a:latin typeface="Calibri" pitchFamily="34" charset="0"/>
                <a:ea typeface="Calibri" pitchFamily="34" charset="-122"/>
                <a:cs typeface="Calibri" pitchFamily="34" charset="-120"/>
              </a:rPr>
              <a:t>unemployment</a:t>
            </a:r>
            <a:endParaRPr lang="en-US" sz="1300" dirty="0"/>
          </a:p>
        </p:txBody>
      </p:sp>
      <p:sp>
        <p:nvSpPr>
          <p:cNvPr id="17" name="Shape 15">
            <a:extLst>
              <a:ext uri="{C183D7F6-B498-43B3-948B-1728B52AA6E4}">
                <adec:decorative xmlns:adec="http://schemas.microsoft.com/office/drawing/2017/decorative" val="1"/>
              </a:ext>
            </a:extLst>
          </p:cNvPr>
          <p:cNvSpPr/>
          <p:nvPr/>
        </p:nvSpPr>
        <p:spPr>
          <a:xfrm>
            <a:off x="9052560" y="2944368"/>
            <a:ext cx="2743200" cy="1417320"/>
          </a:xfrm>
          <a:prstGeom prst="rect">
            <a:avLst/>
          </a:prstGeom>
          <a:solidFill>
            <a:srgbClr val="E8ECF0"/>
          </a:solidFill>
          <a:ln w="12700">
            <a:solidFill>
              <a:srgbClr val="E8ECF0"/>
            </a:solidFill>
            <a:prstDash val="solid"/>
          </a:ln>
        </p:spPr>
        <p:txBody>
          <a:bodyPr/>
          <a:lstStyle/>
          <a:p>
            <a:endParaRPr lang="en-US"/>
          </a:p>
        </p:txBody>
      </p:sp>
      <p:sp>
        <p:nvSpPr>
          <p:cNvPr id="18" name="Text 16"/>
          <p:cNvSpPr/>
          <p:nvPr/>
        </p:nvSpPr>
        <p:spPr>
          <a:xfrm>
            <a:off x="9052560" y="2944368"/>
            <a:ext cx="2743200" cy="141732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Fight inflation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Federal Spending: The Big Picture</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2286000" y="868680"/>
            <a:ext cx="7616952" cy="1188720"/>
          </a:xfrm>
          <a:prstGeom prst="rect">
            <a:avLst/>
          </a:prstGeom>
          <a:solidFill>
            <a:srgbClr val="1B3A6B"/>
          </a:solidFill>
          <a:ln w="12700">
            <a:solidFill>
              <a:srgbClr val="1B3A6B"/>
            </a:solidFill>
            <a:prstDash val="solid"/>
          </a:ln>
        </p:spPr>
        <p:txBody>
          <a:bodyPr/>
          <a:lstStyle/>
          <a:p>
            <a:endParaRPr lang="en-US"/>
          </a:p>
        </p:txBody>
      </p:sp>
      <p:sp>
        <p:nvSpPr>
          <p:cNvPr id="4" name="Text 2"/>
          <p:cNvSpPr/>
          <p:nvPr/>
        </p:nvSpPr>
        <p:spPr>
          <a:xfrm>
            <a:off x="2286000" y="868680"/>
            <a:ext cx="7616952" cy="77724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~20% of GDP</a:t>
            </a:r>
            <a:endParaRPr lang="en-US" sz="5200" dirty="0"/>
          </a:p>
        </p:txBody>
      </p:sp>
      <p:sp>
        <p:nvSpPr>
          <p:cNvPr id="5" name="Text 3"/>
          <p:cNvSpPr/>
          <p:nvPr/>
        </p:nvSpPr>
        <p:spPr>
          <a:xfrm>
            <a:off x="2286000" y="1627632"/>
            <a:ext cx="7616952" cy="347472"/>
          </a:xfrm>
          <a:prstGeom prst="rect">
            <a:avLst/>
          </a:prstGeom>
          <a:noFill/>
          <a:ln/>
        </p:spPr>
        <p:txBody>
          <a:bodyPr wrap="square" rtlCol="0" anchor="ctr"/>
          <a:lstStyle/>
          <a:p>
            <a:pPr marL="0" indent="0" algn="ctr">
              <a:buNone/>
            </a:pPr>
            <a:r>
              <a:rPr lang="en-US" sz="1300" dirty="0">
                <a:solidFill>
                  <a:srgbClr val="C9D8F0"/>
                </a:solidFill>
                <a:latin typeface="Calibri" pitchFamily="34" charset="0"/>
                <a:ea typeface="Calibri" pitchFamily="34" charset="-122"/>
                <a:cs typeface="Calibri" pitchFamily="34" charset="-120"/>
              </a:rPr>
              <a:t>Federal spending, most years since 1960</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365760" y="2267712"/>
            <a:ext cx="5577840" cy="3200400"/>
          </a:xfrm>
          <a:prstGeom prst="rect">
            <a:avLst/>
          </a:prstGeom>
          <a:solidFill>
            <a:srgbClr val="D6E4F0"/>
          </a:solidFill>
          <a:ln w="12700">
            <a:solidFill>
              <a:srgbClr val="D6E4F0"/>
            </a:solidFill>
            <a:prstDash val="solid"/>
          </a:ln>
        </p:spPr>
        <p:txBody>
          <a:bodyPr/>
          <a:lstStyle/>
          <a:p>
            <a:endParaRPr lang="en-US"/>
          </a:p>
        </p:txBody>
      </p:sp>
      <p:sp>
        <p:nvSpPr>
          <p:cNvPr id="7" name="Text 5"/>
          <p:cNvSpPr/>
          <p:nvPr/>
        </p:nvSpPr>
        <p:spPr>
          <a:xfrm>
            <a:off x="502920" y="2331720"/>
            <a:ext cx="5303520" cy="347472"/>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What It Pays For</a:t>
            </a:r>
            <a:endParaRPr lang="en-US" sz="1500" dirty="0"/>
          </a:p>
        </p:txBody>
      </p:sp>
      <p:sp>
        <p:nvSpPr>
          <p:cNvPr id="8" name="Text 6"/>
          <p:cNvSpPr/>
          <p:nvPr/>
        </p:nvSpPr>
        <p:spPr>
          <a:xfrm>
            <a:off x="502920" y="2743200"/>
            <a:ext cx="5303520" cy="146304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 Social Security: 25%</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National Defense: 19%</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Health Programs: 15%</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Interest on Debt: 16%</a:t>
            </a:r>
            <a:endParaRPr lang="en-US" sz="1400" dirty="0"/>
          </a:p>
        </p:txBody>
      </p:sp>
      <p:sp>
        <p:nvSpPr>
          <p:cNvPr id="9" name="Text 7"/>
          <p:cNvSpPr/>
          <p:nvPr/>
        </p:nvSpPr>
        <p:spPr>
          <a:xfrm>
            <a:off x="502920" y="4279392"/>
            <a:ext cx="5303520" cy="411480"/>
          </a:xfrm>
          <a:prstGeom prst="rect">
            <a:avLst/>
          </a:prstGeom>
          <a:noFill/>
          <a:ln/>
        </p:spPr>
        <p:txBody>
          <a:bodyPr wrap="square" rtlCol="0" anchor="ctr"/>
          <a:lstStyle/>
          <a:p>
            <a:pPr marL="0" indent="0">
              <a:buNone/>
            </a:pPr>
            <a:r>
              <a:rPr lang="en-US" sz="1200" i="1" dirty="0">
                <a:latin typeface="Calibri" pitchFamily="34" charset="0"/>
                <a:ea typeface="Calibri" pitchFamily="34" charset="-122"/>
                <a:cs typeface="Calibri" pitchFamily="34" charset="-120"/>
              </a:rPr>
              <a:t>These 4 categories = ~75% of the federal budget</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6263640" y="2267712"/>
            <a:ext cx="5486400" cy="3200400"/>
          </a:xfrm>
          <a:prstGeom prst="rect">
            <a:avLst/>
          </a:prstGeom>
          <a:solidFill>
            <a:srgbClr val="E8ECF0"/>
          </a:solidFill>
          <a:ln w="12700">
            <a:solidFill>
              <a:srgbClr val="E8ECF0"/>
            </a:solidFill>
            <a:prstDash val="solid"/>
          </a:ln>
        </p:spPr>
        <p:txBody>
          <a:bodyPr/>
          <a:lstStyle/>
          <a:p>
            <a:endParaRPr lang="en-US"/>
          </a:p>
        </p:txBody>
      </p:sp>
      <p:sp>
        <p:nvSpPr>
          <p:cNvPr id="11" name="Text 9"/>
          <p:cNvSpPr/>
          <p:nvPr/>
        </p:nvSpPr>
        <p:spPr>
          <a:xfrm>
            <a:off x="6400800" y="2331720"/>
            <a:ext cx="5212080" cy="347472"/>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The Rest (~25%)</a:t>
            </a:r>
            <a:endParaRPr lang="en-US" sz="1500" dirty="0"/>
          </a:p>
        </p:txBody>
      </p:sp>
      <p:sp>
        <p:nvSpPr>
          <p:cNvPr id="12" name="Text 10"/>
          <p:cNvSpPr/>
          <p:nvPr/>
        </p:nvSpPr>
        <p:spPr>
          <a:xfrm>
            <a:off x="6400800" y="2743200"/>
            <a:ext cx="5212080" cy="10972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Education, transportation, environment, housing, law enforcement, international affairs, science &amp; technology</a:t>
            </a:r>
            <a:endParaRPr lang="en-US" sz="1400" dirty="0"/>
          </a:p>
        </p:txBody>
      </p:sp>
      <p:sp>
        <p:nvSpPr>
          <p:cNvPr id="13" name="Text 11"/>
          <p:cNvSpPr/>
          <p:nvPr/>
        </p:nvSpPr>
        <p:spPr>
          <a:xfrm>
            <a:off x="6400800" y="3931920"/>
            <a:ext cx="5212080" cy="822960"/>
          </a:xfrm>
          <a:prstGeom prst="rect">
            <a:avLst/>
          </a:prstGeom>
          <a:noFill/>
          <a:ln/>
        </p:spPr>
        <p:txBody>
          <a:bodyPr wrap="square" rtlCol="0" anchor="ctr"/>
          <a:lstStyle/>
          <a:p>
            <a:pPr marL="0" indent="0">
              <a:buNone/>
            </a:pPr>
            <a:r>
              <a:rPr lang="en-US" sz="1300" i="1" dirty="0">
                <a:latin typeface="Calibri" pitchFamily="34" charset="0"/>
                <a:ea typeface="Calibri" pitchFamily="34" charset="-122"/>
                <a:cs typeface="Calibri" pitchFamily="34" charset="-120"/>
              </a:rPr>
              <a:t>State &amp; local add ~14% of GDP</a:t>
            </a:r>
            <a:endParaRPr lang="en-US" sz="1300" dirty="0"/>
          </a:p>
          <a:p>
            <a:pPr marL="0" indent="0">
              <a:buNone/>
            </a:pPr>
            <a:r>
              <a:rPr lang="en-US" sz="1300" i="1" dirty="0">
                <a:latin typeface="Calibri" pitchFamily="34" charset="0"/>
                <a:ea typeface="Calibri" pitchFamily="34" charset="-122"/>
                <a:cs typeface="Calibri" pitchFamily="34" charset="-120"/>
              </a:rPr>
              <a:t>90% of K–12 and public higher ed is state/local funded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Mandatory vs. Discretionary Spending</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365760" y="960120"/>
            <a:ext cx="3749040" cy="5029200"/>
          </a:xfrm>
          <a:prstGeom prst="rect">
            <a:avLst/>
          </a:prstGeom>
          <a:solidFill>
            <a:srgbClr val="E8ECF0"/>
          </a:solidFill>
          <a:ln w="12700">
            <a:solidFill>
              <a:srgbClr val="E8ECF0"/>
            </a:solidFill>
            <a:prstDash val="solid"/>
          </a:ln>
        </p:spPr>
        <p:txBody>
          <a:bodyPr/>
          <a:lstStyle/>
          <a:p>
            <a:endParaRPr lang="en-US"/>
          </a:p>
        </p:txBody>
      </p:sp>
      <p:sp>
        <p:nvSpPr>
          <p:cNvPr id="4" name="Text 2"/>
          <p:cNvSpPr/>
          <p:nvPr/>
        </p:nvSpPr>
        <p:spPr>
          <a:xfrm>
            <a:off x="502920" y="1051560"/>
            <a:ext cx="3474720" cy="411480"/>
          </a:xfrm>
          <a:prstGeom prst="rect">
            <a:avLst/>
          </a:prstGeom>
          <a:noFill/>
          <a:ln/>
        </p:spPr>
        <p:txBody>
          <a:bodyPr wrap="square" rtlCol="0" anchor="ctr"/>
          <a:lstStyle/>
          <a:p>
            <a:pPr marL="0" indent="0">
              <a:buNone/>
            </a:pPr>
            <a:r>
              <a:rPr lang="en-US" sz="1600" b="1" dirty="0">
                <a:solidFill>
                  <a:srgbClr val="1B3A6B"/>
                </a:solidFill>
                <a:latin typeface="Calibri" pitchFamily="34" charset="0"/>
                <a:ea typeface="Calibri" pitchFamily="34" charset="-122"/>
                <a:cs typeface="Calibri" pitchFamily="34" charset="-120"/>
              </a:rPr>
              <a:t>MANDATORY</a:t>
            </a:r>
            <a:endParaRPr lang="en-US" sz="1600" dirty="0"/>
          </a:p>
        </p:txBody>
      </p:sp>
      <p:sp>
        <p:nvSpPr>
          <p:cNvPr id="5" name="Text 3"/>
          <p:cNvSpPr/>
          <p:nvPr/>
        </p:nvSpPr>
        <p:spPr>
          <a:xfrm>
            <a:off x="502920" y="1481328"/>
            <a:ext cx="3474720" cy="347472"/>
          </a:xfrm>
          <a:prstGeom prst="rect">
            <a:avLst/>
          </a:prstGeom>
          <a:noFill/>
          <a:ln/>
        </p:spPr>
        <p:txBody>
          <a:bodyPr wrap="square" rtlCol="0" anchor="ctr"/>
          <a:lstStyle/>
          <a:p>
            <a:pPr marL="0" indent="0">
              <a:buNone/>
            </a:pPr>
            <a:r>
              <a:rPr lang="en-US" sz="1200" i="1" dirty="0">
                <a:latin typeface="Calibri" pitchFamily="34" charset="0"/>
                <a:ea typeface="Calibri" pitchFamily="34" charset="-122"/>
                <a:cs typeface="Calibri" pitchFamily="34" charset="-120"/>
              </a:rPr>
              <a:t>"Auto-pilot" — Set by Law</a:t>
            </a:r>
            <a:endParaRPr lang="en-US" sz="1200" dirty="0"/>
          </a:p>
        </p:txBody>
      </p:sp>
      <p:sp>
        <p:nvSpPr>
          <p:cNvPr id="6" name="Text 4"/>
          <p:cNvSpPr/>
          <p:nvPr/>
        </p:nvSpPr>
        <p:spPr>
          <a:xfrm>
            <a:off x="502920" y="1920240"/>
            <a:ext cx="3474720" cy="3840480"/>
          </a:xfrm>
          <a:prstGeom prst="rect">
            <a:avLst/>
          </a:prstGeom>
          <a:noFill/>
          <a:ln/>
        </p:spPr>
        <p:txBody>
          <a:bodyPr wrap="square" rtlCol="0" anchor="t"/>
          <a:lstStyle/>
          <a:p>
            <a:pPr marL="0" indent="0">
              <a:buNone/>
            </a:pPr>
            <a:r>
              <a:rPr lang="en-US" sz="1300" dirty="0">
                <a:solidFill>
                  <a:srgbClr val="1A1A2E"/>
                </a:solidFill>
                <a:latin typeface="Calibri" pitchFamily="34" charset="0"/>
                <a:ea typeface="Calibri" pitchFamily="34" charset="-122"/>
                <a:cs typeface="Calibri" pitchFamily="34" charset="-120"/>
              </a:rPr>
              <a:t>• Required by existing law — no annual vote needed</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Examples: Social Security, Medicare, Medicaid</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~2/3 of the federal budget</a:t>
            </a:r>
            <a:endParaRPr lang="en-US" sz="1300" dirty="0"/>
          </a:p>
          <a:p>
            <a:pPr marL="0" indent="0">
              <a:buNone/>
            </a:pP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Analogy: Like a mortgage payment — it goes out automatically each month</a:t>
            </a:r>
            <a:endParaRPr lang="en-US" sz="1300" dirty="0"/>
          </a:p>
        </p:txBody>
      </p:sp>
      <p:sp>
        <p:nvSpPr>
          <p:cNvPr id="7" name="Shape 5">
            <a:extLst>
              <a:ext uri="{C183D7F6-B498-43B3-948B-1728B52AA6E4}">
                <adec:decorative xmlns:adec="http://schemas.microsoft.com/office/drawing/2017/decorative" val="1"/>
              </a:ext>
            </a:extLst>
          </p:cNvPr>
          <p:cNvSpPr/>
          <p:nvPr/>
        </p:nvSpPr>
        <p:spPr>
          <a:xfrm>
            <a:off x="4297680" y="960120"/>
            <a:ext cx="3749040" cy="5029200"/>
          </a:xfrm>
          <a:prstGeom prst="rect">
            <a:avLst/>
          </a:prstGeom>
          <a:solidFill>
            <a:srgbClr val="E8ECF0"/>
          </a:solidFill>
          <a:ln w="12700">
            <a:solidFill>
              <a:srgbClr val="E8ECF0"/>
            </a:solidFill>
            <a:prstDash val="solid"/>
          </a:ln>
        </p:spPr>
        <p:txBody>
          <a:bodyPr/>
          <a:lstStyle/>
          <a:p>
            <a:endParaRPr lang="en-US"/>
          </a:p>
        </p:txBody>
      </p:sp>
      <p:sp>
        <p:nvSpPr>
          <p:cNvPr id="8" name="Text 6"/>
          <p:cNvSpPr/>
          <p:nvPr/>
        </p:nvSpPr>
        <p:spPr>
          <a:xfrm>
            <a:off x="4434840" y="1051560"/>
            <a:ext cx="3474720" cy="411480"/>
          </a:xfrm>
          <a:prstGeom prst="rect">
            <a:avLst/>
          </a:prstGeom>
          <a:noFill/>
          <a:ln/>
        </p:spPr>
        <p:txBody>
          <a:bodyPr wrap="square" rtlCol="0" anchor="ctr"/>
          <a:lstStyle/>
          <a:p>
            <a:pPr marL="0" indent="0">
              <a:buNone/>
            </a:pPr>
            <a:r>
              <a:rPr lang="en-US" sz="1600" b="1" dirty="0">
                <a:solidFill>
                  <a:srgbClr val="1B3A6B"/>
                </a:solidFill>
                <a:latin typeface="Calibri" pitchFamily="34" charset="0"/>
                <a:ea typeface="Calibri" pitchFamily="34" charset="-122"/>
                <a:cs typeface="Calibri" pitchFamily="34" charset="-120"/>
              </a:rPr>
              <a:t>DISCRETIONARY</a:t>
            </a:r>
            <a:endParaRPr lang="en-US" sz="1600" dirty="0"/>
          </a:p>
        </p:txBody>
      </p:sp>
      <p:sp>
        <p:nvSpPr>
          <p:cNvPr id="9" name="Text 7"/>
          <p:cNvSpPr/>
          <p:nvPr/>
        </p:nvSpPr>
        <p:spPr>
          <a:xfrm>
            <a:off x="4434840" y="1481328"/>
            <a:ext cx="3474720" cy="347472"/>
          </a:xfrm>
          <a:prstGeom prst="rect">
            <a:avLst/>
          </a:prstGeom>
          <a:noFill/>
          <a:ln/>
        </p:spPr>
        <p:txBody>
          <a:bodyPr wrap="square" rtlCol="0" anchor="ctr"/>
          <a:lstStyle/>
          <a:p>
            <a:pPr marL="0" indent="0">
              <a:buNone/>
            </a:pPr>
            <a:r>
              <a:rPr lang="en-US" sz="1200" i="1" dirty="0">
                <a:latin typeface="Calibri" pitchFamily="34" charset="0"/>
                <a:ea typeface="Calibri" pitchFamily="34" charset="-122"/>
                <a:cs typeface="Calibri" pitchFamily="34" charset="-120"/>
              </a:rPr>
              <a:t>Annual Congressional Vote Required</a:t>
            </a:r>
            <a:endParaRPr lang="en-US" sz="1200" dirty="0"/>
          </a:p>
        </p:txBody>
      </p:sp>
      <p:sp>
        <p:nvSpPr>
          <p:cNvPr id="10" name="Text 8"/>
          <p:cNvSpPr/>
          <p:nvPr/>
        </p:nvSpPr>
        <p:spPr>
          <a:xfrm>
            <a:off x="4434840" y="1920240"/>
            <a:ext cx="3474720" cy="3840480"/>
          </a:xfrm>
          <a:prstGeom prst="rect">
            <a:avLst/>
          </a:prstGeom>
          <a:noFill/>
          <a:ln/>
        </p:spPr>
        <p:txBody>
          <a:bodyPr wrap="square" rtlCol="0" anchor="t"/>
          <a:lstStyle/>
          <a:p>
            <a:pPr marL="0" indent="0">
              <a:buNone/>
            </a:pPr>
            <a:r>
              <a:rPr lang="en-US" sz="1300" dirty="0">
                <a:solidFill>
                  <a:srgbClr val="1A1A2E"/>
                </a:solidFill>
                <a:latin typeface="Calibri" pitchFamily="34" charset="0"/>
                <a:ea typeface="Calibri" pitchFamily="34" charset="-122"/>
                <a:cs typeface="Calibri" pitchFamily="34" charset="-120"/>
              </a:rPr>
              <a:t>• Approved annually by Congress &amp; President</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Examples: Defense, education, NASA, transportation</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~1/3 of federal budget</a:t>
            </a:r>
            <a:endParaRPr lang="en-US" sz="1300" dirty="0"/>
          </a:p>
        </p:txBody>
      </p:sp>
      <p:sp>
        <p:nvSpPr>
          <p:cNvPr id="11" name="Shape 9">
            <a:extLst>
              <a:ext uri="{C183D7F6-B498-43B3-948B-1728B52AA6E4}">
                <adec:decorative xmlns:adec="http://schemas.microsoft.com/office/drawing/2017/decorative" val="1"/>
              </a:ext>
            </a:extLst>
          </p:cNvPr>
          <p:cNvSpPr/>
          <p:nvPr/>
        </p:nvSpPr>
        <p:spPr>
          <a:xfrm>
            <a:off x="8229600" y="960120"/>
            <a:ext cx="3749040" cy="5029200"/>
          </a:xfrm>
          <a:prstGeom prst="rect">
            <a:avLst/>
          </a:prstGeom>
          <a:solidFill>
            <a:srgbClr val="E8ECF0"/>
          </a:solidFill>
          <a:ln w="12700">
            <a:solidFill>
              <a:srgbClr val="E8ECF0"/>
            </a:solidFill>
            <a:prstDash val="solid"/>
          </a:ln>
        </p:spPr>
        <p:txBody>
          <a:bodyPr/>
          <a:lstStyle/>
          <a:p>
            <a:endParaRPr lang="en-US"/>
          </a:p>
        </p:txBody>
      </p:sp>
      <p:sp>
        <p:nvSpPr>
          <p:cNvPr id="12" name="Text 10"/>
          <p:cNvSpPr/>
          <p:nvPr/>
        </p:nvSpPr>
        <p:spPr>
          <a:xfrm>
            <a:off x="8366760" y="1051560"/>
            <a:ext cx="3474720" cy="411480"/>
          </a:xfrm>
          <a:prstGeom prst="rect">
            <a:avLst/>
          </a:prstGeom>
          <a:noFill/>
          <a:ln/>
        </p:spPr>
        <p:txBody>
          <a:bodyPr wrap="square" rtlCol="0" anchor="ctr"/>
          <a:lstStyle/>
          <a:p>
            <a:pPr marL="0" indent="0">
              <a:buNone/>
            </a:pPr>
            <a:r>
              <a:rPr lang="en-US" sz="1600" b="1" dirty="0">
                <a:solidFill>
                  <a:srgbClr val="1B3A6B"/>
                </a:solidFill>
                <a:latin typeface="Calibri" pitchFamily="34" charset="0"/>
                <a:ea typeface="Calibri" pitchFamily="34" charset="-122"/>
                <a:cs typeface="Calibri" pitchFamily="34" charset="-120"/>
              </a:rPr>
              <a:t>SUPPLEMENTAL</a:t>
            </a:r>
            <a:endParaRPr lang="en-US" sz="1600" dirty="0"/>
          </a:p>
        </p:txBody>
      </p:sp>
      <p:sp>
        <p:nvSpPr>
          <p:cNvPr id="13" name="Text 11"/>
          <p:cNvSpPr/>
          <p:nvPr/>
        </p:nvSpPr>
        <p:spPr>
          <a:xfrm>
            <a:off x="8366760" y="1481328"/>
            <a:ext cx="3474720" cy="347472"/>
          </a:xfrm>
          <a:prstGeom prst="rect">
            <a:avLst/>
          </a:prstGeom>
          <a:noFill/>
          <a:ln/>
        </p:spPr>
        <p:txBody>
          <a:bodyPr wrap="square" rtlCol="0" anchor="ctr"/>
          <a:lstStyle/>
          <a:p>
            <a:pPr marL="0" indent="0">
              <a:buNone/>
            </a:pPr>
            <a:r>
              <a:rPr lang="en-US" sz="1200" i="1" dirty="0">
                <a:latin typeface="Calibri" pitchFamily="34" charset="0"/>
                <a:ea typeface="Calibri" pitchFamily="34" charset="-122"/>
                <a:cs typeface="Calibri" pitchFamily="34" charset="-120"/>
              </a:rPr>
              <a:t>Emergency Add-Ons</a:t>
            </a:r>
            <a:endParaRPr lang="en-US" sz="1200" dirty="0"/>
          </a:p>
        </p:txBody>
      </p:sp>
      <p:sp>
        <p:nvSpPr>
          <p:cNvPr id="14" name="Text 12"/>
          <p:cNvSpPr/>
          <p:nvPr/>
        </p:nvSpPr>
        <p:spPr>
          <a:xfrm>
            <a:off x="8366760" y="1920240"/>
            <a:ext cx="3474720" cy="3840480"/>
          </a:xfrm>
          <a:prstGeom prst="rect">
            <a:avLst/>
          </a:prstGeom>
          <a:noFill/>
          <a:ln/>
        </p:spPr>
        <p:txBody>
          <a:bodyPr wrap="square" rtlCol="0" anchor="t"/>
          <a:lstStyle/>
          <a:p>
            <a:pPr marL="0" indent="0">
              <a:buNone/>
            </a:pPr>
            <a:r>
              <a:rPr lang="en-US" sz="1300" dirty="0">
                <a:solidFill>
                  <a:srgbClr val="1A1A2E"/>
                </a:solidFill>
                <a:latin typeface="Calibri" pitchFamily="34" charset="0"/>
                <a:ea typeface="Calibri" pitchFamily="34" charset="-122"/>
                <a:cs typeface="Calibri" pitchFamily="34" charset="-120"/>
              </a:rPr>
              <a:t>• Emergency spending outside normal budget cycle</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Used when need is too urgent to wait</a:t>
            </a:r>
            <a:endParaRPr lang="en-US" sz="1300" dirty="0"/>
          </a:p>
          <a:p>
            <a:pPr marL="0" indent="0">
              <a:buNone/>
            </a:pP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Example: 4 COVID-19 relief packages passed in 2020</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Federal Revenue Sources</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Text 1"/>
          <p:cNvSpPr/>
          <p:nvPr/>
        </p:nvSpPr>
        <p:spPr>
          <a:xfrm>
            <a:off x="3657600" y="960120"/>
            <a:ext cx="457200" cy="274320"/>
          </a:xfrm>
          <a:prstGeom prst="rect">
            <a:avLst/>
          </a:prstGeom>
          <a:noFill/>
          <a:ln/>
        </p:spPr>
        <p:txBody>
          <a:bodyPr wrap="square" rtlCol="0" anchor="ctr"/>
          <a:lstStyle/>
          <a:p>
            <a:pPr marL="0" indent="0" algn="r">
              <a:buNone/>
            </a:pPr>
            <a:r>
              <a:rPr lang="en-US" sz="1000" dirty="0">
                <a:latin typeface="Calibri" pitchFamily="34" charset="0"/>
                <a:ea typeface="Calibri" pitchFamily="34" charset="-122"/>
                <a:cs typeface="Calibri" pitchFamily="34" charset="-120"/>
              </a:rPr>
              <a:t>0%</a:t>
            </a:r>
            <a:endParaRPr lang="en-US" sz="1000" dirty="0"/>
          </a:p>
        </p:txBody>
      </p:sp>
      <p:sp>
        <p:nvSpPr>
          <p:cNvPr id="4" name="Text 2"/>
          <p:cNvSpPr/>
          <p:nvPr/>
        </p:nvSpPr>
        <p:spPr>
          <a:xfrm>
            <a:off x="7178040" y="960120"/>
            <a:ext cx="548640" cy="274320"/>
          </a:xfrm>
          <a:prstGeom prst="rect">
            <a:avLst/>
          </a:prstGeom>
          <a:noFill/>
          <a:ln/>
        </p:spPr>
        <p:txBody>
          <a:bodyPr wrap="square" rtlCol="0" anchor="ctr"/>
          <a:lstStyle/>
          <a:p>
            <a:pPr marL="0" indent="0" algn="ctr">
              <a:buNone/>
            </a:pPr>
            <a:r>
              <a:rPr lang="en-US" sz="1000" dirty="0">
                <a:latin typeface="Calibri" pitchFamily="34" charset="0"/>
                <a:ea typeface="Calibri" pitchFamily="34" charset="-122"/>
                <a:cs typeface="Calibri" pitchFamily="34" charset="-120"/>
              </a:rPr>
              <a:t>50%</a:t>
            </a:r>
            <a:endParaRPr lang="en-US" sz="1000" dirty="0"/>
          </a:p>
        </p:txBody>
      </p:sp>
      <p:sp>
        <p:nvSpPr>
          <p:cNvPr id="5" name="Text 3"/>
          <p:cNvSpPr/>
          <p:nvPr/>
        </p:nvSpPr>
        <p:spPr>
          <a:xfrm>
            <a:off x="10607040" y="960120"/>
            <a:ext cx="640080" cy="274320"/>
          </a:xfrm>
          <a:prstGeom prst="rect">
            <a:avLst/>
          </a:prstGeom>
          <a:noFill/>
          <a:ln/>
        </p:spPr>
        <p:txBody>
          <a:bodyPr wrap="square" rtlCol="0" anchor="ctr"/>
          <a:lstStyle/>
          <a:p>
            <a:pPr marL="0" indent="0" algn="r">
              <a:buNone/>
            </a:pPr>
            <a:r>
              <a:rPr lang="en-US" sz="1000" dirty="0">
                <a:latin typeface="Calibri" pitchFamily="34" charset="0"/>
                <a:ea typeface="Calibri" pitchFamily="34" charset="-122"/>
                <a:cs typeface="Calibri" pitchFamily="34" charset="-120"/>
              </a:rPr>
              <a:t>100%</a:t>
            </a:r>
            <a:endParaRPr lang="en-US" sz="1000" dirty="0"/>
          </a:p>
        </p:txBody>
      </p:sp>
      <p:sp>
        <p:nvSpPr>
          <p:cNvPr id="6" name="Text 4"/>
          <p:cNvSpPr/>
          <p:nvPr/>
        </p:nvSpPr>
        <p:spPr>
          <a:xfrm>
            <a:off x="365760" y="1298448"/>
            <a:ext cx="3200400" cy="50292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Personal Income Tax</a:t>
            </a:r>
            <a:endParaRPr lang="en-US" sz="1300" dirty="0"/>
          </a:p>
        </p:txBody>
      </p:sp>
      <p:sp>
        <p:nvSpPr>
          <p:cNvPr id="7" name="Shape 5">
            <a:extLst>
              <a:ext uri="{C183D7F6-B498-43B3-948B-1728B52AA6E4}">
                <adec:decorative xmlns:adec="http://schemas.microsoft.com/office/drawing/2017/decorative" val="1"/>
              </a:ext>
            </a:extLst>
          </p:cNvPr>
          <p:cNvSpPr/>
          <p:nvPr/>
        </p:nvSpPr>
        <p:spPr>
          <a:xfrm>
            <a:off x="3703320" y="1389888"/>
            <a:ext cx="7132320" cy="320040"/>
          </a:xfrm>
          <a:prstGeom prst="rect">
            <a:avLst/>
          </a:prstGeom>
          <a:solidFill>
            <a:srgbClr val="DDE3EC"/>
          </a:solidFill>
          <a:ln w="12700">
            <a:solidFill>
              <a:srgbClr val="DDE3EC"/>
            </a:solidFill>
            <a:prstDash val="solid"/>
          </a:ln>
        </p:spPr>
        <p:txBody>
          <a:bodyPr/>
          <a:lstStyle/>
          <a:p>
            <a:endParaRPr lang="en-US"/>
          </a:p>
        </p:txBody>
      </p:sp>
      <p:sp>
        <p:nvSpPr>
          <p:cNvPr id="8" name="Shape 6">
            <a:extLst>
              <a:ext uri="{C183D7F6-B498-43B3-948B-1728B52AA6E4}">
                <adec:decorative xmlns:adec="http://schemas.microsoft.com/office/drawing/2017/decorative" val="1"/>
              </a:ext>
            </a:extLst>
          </p:cNvPr>
          <p:cNvSpPr/>
          <p:nvPr/>
        </p:nvSpPr>
        <p:spPr>
          <a:xfrm>
            <a:off x="3703320" y="1389888"/>
            <a:ext cx="3566160" cy="320040"/>
          </a:xfrm>
          <a:prstGeom prst="rect">
            <a:avLst/>
          </a:prstGeom>
          <a:solidFill>
            <a:srgbClr val="1B3A6B"/>
          </a:solidFill>
          <a:ln w="12700">
            <a:solidFill>
              <a:srgbClr val="1B3A6B"/>
            </a:solidFill>
            <a:prstDash val="solid"/>
          </a:ln>
        </p:spPr>
        <p:txBody>
          <a:bodyPr/>
          <a:lstStyle/>
          <a:p>
            <a:endParaRPr lang="en-US"/>
          </a:p>
        </p:txBody>
      </p:sp>
      <p:sp>
        <p:nvSpPr>
          <p:cNvPr id="9" name="Text 7"/>
          <p:cNvSpPr/>
          <p:nvPr/>
        </p:nvSpPr>
        <p:spPr>
          <a:xfrm>
            <a:off x="11064240" y="1298448"/>
            <a:ext cx="822960" cy="502920"/>
          </a:xfrm>
          <a:prstGeom prst="rect">
            <a:avLst/>
          </a:prstGeom>
          <a:noFill/>
          <a:ln/>
        </p:spPr>
        <p:txBody>
          <a:bodyPr wrap="square" rtlCol="0" anchor="ctr"/>
          <a:lstStyle/>
          <a:p>
            <a:pPr marL="0" indent="0" algn="l">
              <a:buNone/>
            </a:pPr>
            <a:r>
              <a:rPr lang="en-US" sz="1200" b="1" dirty="0">
                <a:solidFill>
                  <a:srgbClr val="1B3A6B"/>
                </a:solidFill>
                <a:latin typeface="Calibri" pitchFamily="34" charset="0"/>
                <a:ea typeface="Calibri" pitchFamily="34" charset="-122"/>
                <a:cs typeface="Calibri" pitchFamily="34" charset="-120"/>
              </a:rPr>
              <a:t>~50%</a:t>
            </a:r>
            <a:endParaRPr lang="en-US" sz="1200" dirty="0"/>
          </a:p>
        </p:txBody>
      </p:sp>
      <p:sp>
        <p:nvSpPr>
          <p:cNvPr id="10" name="Text 8"/>
          <p:cNvSpPr/>
          <p:nvPr/>
        </p:nvSpPr>
        <p:spPr>
          <a:xfrm>
            <a:off x="365760" y="2103120"/>
            <a:ext cx="3200400" cy="50292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Payroll Tax (SS + Medicare)</a:t>
            </a:r>
            <a:endParaRPr lang="en-US" sz="1300" dirty="0"/>
          </a:p>
        </p:txBody>
      </p:sp>
      <p:sp>
        <p:nvSpPr>
          <p:cNvPr id="11" name="Shape 9">
            <a:extLst>
              <a:ext uri="{C183D7F6-B498-43B3-948B-1728B52AA6E4}">
                <adec:decorative xmlns:adec="http://schemas.microsoft.com/office/drawing/2017/decorative" val="1"/>
              </a:ext>
            </a:extLst>
          </p:cNvPr>
          <p:cNvSpPr/>
          <p:nvPr/>
        </p:nvSpPr>
        <p:spPr>
          <a:xfrm>
            <a:off x="3703320" y="2194560"/>
            <a:ext cx="7132320" cy="320040"/>
          </a:xfrm>
          <a:prstGeom prst="rect">
            <a:avLst/>
          </a:prstGeom>
          <a:solidFill>
            <a:srgbClr val="DDE3EC"/>
          </a:solidFill>
          <a:ln w="12700">
            <a:solidFill>
              <a:srgbClr val="DDE3EC"/>
            </a:solidFill>
            <a:prstDash val="solid"/>
          </a:ln>
        </p:spPr>
        <p:txBody>
          <a:bodyPr/>
          <a:lstStyle/>
          <a:p>
            <a:endParaRPr lang="en-US"/>
          </a:p>
        </p:txBody>
      </p:sp>
      <p:sp>
        <p:nvSpPr>
          <p:cNvPr id="12" name="Shape 10">
            <a:extLst>
              <a:ext uri="{C183D7F6-B498-43B3-948B-1728B52AA6E4}">
                <adec:decorative xmlns:adec="http://schemas.microsoft.com/office/drawing/2017/decorative" val="1"/>
              </a:ext>
            </a:extLst>
          </p:cNvPr>
          <p:cNvSpPr/>
          <p:nvPr/>
        </p:nvSpPr>
        <p:spPr>
          <a:xfrm>
            <a:off x="3703320" y="2194560"/>
            <a:ext cx="2282342" cy="320040"/>
          </a:xfrm>
          <a:prstGeom prst="rect">
            <a:avLst/>
          </a:prstGeom>
          <a:solidFill>
            <a:srgbClr val="1B3A6B"/>
          </a:solidFill>
          <a:ln w="12700">
            <a:solidFill>
              <a:srgbClr val="1B3A6B"/>
            </a:solidFill>
            <a:prstDash val="solid"/>
          </a:ln>
        </p:spPr>
        <p:txBody>
          <a:bodyPr/>
          <a:lstStyle/>
          <a:p>
            <a:endParaRPr lang="en-US"/>
          </a:p>
        </p:txBody>
      </p:sp>
      <p:sp>
        <p:nvSpPr>
          <p:cNvPr id="13" name="Text 11"/>
          <p:cNvSpPr/>
          <p:nvPr/>
        </p:nvSpPr>
        <p:spPr>
          <a:xfrm>
            <a:off x="11064240" y="2103120"/>
            <a:ext cx="822960" cy="502920"/>
          </a:xfrm>
          <a:prstGeom prst="rect">
            <a:avLst/>
          </a:prstGeom>
          <a:noFill/>
          <a:ln/>
        </p:spPr>
        <p:txBody>
          <a:bodyPr wrap="square" rtlCol="0" anchor="ctr"/>
          <a:lstStyle/>
          <a:p>
            <a:pPr marL="0" indent="0" algn="l">
              <a:buNone/>
            </a:pPr>
            <a:r>
              <a:rPr lang="en-US" sz="1200" b="1" dirty="0">
                <a:solidFill>
                  <a:srgbClr val="1B3A6B"/>
                </a:solidFill>
                <a:latin typeface="Calibri" pitchFamily="34" charset="0"/>
                <a:ea typeface="Calibri" pitchFamily="34" charset="-122"/>
                <a:cs typeface="Calibri" pitchFamily="34" charset="-120"/>
              </a:rPr>
              <a:t>~32%</a:t>
            </a:r>
            <a:endParaRPr lang="en-US" sz="1200" dirty="0"/>
          </a:p>
        </p:txBody>
      </p:sp>
      <p:sp>
        <p:nvSpPr>
          <p:cNvPr id="14" name="Text 12"/>
          <p:cNvSpPr/>
          <p:nvPr/>
        </p:nvSpPr>
        <p:spPr>
          <a:xfrm>
            <a:off x="365760" y="2907792"/>
            <a:ext cx="3200400" cy="50292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Corporate Income Tax</a:t>
            </a:r>
            <a:endParaRPr lang="en-US" sz="1300" dirty="0"/>
          </a:p>
        </p:txBody>
      </p:sp>
      <p:sp>
        <p:nvSpPr>
          <p:cNvPr id="15" name="Shape 13">
            <a:extLst>
              <a:ext uri="{C183D7F6-B498-43B3-948B-1728B52AA6E4}">
                <adec:decorative xmlns:adec="http://schemas.microsoft.com/office/drawing/2017/decorative" val="1"/>
              </a:ext>
            </a:extLst>
          </p:cNvPr>
          <p:cNvSpPr/>
          <p:nvPr/>
        </p:nvSpPr>
        <p:spPr>
          <a:xfrm>
            <a:off x="3703320" y="2999232"/>
            <a:ext cx="7132320" cy="320040"/>
          </a:xfrm>
          <a:prstGeom prst="rect">
            <a:avLst/>
          </a:prstGeom>
          <a:solidFill>
            <a:srgbClr val="DDE3EC"/>
          </a:solidFill>
          <a:ln w="12700">
            <a:solidFill>
              <a:srgbClr val="DDE3EC"/>
            </a:solidFill>
            <a:prstDash val="solid"/>
          </a:ln>
        </p:spPr>
        <p:txBody>
          <a:bodyPr/>
          <a:lstStyle/>
          <a:p>
            <a:endParaRPr lang="en-US"/>
          </a:p>
        </p:txBody>
      </p:sp>
      <p:sp>
        <p:nvSpPr>
          <p:cNvPr id="16" name="Shape 14">
            <a:extLst>
              <a:ext uri="{C183D7F6-B498-43B3-948B-1728B52AA6E4}">
                <adec:decorative xmlns:adec="http://schemas.microsoft.com/office/drawing/2017/decorative" val="1"/>
              </a:ext>
            </a:extLst>
          </p:cNvPr>
          <p:cNvSpPr/>
          <p:nvPr/>
        </p:nvSpPr>
        <p:spPr>
          <a:xfrm>
            <a:off x="3703320" y="2999232"/>
            <a:ext cx="784555" cy="320040"/>
          </a:xfrm>
          <a:prstGeom prst="rect">
            <a:avLst/>
          </a:prstGeom>
          <a:solidFill>
            <a:srgbClr val="1B3A6B"/>
          </a:solidFill>
          <a:ln w="12700">
            <a:solidFill>
              <a:srgbClr val="1B3A6B"/>
            </a:solidFill>
            <a:prstDash val="solid"/>
          </a:ln>
        </p:spPr>
        <p:txBody>
          <a:bodyPr/>
          <a:lstStyle/>
          <a:p>
            <a:endParaRPr lang="en-US"/>
          </a:p>
        </p:txBody>
      </p:sp>
      <p:sp>
        <p:nvSpPr>
          <p:cNvPr id="17" name="Text 15"/>
          <p:cNvSpPr/>
          <p:nvPr/>
        </p:nvSpPr>
        <p:spPr>
          <a:xfrm>
            <a:off x="11064240" y="2907792"/>
            <a:ext cx="822960" cy="502920"/>
          </a:xfrm>
          <a:prstGeom prst="rect">
            <a:avLst/>
          </a:prstGeom>
          <a:noFill/>
          <a:ln/>
        </p:spPr>
        <p:txBody>
          <a:bodyPr wrap="square" rtlCol="0" anchor="ctr"/>
          <a:lstStyle/>
          <a:p>
            <a:pPr marL="0" indent="0" algn="l">
              <a:buNone/>
            </a:pPr>
            <a:r>
              <a:rPr lang="en-US" sz="1200" b="1" dirty="0">
                <a:solidFill>
                  <a:srgbClr val="1B3A6B"/>
                </a:solidFill>
                <a:latin typeface="Calibri" pitchFamily="34" charset="0"/>
                <a:ea typeface="Calibri" pitchFamily="34" charset="-122"/>
                <a:cs typeface="Calibri" pitchFamily="34" charset="-120"/>
              </a:rPr>
              <a:t>~11%</a:t>
            </a:r>
            <a:endParaRPr lang="en-US" sz="1200" dirty="0"/>
          </a:p>
        </p:txBody>
      </p:sp>
      <p:sp>
        <p:nvSpPr>
          <p:cNvPr id="18" name="Text 16"/>
          <p:cNvSpPr/>
          <p:nvPr/>
        </p:nvSpPr>
        <p:spPr>
          <a:xfrm>
            <a:off x="365760" y="3712464"/>
            <a:ext cx="3200400" cy="50292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Excise Taxes</a:t>
            </a:r>
            <a:endParaRPr lang="en-US" sz="1300" dirty="0"/>
          </a:p>
        </p:txBody>
      </p:sp>
      <p:sp>
        <p:nvSpPr>
          <p:cNvPr id="19" name="Shape 17">
            <a:extLst>
              <a:ext uri="{C183D7F6-B498-43B3-948B-1728B52AA6E4}">
                <adec:decorative xmlns:adec="http://schemas.microsoft.com/office/drawing/2017/decorative" val="1"/>
              </a:ext>
            </a:extLst>
          </p:cNvPr>
          <p:cNvSpPr/>
          <p:nvPr/>
        </p:nvSpPr>
        <p:spPr>
          <a:xfrm>
            <a:off x="3703320" y="3803904"/>
            <a:ext cx="7132320" cy="320040"/>
          </a:xfrm>
          <a:prstGeom prst="rect">
            <a:avLst/>
          </a:prstGeom>
          <a:solidFill>
            <a:srgbClr val="DDE3EC"/>
          </a:solidFill>
          <a:ln w="12700">
            <a:solidFill>
              <a:srgbClr val="DDE3EC"/>
            </a:solidFill>
            <a:prstDash val="solid"/>
          </a:ln>
        </p:spPr>
        <p:txBody>
          <a:bodyPr/>
          <a:lstStyle/>
          <a:p>
            <a:endParaRPr lang="en-US"/>
          </a:p>
        </p:txBody>
      </p:sp>
      <p:sp>
        <p:nvSpPr>
          <p:cNvPr id="20" name="Shape 18">
            <a:extLst>
              <a:ext uri="{C183D7F6-B498-43B3-948B-1728B52AA6E4}">
                <adec:decorative xmlns:adec="http://schemas.microsoft.com/office/drawing/2017/decorative" val="1"/>
              </a:ext>
            </a:extLst>
          </p:cNvPr>
          <p:cNvSpPr/>
          <p:nvPr/>
        </p:nvSpPr>
        <p:spPr>
          <a:xfrm>
            <a:off x="3703320" y="3803904"/>
            <a:ext cx="213970" cy="320040"/>
          </a:xfrm>
          <a:prstGeom prst="rect">
            <a:avLst/>
          </a:prstGeom>
          <a:solidFill>
            <a:srgbClr val="1B3A6B"/>
          </a:solidFill>
          <a:ln w="12700">
            <a:solidFill>
              <a:srgbClr val="1B3A6B"/>
            </a:solidFill>
            <a:prstDash val="solid"/>
          </a:ln>
        </p:spPr>
        <p:txBody>
          <a:bodyPr/>
          <a:lstStyle/>
          <a:p>
            <a:endParaRPr lang="en-US"/>
          </a:p>
        </p:txBody>
      </p:sp>
      <p:sp>
        <p:nvSpPr>
          <p:cNvPr id="21" name="Text 19"/>
          <p:cNvSpPr/>
          <p:nvPr/>
        </p:nvSpPr>
        <p:spPr>
          <a:xfrm>
            <a:off x="11064240" y="3712464"/>
            <a:ext cx="822960" cy="502920"/>
          </a:xfrm>
          <a:prstGeom prst="rect">
            <a:avLst/>
          </a:prstGeom>
          <a:noFill/>
          <a:ln/>
        </p:spPr>
        <p:txBody>
          <a:bodyPr wrap="square" rtlCol="0" anchor="ctr"/>
          <a:lstStyle/>
          <a:p>
            <a:pPr marL="0" indent="0" algn="l">
              <a:buNone/>
            </a:pPr>
            <a:r>
              <a:rPr lang="en-US" sz="1200" b="1" dirty="0">
                <a:solidFill>
                  <a:srgbClr val="1B3A6B"/>
                </a:solidFill>
                <a:latin typeface="Calibri" pitchFamily="34" charset="0"/>
                <a:ea typeface="Calibri" pitchFamily="34" charset="-122"/>
                <a:cs typeface="Calibri" pitchFamily="34" charset="-120"/>
              </a:rPr>
              <a:t>~3%</a:t>
            </a:r>
            <a:endParaRPr lang="en-US" sz="1200" dirty="0"/>
          </a:p>
        </p:txBody>
      </p:sp>
      <p:sp>
        <p:nvSpPr>
          <p:cNvPr id="22" name="Text 20"/>
          <p:cNvSpPr/>
          <p:nvPr/>
        </p:nvSpPr>
        <p:spPr>
          <a:xfrm>
            <a:off x="365760" y="4517136"/>
            <a:ext cx="3200400" cy="50292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Estate &amp; Other</a:t>
            </a:r>
            <a:endParaRPr lang="en-US" sz="1300" dirty="0"/>
          </a:p>
        </p:txBody>
      </p:sp>
      <p:sp>
        <p:nvSpPr>
          <p:cNvPr id="23" name="Shape 21">
            <a:extLst>
              <a:ext uri="{C183D7F6-B498-43B3-948B-1728B52AA6E4}">
                <adec:decorative xmlns:adec="http://schemas.microsoft.com/office/drawing/2017/decorative" val="1"/>
              </a:ext>
            </a:extLst>
          </p:cNvPr>
          <p:cNvSpPr/>
          <p:nvPr/>
        </p:nvSpPr>
        <p:spPr>
          <a:xfrm>
            <a:off x="3703320" y="4608576"/>
            <a:ext cx="7132320" cy="320040"/>
          </a:xfrm>
          <a:prstGeom prst="rect">
            <a:avLst/>
          </a:prstGeom>
          <a:solidFill>
            <a:srgbClr val="DDE3EC"/>
          </a:solidFill>
          <a:ln w="12700">
            <a:solidFill>
              <a:srgbClr val="DDE3EC"/>
            </a:solidFill>
            <a:prstDash val="solid"/>
          </a:ln>
        </p:spPr>
        <p:txBody>
          <a:bodyPr/>
          <a:lstStyle/>
          <a:p>
            <a:endParaRPr lang="en-US"/>
          </a:p>
        </p:txBody>
      </p:sp>
      <p:sp>
        <p:nvSpPr>
          <p:cNvPr id="24" name="Shape 22">
            <a:extLst>
              <a:ext uri="{C183D7F6-B498-43B3-948B-1728B52AA6E4}">
                <adec:decorative xmlns:adec="http://schemas.microsoft.com/office/drawing/2017/decorative" val="1"/>
              </a:ext>
            </a:extLst>
          </p:cNvPr>
          <p:cNvSpPr/>
          <p:nvPr/>
        </p:nvSpPr>
        <p:spPr>
          <a:xfrm>
            <a:off x="3703320" y="4608576"/>
            <a:ext cx="142646" cy="320040"/>
          </a:xfrm>
          <a:prstGeom prst="rect">
            <a:avLst/>
          </a:prstGeom>
          <a:solidFill>
            <a:srgbClr val="1B3A6B"/>
          </a:solidFill>
          <a:ln w="12700">
            <a:solidFill>
              <a:srgbClr val="1B3A6B"/>
            </a:solidFill>
            <a:prstDash val="solid"/>
          </a:ln>
        </p:spPr>
        <p:txBody>
          <a:bodyPr/>
          <a:lstStyle/>
          <a:p>
            <a:endParaRPr lang="en-US"/>
          </a:p>
        </p:txBody>
      </p:sp>
      <p:sp>
        <p:nvSpPr>
          <p:cNvPr id="25" name="Text 23"/>
          <p:cNvSpPr/>
          <p:nvPr/>
        </p:nvSpPr>
        <p:spPr>
          <a:xfrm>
            <a:off x="11064240" y="4517136"/>
            <a:ext cx="822960" cy="502920"/>
          </a:xfrm>
          <a:prstGeom prst="rect">
            <a:avLst/>
          </a:prstGeom>
          <a:noFill/>
          <a:ln/>
        </p:spPr>
        <p:txBody>
          <a:bodyPr wrap="square" rtlCol="0" anchor="ctr"/>
          <a:lstStyle/>
          <a:p>
            <a:pPr marL="0" indent="0" algn="l">
              <a:buNone/>
            </a:pPr>
            <a:r>
              <a:rPr lang="en-US" sz="1200" b="1" dirty="0">
                <a:solidFill>
                  <a:srgbClr val="1B3A6B"/>
                </a:solidFill>
                <a:latin typeface="Calibri" pitchFamily="34" charset="0"/>
                <a:ea typeface="Calibri" pitchFamily="34" charset="-122"/>
                <a:cs typeface="Calibri" pitchFamily="34" charset="-120"/>
              </a:rPr>
              <a:t>~2%</a:t>
            </a:r>
            <a:endParaRPr lang="en-US" sz="1200" dirty="0"/>
          </a:p>
        </p:txBody>
      </p:sp>
      <p:sp>
        <p:nvSpPr>
          <p:cNvPr id="26" name="Shape 24">
            <a:extLst>
              <a:ext uri="{C183D7F6-B498-43B3-948B-1728B52AA6E4}">
                <adec:decorative xmlns:adec="http://schemas.microsoft.com/office/drawing/2017/decorative" val="1"/>
              </a:ext>
            </a:extLst>
          </p:cNvPr>
          <p:cNvSpPr/>
          <p:nvPr/>
        </p:nvSpPr>
        <p:spPr>
          <a:xfrm>
            <a:off x="365760" y="5321808"/>
            <a:ext cx="5394960" cy="685800"/>
          </a:xfrm>
          <a:prstGeom prst="rect">
            <a:avLst/>
          </a:prstGeom>
          <a:solidFill>
            <a:srgbClr val="D6E4F0"/>
          </a:solidFill>
          <a:ln w="12700">
            <a:solidFill>
              <a:srgbClr val="D6E4F0"/>
            </a:solidFill>
            <a:prstDash val="solid"/>
          </a:ln>
        </p:spPr>
        <p:txBody>
          <a:bodyPr/>
          <a:lstStyle/>
          <a:p>
            <a:endParaRPr lang="en-US"/>
          </a:p>
        </p:txBody>
      </p:sp>
      <p:sp>
        <p:nvSpPr>
          <p:cNvPr id="27" name="Text 25"/>
          <p:cNvSpPr/>
          <p:nvPr/>
        </p:nvSpPr>
        <p:spPr>
          <a:xfrm>
            <a:off x="365760" y="5321808"/>
            <a:ext cx="5394960" cy="685800"/>
          </a:xfrm>
          <a:prstGeom prst="rect">
            <a:avLst/>
          </a:prstGeom>
          <a:noFill/>
          <a:ln/>
        </p:spPr>
        <p:txBody>
          <a:bodyPr wrap="square" rtlCol="0" anchor="ctr"/>
          <a:lstStyle/>
          <a:p>
            <a:pPr marL="0" indent="0" algn="ctr">
              <a:buNone/>
            </a:pPr>
            <a:r>
              <a:rPr lang="en-US" sz="1300" b="1" dirty="0">
                <a:solidFill>
                  <a:srgbClr val="1B3A6B"/>
                </a:solidFill>
                <a:latin typeface="Calibri" pitchFamily="34" charset="0"/>
                <a:ea typeface="Calibri" pitchFamily="34" charset="-122"/>
                <a:cs typeface="Calibri" pitchFamily="34" charset="-120"/>
              </a:rPr>
              <a:t>Personal income + payroll taxes = 85%+ of all federal revenue</a:t>
            </a:r>
            <a:endParaRPr lang="en-US" sz="1300" dirty="0"/>
          </a:p>
        </p:txBody>
      </p:sp>
      <p:sp>
        <p:nvSpPr>
          <p:cNvPr id="28" name="Shape 26">
            <a:extLst>
              <a:ext uri="{C183D7F6-B498-43B3-948B-1728B52AA6E4}">
                <adec:decorative xmlns:adec="http://schemas.microsoft.com/office/drawing/2017/decorative" val="1"/>
              </a:ext>
            </a:extLst>
          </p:cNvPr>
          <p:cNvSpPr/>
          <p:nvPr/>
        </p:nvSpPr>
        <p:spPr>
          <a:xfrm>
            <a:off x="6400800" y="5321808"/>
            <a:ext cx="5394960" cy="685800"/>
          </a:xfrm>
          <a:prstGeom prst="rect">
            <a:avLst/>
          </a:prstGeom>
          <a:solidFill>
            <a:srgbClr val="D6E4F0"/>
          </a:solidFill>
          <a:ln w="12700">
            <a:solidFill>
              <a:srgbClr val="D6E4F0"/>
            </a:solidFill>
            <a:prstDash val="solid"/>
          </a:ln>
        </p:spPr>
        <p:txBody>
          <a:bodyPr/>
          <a:lstStyle/>
          <a:p>
            <a:endParaRPr lang="en-US"/>
          </a:p>
        </p:txBody>
      </p:sp>
      <p:sp>
        <p:nvSpPr>
          <p:cNvPr id="29" name="Text 27"/>
          <p:cNvSpPr/>
          <p:nvPr/>
        </p:nvSpPr>
        <p:spPr>
          <a:xfrm>
            <a:off x="6400800" y="5321808"/>
            <a:ext cx="5394960" cy="685800"/>
          </a:xfrm>
          <a:prstGeom prst="rect">
            <a:avLst/>
          </a:prstGeom>
          <a:noFill/>
          <a:ln/>
        </p:spPr>
        <p:txBody>
          <a:bodyPr wrap="square" rtlCol="0" anchor="ctr"/>
          <a:lstStyle/>
          <a:p>
            <a:pPr marL="0" indent="0" algn="ctr">
              <a:buNone/>
            </a:pPr>
            <a:r>
              <a:rPr lang="en-US" sz="1300" b="1" dirty="0">
                <a:solidFill>
                  <a:srgbClr val="1B3A6B"/>
                </a:solidFill>
                <a:latin typeface="Calibri" pitchFamily="34" charset="0"/>
                <a:ea typeface="Calibri" pitchFamily="34" charset="-122"/>
                <a:cs typeface="Calibri" pitchFamily="34" charset="-120"/>
              </a:rPr>
              <a:t>3 out of 4 households pay MORE in payroll taxes than income taxes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Types of Tax Systems</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365760" y="960120"/>
            <a:ext cx="3749040" cy="5029200"/>
          </a:xfrm>
          <a:prstGeom prst="rect">
            <a:avLst/>
          </a:prstGeom>
          <a:solidFill>
            <a:srgbClr val="D6E4F0"/>
          </a:solidFill>
          <a:ln w="12700">
            <a:solidFill>
              <a:srgbClr val="D6E4F0"/>
            </a:solidFill>
            <a:prstDash val="solid"/>
          </a:ln>
        </p:spPr>
        <p:txBody>
          <a:bodyPr/>
          <a:lstStyle/>
          <a:p>
            <a:endParaRPr lang="en-US"/>
          </a:p>
        </p:txBody>
      </p:sp>
      <p:sp>
        <p:nvSpPr>
          <p:cNvPr id="4" name="Text 2"/>
          <p:cNvSpPr/>
          <p:nvPr/>
        </p:nvSpPr>
        <p:spPr>
          <a:xfrm>
            <a:off x="502920" y="1051560"/>
            <a:ext cx="3474720" cy="411480"/>
          </a:xfrm>
          <a:prstGeom prst="rect">
            <a:avLst/>
          </a:prstGeom>
          <a:noFill/>
          <a:ln/>
        </p:spPr>
        <p:txBody>
          <a:bodyPr wrap="square" rtlCol="0" anchor="ctr"/>
          <a:lstStyle/>
          <a:p>
            <a:pPr marL="0" indent="0">
              <a:buNone/>
            </a:pPr>
            <a:r>
              <a:rPr lang="en-US" sz="1600" b="1" dirty="0">
                <a:solidFill>
                  <a:srgbClr val="1B3A6B"/>
                </a:solidFill>
                <a:latin typeface="Calibri" pitchFamily="34" charset="0"/>
                <a:ea typeface="Calibri" pitchFamily="34" charset="-122"/>
                <a:cs typeface="Calibri" pitchFamily="34" charset="-120"/>
              </a:rPr>
              <a:t>PROGRESSIVE</a:t>
            </a:r>
            <a:endParaRPr lang="en-US" sz="1600" dirty="0"/>
          </a:p>
        </p:txBody>
      </p:sp>
      <p:sp>
        <p:nvSpPr>
          <p:cNvPr id="5" name="Text 3"/>
          <p:cNvSpPr/>
          <p:nvPr/>
        </p:nvSpPr>
        <p:spPr>
          <a:xfrm>
            <a:off x="502920" y="1554480"/>
            <a:ext cx="3474720" cy="4297680"/>
          </a:xfrm>
          <a:prstGeom prst="rect">
            <a:avLst/>
          </a:prstGeom>
          <a:noFill/>
          <a:ln/>
        </p:spPr>
        <p:txBody>
          <a:bodyPr wrap="square" rtlCol="0" anchor="t"/>
          <a:lstStyle/>
          <a:p>
            <a:pPr marL="0" indent="0">
              <a:buNone/>
            </a:pPr>
            <a:r>
              <a:rPr lang="en-US" sz="1300" dirty="0">
                <a:solidFill>
                  <a:srgbClr val="1A1A2E"/>
                </a:solidFill>
                <a:latin typeface="Calibri" pitchFamily="34" charset="0"/>
                <a:ea typeface="Calibri" pitchFamily="34" charset="-122"/>
                <a:cs typeface="Calibri" pitchFamily="34" charset="-120"/>
              </a:rPr>
              <a:t>Tax rate rises with income</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Example: Federal income tax (10%–37%)</a:t>
            </a:r>
            <a:endParaRPr lang="en-US" sz="1300" dirty="0"/>
          </a:p>
          <a:p>
            <a:pPr marL="0" indent="0">
              <a:buNone/>
            </a:pP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Analogy: "Steeper stairs for higher earners — each level costs more"</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4297680" y="960120"/>
            <a:ext cx="3749040" cy="5029200"/>
          </a:xfrm>
          <a:prstGeom prst="rect">
            <a:avLst/>
          </a:prstGeom>
          <a:solidFill>
            <a:srgbClr val="E8ECF0"/>
          </a:solidFill>
          <a:ln w="12700">
            <a:solidFill>
              <a:srgbClr val="E8ECF0"/>
            </a:solidFill>
            <a:prstDash val="solid"/>
          </a:ln>
        </p:spPr>
        <p:txBody>
          <a:bodyPr/>
          <a:lstStyle/>
          <a:p>
            <a:endParaRPr lang="en-US"/>
          </a:p>
        </p:txBody>
      </p:sp>
      <p:sp>
        <p:nvSpPr>
          <p:cNvPr id="7" name="Text 5"/>
          <p:cNvSpPr/>
          <p:nvPr/>
        </p:nvSpPr>
        <p:spPr>
          <a:xfrm>
            <a:off x="4434840" y="1051560"/>
            <a:ext cx="3474720" cy="411480"/>
          </a:xfrm>
          <a:prstGeom prst="rect">
            <a:avLst/>
          </a:prstGeom>
          <a:noFill/>
          <a:ln/>
        </p:spPr>
        <p:txBody>
          <a:bodyPr wrap="square" rtlCol="0" anchor="ctr"/>
          <a:lstStyle/>
          <a:p>
            <a:pPr marL="0" indent="0">
              <a:buNone/>
            </a:pPr>
            <a:r>
              <a:rPr lang="en-US" sz="1600" b="1" dirty="0">
                <a:solidFill>
                  <a:srgbClr val="1B3A6B"/>
                </a:solidFill>
                <a:latin typeface="Calibri" pitchFamily="34" charset="0"/>
                <a:ea typeface="Calibri" pitchFamily="34" charset="-122"/>
                <a:cs typeface="Calibri" pitchFamily="34" charset="-120"/>
              </a:rPr>
              <a:t>PROPORTIONAL</a:t>
            </a:r>
            <a:endParaRPr lang="en-US" sz="1600" dirty="0"/>
          </a:p>
        </p:txBody>
      </p:sp>
      <p:sp>
        <p:nvSpPr>
          <p:cNvPr id="8" name="Text 6"/>
          <p:cNvSpPr/>
          <p:nvPr/>
        </p:nvSpPr>
        <p:spPr>
          <a:xfrm>
            <a:off x="4434840" y="1554480"/>
            <a:ext cx="3474720" cy="4297680"/>
          </a:xfrm>
          <a:prstGeom prst="rect">
            <a:avLst/>
          </a:prstGeom>
          <a:noFill/>
          <a:ln/>
        </p:spPr>
        <p:txBody>
          <a:bodyPr wrap="square" rtlCol="0" anchor="t"/>
          <a:lstStyle/>
          <a:p>
            <a:pPr marL="0" indent="0">
              <a:buNone/>
            </a:pPr>
            <a:r>
              <a:rPr lang="en-US" sz="1300" dirty="0">
                <a:solidFill>
                  <a:srgbClr val="1A1A2E"/>
                </a:solidFill>
                <a:latin typeface="Calibri" pitchFamily="34" charset="0"/>
                <a:ea typeface="Calibri" pitchFamily="34" charset="-122"/>
                <a:cs typeface="Calibri" pitchFamily="34" charset="-120"/>
              </a:rPr>
              <a:t>Same % rate for all income levels</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Example: Medicare payroll tax (2.9%, no ceiling)</a:t>
            </a:r>
            <a:endParaRPr lang="en-US" sz="1300" dirty="0"/>
          </a:p>
          <a:p>
            <a:pPr marL="0" indent="0">
              <a:buNone/>
            </a:pP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Analogy: "Everyone pays the same share regardless of earnings"</a:t>
            </a:r>
            <a:endParaRPr lang="en-US" sz="1300" dirty="0"/>
          </a:p>
        </p:txBody>
      </p:sp>
      <p:sp>
        <p:nvSpPr>
          <p:cNvPr id="9" name="Shape 7">
            <a:extLst>
              <a:ext uri="{C183D7F6-B498-43B3-948B-1728B52AA6E4}">
                <adec:decorative xmlns:adec="http://schemas.microsoft.com/office/drawing/2017/decorative" val="1"/>
              </a:ext>
            </a:extLst>
          </p:cNvPr>
          <p:cNvSpPr/>
          <p:nvPr/>
        </p:nvSpPr>
        <p:spPr>
          <a:xfrm>
            <a:off x="8229600" y="960120"/>
            <a:ext cx="3749040" cy="5029200"/>
          </a:xfrm>
          <a:prstGeom prst="rect">
            <a:avLst/>
          </a:prstGeom>
          <a:solidFill>
            <a:srgbClr val="D6E4F0"/>
          </a:solidFill>
          <a:ln w="12700">
            <a:solidFill>
              <a:srgbClr val="D6E4F0"/>
            </a:solidFill>
            <a:prstDash val="solid"/>
          </a:ln>
        </p:spPr>
        <p:txBody>
          <a:bodyPr/>
          <a:lstStyle/>
          <a:p>
            <a:endParaRPr lang="en-US"/>
          </a:p>
        </p:txBody>
      </p:sp>
      <p:sp>
        <p:nvSpPr>
          <p:cNvPr id="10" name="Text 8"/>
          <p:cNvSpPr/>
          <p:nvPr/>
        </p:nvSpPr>
        <p:spPr>
          <a:xfrm>
            <a:off x="8366760" y="1051560"/>
            <a:ext cx="3474720" cy="411480"/>
          </a:xfrm>
          <a:prstGeom prst="rect">
            <a:avLst/>
          </a:prstGeom>
          <a:noFill/>
          <a:ln/>
        </p:spPr>
        <p:txBody>
          <a:bodyPr wrap="square" rtlCol="0" anchor="ctr"/>
          <a:lstStyle/>
          <a:p>
            <a:pPr marL="0" indent="0">
              <a:buNone/>
            </a:pPr>
            <a:r>
              <a:rPr lang="en-US" sz="1600" b="1" dirty="0">
                <a:solidFill>
                  <a:srgbClr val="1B3A6B"/>
                </a:solidFill>
                <a:latin typeface="Calibri" pitchFamily="34" charset="0"/>
                <a:ea typeface="Calibri" pitchFamily="34" charset="-122"/>
                <a:cs typeface="Calibri" pitchFamily="34" charset="-120"/>
              </a:rPr>
              <a:t>REGRESSIVE</a:t>
            </a:r>
            <a:endParaRPr lang="en-US" sz="1600" dirty="0"/>
          </a:p>
        </p:txBody>
      </p:sp>
      <p:sp>
        <p:nvSpPr>
          <p:cNvPr id="11" name="Text 9"/>
          <p:cNvSpPr/>
          <p:nvPr/>
        </p:nvSpPr>
        <p:spPr>
          <a:xfrm>
            <a:off x="8366760" y="1554480"/>
            <a:ext cx="3474720" cy="4297680"/>
          </a:xfrm>
          <a:prstGeom prst="rect">
            <a:avLst/>
          </a:prstGeom>
          <a:noFill/>
          <a:ln/>
        </p:spPr>
        <p:txBody>
          <a:bodyPr wrap="square" rtlCol="0" anchor="t"/>
          <a:lstStyle/>
          <a:p>
            <a:pPr marL="0" indent="0">
              <a:buNone/>
            </a:pPr>
            <a:r>
              <a:rPr lang="en-US" sz="1300" dirty="0">
                <a:solidFill>
                  <a:srgbClr val="1A1A2E"/>
                </a:solidFill>
                <a:latin typeface="Calibri" pitchFamily="34" charset="0"/>
                <a:ea typeface="Calibri" pitchFamily="34" charset="-122"/>
                <a:cs typeface="Calibri" pitchFamily="34" charset="-120"/>
              </a:rPr>
              <a:t>Higher earners pay a lower % of income</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Example: Social Security payroll tax (taxed only on first ~$160K; above that, rate effectively falls)</a:t>
            </a:r>
            <a:endParaRPr lang="en-US" sz="1300" dirty="0"/>
          </a:p>
          <a:p>
            <a:pPr marL="0" indent="0">
              <a:buNone/>
            </a:pP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Analogy: "A flat sales tax takes a larger bite out of a lower-income budget"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Marginal vs. Average Tax Rate</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457200" y="960120"/>
            <a:ext cx="5303520" cy="1051560"/>
          </a:xfrm>
          <a:prstGeom prst="rect">
            <a:avLst/>
          </a:prstGeom>
          <a:solidFill>
            <a:srgbClr val="D6E4F0"/>
          </a:solidFill>
          <a:ln w="12700">
            <a:solidFill>
              <a:srgbClr val="D6E4F0"/>
            </a:solidFill>
            <a:prstDash val="solid"/>
          </a:ln>
        </p:spPr>
        <p:txBody>
          <a:bodyPr/>
          <a:lstStyle/>
          <a:p>
            <a:endParaRPr lang="en-US"/>
          </a:p>
        </p:txBody>
      </p:sp>
      <p:sp>
        <p:nvSpPr>
          <p:cNvPr id="4" name="Text 2"/>
          <p:cNvSpPr/>
          <p:nvPr/>
        </p:nvSpPr>
        <p:spPr>
          <a:xfrm>
            <a:off x="530352" y="978408"/>
            <a:ext cx="5166360" cy="100584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Marginal Tax Rate: </a:t>
            </a:r>
            <a:r>
              <a:rPr lang="en-US" sz="1300" dirty="0">
                <a:solidFill>
                  <a:srgbClr val="1A1A2E"/>
                </a:solidFill>
                <a:latin typeface="Calibri" pitchFamily="34" charset="0"/>
                <a:ea typeface="Calibri" pitchFamily="34" charset="-122"/>
                <a:cs typeface="Calibri" pitchFamily="34" charset="-120"/>
              </a:rPr>
              <a:t>The tax rate on one additional dollar of income — the rate on your 'next dollar earned'</a:t>
            </a:r>
            <a:endParaRPr lang="en-US" sz="1300" dirty="0"/>
          </a:p>
        </p:txBody>
      </p:sp>
      <p:sp>
        <p:nvSpPr>
          <p:cNvPr id="5" name="Shape 3">
            <a:extLst>
              <a:ext uri="{C183D7F6-B498-43B3-948B-1728B52AA6E4}">
                <adec:decorative xmlns:adec="http://schemas.microsoft.com/office/drawing/2017/decorative" val="1"/>
              </a:ext>
            </a:extLst>
          </p:cNvPr>
          <p:cNvSpPr/>
          <p:nvPr/>
        </p:nvSpPr>
        <p:spPr>
          <a:xfrm>
            <a:off x="457200" y="2103120"/>
            <a:ext cx="5303520" cy="1051560"/>
          </a:xfrm>
          <a:prstGeom prst="rect">
            <a:avLst/>
          </a:prstGeom>
          <a:solidFill>
            <a:srgbClr val="E8ECF0"/>
          </a:solidFill>
          <a:ln w="12700">
            <a:solidFill>
              <a:srgbClr val="E8ECF0"/>
            </a:solidFill>
            <a:prstDash val="solid"/>
          </a:ln>
        </p:spPr>
        <p:txBody>
          <a:bodyPr/>
          <a:lstStyle/>
          <a:p>
            <a:endParaRPr lang="en-US"/>
          </a:p>
        </p:txBody>
      </p:sp>
      <p:sp>
        <p:nvSpPr>
          <p:cNvPr id="6" name="Text 4"/>
          <p:cNvSpPr/>
          <p:nvPr/>
        </p:nvSpPr>
        <p:spPr>
          <a:xfrm>
            <a:off x="530352" y="2121408"/>
            <a:ext cx="5166360" cy="100584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Average Tax Rate: </a:t>
            </a:r>
            <a:r>
              <a:rPr lang="en-US" sz="1300" dirty="0">
                <a:solidFill>
                  <a:srgbClr val="1A1A2E"/>
                </a:solidFill>
                <a:latin typeface="Calibri" pitchFamily="34" charset="0"/>
                <a:ea typeface="Calibri" pitchFamily="34" charset="-122"/>
                <a:cs typeface="Calibri" pitchFamily="34" charset="-120"/>
              </a:rPr>
              <a:t>Total taxes paid ÷ total income (your effective rate)</a:t>
            </a:r>
            <a:endParaRPr lang="en-US" sz="1300" dirty="0"/>
          </a:p>
        </p:txBody>
      </p:sp>
      <p:sp>
        <p:nvSpPr>
          <p:cNvPr id="7" name="Text 5"/>
          <p:cNvSpPr/>
          <p:nvPr/>
        </p:nvSpPr>
        <p:spPr>
          <a:xfrm>
            <a:off x="457200" y="3273552"/>
            <a:ext cx="5303520" cy="59436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Key insight: </a:t>
            </a:r>
            <a:r>
              <a:rPr lang="en-US" sz="1300" dirty="0">
                <a:solidFill>
                  <a:srgbClr val="1A1A2E"/>
                </a:solidFill>
                <a:latin typeface="Calibri" pitchFamily="34" charset="0"/>
                <a:ea typeface="Calibri" pitchFamily="34" charset="-122"/>
                <a:cs typeface="Calibri" pitchFamily="34" charset="-120"/>
              </a:rPr>
              <a:t>In a progressive system, your marginal rate is always higher than your average rate</a:t>
            </a:r>
            <a:endParaRPr lang="en-US" sz="1300" dirty="0"/>
          </a:p>
        </p:txBody>
      </p:sp>
      <p:sp>
        <p:nvSpPr>
          <p:cNvPr id="8" name="Text 6"/>
          <p:cNvSpPr/>
          <p:nvPr/>
        </p:nvSpPr>
        <p:spPr>
          <a:xfrm>
            <a:off x="6400800" y="960120"/>
            <a:ext cx="5303520" cy="347472"/>
          </a:xfrm>
          <a:prstGeom prst="rect">
            <a:avLst/>
          </a:prstGeom>
          <a:noFill/>
          <a:ln/>
        </p:spPr>
        <p:txBody>
          <a:bodyPr wrap="square" rtlCol="0" anchor="ctr"/>
          <a:lstStyle/>
          <a:p>
            <a:pPr marL="0" indent="0" algn="ctr">
              <a:buNone/>
            </a:pPr>
            <a:r>
              <a:rPr lang="en-US" sz="1400" b="1" dirty="0">
                <a:solidFill>
                  <a:srgbClr val="1B3A6B"/>
                </a:solidFill>
                <a:latin typeface="Calibri" pitchFamily="34" charset="0"/>
                <a:ea typeface="Calibri" pitchFamily="34" charset="-122"/>
                <a:cs typeface="Calibri" pitchFamily="34" charset="-120"/>
              </a:rPr>
              <a:t>Single Filer, $60,000 Income (2025)</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400800" y="1371600"/>
            <a:ext cx="5303520" cy="457200"/>
          </a:xfrm>
          <a:prstGeom prst="rect">
            <a:avLst/>
          </a:prstGeom>
          <a:solidFill>
            <a:srgbClr val="1B3A6B"/>
          </a:solidFill>
          <a:ln w="12700">
            <a:solidFill>
              <a:srgbClr val="CCCCCC"/>
            </a:solidFill>
            <a:prstDash val="solid"/>
          </a:ln>
        </p:spPr>
        <p:txBody>
          <a:bodyPr/>
          <a:lstStyle/>
          <a:p>
            <a:endParaRPr lang="en-US"/>
          </a:p>
        </p:txBody>
      </p:sp>
      <p:sp>
        <p:nvSpPr>
          <p:cNvPr id="10" name="Text 8"/>
          <p:cNvSpPr/>
          <p:nvPr/>
        </p:nvSpPr>
        <p:spPr>
          <a:xfrm>
            <a:off x="6400800" y="1371600"/>
            <a:ext cx="1764792"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Income Range</a:t>
            </a:r>
            <a:endParaRPr lang="en-US" sz="1300" dirty="0"/>
          </a:p>
        </p:txBody>
      </p:sp>
      <p:sp>
        <p:nvSpPr>
          <p:cNvPr id="11" name="Text 9"/>
          <p:cNvSpPr/>
          <p:nvPr/>
        </p:nvSpPr>
        <p:spPr>
          <a:xfrm>
            <a:off x="8165592" y="1371600"/>
            <a:ext cx="1764792"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Rate</a:t>
            </a:r>
            <a:endParaRPr lang="en-US" sz="1300" dirty="0"/>
          </a:p>
        </p:txBody>
      </p:sp>
      <p:sp>
        <p:nvSpPr>
          <p:cNvPr id="12" name="Text 10"/>
          <p:cNvSpPr/>
          <p:nvPr/>
        </p:nvSpPr>
        <p:spPr>
          <a:xfrm>
            <a:off x="9930384" y="1371600"/>
            <a:ext cx="1764792"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Tax Owed</a:t>
            </a:r>
            <a:endParaRPr lang="en-US" sz="1300" dirty="0"/>
          </a:p>
        </p:txBody>
      </p:sp>
      <p:sp>
        <p:nvSpPr>
          <p:cNvPr id="13" name="Shape 11">
            <a:extLst>
              <a:ext uri="{C183D7F6-B498-43B3-948B-1728B52AA6E4}">
                <adec:decorative xmlns:adec="http://schemas.microsoft.com/office/drawing/2017/decorative" val="1"/>
              </a:ext>
            </a:extLst>
          </p:cNvPr>
          <p:cNvSpPr/>
          <p:nvPr/>
        </p:nvSpPr>
        <p:spPr>
          <a:xfrm>
            <a:off x="6400800" y="1847088"/>
            <a:ext cx="5303520" cy="457200"/>
          </a:xfrm>
          <a:prstGeom prst="rect">
            <a:avLst/>
          </a:prstGeom>
          <a:solidFill>
            <a:srgbClr val="E8ECF0"/>
          </a:solidFill>
          <a:ln w="12700">
            <a:solidFill>
              <a:srgbClr val="CCCCCC"/>
            </a:solidFill>
            <a:prstDash val="solid"/>
          </a:ln>
        </p:spPr>
        <p:txBody>
          <a:bodyPr/>
          <a:lstStyle/>
          <a:p>
            <a:endParaRPr lang="en-US"/>
          </a:p>
        </p:txBody>
      </p:sp>
      <p:sp>
        <p:nvSpPr>
          <p:cNvPr id="14" name="Text 12"/>
          <p:cNvSpPr/>
          <p:nvPr/>
        </p:nvSpPr>
        <p:spPr>
          <a:xfrm>
            <a:off x="6400800" y="1847088"/>
            <a:ext cx="1764792" cy="45720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$0–$11,925</a:t>
            </a:r>
            <a:endParaRPr lang="en-US" sz="1300" dirty="0"/>
          </a:p>
        </p:txBody>
      </p:sp>
      <p:sp>
        <p:nvSpPr>
          <p:cNvPr id="15" name="Text 13"/>
          <p:cNvSpPr/>
          <p:nvPr/>
        </p:nvSpPr>
        <p:spPr>
          <a:xfrm>
            <a:off x="8165592" y="1847088"/>
            <a:ext cx="1764792" cy="45720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10%</a:t>
            </a:r>
            <a:endParaRPr lang="en-US" sz="1300" dirty="0"/>
          </a:p>
        </p:txBody>
      </p:sp>
      <p:sp>
        <p:nvSpPr>
          <p:cNvPr id="16" name="Text 14"/>
          <p:cNvSpPr/>
          <p:nvPr/>
        </p:nvSpPr>
        <p:spPr>
          <a:xfrm>
            <a:off x="9930384" y="1847088"/>
            <a:ext cx="1764792" cy="45720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$1,193</a:t>
            </a:r>
            <a:endParaRPr lang="en-US" sz="1300" dirty="0"/>
          </a:p>
        </p:txBody>
      </p:sp>
      <p:sp>
        <p:nvSpPr>
          <p:cNvPr id="17" name="Shape 15">
            <a:extLst>
              <a:ext uri="{C183D7F6-B498-43B3-948B-1728B52AA6E4}">
                <adec:decorative xmlns:adec="http://schemas.microsoft.com/office/drawing/2017/decorative" val="1"/>
              </a:ext>
            </a:extLst>
          </p:cNvPr>
          <p:cNvSpPr/>
          <p:nvPr/>
        </p:nvSpPr>
        <p:spPr>
          <a:xfrm>
            <a:off x="6400800" y="2322576"/>
            <a:ext cx="5303520" cy="457200"/>
          </a:xfrm>
          <a:prstGeom prst="rect">
            <a:avLst/>
          </a:prstGeom>
          <a:solidFill>
            <a:srgbClr val="FFFFFF"/>
          </a:solidFill>
          <a:ln w="12700">
            <a:solidFill>
              <a:srgbClr val="CCCCCC"/>
            </a:solidFill>
            <a:prstDash val="solid"/>
          </a:ln>
        </p:spPr>
        <p:txBody>
          <a:bodyPr/>
          <a:lstStyle/>
          <a:p>
            <a:endParaRPr lang="en-US"/>
          </a:p>
        </p:txBody>
      </p:sp>
      <p:sp>
        <p:nvSpPr>
          <p:cNvPr id="18" name="Text 16"/>
          <p:cNvSpPr/>
          <p:nvPr/>
        </p:nvSpPr>
        <p:spPr>
          <a:xfrm>
            <a:off x="6400800" y="2322576"/>
            <a:ext cx="1764792" cy="45720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$11,925–$48,475</a:t>
            </a:r>
            <a:endParaRPr lang="en-US" sz="1300" dirty="0"/>
          </a:p>
        </p:txBody>
      </p:sp>
      <p:sp>
        <p:nvSpPr>
          <p:cNvPr id="19" name="Text 17"/>
          <p:cNvSpPr/>
          <p:nvPr/>
        </p:nvSpPr>
        <p:spPr>
          <a:xfrm>
            <a:off x="8165592" y="2322576"/>
            <a:ext cx="1764792" cy="45720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12%</a:t>
            </a:r>
            <a:endParaRPr lang="en-US" sz="1300" dirty="0"/>
          </a:p>
        </p:txBody>
      </p:sp>
      <p:sp>
        <p:nvSpPr>
          <p:cNvPr id="20" name="Text 18"/>
          <p:cNvSpPr/>
          <p:nvPr/>
        </p:nvSpPr>
        <p:spPr>
          <a:xfrm>
            <a:off x="9930384" y="2322576"/>
            <a:ext cx="1764792" cy="45720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$4,386</a:t>
            </a:r>
            <a:endParaRPr lang="en-US" sz="1300" dirty="0"/>
          </a:p>
        </p:txBody>
      </p:sp>
      <p:sp>
        <p:nvSpPr>
          <p:cNvPr id="21" name="Shape 19">
            <a:extLst>
              <a:ext uri="{C183D7F6-B498-43B3-948B-1728B52AA6E4}">
                <adec:decorative xmlns:adec="http://schemas.microsoft.com/office/drawing/2017/decorative" val="1"/>
              </a:ext>
            </a:extLst>
          </p:cNvPr>
          <p:cNvSpPr/>
          <p:nvPr/>
        </p:nvSpPr>
        <p:spPr>
          <a:xfrm>
            <a:off x="6400800" y="2798064"/>
            <a:ext cx="5303520" cy="457200"/>
          </a:xfrm>
          <a:prstGeom prst="rect">
            <a:avLst/>
          </a:prstGeom>
          <a:solidFill>
            <a:srgbClr val="E8ECF0"/>
          </a:solidFill>
          <a:ln w="12700">
            <a:solidFill>
              <a:srgbClr val="CCCCCC"/>
            </a:solidFill>
            <a:prstDash val="solid"/>
          </a:ln>
        </p:spPr>
        <p:txBody>
          <a:bodyPr/>
          <a:lstStyle/>
          <a:p>
            <a:endParaRPr lang="en-US"/>
          </a:p>
        </p:txBody>
      </p:sp>
      <p:sp>
        <p:nvSpPr>
          <p:cNvPr id="22" name="Text 20"/>
          <p:cNvSpPr/>
          <p:nvPr/>
        </p:nvSpPr>
        <p:spPr>
          <a:xfrm>
            <a:off x="6400800" y="2798064"/>
            <a:ext cx="1764792" cy="45720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$48,475–$60,000</a:t>
            </a:r>
            <a:endParaRPr lang="en-US" sz="1300" dirty="0"/>
          </a:p>
        </p:txBody>
      </p:sp>
      <p:sp>
        <p:nvSpPr>
          <p:cNvPr id="23" name="Text 21"/>
          <p:cNvSpPr/>
          <p:nvPr/>
        </p:nvSpPr>
        <p:spPr>
          <a:xfrm>
            <a:off x="8165592" y="2798064"/>
            <a:ext cx="1764792" cy="45720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22%</a:t>
            </a:r>
            <a:endParaRPr lang="en-US" sz="1300" dirty="0"/>
          </a:p>
        </p:txBody>
      </p:sp>
      <p:sp>
        <p:nvSpPr>
          <p:cNvPr id="24" name="Text 22"/>
          <p:cNvSpPr/>
          <p:nvPr/>
        </p:nvSpPr>
        <p:spPr>
          <a:xfrm>
            <a:off x="9930384" y="2798064"/>
            <a:ext cx="1764792" cy="45720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$2,535</a:t>
            </a:r>
            <a:endParaRPr lang="en-US" sz="1300" dirty="0"/>
          </a:p>
        </p:txBody>
      </p:sp>
      <p:sp>
        <p:nvSpPr>
          <p:cNvPr id="25" name="Shape 23">
            <a:extLst>
              <a:ext uri="{C183D7F6-B498-43B3-948B-1728B52AA6E4}">
                <adec:decorative xmlns:adec="http://schemas.microsoft.com/office/drawing/2017/decorative" val="1"/>
              </a:ext>
            </a:extLst>
          </p:cNvPr>
          <p:cNvSpPr/>
          <p:nvPr/>
        </p:nvSpPr>
        <p:spPr>
          <a:xfrm>
            <a:off x="6400800" y="3273552"/>
            <a:ext cx="5303520" cy="457200"/>
          </a:xfrm>
          <a:prstGeom prst="rect">
            <a:avLst/>
          </a:prstGeom>
          <a:solidFill>
            <a:srgbClr val="D6E4F0"/>
          </a:solidFill>
          <a:ln w="12700">
            <a:solidFill>
              <a:srgbClr val="CCCCCC"/>
            </a:solidFill>
            <a:prstDash val="solid"/>
          </a:ln>
        </p:spPr>
        <p:txBody>
          <a:bodyPr/>
          <a:lstStyle/>
          <a:p>
            <a:endParaRPr lang="en-US"/>
          </a:p>
        </p:txBody>
      </p:sp>
      <p:sp>
        <p:nvSpPr>
          <p:cNvPr id="26" name="Text 24"/>
          <p:cNvSpPr/>
          <p:nvPr/>
        </p:nvSpPr>
        <p:spPr>
          <a:xfrm>
            <a:off x="6400800" y="3273552"/>
            <a:ext cx="1764792"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TOTAL</a:t>
            </a:r>
            <a:endParaRPr lang="en-US" sz="1300" dirty="0"/>
          </a:p>
        </p:txBody>
      </p:sp>
      <p:sp>
        <p:nvSpPr>
          <p:cNvPr id="27" name="Text 25"/>
          <p:cNvSpPr/>
          <p:nvPr/>
        </p:nvSpPr>
        <p:spPr>
          <a:xfrm>
            <a:off x="8165592" y="3273552"/>
            <a:ext cx="1764792"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9930384" y="3273552"/>
            <a:ext cx="1764792"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~$8,114</a:t>
            </a:r>
            <a:endParaRPr lang="en-US" sz="1300" dirty="0"/>
          </a:p>
        </p:txBody>
      </p:sp>
      <p:sp>
        <p:nvSpPr>
          <p:cNvPr id="29" name="Text 27"/>
          <p:cNvSpPr/>
          <p:nvPr/>
        </p:nvSpPr>
        <p:spPr>
          <a:xfrm>
            <a:off x="6400800" y="3858768"/>
            <a:ext cx="5303520" cy="365760"/>
          </a:xfrm>
          <a:prstGeom prst="rect">
            <a:avLst/>
          </a:prstGeom>
          <a:noFill/>
          <a:ln/>
        </p:spPr>
        <p:txBody>
          <a:bodyPr wrap="square" rtlCol="0" anchor="ctr"/>
          <a:lstStyle/>
          <a:p>
            <a:pPr marL="0" indent="0" algn="ctr">
              <a:buNone/>
            </a:pPr>
            <a:r>
              <a:rPr lang="en-US" sz="1300" b="1" dirty="0">
                <a:solidFill>
                  <a:srgbClr val="1B3A6B"/>
                </a:solidFill>
                <a:latin typeface="Calibri" pitchFamily="34" charset="0"/>
                <a:ea typeface="Calibri" pitchFamily="34" charset="-122"/>
                <a:cs typeface="Calibri" pitchFamily="34" charset="-120"/>
              </a:rPr>
              <a:t>Average Rate: ~13.5%   |   Marginal Rate: 22%</a:t>
            </a:r>
            <a:endParaRPr lang="en-US" sz="1300" dirty="0"/>
          </a:p>
        </p:txBody>
      </p:sp>
      <p:sp>
        <p:nvSpPr>
          <p:cNvPr id="30" name="Shape 28">
            <a:extLst>
              <a:ext uri="{C183D7F6-B498-43B3-948B-1728B52AA6E4}">
                <adec:decorative xmlns:adec="http://schemas.microsoft.com/office/drawing/2017/decorative" val="1"/>
              </a:ext>
            </a:extLst>
          </p:cNvPr>
          <p:cNvSpPr/>
          <p:nvPr/>
        </p:nvSpPr>
        <p:spPr>
          <a:xfrm>
            <a:off x="457200" y="4663440"/>
            <a:ext cx="11274552" cy="658368"/>
          </a:xfrm>
          <a:prstGeom prst="rect">
            <a:avLst/>
          </a:prstGeom>
          <a:solidFill>
            <a:srgbClr val="1B3A6B"/>
          </a:solidFill>
          <a:ln w="12700">
            <a:solidFill>
              <a:srgbClr val="1B3A6B"/>
            </a:solidFill>
            <a:prstDash val="solid"/>
          </a:ln>
        </p:spPr>
        <p:txBody>
          <a:bodyPr/>
          <a:lstStyle/>
          <a:p>
            <a:endParaRPr lang="en-US"/>
          </a:p>
        </p:txBody>
      </p:sp>
      <p:sp>
        <p:nvSpPr>
          <p:cNvPr id="31" name="Text 29"/>
          <p:cNvSpPr/>
          <p:nvPr/>
        </p:nvSpPr>
        <p:spPr>
          <a:xfrm>
            <a:off x="457200" y="4663440"/>
            <a:ext cx="11274552"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You are NOT taxed 22% on all $60,000 — only on the portion above $48,475</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Deficit vs. Debt: Two Different Things</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365760" y="960120"/>
            <a:ext cx="5394960" cy="2743200"/>
          </a:xfrm>
          <a:prstGeom prst="rect">
            <a:avLst/>
          </a:prstGeom>
          <a:solidFill>
            <a:srgbClr val="D6E4F0"/>
          </a:solidFill>
          <a:ln w="12700">
            <a:solidFill>
              <a:srgbClr val="D6E4F0"/>
            </a:solidFill>
            <a:prstDash val="solid"/>
          </a:ln>
        </p:spPr>
        <p:txBody>
          <a:bodyPr/>
          <a:lstStyle/>
          <a:p>
            <a:endParaRPr lang="en-US"/>
          </a:p>
        </p:txBody>
      </p:sp>
      <p:sp>
        <p:nvSpPr>
          <p:cNvPr id="4" name="Text 2"/>
          <p:cNvSpPr/>
          <p:nvPr/>
        </p:nvSpPr>
        <p:spPr>
          <a:xfrm>
            <a:off x="502920" y="1024128"/>
            <a:ext cx="5120640" cy="411480"/>
          </a:xfrm>
          <a:prstGeom prst="rect">
            <a:avLst/>
          </a:prstGeom>
          <a:noFill/>
          <a:ln/>
        </p:spPr>
        <p:txBody>
          <a:bodyPr wrap="square"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DEFICIT (annual)</a:t>
            </a:r>
            <a:endParaRPr lang="en-US" sz="2000" dirty="0"/>
          </a:p>
        </p:txBody>
      </p:sp>
      <p:sp>
        <p:nvSpPr>
          <p:cNvPr id="5" name="Text 3"/>
          <p:cNvSpPr/>
          <p:nvPr/>
        </p:nvSpPr>
        <p:spPr>
          <a:xfrm>
            <a:off x="502920" y="1481328"/>
            <a:ext cx="5120640" cy="21031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 Spending &gt; Revenue in one year</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Annual measure</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Like overdrawing your checking account in a given month</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Can run a surplus in other years</a:t>
            </a:r>
            <a:endParaRPr lang="en-US" sz="1400" dirty="0"/>
          </a:p>
        </p:txBody>
      </p:sp>
      <p:sp>
        <p:nvSpPr>
          <p:cNvPr id="6" name="Shape 4">
            <a:extLst>
              <a:ext uri="{C183D7F6-B498-43B3-948B-1728B52AA6E4}">
                <adec:decorative xmlns:adec="http://schemas.microsoft.com/office/drawing/2017/decorative" val="1"/>
              </a:ext>
            </a:extLst>
          </p:cNvPr>
          <p:cNvSpPr/>
          <p:nvPr/>
        </p:nvSpPr>
        <p:spPr>
          <a:xfrm>
            <a:off x="6400800" y="960120"/>
            <a:ext cx="5394960" cy="2743200"/>
          </a:xfrm>
          <a:prstGeom prst="rect">
            <a:avLst/>
          </a:prstGeom>
          <a:solidFill>
            <a:srgbClr val="E8ECF0"/>
          </a:solidFill>
          <a:ln w="12700">
            <a:solidFill>
              <a:srgbClr val="E8ECF0"/>
            </a:solidFill>
            <a:prstDash val="solid"/>
          </a:ln>
        </p:spPr>
        <p:txBody>
          <a:bodyPr/>
          <a:lstStyle/>
          <a:p>
            <a:endParaRPr lang="en-US"/>
          </a:p>
        </p:txBody>
      </p:sp>
      <p:sp>
        <p:nvSpPr>
          <p:cNvPr id="7" name="Text 5"/>
          <p:cNvSpPr/>
          <p:nvPr/>
        </p:nvSpPr>
        <p:spPr>
          <a:xfrm>
            <a:off x="6537960" y="1024128"/>
            <a:ext cx="5120640" cy="411480"/>
          </a:xfrm>
          <a:prstGeom prst="rect">
            <a:avLst/>
          </a:prstGeom>
          <a:noFill/>
          <a:ln/>
        </p:spPr>
        <p:txBody>
          <a:bodyPr wrap="square"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DEBT (accumulated)</a:t>
            </a:r>
            <a:endParaRPr lang="en-US" sz="2000" dirty="0"/>
          </a:p>
        </p:txBody>
      </p:sp>
      <p:sp>
        <p:nvSpPr>
          <p:cNvPr id="8" name="Text 6"/>
          <p:cNvSpPr/>
          <p:nvPr/>
        </p:nvSpPr>
        <p:spPr>
          <a:xfrm>
            <a:off x="6537960" y="1481328"/>
            <a:ext cx="5120640" cy="21031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 Sum of ALL past deficits minus surpluses</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Running total — the balance on the national "credit card"</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Decreases only when surpluses exceed deficits</a:t>
            </a:r>
            <a:endParaRPr lang="en-US" sz="1400" dirty="0"/>
          </a:p>
        </p:txBody>
      </p:sp>
      <p:sp>
        <p:nvSpPr>
          <p:cNvPr id="9" name="Text 7"/>
          <p:cNvSpPr/>
          <p:nvPr/>
        </p:nvSpPr>
        <p:spPr>
          <a:xfrm>
            <a:off x="365760" y="3822192"/>
            <a:ext cx="11430000" cy="320040"/>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How they relate — a simple example:</a:t>
            </a:r>
            <a:endParaRPr lang="en-US" sz="1300" dirty="0"/>
          </a:p>
        </p:txBody>
      </p:sp>
      <p:sp>
        <p:nvSpPr>
          <p:cNvPr id="10" name="Shape 8">
            <a:extLst>
              <a:ext uri="{C183D7F6-B498-43B3-948B-1728B52AA6E4}">
                <adec:decorative xmlns:adec="http://schemas.microsoft.com/office/drawing/2017/decorative" val="1"/>
              </a:ext>
            </a:extLst>
          </p:cNvPr>
          <p:cNvSpPr/>
          <p:nvPr/>
        </p:nvSpPr>
        <p:spPr>
          <a:xfrm>
            <a:off x="365760" y="4187952"/>
            <a:ext cx="2286000" cy="384048"/>
          </a:xfrm>
          <a:prstGeom prst="rect">
            <a:avLst/>
          </a:prstGeom>
          <a:solidFill>
            <a:srgbClr val="1B3A6B"/>
          </a:solidFill>
          <a:ln w="12700">
            <a:solidFill>
              <a:srgbClr val="1B3A6B"/>
            </a:solidFill>
            <a:prstDash val="solid"/>
          </a:ln>
        </p:spPr>
        <p:txBody>
          <a:bodyPr/>
          <a:lstStyle/>
          <a:p>
            <a:endParaRPr lang="en-US"/>
          </a:p>
        </p:txBody>
      </p:sp>
      <p:sp>
        <p:nvSpPr>
          <p:cNvPr id="11" name="Text 9"/>
          <p:cNvSpPr/>
          <p:nvPr/>
        </p:nvSpPr>
        <p:spPr>
          <a:xfrm>
            <a:off x="365760" y="4187952"/>
            <a:ext cx="22860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Year</a:t>
            </a:r>
            <a:endParaRPr lang="en-US" sz="1100" dirty="0"/>
          </a:p>
        </p:txBody>
      </p:sp>
      <p:sp>
        <p:nvSpPr>
          <p:cNvPr id="12" name="Shape 10">
            <a:extLst>
              <a:ext uri="{C183D7F6-B498-43B3-948B-1728B52AA6E4}">
                <adec:decorative xmlns:adec="http://schemas.microsoft.com/office/drawing/2017/decorative" val="1"/>
              </a:ext>
            </a:extLst>
          </p:cNvPr>
          <p:cNvSpPr/>
          <p:nvPr/>
        </p:nvSpPr>
        <p:spPr>
          <a:xfrm>
            <a:off x="2651760" y="4187952"/>
            <a:ext cx="2286000" cy="384048"/>
          </a:xfrm>
          <a:prstGeom prst="rect">
            <a:avLst/>
          </a:prstGeom>
          <a:solidFill>
            <a:srgbClr val="1B3A6B"/>
          </a:solidFill>
          <a:ln w="12700">
            <a:solidFill>
              <a:srgbClr val="1B3A6B"/>
            </a:solidFill>
            <a:prstDash val="solid"/>
          </a:ln>
        </p:spPr>
        <p:txBody>
          <a:bodyPr/>
          <a:lstStyle/>
          <a:p>
            <a:endParaRPr lang="en-US"/>
          </a:p>
        </p:txBody>
      </p:sp>
      <p:sp>
        <p:nvSpPr>
          <p:cNvPr id="13" name="Text 11"/>
          <p:cNvSpPr/>
          <p:nvPr/>
        </p:nvSpPr>
        <p:spPr>
          <a:xfrm>
            <a:off x="2651760" y="4187952"/>
            <a:ext cx="22860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Revenue</a:t>
            </a:r>
            <a:endParaRPr lang="en-US" sz="1100" dirty="0"/>
          </a:p>
        </p:txBody>
      </p:sp>
      <p:sp>
        <p:nvSpPr>
          <p:cNvPr id="14" name="Shape 12">
            <a:extLst>
              <a:ext uri="{C183D7F6-B498-43B3-948B-1728B52AA6E4}">
                <adec:decorative xmlns:adec="http://schemas.microsoft.com/office/drawing/2017/decorative" val="1"/>
              </a:ext>
            </a:extLst>
          </p:cNvPr>
          <p:cNvSpPr/>
          <p:nvPr/>
        </p:nvSpPr>
        <p:spPr>
          <a:xfrm>
            <a:off x="4937760" y="4187952"/>
            <a:ext cx="2286000" cy="384048"/>
          </a:xfrm>
          <a:prstGeom prst="rect">
            <a:avLst/>
          </a:prstGeom>
          <a:solidFill>
            <a:srgbClr val="1B3A6B"/>
          </a:solidFill>
          <a:ln w="12700">
            <a:solidFill>
              <a:srgbClr val="1B3A6B"/>
            </a:solidFill>
            <a:prstDash val="solid"/>
          </a:ln>
        </p:spPr>
        <p:txBody>
          <a:bodyPr/>
          <a:lstStyle/>
          <a:p>
            <a:endParaRPr lang="en-US"/>
          </a:p>
        </p:txBody>
      </p:sp>
      <p:sp>
        <p:nvSpPr>
          <p:cNvPr id="15" name="Text 13"/>
          <p:cNvSpPr/>
          <p:nvPr/>
        </p:nvSpPr>
        <p:spPr>
          <a:xfrm>
            <a:off x="4937760" y="4187952"/>
            <a:ext cx="22860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Spending</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7223760" y="4187952"/>
            <a:ext cx="2286000" cy="384048"/>
          </a:xfrm>
          <a:prstGeom prst="rect">
            <a:avLst/>
          </a:prstGeom>
          <a:solidFill>
            <a:srgbClr val="1B3A6B"/>
          </a:solidFill>
          <a:ln w="12700">
            <a:solidFill>
              <a:srgbClr val="1B3A6B"/>
            </a:solidFill>
            <a:prstDash val="solid"/>
          </a:ln>
        </p:spPr>
        <p:txBody>
          <a:bodyPr/>
          <a:lstStyle/>
          <a:p>
            <a:endParaRPr lang="en-US"/>
          </a:p>
        </p:txBody>
      </p:sp>
      <p:sp>
        <p:nvSpPr>
          <p:cNvPr id="17" name="Text 15"/>
          <p:cNvSpPr/>
          <p:nvPr/>
        </p:nvSpPr>
        <p:spPr>
          <a:xfrm>
            <a:off x="7223760" y="4187952"/>
            <a:ext cx="22860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Annual Balance</a:t>
            </a:r>
            <a:endParaRPr lang="en-US" sz="1100" dirty="0"/>
          </a:p>
        </p:txBody>
      </p:sp>
      <p:sp>
        <p:nvSpPr>
          <p:cNvPr id="18" name="Shape 16">
            <a:extLst>
              <a:ext uri="{C183D7F6-B498-43B3-948B-1728B52AA6E4}">
                <adec:decorative xmlns:adec="http://schemas.microsoft.com/office/drawing/2017/decorative" val="1"/>
              </a:ext>
            </a:extLst>
          </p:cNvPr>
          <p:cNvSpPr/>
          <p:nvPr/>
        </p:nvSpPr>
        <p:spPr>
          <a:xfrm>
            <a:off x="9509760" y="4187952"/>
            <a:ext cx="2286000" cy="384048"/>
          </a:xfrm>
          <a:prstGeom prst="rect">
            <a:avLst/>
          </a:prstGeom>
          <a:solidFill>
            <a:srgbClr val="1B3A6B"/>
          </a:solidFill>
          <a:ln w="12700">
            <a:solidFill>
              <a:srgbClr val="1B3A6B"/>
            </a:solidFill>
            <a:prstDash val="solid"/>
          </a:ln>
        </p:spPr>
        <p:txBody>
          <a:bodyPr/>
          <a:lstStyle/>
          <a:p>
            <a:endParaRPr lang="en-US"/>
          </a:p>
        </p:txBody>
      </p:sp>
      <p:sp>
        <p:nvSpPr>
          <p:cNvPr id="19" name="Text 17"/>
          <p:cNvSpPr/>
          <p:nvPr/>
        </p:nvSpPr>
        <p:spPr>
          <a:xfrm>
            <a:off x="9509760" y="4187952"/>
            <a:ext cx="22860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Cumulative Debt</a:t>
            </a:r>
            <a:endParaRPr lang="en-US" sz="1100" dirty="0"/>
          </a:p>
        </p:txBody>
      </p:sp>
      <p:sp>
        <p:nvSpPr>
          <p:cNvPr id="20" name="Shape 18">
            <a:extLst>
              <a:ext uri="{C183D7F6-B498-43B3-948B-1728B52AA6E4}">
                <adec:decorative xmlns:adec="http://schemas.microsoft.com/office/drawing/2017/decorative" val="1"/>
              </a:ext>
            </a:extLst>
          </p:cNvPr>
          <p:cNvSpPr/>
          <p:nvPr/>
        </p:nvSpPr>
        <p:spPr>
          <a:xfrm>
            <a:off x="365760" y="4608576"/>
            <a:ext cx="2286000" cy="365760"/>
          </a:xfrm>
          <a:prstGeom prst="rect">
            <a:avLst/>
          </a:prstGeom>
          <a:solidFill>
            <a:srgbClr val="FFFFFF"/>
          </a:solidFill>
          <a:ln w="12700">
            <a:solidFill>
              <a:srgbClr val="CCCCCC"/>
            </a:solidFill>
            <a:prstDash val="solid"/>
          </a:ln>
        </p:spPr>
        <p:txBody>
          <a:bodyPr/>
          <a:lstStyle/>
          <a:p>
            <a:endParaRPr lang="en-US"/>
          </a:p>
        </p:txBody>
      </p:sp>
      <p:sp>
        <p:nvSpPr>
          <p:cNvPr id="21" name="Text 19"/>
          <p:cNvSpPr/>
          <p:nvPr/>
        </p:nvSpPr>
        <p:spPr>
          <a:xfrm>
            <a:off x="365760" y="460857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Year 1</a:t>
            </a:r>
            <a:endParaRPr lang="en-US" sz="1200" dirty="0"/>
          </a:p>
        </p:txBody>
      </p:sp>
      <p:sp>
        <p:nvSpPr>
          <p:cNvPr id="22" name="Shape 20">
            <a:extLst>
              <a:ext uri="{C183D7F6-B498-43B3-948B-1728B52AA6E4}">
                <adec:decorative xmlns:adec="http://schemas.microsoft.com/office/drawing/2017/decorative" val="1"/>
              </a:ext>
            </a:extLst>
          </p:cNvPr>
          <p:cNvSpPr/>
          <p:nvPr/>
        </p:nvSpPr>
        <p:spPr>
          <a:xfrm>
            <a:off x="2651760" y="4608576"/>
            <a:ext cx="2286000" cy="365760"/>
          </a:xfrm>
          <a:prstGeom prst="rect">
            <a:avLst/>
          </a:prstGeom>
          <a:solidFill>
            <a:srgbClr val="FFFFFF"/>
          </a:solidFill>
          <a:ln w="12700">
            <a:solidFill>
              <a:srgbClr val="CCCCCC"/>
            </a:solidFill>
            <a:prstDash val="solid"/>
          </a:ln>
        </p:spPr>
        <p:txBody>
          <a:bodyPr/>
          <a:lstStyle/>
          <a:p>
            <a:endParaRPr lang="en-US"/>
          </a:p>
        </p:txBody>
      </p:sp>
      <p:sp>
        <p:nvSpPr>
          <p:cNvPr id="23" name="Text 21"/>
          <p:cNvSpPr/>
          <p:nvPr/>
        </p:nvSpPr>
        <p:spPr>
          <a:xfrm>
            <a:off x="2651760" y="460857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$400</a:t>
            </a:r>
            <a:endParaRPr lang="en-US" sz="1200" dirty="0"/>
          </a:p>
        </p:txBody>
      </p:sp>
      <p:sp>
        <p:nvSpPr>
          <p:cNvPr id="24" name="Shape 22">
            <a:extLst>
              <a:ext uri="{C183D7F6-B498-43B3-948B-1728B52AA6E4}">
                <adec:decorative xmlns:adec="http://schemas.microsoft.com/office/drawing/2017/decorative" val="1"/>
              </a:ext>
            </a:extLst>
          </p:cNvPr>
          <p:cNvSpPr/>
          <p:nvPr/>
        </p:nvSpPr>
        <p:spPr>
          <a:xfrm>
            <a:off x="4937760" y="4608576"/>
            <a:ext cx="2286000" cy="365760"/>
          </a:xfrm>
          <a:prstGeom prst="rect">
            <a:avLst/>
          </a:prstGeom>
          <a:solidFill>
            <a:srgbClr val="FFFFFF"/>
          </a:solidFill>
          <a:ln w="12700">
            <a:solidFill>
              <a:srgbClr val="CCCCCC"/>
            </a:solidFill>
            <a:prstDash val="solid"/>
          </a:ln>
        </p:spPr>
        <p:txBody>
          <a:bodyPr/>
          <a:lstStyle/>
          <a:p>
            <a:endParaRPr lang="en-US"/>
          </a:p>
        </p:txBody>
      </p:sp>
      <p:sp>
        <p:nvSpPr>
          <p:cNvPr id="25" name="Text 23"/>
          <p:cNvSpPr/>
          <p:nvPr/>
        </p:nvSpPr>
        <p:spPr>
          <a:xfrm>
            <a:off x="4937760" y="460857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$500</a:t>
            </a:r>
            <a:endParaRPr lang="en-US" sz="1200" dirty="0"/>
          </a:p>
        </p:txBody>
      </p:sp>
      <p:sp>
        <p:nvSpPr>
          <p:cNvPr id="26" name="Shape 24">
            <a:extLst>
              <a:ext uri="{C183D7F6-B498-43B3-948B-1728B52AA6E4}">
                <adec:decorative xmlns:adec="http://schemas.microsoft.com/office/drawing/2017/decorative" val="1"/>
              </a:ext>
            </a:extLst>
          </p:cNvPr>
          <p:cNvSpPr/>
          <p:nvPr/>
        </p:nvSpPr>
        <p:spPr>
          <a:xfrm>
            <a:off x="7223760" y="4608576"/>
            <a:ext cx="2286000" cy="365760"/>
          </a:xfrm>
          <a:prstGeom prst="rect">
            <a:avLst/>
          </a:prstGeom>
          <a:solidFill>
            <a:srgbClr val="FFFFFF"/>
          </a:solidFill>
          <a:ln w="12700">
            <a:solidFill>
              <a:srgbClr val="CCCCCC"/>
            </a:solidFill>
            <a:prstDash val="solid"/>
          </a:ln>
        </p:spPr>
        <p:txBody>
          <a:bodyPr/>
          <a:lstStyle/>
          <a:p>
            <a:endParaRPr lang="en-US"/>
          </a:p>
        </p:txBody>
      </p:sp>
      <p:sp>
        <p:nvSpPr>
          <p:cNvPr id="27" name="Text 25"/>
          <p:cNvSpPr/>
          <p:nvPr/>
        </p:nvSpPr>
        <p:spPr>
          <a:xfrm>
            <a:off x="7223760" y="460857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-$100 (deficit)</a:t>
            </a:r>
            <a:endParaRPr lang="en-US" sz="1200" dirty="0"/>
          </a:p>
        </p:txBody>
      </p:sp>
      <p:sp>
        <p:nvSpPr>
          <p:cNvPr id="28" name="Shape 26">
            <a:extLst>
              <a:ext uri="{C183D7F6-B498-43B3-948B-1728B52AA6E4}">
                <adec:decorative xmlns:adec="http://schemas.microsoft.com/office/drawing/2017/decorative" val="1"/>
              </a:ext>
            </a:extLst>
          </p:cNvPr>
          <p:cNvSpPr/>
          <p:nvPr/>
        </p:nvSpPr>
        <p:spPr>
          <a:xfrm>
            <a:off x="9509760" y="4608576"/>
            <a:ext cx="2286000" cy="365760"/>
          </a:xfrm>
          <a:prstGeom prst="rect">
            <a:avLst/>
          </a:prstGeom>
          <a:solidFill>
            <a:srgbClr val="FFFFFF"/>
          </a:solidFill>
          <a:ln w="12700">
            <a:solidFill>
              <a:srgbClr val="CCCCCC"/>
            </a:solidFill>
            <a:prstDash val="solid"/>
          </a:ln>
        </p:spPr>
        <p:txBody>
          <a:bodyPr/>
          <a:lstStyle/>
          <a:p>
            <a:endParaRPr lang="en-US"/>
          </a:p>
        </p:txBody>
      </p:sp>
      <p:sp>
        <p:nvSpPr>
          <p:cNvPr id="29" name="Text 27"/>
          <p:cNvSpPr/>
          <p:nvPr/>
        </p:nvSpPr>
        <p:spPr>
          <a:xfrm>
            <a:off x="9509760" y="460857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$100</a:t>
            </a:r>
            <a:endParaRPr lang="en-US" sz="1200" dirty="0"/>
          </a:p>
        </p:txBody>
      </p:sp>
      <p:sp>
        <p:nvSpPr>
          <p:cNvPr id="30" name="Shape 28">
            <a:extLst>
              <a:ext uri="{C183D7F6-B498-43B3-948B-1728B52AA6E4}">
                <adec:decorative xmlns:adec="http://schemas.microsoft.com/office/drawing/2017/decorative" val="1"/>
              </a:ext>
            </a:extLst>
          </p:cNvPr>
          <p:cNvSpPr/>
          <p:nvPr/>
        </p:nvSpPr>
        <p:spPr>
          <a:xfrm>
            <a:off x="365760" y="4974336"/>
            <a:ext cx="2286000" cy="365760"/>
          </a:xfrm>
          <a:prstGeom prst="rect">
            <a:avLst/>
          </a:prstGeom>
          <a:solidFill>
            <a:srgbClr val="E8ECF0"/>
          </a:solidFill>
          <a:ln w="12700">
            <a:solidFill>
              <a:srgbClr val="CCCCCC"/>
            </a:solidFill>
            <a:prstDash val="solid"/>
          </a:ln>
        </p:spPr>
        <p:txBody>
          <a:bodyPr/>
          <a:lstStyle/>
          <a:p>
            <a:endParaRPr lang="en-US"/>
          </a:p>
        </p:txBody>
      </p:sp>
      <p:sp>
        <p:nvSpPr>
          <p:cNvPr id="31" name="Text 29"/>
          <p:cNvSpPr/>
          <p:nvPr/>
        </p:nvSpPr>
        <p:spPr>
          <a:xfrm>
            <a:off x="365760" y="497433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Year 2</a:t>
            </a:r>
            <a:endParaRPr lang="en-US" sz="1200" dirty="0"/>
          </a:p>
        </p:txBody>
      </p:sp>
      <p:sp>
        <p:nvSpPr>
          <p:cNvPr id="32" name="Shape 30">
            <a:extLst>
              <a:ext uri="{C183D7F6-B498-43B3-948B-1728B52AA6E4}">
                <adec:decorative xmlns:adec="http://schemas.microsoft.com/office/drawing/2017/decorative" val="1"/>
              </a:ext>
            </a:extLst>
          </p:cNvPr>
          <p:cNvSpPr/>
          <p:nvPr/>
        </p:nvSpPr>
        <p:spPr>
          <a:xfrm>
            <a:off x="2651760" y="4974336"/>
            <a:ext cx="2286000" cy="365760"/>
          </a:xfrm>
          <a:prstGeom prst="rect">
            <a:avLst/>
          </a:prstGeom>
          <a:solidFill>
            <a:srgbClr val="E8ECF0"/>
          </a:solidFill>
          <a:ln w="12700">
            <a:solidFill>
              <a:srgbClr val="CCCCCC"/>
            </a:solidFill>
            <a:prstDash val="solid"/>
          </a:ln>
        </p:spPr>
        <p:txBody>
          <a:bodyPr/>
          <a:lstStyle/>
          <a:p>
            <a:endParaRPr lang="en-US"/>
          </a:p>
        </p:txBody>
      </p:sp>
      <p:sp>
        <p:nvSpPr>
          <p:cNvPr id="33" name="Text 31"/>
          <p:cNvSpPr/>
          <p:nvPr/>
        </p:nvSpPr>
        <p:spPr>
          <a:xfrm>
            <a:off x="2651760" y="497433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$600</a:t>
            </a:r>
            <a:endParaRPr lang="en-US" sz="1200" dirty="0"/>
          </a:p>
        </p:txBody>
      </p:sp>
      <p:sp>
        <p:nvSpPr>
          <p:cNvPr id="34" name="Shape 32">
            <a:extLst>
              <a:ext uri="{C183D7F6-B498-43B3-948B-1728B52AA6E4}">
                <adec:decorative xmlns:adec="http://schemas.microsoft.com/office/drawing/2017/decorative" val="1"/>
              </a:ext>
            </a:extLst>
          </p:cNvPr>
          <p:cNvSpPr/>
          <p:nvPr/>
        </p:nvSpPr>
        <p:spPr>
          <a:xfrm>
            <a:off x="4937760" y="4974336"/>
            <a:ext cx="2286000" cy="365760"/>
          </a:xfrm>
          <a:prstGeom prst="rect">
            <a:avLst/>
          </a:prstGeom>
          <a:solidFill>
            <a:srgbClr val="E8ECF0"/>
          </a:solidFill>
          <a:ln w="12700">
            <a:solidFill>
              <a:srgbClr val="CCCCCC"/>
            </a:solidFill>
            <a:prstDash val="solid"/>
          </a:ln>
        </p:spPr>
        <p:txBody>
          <a:bodyPr/>
          <a:lstStyle/>
          <a:p>
            <a:endParaRPr lang="en-US"/>
          </a:p>
        </p:txBody>
      </p:sp>
      <p:sp>
        <p:nvSpPr>
          <p:cNvPr id="35" name="Text 33"/>
          <p:cNvSpPr/>
          <p:nvPr/>
        </p:nvSpPr>
        <p:spPr>
          <a:xfrm>
            <a:off x="4937760" y="497433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$800</a:t>
            </a:r>
            <a:endParaRPr lang="en-US" sz="1200" dirty="0"/>
          </a:p>
        </p:txBody>
      </p:sp>
      <p:sp>
        <p:nvSpPr>
          <p:cNvPr id="36" name="Shape 34">
            <a:extLst>
              <a:ext uri="{C183D7F6-B498-43B3-948B-1728B52AA6E4}">
                <adec:decorative xmlns:adec="http://schemas.microsoft.com/office/drawing/2017/decorative" val="1"/>
              </a:ext>
            </a:extLst>
          </p:cNvPr>
          <p:cNvSpPr/>
          <p:nvPr/>
        </p:nvSpPr>
        <p:spPr>
          <a:xfrm>
            <a:off x="7223760" y="4974336"/>
            <a:ext cx="2286000" cy="365760"/>
          </a:xfrm>
          <a:prstGeom prst="rect">
            <a:avLst/>
          </a:prstGeom>
          <a:solidFill>
            <a:srgbClr val="E8ECF0"/>
          </a:solidFill>
          <a:ln w="12700">
            <a:solidFill>
              <a:srgbClr val="CCCCCC"/>
            </a:solidFill>
            <a:prstDash val="solid"/>
          </a:ln>
        </p:spPr>
        <p:txBody>
          <a:bodyPr/>
          <a:lstStyle/>
          <a:p>
            <a:endParaRPr lang="en-US"/>
          </a:p>
        </p:txBody>
      </p:sp>
      <p:sp>
        <p:nvSpPr>
          <p:cNvPr id="37" name="Text 35"/>
          <p:cNvSpPr/>
          <p:nvPr/>
        </p:nvSpPr>
        <p:spPr>
          <a:xfrm>
            <a:off x="7223760" y="497433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-$200 (deficit)</a:t>
            </a:r>
            <a:endParaRPr lang="en-US" sz="1200" dirty="0"/>
          </a:p>
        </p:txBody>
      </p:sp>
      <p:sp>
        <p:nvSpPr>
          <p:cNvPr id="38" name="Shape 36">
            <a:extLst>
              <a:ext uri="{C183D7F6-B498-43B3-948B-1728B52AA6E4}">
                <adec:decorative xmlns:adec="http://schemas.microsoft.com/office/drawing/2017/decorative" val="1"/>
              </a:ext>
            </a:extLst>
          </p:cNvPr>
          <p:cNvSpPr/>
          <p:nvPr/>
        </p:nvSpPr>
        <p:spPr>
          <a:xfrm>
            <a:off x="9509760" y="4974336"/>
            <a:ext cx="2286000" cy="365760"/>
          </a:xfrm>
          <a:prstGeom prst="rect">
            <a:avLst/>
          </a:prstGeom>
          <a:solidFill>
            <a:srgbClr val="E8ECF0"/>
          </a:solidFill>
          <a:ln w="12700">
            <a:solidFill>
              <a:srgbClr val="CCCCCC"/>
            </a:solidFill>
            <a:prstDash val="solid"/>
          </a:ln>
        </p:spPr>
        <p:txBody>
          <a:bodyPr/>
          <a:lstStyle/>
          <a:p>
            <a:endParaRPr lang="en-US"/>
          </a:p>
        </p:txBody>
      </p:sp>
      <p:sp>
        <p:nvSpPr>
          <p:cNvPr id="39" name="Text 37"/>
          <p:cNvSpPr/>
          <p:nvPr/>
        </p:nvSpPr>
        <p:spPr>
          <a:xfrm>
            <a:off x="9509760" y="497433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$300</a:t>
            </a:r>
            <a:endParaRPr lang="en-US" sz="1200" dirty="0"/>
          </a:p>
        </p:txBody>
      </p:sp>
      <p:sp>
        <p:nvSpPr>
          <p:cNvPr id="40" name="Shape 38">
            <a:extLst>
              <a:ext uri="{C183D7F6-B498-43B3-948B-1728B52AA6E4}">
                <adec:decorative xmlns:adec="http://schemas.microsoft.com/office/drawing/2017/decorative" val="1"/>
              </a:ext>
            </a:extLst>
          </p:cNvPr>
          <p:cNvSpPr/>
          <p:nvPr/>
        </p:nvSpPr>
        <p:spPr>
          <a:xfrm>
            <a:off x="365760" y="5340096"/>
            <a:ext cx="2286000" cy="365760"/>
          </a:xfrm>
          <a:prstGeom prst="rect">
            <a:avLst/>
          </a:prstGeom>
          <a:solidFill>
            <a:srgbClr val="FFFFFF"/>
          </a:solidFill>
          <a:ln w="12700">
            <a:solidFill>
              <a:srgbClr val="CCCCCC"/>
            </a:solidFill>
            <a:prstDash val="solid"/>
          </a:ln>
        </p:spPr>
        <p:txBody>
          <a:bodyPr/>
          <a:lstStyle/>
          <a:p>
            <a:endParaRPr lang="en-US"/>
          </a:p>
        </p:txBody>
      </p:sp>
      <p:sp>
        <p:nvSpPr>
          <p:cNvPr id="41" name="Text 39"/>
          <p:cNvSpPr/>
          <p:nvPr/>
        </p:nvSpPr>
        <p:spPr>
          <a:xfrm>
            <a:off x="365760" y="534009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Year 3</a:t>
            </a:r>
            <a:endParaRPr lang="en-US" sz="1200" dirty="0"/>
          </a:p>
        </p:txBody>
      </p:sp>
      <p:sp>
        <p:nvSpPr>
          <p:cNvPr id="42" name="Shape 40">
            <a:extLst>
              <a:ext uri="{C183D7F6-B498-43B3-948B-1728B52AA6E4}">
                <adec:decorative xmlns:adec="http://schemas.microsoft.com/office/drawing/2017/decorative" val="1"/>
              </a:ext>
            </a:extLst>
          </p:cNvPr>
          <p:cNvSpPr/>
          <p:nvPr/>
        </p:nvSpPr>
        <p:spPr>
          <a:xfrm>
            <a:off x="2651760" y="5340096"/>
            <a:ext cx="2286000" cy="365760"/>
          </a:xfrm>
          <a:prstGeom prst="rect">
            <a:avLst/>
          </a:prstGeom>
          <a:solidFill>
            <a:srgbClr val="FFFFFF"/>
          </a:solidFill>
          <a:ln w="12700">
            <a:solidFill>
              <a:srgbClr val="CCCCCC"/>
            </a:solidFill>
            <a:prstDash val="solid"/>
          </a:ln>
        </p:spPr>
        <p:txBody>
          <a:bodyPr/>
          <a:lstStyle/>
          <a:p>
            <a:endParaRPr lang="en-US"/>
          </a:p>
        </p:txBody>
      </p:sp>
      <p:sp>
        <p:nvSpPr>
          <p:cNvPr id="43" name="Text 41"/>
          <p:cNvSpPr/>
          <p:nvPr/>
        </p:nvSpPr>
        <p:spPr>
          <a:xfrm>
            <a:off x="2651760" y="534009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$700</a:t>
            </a:r>
            <a:endParaRPr lang="en-US" sz="1200" dirty="0"/>
          </a:p>
        </p:txBody>
      </p:sp>
      <p:sp>
        <p:nvSpPr>
          <p:cNvPr id="44" name="Shape 42">
            <a:extLst>
              <a:ext uri="{C183D7F6-B498-43B3-948B-1728B52AA6E4}">
                <adec:decorative xmlns:adec="http://schemas.microsoft.com/office/drawing/2017/decorative" val="1"/>
              </a:ext>
            </a:extLst>
          </p:cNvPr>
          <p:cNvSpPr/>
          <p:nvPr/>
        </p:nvSpPr>
        <p:spPr>
          <a:xfrm>
            <a:off x="4937760" y="5340096"/>
            <a:ext cx="2286000" cy="365760"/>
          </a:xfrm>
          <a:prstGeom prst="rect">
            <a:avLst/>
          </a:prstGeom>
          <a:solidFill>
            <a:srgbClr val="FFFFFF"/>
          </a:solidFill>
          <a:ln w="12700">
            <a:solidFill>
              <a:srgbClr val="CCCCCC"/>
            </a:solidFill>
            <a:prstDash val="solid"/>
          </a:ln>
        </p:spPr>
        <p:txBody>
          <a:bodyPr/>
          <a:lstStyle/>
          <a:p>
            <a:endParaRPr lang="en-US"/>
          </a:p>
        </p:txBody>
      </p:sp>
      <p:sp>
        <p:nvSpPr>
          <p:cNvPr id="45" name="Text 43"/>
          <p:cNvSpPr/>
          <p:nvPr/>
        </p:nvSpPr>
        <p:spPr>
          <a:xfrm>
            <a:off x="4937760" y="534009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$650</a:t>
            </a:r>
            <a:endParaRPr lang="en-US" sz="1200" dirty="0"/>
          </a:p>
        </p:txBody>
      </p:sp>
      <p:sp>
        <p:nvSpPr>
          <p:cNvPr id="46" name="Shape 44">
            <a:extLst>
              <a:ext uri="{C183D7F6-B498-43B3-948B-1728B52AA6E4}">
                <adec:decorative xmlns:adec="http://schemas.microsoft.com/office/drawing/2017/decorative" val="1"/>
              </a:ext>
            </a:extLst>
          </p:cNvPr>
          <p:cNvSpPr/>
          <p:nvPr/>
        </p:nvSpPr>
        <p:spPr>
          <a:xfrm>
            <a:off x="7223760" y="5340096"/>
            <a:ext cx="2286000" cy="365760"/>
          </a:xfrm>
          <a:prstGeom prst="rect">
            <a:avLst/>
          </a:prstGeom>
          <a:solidFill>
            <a:srgbClr val="FFFFFF"/>
          </a:solidFill>
          <a:ln w="12700">
            <a:solidFill>
              <a:srgbClr val="CCCCCC"/>
            </a:solidFill>
            <a:prstDash val="solid"/>
          </a:ln>
        </p:spPr>
        <p:txBody>
          <a:bodyPr/>
          <a:lstStyle/>
          <a:p>
            <a:endParaRPr lang="en-US"/>
          </a:p>
        </p:txBody>
      </p:sp>
      <p:sp>
        <p:nvSpPr>
          <p:cNvPr id="47" name="Text 45"/>
          <p:cNvSpPr/>
          <p:nvPr/>
        </p:nvSpPr>
        <p:spPr>
          <a:xfrm>
            <a:off x="7223760" y="534009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+$50 (surplus)</a:t>
            </a:r>
            <a:endParaRPr lang="en-US" sz="1200" dirty="0"/>
          </a:p>
        </p:txBody>
      </p:sp>
      <p:sp>
        <p:nvSpPr>
          <p:cNvPr id="48" name="Shape 46">
            <a:extLst>
              <a:ext uri="{C183D7F6-B498-43B3-948B-1728B52AA6E4}">
                <adec:decorative xmlns:adec="http://schemas.microsoft.com/office/drawing/2017/decorative" val="1"/>
              </a:ext>
            </a:extLst>
          </p:cNvPr>
          <p:cNvSpPr/>
          <p:nvPr/>
        </p:nvSpPr>
        <p:spPr>
          <a:xfrm>
            <a:off x="9509760" y="5340096"/>
            <a:ext cx="2286000" cy="365760"/>
          </a:xfrm>
          <a:prstGeom prst="rect">
            <a:avLst/>
          </a:prstGeom>
          <a:solidFill>
            <a:srgbClr val="FFFFFF"/>
          </a:solidFill>
          <a:ln w="12700">
            <a:solidFill>
              <a:srgbClr val="CCCCCC"/>
            </a:solidFill>
            <a:prstDash val="solid"/>
          </a:ln>
        </p:spPr>
        <p:txBody>
          <a:bodyPr/>
          <a:lstStyle/>
          <a:p>
            <a:endParaRPr lang="en-US"/>
          </a:p>
        </p:txBody>
      </p:sp>
      <p:sp>
        <p:nvSpPr>
          <p:cNvPr id="49" name="Text 47"/>
          <p:cNvSpPr/>
          <p:nvPr/>
        </p:nvSpPr>
        <p:spPr>
          <a:xfrm>
            <a:off x="9509760" y="5340096"/>
            <a:ext cx="228600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$250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Financing the Deficit: Treasury Securities</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Text 1"/>
          <p:cNvSpPr/>
          <p:nvPr/>
        </p:nvSpPr>
        <p:spPr>
          <a:xfrm>
            <a:off x="457200" y="960120"/>
            <a:ext cx="5486400" cy="347472"/>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How the government borrows:</a:t>
            </a:r>
            <a:endParaRPr lang="en-US" sz="1500" dirty="0"/>
          </a:p>
        </p:txBody>
      </p:sp>
      <p:sp>
        <p:nvSpPr>
          <p:cNvPr id="4" name="Text 2"/>
          <p:cNvSpPr/>
          <p:nvPr/>
        </p:nvSpPr>
        <p:spPr>
          <a:xfrm>
            <a:off x="457200" y="1371600"/>
            <a:ext cx="5486400" cy="20116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 Sells U.S. Treasury bills, notes, and bonds</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Promises to repay with interest</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Buyers: U.S. individuals, financial institutions, and foreign governments including Japan, China, and the UK</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National debt = total outstanding Treasury securities</a:t>
            </a:r>
            <a:endParaRPr lang="en-US" sz="1400" dirty="0"/>
          </a:p>
        </p:txBody>
      </p:sp>
      <p:sp>
        <p:nvSpPr>
          <p:cNvPr id="5" name="Shape 3">
            <a:extLst>
              <a:ext uri="{C183D7F6-B498-43B3-948B-1728B52AA6E4}">
                <adec:decorative xmlns:adec="http://schemas.microsoft.com/office/drawing/2017/decorative" val="1"/>
              </a:ext>
            </a:extLst>
          </p:cNvPr>
          <p:cNvSpPr/>
          <p:nvPr/>
        </p:nvSpPr>
        <p:spPr>
          <a:xfrm>
            <a:off x="457200" y="3520440"/>
            <a:ext cx="5486400" cy="804672"/>
          </a:xfrm>
          <a:prstGeom prst="rect">
            <a:avLst/>
          </a:prstGeom>
          <a:solidFill>
            <a:srgbClr val="1B3A6B"/>
          </a:solidFill>
          <a:ln w="12700">
            <a:solidFill>
              <a:srgbClr val="1B3A6B"/>
            </a:solidFill>
            <a:prstDash val="solid"/>
          </a:ln>
        </p:spPr>
        <p:txBody>
          <a:bodyPr/>
          <a:lstStyle/>
          <a:p>
            <a:endParaRPr lang="en-US"/>
          </a:p>
        </p:txBody>
      </p:sp>
      <p:sp>
        <p:nvSpPr>
          <p:cNvPr id="6" name="Text 4"/>
          <p:cNvSpPr/>
          <p:nvPr/>
        </p:nvSpPr>
        <p:spPr>
          <a:xfrm>
            <a:off x="457200" y="3520440"/>
            <a:ext cx="5486400" cy="8046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~70% of U.S. debt is held domestically —</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by Americans and U.S. institutions</a:t>
            </a:r>
            <a:endParaRPr lang="en-US" sz="1400" dirty="0"/>
          </a:p>
        </p:txBody>
      </p:sp>
      <p:sp>
        <p:nvSpPr>
          <p:cNvPr id="7" name="Shape 5">
            <a:extLst>
              <a:ext uri="{C183D7F6-B498-43B3-948B-1728B52AA6E4}">
                <adec:decorative xmlns:adec="http://schemas.microsoft.com/office/drawing/2017/decorative" val="1"/>
              </a:ext>
            </a:extLst>
          </p:cNvPr>
          <p:cNvSpPr/>
          <p:nvPr/>
        </p:nvSpPr>
        <p:spPr>
          <a:xfrm>
            <a:off x="6492240" y="960120"/>
            <a:ext cx="5212080" cy="594360"/>
          </a:xfrm>
          <a:prstGeom prst="rect">
            <a:avLst/>
          </a:prstGeom>
          <a:solidFill>
            <a:srgbClr val="E8ECF0"/>
          </a:solidFill>
          <a:ln w="12700">
            <a:solidFill>
              <a:srgbClr val="E8ECF0"/>
            </a:solidFill>
            <a:prstDash val="solid"/>
          </a:ln>
        </p:spPr>
        <p:txBody>
          <a:bodyPr/>
          <a:lstStyle/>
          <a:p>
            <a:endParaRPr lang="en-US"/>
          </a:p>
        </p:txBody>
      </p:sp>
      <p:sp>
        <p:nvSpPr>
          <p:cNvPr id="8" name="Text 6"/>
          <p:cNvSpPr/>
          <p:nvPr/>
        </p:nvSpPr>
        <p:spPr>
          <a:xfrm>
            <a:off x="6492240" y="960120"/>
            <a:ext cx="5212080" cy="59436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Gov. needs $1T more than it collects</a:t>
            </a:r>
            <a:endParaRPr lang="en-US" sz="1300" dirty="0"/>
          </a:p>
        </p:txBody>
      </p:sp>
      <p:sp>
        <p:nvSpPr>
          <p:cNvPr id="9" name="Text 7"/>
          <p:cNvSpPr/>
          <p:nvPr/>
        </p:nvSpPr>
        <p:spPr>
          <a:xfrm>
            <a:off x="8458200" y="1554480"/>
            <a:ext cx="1097280" cy="393192"/>
          </a:xfrm>
          <a:prstGeom prst="rect">
            <a:avLst/>
          </a:prstGeom>
          <a:noFill/>
          <a:ln/>
        </p:spPr>
        <p:txBody>
          <a:bodyPr wrap="square" rtlCol="0" anchor="ctr"/>
          <a:lstStyle/>
          <a:p>
            <a:pPr marL="0" indent="0" algn="ctr">
              <a:buNone/>
            </a:pPr>
            <a:r>
              <a:rPr lang="en-US" sz="1600" b="1" dirty="0">
                <a:solidFill>
                  <a:srgbClr val="1B3A6B"/>
                </a:solidFill>
                <a:latin typeface="Calibri" pitchFamily="34" charset="0"/>
                <a:ea typeface="Calibri" pitchFamily="34" charset="-122"/>
                <a:cs typeface="Calibri" pitchFamily="34" charset="-120"/>
              </a:rPr>
              <a:t>↓</a:t>
            </a:r>
            <a:endParaRPr lang="en-US" sz="1600" dirty="0"/>
          </a:p>
        </p:txBody>
      </p:sp>
      <p:sp>
        <p:nvSpPr>
          <p:cNvPr id="10" name="Shape 8">
            <a:extLst>
              <a:ext uri="{C183D7F6-B498-43B3-948B-1728B52AA6E4}">
                <adec:decorative xmlns:adec="http://schemas.microsoft.com/office/drawing/2017/decorative" val="1"/>
              </a:ext>
            </a:extLst>
          </p:cNvPr>
          <p:cNvSpPr/>
          <p:nvPr/>
        </p:nvSpPr>
        <p:spPr>
          <a:xfrm>
            <a:off x="6492240" y="1947672"/>
            <a:ext cx="5212080" cy="594360"/>
          </a:xfrm>
          <a:prstGeom prst="rect">
            <a:avLst/>
          </a:prstGeom>
          <a:solidFill>
            <a:srgbClr val="E8ECF0"/>
          </a:solidFill>
          <a:ln w="12700">
            <a:solidFill>
              <a:srgbClr val="E8ECF0"/>
            </a:solidFill>
            <a:prstDash val="solid"/>
          </a:ln>
        </p:spPr>
        <p:txBody>
          <a:bodyPr/>
          <a:lstStyle/>
          <a:p>
            <a:endParaRPr lang="en-US"/>
          </a:p>
        </p:txBody>
      </p:sp>
      <p:sp>
        <p:nvSpPr>
          <p:cNvPr id="11" name="Text 9"/>
          <p:cNvSpPr/>
          <p:nvPr/>
        </p:nvSpPr>
        <p:spPr>
          <a:xfrm>
            <a:off x="6492240" y="1947672"/>
            <a:ext cx="5212080" cy="59436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Sells $1T in Treasury bonds</a:t>
            </a:r>
            <a:endParaRPr lang="en-US" sz="1300" dirty="0"/>
          </a:p>
        </p:txBody>
      </p:sp>
      <p:sp>
        <p:nvSpPr>
          <p:cNvPr id="12" name="Text 10"/>
          <p:cNvSpPr/>
          <p:nvPr/>
        </p:nvSpPr>
        <p:spPr>
          <a:xfrm>
            <a:off x="8458200" y="2542032"/>
            <a:ext cx="1097280" cy="393192"/>
          </a:xfrm>
          <a:prstGeom prst="rect">
            <a:avLst/>
          </a:prstGeom>
          <a:noFill/>
          <a:ln/>
        </p:spPr>
        <p:txBody>
          <a:bodyPr wrap="square" rtlCol="0" anchor="ctr"/>
          <a:lstStyle/>
          <a:p>
            <a:pPr marL="0" indent="0" algn="ctr">
              <a:buNone/>
            </a:pPr>
            <a:r>
              <a:rPr lang="en-US" sz="1600" b="1" dirty="0">
                <a:solidFill>
                  <a:srgbClr val="1B3A6B"/>
                </a:solidFill>
                <a:latin typeface="Calibri" pitchFamily="34" charset="0"/>
                <a:ea typeface="Calibri" pitchFamily="34" charset="-122"/>
                <a:cs typeface="Calibri" pitchFamily="34" charset="-120"/>
              </a:rPr>
              <a:t>↓</a:t>
            </a:r>
            <a:endParaRPr lang="en-US" sz="1600" dirty="0"/>
          </a:p>
        </p:txBody>
      </p:sp>
      <p:sp>
        <p:nvSpPr>
          <p:cNvPr id="13" name="Shape 11">
            <a:extLst>
              <a:ext uri="{C183D7F6-B498-43B3-948B-1728B52AA6E4}">
                <adec:decorative xmlns:adec="http://schemas.microsoft.com/office/drawing/2017/decorative" val="1"/>
              </a:ext>
            </a:extLst>
          </p:cNvPr>
          <p:cNvSpPr/>
          <p:nvPr/>
        </p:nvSpPr>
        <p:spPr>
          <a:xfrm>
            <a:off x="6492240" y="2935224"/>
            <a:ext cx="5212080" cy="594360"/>
          </a:xfrm>
          <a:prstGeom prst="rect">
            <a:avLst/>
          </a:prstGeom>
          <a:solidFill>
            <a:srgbClr val="E8ECF0"/>
          </a:solidFill>
          <a:ln w="12700">
            <a:solidFill>
              <a:srgbClr val="E8ECF0"/>
            </a:solidFill>
            <a:prstDash val="solid"/>
          </a:ln>
        </p:spPr>
        <p:txBody>
          <a:bodyPr/>
          <a:lstStyle/>
          <a:p>
            <a:endParaRPr lang="en-US"/>
          </a:p>
        </p:txBody>
      </p:sp>
      <p:sp>
        <p:nvSpPr>
          <p:cNvPr id="14" name="Text 12"/>
          <p:cNvSpPr/>
          <p:nvPr/>
        </p:nvSpPr>
        <p:spPr>
          <a:xfrm>
            <a:off x="6492240" y="2935224"/>
            <a:ext cx="5212080" cy="59436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Investors lend money to government</a:t>
            </a:r>
            <a:endParaRPr lang="en-US" sz="1300" dirty="0"/>
          </a:p>
        </p:txBody>
      </p:sp>
      <p:sp>
        <p:nvSpPr>
          <p:cNvPr id="15" name="Text 13"/>
          <p:cNvSpPr/>
          <p:nvPr/>
        </p:nvSpPr>
        <p:spPr>
          <a:xfrm>
            <a:off x="8458200" y="3529584"/>
            <a:ext cx="1097280" cy="393192"/>
          </a:xfrm>
          <a:prstGeom prst="rect">
            <a:avLst/>
          </a:prstGeom>
          <a:noFill/>
          <a:ln/>
        </p:spPr>
        <p:txBody>
          <a:bodyPr wrap="square" rtlCol="0" anchor="ctr"/>
          <a:lstStyle/>
          <a:p>
            <a:pPr marL="0" indent="0" algn="ctr">
              <a:buNone/>
            </a:pPr>
            <a:r>
              <a:rPr lang="en-US" sz="1600" b="1" dirty="0">
                <a:solidFill>
                  <a:srgbClr val="1B3A6B"/>
                </a:solidFill>
                <a:latin typeface="Calibri" pitchFamily="34" charset="0"/>
                <a:ea typeface="Calibri" pitchFamily="34" charset="-122"/>
                <a:cs typeface="Calibri" pitchFamily="34" charset="-120"/>
              </a:rPr>
              <a:t>↓</a:t>
            </a:r>
            <a:endParaRPr lang="en-US" sz="1600" dirty="0"/>
          </a:p>
        </p:txBody>
      </p:sp>
      <p:sp>
        <p:nvSpPr>
          <p:cNvPr id="16" name="Shape 14">
            <a:extLst>
              <a:ext uri="{C183D7F6-B498-43B3-948B-1728B52AA6E4}">
                <adec:decorative xmlns:adec="http://schemas.microsoft.com/office/drawing/2017/decorative" val="1"/>
              </a:ext>
            </a:extLst>
          </p:cNvPr>
          <p:cNvSpPr/>
          <p:nvPr/>
        </p:nvSpPr>
        <p:spPr>
          <a:xfrm>
            <a:off x="6492240" y="3922776"/>
            <a:ext cx="5212080" cy="594360"/>
          </a:xfrm>
          <a:prstGeom prst="rect">
            <a:avLst/>
          </a:prstGeom>
          <a:solidFill>
            <a:srgbClr val="E8ECF0"/>
          </a:solidFill>
          <a:ln w="12700">
            <a:solidFill>
              <a:srgbClr val="E8ECF0"/>
            </a:solidFill>
            <a:prstDash val="solid"/>
          </a:ln>
        </p:spPr>
        <p:txBody>
          <a:bodyPr/>
          <a:lstStyle/>
          <a:p>
            <a:endParaRPr lang="en-US"/>
          </a:p>
        </p:txBody>
      </p:sp>
      <p:sp>
        <p:nvSpPr>
          <p:cNvPr id="17" name="Text 15"/>
          <p:cNvSpPr/>
          <p:nvPr/>
        </p:nvSpPr>
        <p:spPr>
          <a:xfrm>
            <a:off x="6492240" y="3922776"/>
            <a:ext cx="5212080" cy="594360"/>
          </a:xfrm>
          <a:prstGeom prst="rect">
            <a:avLst/>
          </a:prstGeom>
          <a:noFill/>
          <a:ln/>
        </p:spPr>
        <p:txBody>
          <a:bodyPr wrap="square" rtlCol="0" anchor="ctr"/>
          <a:lstStyle/>
          <a:p>
            <a:pPr marL="0" indent="0" algn="ctr">
              <a:buNone/>
            </a:pPr>
            <a:r>
              <a:rPr lang="en-US" sz="1300" dirty="0">
                <a:solidFill>
                  <a:srgbClr val="1A1A2E"/>
                </a:solidFill>
                <a:latin typeface="Calibri" pitchFamily="34" charset="0"/>
                <a:ea typeface="Calibri" pitchFamily="34" charset="-122"/>
                <a:cs typeface="Calibri" pitchFamily="34" charset="-120"/>
              </a:rPr>
              <a:t>Gov. pays back principal + interest</a:t>
            </a:r>
            <a:endParaRPr lang="en-US" sz="1300" dirty="0"/>
          </a:p>
        </p:txBody>
      </p:sp>
      <p:sp>
        <p:nvSpPr>
          <p:cNvPr id="18" name="Text 16"/>
          <p:cNvSpPr/>
          <p:nvPr/>
        </p:nvSpPr>
        <p:spPr>
          <a:xfrm>
            <a:off x="8458200" y="4517136"/>
            <a:ext cx="1097280" cy="393192"/>
          </a:xfrm>
          <a:prstGeom prst="rect">
            <a:avLst/>
          </a:prstGeom>
          <a:noFill/>
          <a:ln/>
        </p:spPr>
        <p:txBody>
          <a:bodyPr wrap="square" rtlCol="0" anchor="ctr"/>
          <a:lstStyle/>
          <a:p>
            <a:pPr marL="0" indent="0" algn="ctr">
              <a:buNone/>
            </a:pPr>
            <a:r>
              <a:rPr lang="en-US" sz="1600" b="1" dirty="0">
                <a:solidFill>
                  <a:srgbClr val="1B3A6B"/>
                </a:solidFill>
                <a:latin typeface="Calibri" pitchFamily="34" charset="0"/>
                <a:ea typeface="Calibri" pitchFamily="34" charset="-122"/>
                <a:cs typeface="Calibri" pitchFamily="34" charset="-120"/>
              </a:rPr>
              <a:t>↓</a:t>
            </a:r>
            <a:endParaRPr lang="en-US" sz="1600" dirty="0"/>
          </a:p>
        </p:txBody>
      </p:sp>
      <p:sp>
        <p:nvSpPr>
          <p:cNvPr id="19" name="Shape 17">
            <a:extLst>
              <a:ext uri="{C183D7F6-B498-43B3-948B-1728B52AA6E4}">
                <adec:decorative xmlns:adec="http://schemas.microsoft.com/office/drawing/2017/decorative" val="1"/>
              </a:ext>
            </a:extLst>
          </p:cNvPr>
          <p:cNvSpPr/>
          <p:nvPr/>
        </p:nvSpPr>
        <p:spPr>
          <a:xfrm>
            <a:off x="6492240" y="4910328"/>
            <a:ext cx="5212080" cy="594360"/>
          </a:xfrm>
          <a:prstGeom prst="rect">
            <a:avLst/>
          </a:prstGeom>
          <a:solidFill>
            <a:srgbClr val="1B3A6B"/>
          </a:solidFill>
          <a:ln w="12700">
            <a:solidFill>
              <a:srgbClr val="1B3A6B"/>
            </a:solidFill>
            <a:prstDash val="solid"/>
          </a:ln>
        </p:spPr>
        <p:txBody>
          <a:bodyPr/>
          <a:lstStyle/>
          <a:p>
            <a:endParaRPr lang="en-US"/>
          </a:p>
        </p:txBody>
      </p:sp>
      <p:sp>
        <p:nvSpPr>
          <p:cNvPr id="20" name="Text 18"/>
          <p:cNvSpPr/>
          <p:nvPr/>
        </p:nvSpPr>
        <p:spPr>
          <a:xfrm>
            <a:off x="6492240" y="4910328"/>
            <a:ext cx="521208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Outstanding bonds = National Debt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Debt/GDP Ratio: The Better Measure</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2898648" y="868680"/>
            <a:ext cx="6400800" cy="1234440"/>
          </a:xfrm>
          <a:prstGeom prst="rect">
            <a:avLst/>
          </a:prstGeom>
          <a:solidFill>
            <a:srgbClr val="1B3A6B"/>
          </a:solidFill>
          <a:ln w="12700">
            <a:solidFill>
              <a:srgbClr val="1B3A6B"/>
            </a:solidFill>
            <a:prstDash val="solid"/>
          </a:ln>
        </p:spPr>
        <p:txBody>
          <a:bodyPr/>
          <a:lstStyle/>
          <a:p>
            <a:endParaRPr lang="en-US"/>
          </a:p>
        </p:txBody>
      </p:sp>
      <p:sp>
        <p:nvSpPr>
          <p:cNvPr id="4" name="Text 2"/>
          <p:cNvSpPr/>
          <p:nvPr/>
        </p:nvSpPr>
        <p:spPr>
          <a:xfrm>
            <a:off x="2898648" y="868680"/>
            <a:ext cx="6400800" cy="82296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~120%</a:t>
            </a:r>
            <a:endParaRPr lang="en-US" sz="5200" dirty="0"/>
          </a:p>
        </p:txBody>
      </p:sp>
      <p:sp>
        <p:nvSpPr>
          <p:cNvPr id="5" name="Text 3"/>
          <p:cNvSpPr/>
          <p:nvPr/>
        </p:nvSpPr>
        <p:spPr>
          <a:xfrm>
            <a:off x="2898648" y="1664208"/>
            <a:ext cx="6400800" cy="347472"/>
          </a:xfrm>
          <a:prstGeom prst="rect">
            <a:avLst/>
          </a:prstGeom>
          <a:noFill/>
          <a:ln/>
        </p:spPr>
        <p:txBody>
          <a:bodyPr wrap="square" rtlCol="0" anchor="ctr"/>
          <a:lstStyle/>
          <a:p>
            <a:pPr marL="0" indent="0" algn="ctr">
              <a:buNone/>
            </a:pPr>
            <a:r>
              <a:rPr lang="en-US" sz="1300" dirty="0">
                <a:solidFill>
                  <a:srgbClr val="C9D8F0"/>
                </a:solidFill>
                <a:latin typeface="Calibri" pitchFamily="34" charset="0"/>
                <a:ea typeface="Calibri" pitchFamily="34" charset="-122"/>
                <a:cs typeface="Calibri" pitchFamily="34" charset="-120"/>
              </a:rPr>
              <a:t>Current U.S. federal debt as % of GDP</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457200" y="2240280"/>
            <a:ext cx="11274552" cy="1097280"/>
          </a:xfrm>
          <a:prstGeom prst="rect">
            <a:avLst/>
          </a:prstGeom>
          <a:solidFill>
            <a:srgbClr val="D6E4F0"/>
          </a:solidFill>
          <a:ln w="12700">
            <a:solidFill>
              <a:srgbClr val="D6E4F0"/>
            </a:solidFill>
            <a:prstDash val="solid"/>
          </a:ln>
        </p:spPr>
        <p:txBody>
          <a:bodyPr/>
          <a:lstStyle/>
          <a:p>
            <a:endParaRPr lang="en-US"/>
          </a:p>
        </p:txBody>
      </p:sp>
      <p:sp>
        <p:nvSpPr>
          <p:cNvPr id="7" name="Text 5"/>
          <p:cNvSpPr/>
          <p:nvPr/>
        </p:nvSpPr>
        <p:spPr>
          <a:xfrm>
            <a:off x="594360" y="2295144"/>
            <a:ext cx="10972800" cy="347472"/>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Why % of GDP matters more than raw dollars</a:t>
            </a:r>
            <a:endParaRPr lang="en-US" sz="1400" dirty="0"/>
          </a:p>
        </p:txBody>
      </p:sp>
      <p:sp>
        <p:nvSpPr>
          <p:cNvPr id="8" name="Text 6"/>
          <p:cNvSpPr/>
          <p:nvPr/>
        </p:nvSpPr>
        <p:spPr>
          <a:xfrm>
            <a:off x="594360" y="2660904"/>
            <a:ext cx="10972800" cy="621792"/>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A $30T debt means different things to a $25T economy vs. a $50T economy — just as a $300,000 mortgage is different for someone earning $40K vs. $150K/year</a:t>
            </a:r>
            <a:endParaRPr lang="en-US" sz="1300" dirty="0"/>
          </a:p>
        </p:txBody>
      </p:sp>
      <p:sp>
        <p:nvSpPr>
          <p:cNvPr id="9" name="Shape 7">
            <a:extLst>
              <a:ext uri="{C183D7F6-B498-43B3-948B-1728B52AA6E4}">
                <adec:decorative xmlns:adec="http://schemas.microsoft.com/office/drawing/2017/decorative" val="1"/>
              </a:ext>
            </a:extLst>
          </p:cNvPr>
          <p:cNvSpPr/>
          <p:nvPr/>
        </p:nvSpPr>
        <p:spPr>
          <a:xfrm>
            <a:off x="457200" y="3474720"/>
            <a:ext cx="11274552" cy="1097280"/>
          </a:xfrm>
          <a:prstGeom prst="rect">
            <a:avLst/>
          </a:prstGeom>
          <a:solidFill>
            <a:srgbClr val="E8ECF0"/>
          </a:solidFill>
          <a:ln w="12700">
            <a:solidFill>
              <a:srgbClr val="E8ECF0"/>
            </a:solidFill>
            <a:prstDash val="solid"/>
          </a:ln>
        </p:spPr>
        <p:txBody>
          <a:bodyPr/>
          <a:lstStyle/>
          <a:p>
            <a:endParaRPr lang="en-US"/>
          </a:p>
        </p:txBody>
      </p:sp>
      <p:sp>
        <p:nvSpPr>
          <p:cNvPr id="10" name="Text 8"/>
          <p:cNvSpPr/>
          <p:nvPr/>
        </p:nvSpPr>
        <p:spPr>
          <a:xfrm>
            <a:off x="594360" y="3529584"/>
            <a:ext cx="10972800" cy="347472"/>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When deficits don't necessarily grow the ratio</a:t>
            </a:r>
            <a:endParaRPr lang="en-US" sz="1400" dirty="0"/>
          </a:p>
        </p:txBody>
      </p:sp>
      <p:sp>
        <p:nvSpPr>
          <p:cNvPr id="11" name="Text 9"/>
          <p:cNvSpPr/>
          <p:nvPr/>
        </p:nvSpPr>
        <p:spPr>
          <a:xfrm>
            <a:off x="594360" y="3895344"/>
            <a:ext cx="10972800" cy="621792"/>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If GDP grows faster than the debt, the ratio falls — this happened from WWII through the 1970s despite almost continuous annual deficits</a:t>
            </a:r>
            <a:endParaRPr lang="en-US" sz="1300" dirty="0"/>
          </a:p>
        </p:txBody>
      </p:sp>
      <p:sp>
        <p:nvSpPr>
          <p:cNvPr id="12" name="Shape 10">
            <a:extLst>
              <a:ext uri="{C183D7F6-B498-43B3-948B-1728B52AA6E4}">
                <adec:decorative xmlns:adec="http://schemas.microsoft.com/office/drawing/2017/decorative" val="1"/>
              </a:ext>
            </a:extLst>
          </p:cNvPr>
          <p:cNvSpPr/>
          <p:nvPr/>
        </p:nvSpPr>
        <p:spPr>
          <a:xfrm>
            <a:off x="457200" y="4709160"/>
            <a:ext cx="11274552" cy="1097280"/>
          </a:xfrm>
          <a:prstGeom prst="rect">
            <a:avLst/>
          </a:prstGeom>
          <a:solidFill>
            <a:srgbClr val="D6E4F0"/>
          </a:solidFill>
          <a:ln w="12700">
            <a:solidFill>
              <a:srgbClr val="D6E4F0"/>
            </a:solidFill>
            <a:prstDash val="solid"/>
          </a:ln>
        </p:spPr>
        <p:txBody>
          <a:bodyPr/>
          <a:lstStyle/>
          <a:p>
            <a:endParaRPr lang="en-US"/>
          </a:p>
        </p:txBody>
      </p:sp>
      <p:sp>
        <p:nvSpPr>
          <p:cNvPr id="13" name="Text 11"/>
          <p:cNvSpPr/>
          <p:nvPr/>
        </p:nvSpPr>
        <p:spPr>
          <a:xfrm>
            <a:off x="594360" y="4764024"/>
            <a:ext cx="10972800" cy="347472"/>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When to be concerned</a:t>
            </a:r>
            <a:endParaRPr lang="en-US" sz="1400" dirty="0"/>
          </a:p>
        </p:txBody>
      </p:sp>
      <p:sp>
        <p:nvSpPr>
          <p:cNvPr id="14" name="Text 12"/>
          <p:cNvSpPr/>
          <p:nvPr/>
        </p:nvSpPr>
        <p:spPr>
          <a:xfrm>
            <a:off x="594360" y="5129784"/>
            <a:ext cx="10972800" cy="621792"/>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Ratio spikes: WWII, 1980s, 2008–09 Great Recession, 2020 pandemic. Sustained structural deficits during good times are the red flag.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Expansionary vs. Contractionary Fiscal Policy</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365760" y="960120"/>
            <a:ext cx="5394960" cy="4114800"/>
          </a:xfrm>
          <a:prstGeom prst="rect">
            <a:avLst/>
          </a:prstGeom>
          <a:solidFill>
            <a:srgbClr val="D6E4F0"/>
          </a:solidFill>
          <a:ln w="12700">
            <a:solidFill>
              <a:srgbClr val="D6E4F0"/>
            </a:solidFill>
            <a:prstDash val="solid"/>
          </a:ln>
        </p:spPr>
        <p:txBody>
          <a:bodyPr/>
          <a:lstStyle/>
          <a:p>
            <a:endParaRPr lang="en-US"/>
          </a:p>
        </p:txBody>
      </p:sp>
      <p:sp>
        <p:nvSpPr>
          <p:cNvPr id="4" name="Text 2"/>
          <p:cNvSpPr/>
          <p:nvPr/>
        </p:nvSpPr>
        <p:spPr>
          <a:xfrm>
            <a:off x="502920" y="1024128"/>
            <a:ext cx="5120640" cy="384048"/>
          </a:xfrm>
          <a:prstGeom prst="rect">
            <a:avLst/>
          </a:prstGeom>
          <a:noFill/>
          <a:ln/>
        </p:spPr>
        <p:txBody>
          <a:bodyPr wrap="square" rtlCol="0" anchor="ctr"/>
          <a:lstStyle/>
          <a:p>
            <a:pPr marL="0" indent="0">
              <a:buNone/>
            </a:pPr>
            <a:r>
              <a:rPr lang="en-US" sz="1800" b="1" dirty="0">
                <a:solidFill>
                  <a:srgbClr val="1B3A6B"/>
                </a:solidFill>
                <a:latin typeface="Calibri" pitchFamily="34" charset="0"/>
                <a:ea typeface="Calibri" pitchFamily="34" charset="-122"/>
                <a:cs typeface="Calibri" pitchFamily="34" charset="-120"/>
              </a:rPr>
              <a:t>EXPANSIONARY</a:t>
            </a:r>
            <a:endParaRPr lang="en-US" sz="1800" dirty="0"/>
          </a:p>
        </p:txBody>
      </p:sp>
      <p:sp>
        <p:nvSpPr>
          <p:cNvPr id="5" name="Text 3"/>
          <p:cNvSpPr/>
          <p:nvPr/>
        </p:nvSpPr>
        <p:spPr>
          <a:xfrm>
            <a:off x="502920" y="1463040"/>
            <a:ext cx="5120640" cy="3474720"/>
          </a:xfrm>
          <a:prstGeom prst="rect">
            <a:avLst/>
          </a:prstGeom>
          <a:noFill/>
          <a:ln/>
        </p:spPr>
        <p:txBody>
          <a:bodyPr wrap="square" rtlCol="0" anchor="t"/>
          <a:lstStyle/>
          <a:p>
            <a:pPr marL="0" indent="0">
              <a:buNone/>
            </a:pPr>
            <a:r>
              <a:rPr lang="en-US" sz="1300" b="1" dirty="0">
                <a:solidFill>
                  <a:srgbClr val="1A1A2E"/>
                </a:solidFill>
                <a:latin typeface="Calibri" pitchFamily="34" charset="0"/>
                <a:ea typeface="Calibri" pitchFamily="34" charset="-122"/>
                <a:cs typeface="Calibri" pitchFamily="34" charset="-120"/>
              </a:rPr>
              <a:t>Goal: </a:t>
            </a:r>
            <a:r>
              <a:rPr lang="en-US" sz="1300" dirty="0">
                <a:solidFill>
                  <a:srgbClr val="1A1A2E"/>
                </a:solidFill>
                <a:latin typeface="Calibri" pitchFamily="34" charset="0"/>
                <a:ea typeface="Calibri" pitchFamily="34" charset="-122"/>
                <a:cs typeface="Calibri" pitchFamily="34" charset="-120"/>
              </a:rPr>
              <a:t>Boost aggregate demand
</a:t>
            </a:r>
            <a:r>
              <a:rPr lang="en-US" sz="1300" b="1" dirty="0">
                <a:solidFill>
                  <a:srgbClr val="1A1A2E"/>
                </a:solidFill>
                <a:latin typeface="Calibri" pitchFamily="34" charset="0"/>
                <a:ea typeface="Calibri" pitchFamily="34" charset="-122"/>
                <a:cs typeface="Calibri" pitchFamily="34" charset="-120"/>
              </a:rPr>
              <a:t>Tools:
</a:t>
            </a:r>
            <a:r>
              <a:rPr lang="en-US" sz="1300" dirty="0">
                <a:solidFill>
                  <a:srgbClr val="1A1A2E"/>
                </a:solidFill>
                <a:latin typeface="Calibri" pitchFamily="34" charset="0"/>
                <a:ea typeface="Calibri" pitchFamily="34" charset="-122"/>
                <a:cs typeface="Calibri" pitchFamily="34" charset="-120"/>
              </a:rPr>
              <a:t>  • ↑ Government spending
  • ↓ Taxes (more disposable income → more spending &amp; investment)
</a:t>
            </a:r>
            <a:r>
              <a:rPr lang="en-US" sz="1300" b="1" dirty="0">
                <a:solidFill>
                  <a:srgbClr val="1A1A2E"/>
                </a:solidFill>
                <a:latin typeface="Calibri" pitchFamily="34" charset="0"/>
                <a:ea typeface="Calibri" pitchFamily="34" charset="-122"/>
                <a:cs typeface="Calibri" pitchFamily="34" charset="-120"/>
              </a:rPr>
              <a:t>Use when: </a:t>
            </a:r>
            <a:r>
              <a:rPr lang="en-US" sz="1300" dirty="0">
                <a:solidFill>
                  <a:srgbClr val="1A1A2E"/>
                </a:solidFill>
                <a:latin typeface="Calibri" pitchFamily="34" charset="0"/>
                <a:ea typeface="Calibri" pitchFamily="34" charset="-122"/>
                <a:cs typeface="Calibri" pitchFamily="34" charset="-120"/>
              </a:rPr>
              <a:t>Economy below potential GDP (recession)
</a:t>
            </a:r>
            <a:r>
              <a:rPr lang="en-US" sz="1300" b="1" dirty="0">
                <a:solidFill>
                  <a:srgbClr val="1A1A2E"/>
                </a:solidFill>
                <a:latin typeface="Calibri" pitchFamily="34" charset="0"/>
                <a:ea typeface="Calibri" pitchFamily="34" charset="-122"/>
                <a:cs typeface="Calibri" pitchFamily="34" charset="-120"/>
              </a:rPr>
              <a:t>Real examples: </a:t>
            </a:r>
            <a:r>
              <a:rPr lang="en-US" sz="1300" dirty="0">
                <a:solidFill>
                  <a:srgbClr val="1A1A2E"/>
                </a:solidFill>
                <a:latin typeface="Calibri" pitchFamily="34" charset="0"/>
                <a:ea typeface="Calibri" pitchFamily="34" charset="-122"/>
                <a:cs typeface="Calibri" pitchFamily="34" charset="-120"/>
              </a:rPr>
              <a:t>2009 Obama stimulus ($830B); 2020 COVID relief packages</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6400800" y="960120"/>
            <a:ext cx="5394960" cy="4114800"/>
          </a:xfrm>
          <a:prstGeom prst="rect">
            <a:avLst/>
          </a:prstGeom>
          <a:solidFill>
            <a:srgbClr val="E8ECF0"/>
          </a:solidFill>
          <a:ln w="12700">
            <a:solidFill>
              <a:srgbClr val="E8ECF0"/>
            </a:solidFill>
            <a:prstDash val="solid"/>
          </a:ln>
        </p:spPr>
        <p:txBody>
          <a:bodyPr/>
          <a:lstStyle/>
          <a:p>
            <a:endParaRPr lang="en-US"/>
          </a:p>
        </p:txBody>
      </p:sp>
      <p:sp>
        <p:nvSpPr>
          <p:cNvPr id="7" name="Text 5"/>
          <p:cNvSpPr/>
          <p:nvPr/>
        </p:nvSpPr>
        <p:spPr>
          <a:xfrm>
            <a:off x="6537960" y="1024128"/>
            <a:ext cx="5120640" cy="384048"/>
          </a:xfrm>
          <a:prstGeom prst="rect">
            <a:avLst/>
          </a:prstGeom>
          <a:noFill/>
          <a:ln/>
        </p:spPr>
        <p:txBody>
          <a:bodyPr wrap="square" rtlCol="0" anchor="ctr"/>
          <a:lstStyle/>
          <a:p>
            <a:pPr marL="0" indent="0">
              <a:buNone/>
            </a:pPr>
            <a:r>
              <a:rPr lang="en-US" sz="1800" b="1" dirty="0">
                <a:solidFill>
                  <a:srgbClr val="1B3A6B"/>
                </a:solidFill>
                <a:latin typeface="Calibri" pitchFamily="34" charset="0"/>
                <a:ea typeface="Calibri" pitchFamily="34" charset="-122"/>
                <a:cs typeface="Calibri" pitchFamily="34" charset="-120"/>
              </a:rPr>
              <a:t>CONTRACTIONARY</a:t>
            </a:r>
            <a:endParaRPr lang="en-US" sz="1800" dirty="0"/>
          </a:p>
        </p:txBody>
      </p:sp>
      <p:sp>
        <p:nvSpPr>
          <p:cNvPr id="8" name="Text 6"/>
          <p:cNvSpPr/>
          <p:nvPr/>
        </p:nvSpPr>
        <p:spPr>
          <a:xfrm>
            <a:off x="6537960" y="1463040"/>
            <a:ext cx="5120640" cy="3474720"/>
          </a:xfrm>
          <a:prstGeom prst="rect">
            <a:avLst/>
          </a:prstGeom>
          <a:noFill/>
          <a:ln/>
        </p:spPr>
        <p:txBody>
          <a:bodyPr wrap="square" rtlCol="0" anchor="t"/>
          <a:lstStyle/>
          <a:p>
            <a:pPr marL="0" indent="0">
              <a:buNone/>
            </a:pPr>
            <a:r>
              <a:rPr lang="en-US" sz="1300" b="1" dirty="0">
                <a:solidFill>
                  <a:srgbClr val="1A1A2E"/>
                </a:solidFill>
                <a:latin typeface="Calibri" pitchFamily="34" charset="0"/>
                <a:ea typeface="Calibri" pitchFamily="34" charset="-122"/>
                <a:cs typeface="Calibri" pitchFamily="34" charset="-120"/>
              </a:rPr>
              <a:t>Goal: </a:t>
            </a:r>
            <a:r>
              <a:rPr lang="en-US" sz="1300" dirty="0">
                <a:solidFill>
                  <a:srgbClr val="1A1A2E"/>
                </a:solidFill>
                <a:latin typeface="Calibri" pitchFamily="34" charset="0"/>
                <a:ea typeface="Calibri" pitchFamily="34" charset="-122"/>
                <a:cs typeface="Calibri" pitchFamily="34" charset="-120"/>
              </a:rPr>
              <a:t>Reduce aggregate demand
</a:t>
            </a:r>
            <a:r>
              <a:rPr lang="en-US" sz="1300" b="1" dirty="0">
                <a:solidFill>
                  <a:srgbClr val="1A1A2E"/>
                </a:solidFill>
                <a:latin typeface="Calibri" pitchFamily="34" charset="0"/>
                <a:ea typeface="Calibri" pitchFamily="34" charset="-122"/>
                <a:cs typeface="Calibri" pitchFamily="34" charset="-120"/>
              </a:rPr>
              <a:t>Tools:
</a:t>
            </a:r>
            <a:r>
              <a:rPr lang="en-US" sz="1300" dirty="0">
                <a:solidFill>
                  <a:srgbClr val="1A1A2E"/>
                </a:solidFill>
                <a:latin typeface="Calibri" pitchFamily="34" charset="0"/>
                <a:ea typeface="Calibri" pitchFamily="34" charset="-122"/>
                <a:cs typeface="Calibri" pitchFamily="34" charset="-120"/>
              </a:rPr>
              <a:t>  • ↓ Government spending
  • ↑ Taxes (less disposable income → less spending)
</a:t>
            </a:r>
            <a:r>
              <a:rPr lang="en-US" sz="1300" b="1" dirty="0">
                <a:solidFill>
                  <a:srgbClr val="1A1A2E"/>
                </a:solidFill>
                <a:latin typeface="Calibri" pitchFamily="34" charset="0"/>
                <a:ea typeface="Calibri" pitchFamily="34" charset="-122"/>
                <a:cs typeface="Calibri" pitchFamily="34" charset="-120"/>
              </a:rPr>
              <a:t>Use when: </a:t>
            </a:r>
            <a:r>
              <a:rPr lang="en-US" sz="1300" dirty="0">
                <a:solidFill>
                  <a:srgbClr val="1A1A2E"/>
                </a:solidFill>
                <a:latin typeface="Calibri" pitchFamily="34" charset="0"/>
                <a:ea typeface="Calibri" pitchFamily="34" charset="-122"/>
                <a:cs typeface="Calibri" pitchFamily="34" charset="-120"/>
              </a:rPr>
              <a:t>Economy above potential GDP (overheating, inflation)
</a:t>
            </a:r>
            <a:r>
              <a:rPr lang="en-US" sz="1300" b="1" dirty="0">
                <a:solidFill>
                  <a:srgbClr val="1A1A2E"/>
                </a:solidFill>
                <a:latin typeface="Calibri" pitchFamily="34" charset="0"/>
                <a:ea typeface="Calibri" pitchFamily="34" charset="-122"/>
                <a:cs typeface="Calibri" pitchFamily="34" charset="-120"/>
              </a:rPr>
              <a:t>Real example: </a:t>
            </a:r>
            <a:r>
              <a:rPr lang="en-US" sz="1300" dirty="0">
                <a:solidFill>
                  <a:srgbClr val="1A1A2E"/>
                </a:solidFill>
                <a:latin typeface="Calibri" pitchFamily="34" charset="0"/>
                <a:ea typeface="Calibri" pitchFamily="34" charset="-122"/>
                <a:cs typeface="Calibri" pitchFamily="34" charset="-120"/>
              </a:rPr>
              <a:t>Raising taxes or cutting spending during boom periods</a:t>
            </a:r>
            <a:endParaRPr lang="en-US" sz="1300" dirty="0"/>
          </a:p>
        </p:txBody>
      </p:sp>
      <p:sp>
        <p:nvSpPr>
          <p:cNvPr id="9" name="Shape 7">
            <a:extLst>
              <a:ext uri="{C183D7F6-B498-43B3-948B-1728B52AA6E4}">
                <adec:decorative xmlns:adec="http://schemas.microsoft.com/office/drawing/2017/decorative" val="1"/>
              </a:ext>
            </a:extLst>
          </p:cNvPr>
          <p:cNvSpPr/>
          <p:nvPr/>
        </p:nvSpPr>
        <p:spPr>
          <a:xfrm>
            <a:off x="365760" y="5193792"/>
            <a:ext cx="11430000" cy="502920"/>
          </a:xfrm>
          <a:prstGeom prst="rect">
            <a:avLst/>
          </a:prstGeom>
          <a:solidFill>
            <a:srgbClr val="1B3A6B"/>
          </a:solidFill>
          <a:ln w="12700">
            <a:solidFill>
              <a:srgbClr val="1B3A6B"/>
            </a:solidFill>
            <a:prstDash val="solid"/>
          </a:ln>
        </p:spPr>
        <p:txBody>
          <a:bodyPr/>
          <a:lstStyle/>
          <a:p>
            <a:endParaRPr lang="en-US"/>
          </a:p>
        </p:txBody>
      </p:sp>
      <p:sp>
        <p:nvSpPr>
          <p:cNvPr id="10" name="Text 8"/>
          <p:cNvSpPr/>
          <p:nvPr/>
        </p:nvSpPr>
        <p:spPr>
          <a:xfrm>
            <a:off x="365760" y="5193792"/>
            <a:ext cx="11430000" cy="50292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Conservatives tend to prefer tax cuts; progressives tend to prefer spending increases — both shift AD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AD/AS: Fighting a Recession</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914400" y="4892040"/>
            <a:ext cx="7132320" cy="0"/>
          </a:xfrm>
          <a:prstGeom prst="line">
            <a:avLst/>
          </a:prstGeom>
          <a:noFill/>
          <a:ln w="25400">
            <a:solidFill>
              <a:srgbClr val="333333"/>
            </a:solidFill>
            <a:prstDash val="solid"/>
          </a:ln>
        </p:spPr>
        <p:txBody>
          <a:bodyPr/>
          <a:lstStyle/>
          <a:p>
            <a:endParaRPr lang="en-US"/>
          </a:p>
        </p:txBody>
      </p:sp>
      <p:sp>
        <p:nvSpPr>
          <p:cNvPr id="4" name="Shape 2">
            <a:extLst>
              <a:ext uri="{C183D7F6-B498-43B3-948B-1728B52AA6E4}">
                <adec:decorative xmlns:adec="http://schemas.microsoft.com/office/drawing/2017/decorative" val="1"/>
              </a:ext>
            </a:extLst>
          </p:cNvPr>
          <p:cNvSpPr/>
          <p:nvPr/>
        </p:nvSpPr>
        <p:spPr>
          <a:xfrm>
            <a:off x="914400" y="960120"/>
            <a:ext cx="0" cy="3931920"/>
          </a:xfrm>
          <a:prstGeom prst="line">
            <a:avLst/>
          </a:prstGeom>
          <a:noFill/>
          <a:ln w="25400">
            <a:solidFill>
              <a:srgbClr val="333333"/>
            </a:solidFill>
            <a:prstDash val="solid"/>
          </a:ln>
        </p:spPr>
        <p:txBody>
          <a:bodyPr/>
          <a:lstStyle/>
          <a:p>
            <a:endParaRPr lang="en-US"/>
          </a:p>
        </p:txBody>
      </p:sp>
      <p:sp>
        <p:nvSpPr>
          <p:cNvPr id="5" name="Text 3">
            <a:extLst>
              <a:ext uri="{C183D7F6-B498-43B3-948B-1728B52AA6E4}">
                <adec:decorative xmlns:adec="http://schemas.microsoft.com/office/drawing/2017/decorative" val="1"/>
              </a:ext>
            </a:extLst>
          </p:cNvPr>
          <p:cNvSpPr/>
          <p:nvPr/>
        </p:nvSpPr>
        <p:spPr>
          <a:xfrm>
            <a:off x="137161" y="850392"/>
            <a:ext cx="777240" cy="640080"/>
          </a:xfrm>
          <a:prstGeom prst="rect">
            <a:avLst/>
          </a:prstGeom>
          <a:noFill/>
          <a:ln/>
        </p:spPr>
        <p:txBody>
          <a:bodyPr wrap="square"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Price</a:t>
            </a:r>
            <a:endParaRPr lang="en-US" sz="1200" dirty="0"/>
          </a:p>
          <a:p>
            <a:pPr marL="0" indent="0" algn="ctr">
              <a:buNone/>
            </a:pPr>
            <a:r>
              <a:rPr lang="en-US" sz="1200" b="1" dirty="0">
                <a:solidFill>
                  <a:srgbClr val="1A1A2E"/>
                </a:solidFill>
                <a:latin typeface="Calibri" pitchFamily="34" charset="0"/>
                <a:ea typeface="Calibri" pitchFamily="34" charset="-122"/>
                <a:cs typeface="Calibri" pitchFamily="34" charset="-120"/>
              </a:rPr>
              <a:t>Level</a:t>
            </a:r>
            <a:endParaRPr lang="en-US" sz="1200" dirty="0"/>
          </a:p>
        </p:txBody>
      </p:sp>
      <p:sp>
        <p:nvSpPr>
          <p:cNvPr id="6" name="Text 4">
            <a:extLst>
              <a:ext uri="{C183D7F6-B498-43B3-948B-1728B52AA6E4}">
                <adec:decorative xmlns:adec="http://schemas.microsoft.com/office/drawing/2017/decorative" val="1"/>
              </a:ext>
            </a:extLst>
          </p:cNvPr>
          <p:cNvSpPr/>
          <p:nvPr/>
        </p:nvSpPr>
        <p:spPr>
          <a:xfrm>
            <a:off x="7772400" y="4937760"/>
            <a:ext cx="1005840" cy="320040"/>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Real GDP</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5029200" y="960120"/>
            <a:ext cx="0" cy="3931920"/>
          </a:xfrm>
          <a:prstGeom prst="line">
            <a:avLst/>
          </a:prstGeom>
          <a:noFill/>
          <a:ln w="25400">
            <a:solidFill>
              <a:srgbClr val="1B3A6B"/>
            </a:solidFill>
            <a:prstDash val="dash"/>
          </a:ln>
        </p:spPr>
        <p:txBody>
          <a:bodyPr/>
          <a:lstStyle/>
          <a:p>
            <a:endParaRPr lang="en-US"/>
          </a:p>
        </p:txBody>
      </p:sp>
      <p:sp>
        <p:nvSpPr>
          <p:cNvPr id="8" name="Text 6">
            <a:extLst>
              <a:ext uri="{C183D7F6-B498-43B3-948B-1728B52AA6E4}">
                <adec:decorative xmlns:adec="http://schemas.microsoft.com/office/drawing/2017/decorative" val="1"/>
              </a:ext>
            </a:extLst>
          </p:cNvPr>
          <p:cNvSpPr/>
          <p:nvPr/>
        </p:nvSpPr>
        <p:spPr>
          <a:xfrm>
            <a:off x="5102352" y="640080"/>
            <a:ext cx="82296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LRAS</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1645920" y="4617720"/>
            <a:ext cx="5669280" cy="0"/>
          </a:xfrm>
          <a:prstGeom prst="line">
            <a:avLst/>
          </a:prstGeom>
          <a:noFill/>
          <a:ln w="25400">
            <a:solidFill>
              <a:srgbClr val="555555"/>
            </a:solidFill>
            <a:prstDash val="solid"/>
          </a:ln>
        </p:spPr>
        <p:txBody>
          <a:bodyPr/>
          <a:lstStyle/>
          <a:p>
            <a:endParaRPr lang="en-US"/>
          </a:p>
        </p:txBody>
      </p:sp>
      <p:sp>
        <p:nvSpPr>
          <p:cNvPr id="10" name="Text 8">
            <a:extLst>
              <a:ext uri="{C183D7F6-B498-43B3-948B-1728B52AA6E4}">
                <adec:decorative xmlns:adec="http://schemas.microsoft.com/office/drawing/2017/decorative" val="1"/>
              </a:ext>
            </a:extLst>
          </p:cNvPr>
          <p:cNvSpPr/>
          <p:nvPr/>
        </p:nvSpPr>
        <p:spPr>
          <a:xfrm>
            <a:off x="7132320" y="1143000"/>
            <a:ext cx="822960" cy="320040"/>
          </a:xfrm>
          <a:prstGeom prst="rect">
            <a:avLst/>
          </a:prstGeom>
          <a:noFill/>
          <a:ln/>
        </p:spPr>
        <p:txBody>
          <a:bodyPr wrap="square" rtlCol="0" anchor="ctr"/>
          <a:lstStyle/>
          <a:p>
            <a:pPr marL="0" indent="0">
              <a:buNone/>
            </a:pPr>
            <a:r>
              <a:rPr lang="en-US" sz="1200" b="1" dirty="0">
                <a:solidFill>
                  <a:srgbClr val="555555"/>
                </a:solidFill>
                <a:latin typeface="Calibri" pitchFamily="34" charset="0"/>
                <a:ea typeface="Calibri" pitchFamily="34" charset="-122"/>
                <a:cs typeface="Calibri" pitchFamily="34" charset="-120"/>
              </a:rPr>
              <a:t>SRAS₀</a:t>
            </a:r>
            <a:endParaRPr lang="en-US" sz="1200" dirty="0"/>
          </a:p>
        </p:txBody>
      </p:sp>
      <p:sp>
        <p:nvSpPr>
          <p:cNvPr id="11" name="Shape 9">
            <a:extLst>
              <a:ext uri="{C183D7F6-B498-43B3-948B-1728B52AA6E4}">
                <adec:decorative xmlns:adec="http://schemas.microsoft.com/office/drawing/2017/decorative" val="1"/>
              </a:ext>
            </a:extLst>
          </p:cNvPr>
          <p:cNvSpPr/>
          <p:nvPr/>
        </p:nvSpPr>
        <p:spPr>
          <a:xfrm>
            <a:off x="1371600" y="1691640"/>
            <a:ext cx="4389120" cy="2834640"/>
          </a:xfrm>
          <a:prstGeom prst="line">
            <a:avLst/>
          </a:prstGeom>
          <a:noFill/>
          <a:ln w="25400">
            <a:solidFill>
              <a:srgbClr val="1B3A6B"/>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5640186" y="4351712"/>
            <a:ext cx="64008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AD₀</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2743200" y="1691640"/>
            <a:ext cx="4389120" cy="2834640"/>
          </a:xfrm>
          <a:prstGeom prst="line">
            <a:avLst/>
          </a:prstGeom>
          <a:noFill/>
          <a:ln w="25400">
            <a:solidFill>
              <a:srgbClr val="2E7D32"/>
            </a:solidFill>
            <a:prstDash val="sysDot"/>
          </a:ln>
        </p:spPr>
        <p:txBody>
          <a:bodyPr/>
          <a:lstStyle/>
          <a:p>
            <a:endParaRPr lang="en-US"/>
          </a:p>
        </p:txBody>
      </p:sp>
      <p:sp>
        <p:nvSpPr>
          <p:cNvPr id="14" name="Text 12">
            <a:extLst>
              <a:ext uri="{C183D7F6-B498-43B3-948B-1728B52AA6E4}">
                <adec:decorative xmlns:adec="http://schemas.microsoft.com/office/drawing/2017/decorative" val="1"/>
              </a:ext>
            </a:extLst>
          </p:cNvPr>
          <p:cNvSpPr/>
          <p:nvPr/>
        </p:nvSpPr>
        <p:spPr>
          <a:xfrm>
            <a:off x="7053350" y="4351712"/>
            <a:ext cx="640080" cy="32004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AD₁</a:t>
            </a:r>
            <a:endParaRPr lang="en-US" sz="1200" dirty="0"/>
          </a:p>
        </p:txBody>
      </p:sp>
      <p:sp>
        <p:nvSpPr>
          <p:cNvPr id="15" name="Shape 13">
            <a:extLst>
              <a:ext uri="{C183D7F6-B498-43B3-948B-1728B52AA6E4}">
                <adec:decorative xmlns:adec="http://schemas.microsoft.com/office/drawing/2017/decorative" val="1"/>
              </a:ext>
            </a:extLst>
          </p:cNvPr>
          <p:cNvSpPr/>
          <p:nvPr/>
        </p:nvSpPr>
        <p:spPr>
          <a:xfrm>
            <a:off x="3474720" y="1965960"/>
            <a:ext cx="1280160" cy="0"/>
          </a:xfrm>
          <a:prstGeom prst="line">
            <a:avLst/>
          </a:prstGeom>
          <a:noFill/>
          <a:ln w="25400">
            <a:solidFill>
              <a:srgbClr val="2E7D32"/>
            </a:solidFill>
            <a:prstDash val="solid"/>
          </a:ln>
        </p:spPr>
        <p:txBody>
          <a:bodyPr/>
          <a:lstStyle/>
          <a:p>
            <a:endParaRPr lang="en-US"/>
          </a:p>
        </p:txBody>
      </p:sp>
      <p:sp>
        <p:nvSpPr>
          <p:cNvPr id="16" name="Text 14">
            <a:extLst>
              <a:ext uri="{C183D7F6-B498-43B3-948B-1728B52AA6E4}">
                <adec:decorative xmlns:adec="http://schemas.microsoft.com/office/drawing/2017/decorative" val="1"/>
              </a:ext>
            </a:extLst>
          </p:cNvPr>
          <p:cNvSpPr/>
          <p:nvPr/>
        </p:nvSpPr>
        <p:spPr>
          <a:xfrm>
            <a:off x="4515729" y="1807112"/>
            <a:ext cx="365760" cy="315467"/>
          </a:xfrm>
          <a:prstGeom prst="rect">
            <a:avLst/>
          </a:prstGeom>
          <a:noFill/>
          <a:ln/>
        </p:spPr>
        <p:txBody>
          <a:bodyPr wrap="square" rtlCol="0" anchor="ctr"/>
          <a:lstStyle/>
          <a:p>
            <a:pPr marL="0" indent="0">
              <a:buNone/>
            </a:pPr>
            <a:r>
              <a:rPr lang="en-US" sz="1800" b="1" dirty="0">
                <a:solidFill>
                  <a:srgbClr val="2E7D32"/>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2651760" y="1325880"/>
            <a:ext cx="2377440" cy="594360"/>
          </a:xfrm>
          <a:prstGeom prst="rect">
            <a:avLst/>
          </a:prstGeom>
          <a:noFill/>
          <a:ln/>
        </p:spPr>
        <p:txBody>
          <a:bodyPr wrap="square"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Expansionary</a:t>
            </a:r>
            <a:endParaRPr lang="en-US" sz="1100" dirty="0"/>
          </a:p>
          <a:p>
            <a:pPr marL="0" indent="0" algn="ctr">
              <a:buNone/>
            </a:pPr>
            <a:r>
              <a:rPr lang="en-US" sz="1100" b="1" dirty="0">
                <a:solidFill>
                  <a:srgbClr val="2E7D32"/>
                </a:solidFill>
                <a:latin typeface="Calibri" pitchFamily="34" charset="0"/>
                <a:ea typeface="Calibri" pitchFamily="34" charset="-122"/>
                <a:cs typeface="Calibri" pitchFamily="34" charset="-120"/>
              </a:rPr>
              <a:t>Fiscal Policy</a:t>
            </a:r>
            <a:endParaRPr lang="en-US" sz="1100" dirty="0"/>
          </a:p>
        </p:txBody>
      </p:sp>
      <p:sp>
        <p:nvSpPr>
          <p:cNvPr id="18" name="Shape 16">
            <a:extLst>
              <a:ext uri="{C183D7F6-B498-43B3-948B-1728B52AA6E4}">
                <adec:decorative xmlns:adec="http://schemas.microsoft.com/office/drawing/2017/decorative" val="1"/>
              </a:ext>
            </a:extLst>
          </p:cNvPr>
          <p:cNvSpPr/>
          <p:nvPr/>
        </p:nvSpPr>
        <p:spPr>
          <a:xfrm>
            <a:off x="3685032" y="3172968"/>
            <a:ext cx="164592" cy="164592"/>
          </a:xfrm>
          <a:prstGeom prst="ellipse">
            <a:avLst/>
          </a:prstGeom>
          <a:solidFill>
            <a:srgbClr val="1A1A2E"/>
          </a:solidFill>
          <a:ln w="12700">
            <a:solidFill>
              <a:srgbClr val="1A1A2E"/>
            </a:solidFill>
            <a:prstDash val="solid"/>
          </a:ln>
        </p:spPr>
        <p:txBody>
          <a:bodyPr/>
          <a:lstStyle/>
          <a:p>
            <a:endParaRPr lang="en-US"/>
          </a:p>
        </p:txBody>
      </p:sp>
      <p:sp>
        <p:nvSpPr>
          <p:cNvPr id="19" name="Text 17">
            <a:extLst>
              <a:ext uri="{C183D7F6-B498-43B3-948B-1728B52AA6E4}">
                <adec:decorative xmlns:adec="http://schemas.microsoft.com/office/drawing/2017/decorative" val="1"/>
              </a:ext>
            </a:extLst>
          </p:cNvPr>
          <p:cNvSpPr/>
          <p:nvPr/>
        </p:nvSpPr>
        <p:spPr>
          <a:xfrm>
            <a:off x="3246120" y="2971800"/>
            <a:ext cx="457200" cy="27432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E₀</a:t>
            </a:r>
            <a:endParaRPr lang="en-US" sz="1100" dirty="0"/>
          </a:p>
        </p:txBody>
      </p:sp>
      <p:sp>
        <p:nvSpPr>
          <p:cNvPr id="20" name="Shape 18">
            <a:extLst>
              <a:ext uri="{C183D7F6-B498-43B3-948B-1728B52AA6E4}">
                <adec:decorative xmlns:adec="http://schemas.microsoft.com/office/drawing/2017/decorative" val="1"/>
              </a:ext>
            </a:extLst>
          </p:cNvPr>
          <p:cNvSpPr/>
          <p:nvPr/>
        </p:nvSpPr>
        <p:spPr>
          <a:xfrm>
            <a:off x="4946904" y="3037662"/>
            <a:ext cx="164592" cy="164592"/>
          </a:xfrm>
          <a:prstGeom prst="ellipse">
            <a:avLst/>
          </a:prstGeom>
          <a:solidFill>
            <a:srgbClr val="2E7D32"/>
          </a:solidFill>
          <a:ln w="12700">
            <a:solidFill>
              <a:srgbClr val="2E7D32"/>
            </a:solidFill>
            <a:prstDash val="solid"/>
          </a:ln>
        </p:spPr>
        <p:txBody>
          <a:bodyPr/>
          <a:lstStyle/>
          <a:p>
            <a:endParaRPr lang="en-US"/>
          </a:p>
        </p:txBody>
      </p:sp>
      <p:sp>
        <p:nvSpPr>
          <p:cNvPr id="21" name="Text 19">
            <a:extLst>
              <a:ext uri="{C183D7F6-B498-43B3-948B-1728B52AA6E4}">
                <adec:decorative xmlns:adec="http://schemas.microsoft.com/office/drawing/2017/decorative" val="1"/>
              </a:ext>
            </a:extLst>
          </p:cNvPr>
          <p:cNvSpPr/>
          <p:nvPr/>
        </p:nvSpPr>
        <p:spPr>
          <a:xfrm>
            <a:off x="5138928" y="2836494"/>
            <a:ext cx="457200" cy="274320"/>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E₁</a:t>
            </a:r>
            <a:endParaRPr lang="en-US" sz="1100" dirty="0"/>
          </a:p>
        </p:txBody>
      </p:sp>
      <p:sp>
        <p:nvSpPr>
          <p:cNvPr id="22" name="Text 20">
            <a:extLst>
              <a:ext uri="{C183D7F6-B498-43B3-948B-1728B52AA6E4}">
                <adec:decorative xmlns:adec="http://schemas.microsoft.com/office/drawing/2017/decorative" val="1"/>
              </a:ext>
            </a:extLst>
          </p:cNvPr>
          <p:cNvSpPr/>
          <p:nvPr/>
        </p:nvSpPr>
        <p:spPr>
          <a:xfrm>
            <a:off x="548640" y="2697480"/>
            <a:ext cx="347472"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P₁</a:t>
            </a:r>
            <a:endParaRPr lang="en-US" sz="1100" dirty="0"/>
          </a:p>
        </p:txBody>
      </p:sp>
      <p:sp>
        <p:nvSpPr>
          <p:cNvPr id="23" name="Text 21">
            <a:extLst>
              <a:ext uri="{C183D7F6-B498-43B3-948B-1728B52AA6E4}">
                <adec:decorative xmlns:adec="http://schemas.microsoft.com/office/drawing/2017/decorative" val="1"/>
              </a:ext>
            </a:extLst>
          </p:cNvPr>
          <p:cNvSpPr/>
          <p:nvPr/>
        </p:nvSpPr>
        <p:spPr>
          <a:xfrm>
            <a:off x="548640" y="3136392"/>
            <a:ext cx="347472"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P₀</a:t>
            </a:r>
            <a:endParaRPr lang="en-US" sz="1100" dirty="0"/>
          </a:p>
        </p:txBody>
      </p:sp>
      <p:sp>
        <p:nvSpPr>
          <p:cNvPr id="24" name="Text 22">
            <a:extLst>
              <a:ext uri="{C183D7F6-B498-43B3-948B-1728B52AA6E4}">
                <adec:decorative xmlns:adec="http://schemas.microsoft.com/office/drawing/2017/decorative" val="1"/>
              </a:ext>
            </a:extLst>
          </p:cNvPr>
          <p:cNvSpPr/>
          <p:nvPr/>
        </p:nvSpPr>
        <p:spPr>
          <a:xfrm>
            <a:off x="3611880" y="4946904"/>
            <a:ext cx="45720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Y₀</a:t>
            </a:r>
            <a:endParaRPr lang="en-US" sz="1100" dirty="0"/>
          </a:p>
        </p:txBody>
      </p:sp>
      <p:sp>
        <p:nvSpPr>
          <p:cNvPr id="25" name="Text 23">
            <a:extLst>
              <a:ext uri="{C183D7F6-B498-43B3-948B-1728B52AA6E4}">
                <adec:decorative xmlns:adec="http://schemas.microsoft.com/office/drawing/2017/decorative" val="1"/>
              </a:ext>
            </a:extLst>
          </p:cNvPr>
          <p:cNvSpPr/>
          <p:nvPr/>
        </p:nvSpPr>
        <p:spPr>
          <a:xfrm>
            <a:off x="4937760" y="4946904"/>
            <a:ext cx="82296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Y₁=Yp</a:t>
            </a:r>
            <a:endParaRPr lang="en-US" sz="1100" dirty="0"/>
          </a:p>
        </p:txBody>
      </p:sp>
      <p:sp>
        <p:nvSpPr>
          <p:cNvPr id="26" name="Shape 24">
            <a:extLst>
              <a:ext uri="{C183D7F6-B498-43B3-948B-1728B52AA6E4}">
                <adec:decorative xmlns:adec="http://schemas.microsoft.com/office/drawing/2017/decorative" val="1"/>
              </a:ext>
            </a:extLst>
          </p:cNvPr>
          <p:cNvSpPr/>
          <p:nvPr/>
        </p:nvSpPr>
        <p:spPr>
          <a:xfrm>
            <a:off x="8503920" y="960120"/>
            <a:ext cx="3291840" cy="4023360"/>
          </a:xfrm>
          <a:prstGeom prst="rect">
            <a:avLst/>
          </a:prstGeom>
          <a:solidFill>
            <a:srgbClr val="D6E4F0"/>
          </a:solidFill>
          <a:ln w="12700">
            <a:solidFill>
              <a:srgbClr val="D6E4F0"/>
            </a:solidFill>
            <a:prstDash val="solid"/>
          </a:ln>
        </p:spPr>
        <p:txBody>
          <a:bodyPr/>
          <a:lstStyle/>
          <a:p>
            <a:endParaRPr lang="en-US"/>
          </a:p>
        </p:txBody>
      </p:sp>
      <p:sp>
        <p:nvSpPr>
          <p:cNvPr id="27" name="Text 25">
            <a:extLst>
              <a:ext uri="{C183D7F6-B498-43B3-948B-1728B52AA6E4}">
                <adec:decorative xmlns:adec="http://schemas.microsoft.com/office/drawing/2017/decorative" val="1"/>
              </a:ext>
            </a:extLst>
          </p:cNvPr>
          <p:cNvSpPr/>
          <p:nvPr/>
        </p:nvSpPr>
        <p:spPr>
          <a:xfrm>
            <a:off x="8595360" y="1024128"/>
            <a:ext cx="3108960" cy="388620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E₀ is below potential GDP</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 recession &amp; unemployment</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Expansionary policy shifts AD right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 output rises toward potential GDP</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Price level rises modestly (less inflation risk when starting below potential)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AD/AS: Fighting Inflation</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914400" y="4892040"/>
            <a:ext cx="7132320" cy="0"/>
          </a:xfrm>
          <a:prstGeom prst="line">
            <a:avLst/>
          </a:prstGeom>
          <a:noFill/>
          <a:ln w="25400">
            <a:solidFill>
              <a:srgbClr val="333333"/>
            </a:solidFill>
            <a:prstDash val="solid"/>
          </a:ln>
        </p:spPr>
        <p:txBody>
          <a:bodyPr/>
          <a:lstStyle/>
          <a:p>
            <a:endParaRPr lang="en-US"/>
          </a:p>
        </p:txBody>
      </p:sp>
      <p:sp>
        <p:nvSpPr>
          <p:cNvPr id="4" name="Shape 2">
            <a:extLst>
              <a:ext uri="{C183D7F6-B498-43B3-948B-1728B52AA6E4}">
                <adec:decorative xmlns:adec="http://schemas.microsoft.com/office/drawing/2017/decorative" val="1"/>
              </a:ext>
            </a:extLst>
          </p:cNvPr>
          <p:cNvSpPr/>
          <p:nvPr/>
        </p:nvSpPr>
        <p:spPr>
          <a:xfrm>
            <a:off x="914400" y="960120"/>
            <a:ext cx="0" cy="3931920"/>
          </a:xfrm>
          <a:prstGeom prst="line">
            <a:avLst/>
          </a:prstGeom>
          <a:noFill/>
          <a:ln w="25400">
            <a:solidFill>
              <a:srgbClr val="333333"/>
            </a:solidFill>
            <a:prstDash val="solid"/>
          </a:ln>
        </p:spPr>
        <p:txBody>
          <a:bodyPr/>
          <a:lstStyle/>
          <a:p>
            <a:endParaRPr lang="en-US"/>
          </a:p>
        </p:txBody>
      </p:sp>
      <p:sp>
        <p:nvSpPr>
          <p:cNvPr id="6" name="Text 4">
            <a:extLst>
              <a:ext uri="{C183D7F6-B498-43B3-948B-1728B52AA6E4}">
                <adec:decorative xmlns:adec="http://schemas.microsoft.com/office/drawing/2017/decorative" val="1"/>
              </a:ext>
            </a:extLst>
          </p:cNvPr>
          <p:cNvSpPr/>
          <p:nvPr/>
        </p:nvSpPr>
        <p:spPr>
          <a:xfrm>
            <a:off x="7772400" y="4937760"/>
            <a:ext cx="1005840" cy="320040"/>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Real GDP</a:t>
            </a:r>
            <a:endParaRPr lang="en-US" sz="1200" dirty="0"/>
          </a:p>
        </p:txBody>
      </p:sp>
      <p:sp>
        <p:nvSpPr>
          <p:cNvPr id="5" name="Text 3">
            <a:extLst>
              <a:ext uri="{C183D7F6-B498-43B3-948B-1728B52AA6E4}">
                <adec:decorative xmlns:adec="http://schemas.microsoft.com/office/drawing/2017/decorative" val="1"/>
              </a:ext>
            </a:extLst>
          </p:cNvPr>
          <p:cNvSpPr/>
          <p:nvPr/>
        </p:nvSpPr>
        <p:spPr>
          <a:xfrm>
            <a:off x="91440" y="2514600"/>
            <a:ext cx="777240" cy="640080"/>
          </a:xfrm>
          <a:prstGeom prst="rect">
            <a:avLst/>
          </a:prstGeom>
          <a:noFill/>
          <a:ln/>
        </p:spPr>
        <p:txBody>
          <a:bodyPr wrap="square"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Price</a:t>
            </a:r>
            <a:endParaRPr lang="en-US" sz="1200" dirty="0"/>
          </a:p>
          <a:p>
            <a:pPr marL="0" indent="0" algn="ctr">
              <a:buNone/>
            </a:pPr>
            <a:r>
              <a:rPr lang="en-US" sz="1200" b="1" dirty="0">
                <a:solidFill>
                  <a:srgbClr val="1A1A2E"/>
                </a:solidFill>
                <a:latin typeface="Calibri" pitchFamily="34" charset="0"/>
                <a:ea typeface="Calibri" pitchFamily="34" charset="-122"/>
                <a:cs typeface="Calibri" pitchFamily="34" charset="-120"/>
              </a:rPr>
              <a:t>Level</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89120" y="960120"/>
            <a:ext cx="0" cy="3931920"/>
          </a:xfrm>
          <a:prstGeom prst="line">
            <a:avLst/>
          </a:prstGeom>
          <a:noFill/>
          <a:ln w="25400">
            <a:solidFill>
              <a:srgbClr val="1B3A6B"/>
            </a:solidFill>
            <a:prstDash val="dash"/>
          </a:ln>
        </p:spPr>
        <p:txBody>
          <a:bodyPr/>
          <a:lstStyle/>
          <a:p>
            <a:endParaRPr lang="en-US"/>
          </a:p>
        </p:txBody>
      </p:sp>
      <p:sp>
        <p:nvSpPr>
          <p:cNvPr id="8" name="Text 6">
            <a:extLst>
              <a:ext uri="{C183D7F6-B498-43B3-948B-1728B52AA6E4}">
                <adec:decorative xmlns:adec="http://schemas.microsoft.com/office/drawing/2017/decorative" val="1"/>
              </a:ext>
            </a:extLst>
          </p:cNvPr>
          <p:cNvSpPr/>
          <p:nvPr/>
        </p:nvSpPr>
        <p:spPr>
          <a:xfrm>
            <a:off x="4462272" y="640080"/>
            <a:ext cx="82296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LRAS</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1645920" y="4617720"/>
            <a:ext cx="5669280" cy="0"/>
          </a:xfrm>
          <a:prstGeom prst="line">
            <a:avLst/>
          </a:prstGeom>
          <a:noFill/>
          <a:ln w="25400">
            <a:solidFill>
              <a:srgbClr val="555555"/>
            </a:solidFill>
            <a:prstDash val="solid"/>
          </a:ln>
        </p:spPr>
        <p:txBody>
          <a:bodyPr/>
          <a:lstStyle/>
          <a:p>
            <a:endParaRPr lang="en-US"/>
          </a:p>
        </p:txBody>
      </p:sp>
      <p:sp>
        <p:nvSpPr>
          <p:cNvPr id="10" name="Text 8">
            <a:extLst>
              <a:ext uri="{C183D7F6-B498-43B3-948B-1728B52AA6E4}">
                <adec:decorative xmlns:adec="http://schemas.microsoft.com/office/drawing/2017/decorative" val="1"/>
              </a:ext>
            </a:extLst>
          </p:cNvPr>
          <p:cNvSpPr/>
          <p:nvPr/>
        </p:nvSpPr>
        <p:spPr>
          <a:xfrm>
            <a:off x="7132320" y="1143000"/>
            <a:ext cx="822960" cy="320040"/>
          </a:xfrm>
          <a:prstGeom prst="rect">
            <a:avLst/>
          </a:prstGeom>
          <a:noFill/>
          <a:ln/>
        </p:spPr>
        <p:txBody>
          <a:bodyPr wrap="square" rtlCol="0" anchor="ctr"/>
          <a:lstStyle/>
          <a:p>
            <a:pPr marL="0" indent="0">
              <a:buNone/>
            </a:pPr>
            <a:r>
              <a:rPr lang="en-US" sz="1200" b="1" dirty="0">
                <a:solidFill>
                  <a:srgbClr val="555555"/>
                </a:solidFill>
                <a:latin typeface="Calibri" pitchFamily="34" charset="0"/>
                <a:ea typeface="Calibri" pitchFamily="34" charset="-122"/>
                <a:cs typeface="Calibri" pitchFamily="34" charset="-120"/>
              </a:rPr>
              <a:t>SRAS₀</a:t>
            </a:r>
            <a:endParaRPr lang="en-US" sz="1200" dirty="0"/>
          </a:p>
        </p:txBody>
      </p:sp>
      <p:sp>
        <p:nvSpPr>
          <p:cNvPr id="11" name="Shape 9">
            <a:extLst>
              <a:ext uri="{C183D7F6-B498-43B3-948B-1728B52AA6E4}">
                <adec:decorative xmlns:adec="http://schemas.microsoft.com/office/drawing/2017/decorative" val="1"/>
              </a:ext>
            </a:extLst>
          </p:cNvPr>
          <p:cNvSpPr/>
          <p:nvPr/>
        </p:nvSpPr>
        <p:spPr>
          <a:xfrm>
            <a:off x="2743200" y="1554480"/>
            <a:ext cx="4572000" cy="3108960"/>
          </a:xfrm>
          <a:prstGeom prst="line">
            <a:avLst/>
          </a:prstGeom>
          <a:noFill/>
          <a:ln w="25400">
            <a:solidFill>
              <a:srgbClr val="1B3A6B"/>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132320" y="4572000"/>
            <a:ext cx="64008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AD₀</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1371600" y="1554480"/>
            <a:ext cx="4572000" cy="3108960"/>
          </a:xfrm>
          <a:prstGeom prst="line">
            <a:avLst/>
          </a:prstGeom>
          <a:noFill/>
          <a:ln w="25400">
            <a:solidFill>
              <a:srgbClr val="C62828"/>
            </a:solidFill>
            <a:prstDash val="sysDot"/>
          </a:ln>
        </p:spPr>
        <p:txBody>
          <a:bodyPr/>
          <a:lstStyle/>
          <a:p>
            <a:endParaRPr lang="en-US"/>
          </a:p>
        </p:txBody>
      </p:sp>
      <p:sp>
        <p:nvSpPr>
          <p:cNvPr id="14" name="Text 12">
            <a:extLst>
              <a:ext uri="{C183D7F6-B498-43B3-948B-1728B52AA6E4}">
                <adec:decorative xmlns:adec="http://schemas.microsoft.com/office/drawing/2017/decorative" val="1"/>
              </a:ext>
            </a:extLst>
          </p:cNvPr>
          <p:cNvSpPr/>
          <p:nvPr/>
        </p:nvSpPr>
        <p:spPr>
          <a:xfrm>
            <a:off x="5760720" y="4572000"/>
            <a:ext cx="640080" cy="320040"/>
          </a:xfrm>
          <a:prstGeom prst="rect">
            <a:avLst/>
          </a:prstGeom>
          <a:noFill/>
          <a:ln/>
        </p:spPr>
        <p:txBody>
          <a:bodyPr wrap="square" rtlCol="0" anchor="ctr"/>
          <a:lstStyle/>
          <a:p>
            <a:pPr marL="0" indent="0">
              <a:buNone/>
            </a:pPr>
            <a:r>
              <a:rPr lang="en-US" sz="1200" b="1" dirty="0">
                <a:solidFill>
                  <a:srgbClr val="C62828"/>
                </a:solidFill>
                <a:latin typeface="Calibri" pitchFamily="34" charset="0"/>
                <a:ea typeface="Calibri" pitchFamily="34" charset="-122"/>
                <a:cs typeface="Calibri" pitchFamily="34" charset="-120"/>
              </a:rPr>
              <a:t>AD₁</a:t>
            </a:r>
            <a:endParaRPr lang="en-US" sz="1200" dirty="0"/>
          </a:p>
        </p:txBody>
      </p:sp>
      <p:sp>
        <p:nvSpPr>
          <p:cNvPr id="15" name="Shape 13">
            <a:extLst>
              <a:ext uri="{C183D7F6-B498-43B3-948B-1728B52AA6E4}">
                <adec:decorative xmlns:adec="http://schemas.microsoft.com/office/drawing/2017/decorative" val="1"/>
              </a:ext>
            </a:extLst>
          </p:cNvPr>
          <p:cNvSpPr/>
          <p:nvPr/>
        </p:nvSpPr>
        <p:spPr>
          <a:xfrm>
            <a:off x="3840480" y="1874520"/>
            <a:ext cx="0" cy="0"/>
          </a:xfrm>
          <a:prstGeom prst="line">
            <a:avLst/>
          </a:prstGeom>
          <a:noFill/>
          <a:ln w="25400">
            <a:solidFill>
              <a:srgbClr val="C62828"/>
            </a:solidFill>
            <a:prstDash val="solid"/>
          </a:ln>
        </p:spPr>
        <p:txBody>
          <a:bodyPr/>
          <a:lstStyle/>
          <a:p>
            <a:endParaRPr lang="en-US"/>
          </a:p>
        </p:txBody>
      </p:sp>
      <p:sp>
        <p:nvSpPr>
          <p:cNvPr id="16" name="Text 14">
            <a:extLst>
              <a:ext uri="{C183D7F6-B498-43B3-948B-1728B52AA6E4}">
                <adec:decorative xmlns:adec="http://schemas.microsoft.com/office/drawing/2017/decorative" val="1"/>
              </a:ext>
            </a:extLst>
          </p:cNvPr>
          <p:cNvSpPr/>
          <p:nvPr/>
        </p:nvSpPr>
        <p:spPr>
          <a:xfrm rot="18949117">
            <a:off x="2423160" y="1618488"/>
            <a:ext cx="365760" cy="365760"/>
          </a:xfrm>
          <a:prstGeom prst="rect">
            <a:avLst/>
          </a:prstGeom>
          <a:noFill/>
          <a:ln/>
        </p:spPr>
        <p:txBody>
          <a:bodyPr wrap="square" rtlCol="0" anchor="ctr"/>
          <a:lstStyle/>
          <a:p>
            <a:pPr marL="0" indent="0">
              <a:buNone/>
            </a:pPr>
            <a:r>
              <a:rPr lang="en-US" sz="1800" b="1" dirty="0">
                <a:solidFill>
                  <a:srgbClr val="C62828"/>
                </a:solidFill>
                <a:latin typeface="Calibri" pitchFamily="34" charset="0"/>
                <a:ea typeface="Calibri" pitchFamily="34" charset="-122"/>
                <a:cs typeface="Calibri" pitchFamily="34" charset="-120"/>
              </a:rPr>
              <a:t>◄</a:t>
            </a:r>
            <a:endParaRPr lang="en-US" sz="1800" dirty="0"/>
          </a:p>
        </p:txBody>
      </p:sp>
      <p:sp>
        <p:nvSpPr>
          <p:cNvPr id="17" name="Text 15">
            <a:extLst>
              <a:ext uri="{C183D7F6-B498-43B3-948B-1728B52AA6E4}">
                <adec:decorative xmlns:adec="http://schemas.microsoft.com/office/drawing/2017/decorative" val="1"/>
              </a:ext>
            </a:extLst>
          </p:cNvPr>
          <p:cNvSpPr/>
          <p:nvPr/>
        </p:nvSpPr>
        <p:spPr>
          <a:xfrm>
            <a:off x="2286000" y="1280160"/>
            <a:ext cx="2560320" cy="594360"/>
          </a:xfrm>
          <a:prstGeom prst="rect">
            <a:avLst/>
          </a:prstGeom>
          <a:noFill/>
          <a:ln/>
        </p:spPr>
        <p:txBody>
          <a:bodyPr wrap="square" rtlCol="0" anchor="ctr"/>
          <a:lstStyle/>
          <a:p>
            <a:pPr marL="0" indent="0" algn="ctr">
              <a:buNone/>
            </a:pPr>
            <a:r>
              <a:rPr lang="en-US" sz="1100" b="1" dirty="0">
                <a:solidFill>
                  <a:srgbClr val="C62828"/>
                </a:solidFill>
                <a:latin typeface="Calibri" pitchFamily="34" charset="0"/>
                <a:ea typeface="Calibri" pitchFamily="34" charset="-122"/>
                <a:cs typeface="Calibri" pitchFamily="34" charset="-120"/>
              </a:rPr>
              <a:t>Contractionary</a:t>
            </a:r>
            <a:endParaRPr lang="en-US" sz="1100" dirty="0"/>
          </a:p>
          <a:p>
            <a:pPr marL="0" indent="0" algn="ctr">
              <a:buNone/>
            </a:pPr>
            <a:r>
              <a:rPr lang="en-US" sz="1100" b="1" dirty="0">
                <a:solidFill>
                  <a:srgbClr val="C62828"/>
                </a:solidFill>
                <a:latin typeface="Calibri" pitchFamily="34" charset="0"/>
                <a:ea typeface="Calibri" pitchFamily="34" charset="-122"/>
                <a:cs typeface="Calibri" pitchFamily="34" charset="-120"/>
              </a:rPr>
              <a:t>Fiscal Policy</a:t>
            </a:r>
            <a:endParaRPr lang="en-US" sz="1100" dirty="0"/>
          </a:p>
        </p:txBody>
      </p:sp>
      <p:sp>
        <p:nvSpPr>
          <p:cNvPr id="18" name="Shape 16">
            <a:extLst>
              <a:ext uri="{C183D7F6-B498-43B3-948B-1728B52AA6E4}">
                <adec:decorative xmlns:adec="http://schemas.microsoft.com/office/drawing/2017/decorative" val="1"/>
              </a:ext>
            </a:extLst>
          </p:cNvPr>
          <p:cNvSpPr/>
          <p:nvPr/>
        </p:nvSpPr>
        <p:spPr>
          <a:xfrm>
            <a:off x="4842450" y="2929176"/>
            <a:ext cx="164592" cy="164592"/>
          </a:xfrm>
          <a:prstGeom prst="ellipse">
            <a:avLst/>
          </a:prstGeom>
          <a:solidFill>
            <a:srgbClr val="1A1A2E"/>
          </a:solidFill>
          <a:ln w="12700">
            <a:solidFill>
              <a:srgbClr val="1A1A2E"/>
            </a:solidFill>
            <a:prstDash val="solid"/>
          </a:ln>
        </p:spPr>
        <p:txBody>
          <a:bodyPr/>
          <a:lstStyle/>
          <a:p>
            <a:endParaRPr lang="en-US"/>
          </a:p>
        </p:txBody>
      </p:sp>
      <p:sp>
        <p:nvSpPr>
          <p:cNvPr id="19" name="Text 17">
            <a:extLst>
              <a:ext uri="{C183D7F6-B498-43B3-948B-1728B52AA6E4}">
                <adec:decorative xmlns:adec="http://schemas.microsoft.com/office/drawing/2017/decorative" val="1"/>
              </a:ext>
            </a:extLst>
          </p:cNvPr>
          <p:cNvSpPr/>
          <p:nvPr/>
        </p:nvSpPr>
        <p:spPr>
          <a:xfrm>
            <a:off x="5052762" y="2728008"/>
            <a:ext cx="457200" cy="27432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E₀</a:t>
            </a:r>
            <a:endParaRPr lang="en-US" sz="1100" dirty="0"/>
          </a:p>
        </p:txBody>
      </p:sp>
      <p:sp>
        <p:nvSpPr>
          <p:cNvPr id="20" name="Shape 18">
            <a:extLst>
              <a:ext uri="{C183D7F6-B498-43B3-948B-1728B52AA6E4}">
                <adec:decorative xmlns:adec="http://schemas.microsoft.com/office/drawing/2017/decorative" val="1"/>
              </a:ext>
            </a:extLst>
          </p:cNvPr>
          <p:cNvSpPr/>
          <p:nvPr/>
        </p:nvSpPr>
        <p:spPr>
          <a:xfrm>
            <a:off x="4306824" y="3520835"/>
            <a:ext cx="164592" cy="164592"/>
          </a:xfrm>
          <a:prstGeom prst="ellipse">
            <a:avLst/>
          </a:prstGeom>
          <a:solidFill>
            <a:srgbClr val="C62828"/>
          </a:solidFill>
          <a:ln w="12700">
            <a:solidFill>
              <a:srgbClr val="C62828"/>
            </a:solidFill>
            <a:prstDash val="solid"/>
          </a:ln>
        </p:spPr>
        <p:txBody>
          <a:bodyPr/>
          <a:lstStyle/>
          <a:p>
            <a:endParaRPr lang="en-US"/>
          </a:p>
        </p:txBody>
      </p:sp>
      <p:sp>
        <p:nvSpPr>
          <p:cNvPr id="21" name="Text 19">
            <a:extLst>
              <a:ext uri="{C183D7F6-B498-43B3-948B-1728B52AA6E4}">
                <adec:decorative xmlns:adec="http://schemas.microsoft.com/office/drawing/2017/decorative" val="1"/>
              </a:ext>
            </a:extLst>
          </p:cNvPr>
          <p:cNvSpPr/>
          <p:nvPr/>
        </p:nvSpPr>
        <p:spPr>
          <a:xfrm>
            <a:off x="3840480" y="3319667"/>
            <a:ext cx="457200" cy="274320"/>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E₁</a:t>
            </a:r>
            <a:endParaRPr lang="en-US" sz="1100" dirty="0"/>
          </a:p>
        </p:txBody>
      </p:sp>
      <p:sp>
        <p:nvSpPr>
          <p:cNvPr id="22" name="Text 20">
            <a:extLst>
              <a:ext uri="{C183D7F6-B498-43B3-948B-1728B52AA6E4}">
                <adec:decorative xmlns:adec="http://schemas.microsoft.com/office/drawing/2017/decorative" val="1"/>
              </a:ext>
            </a:extLst>
          </p:cNvPr>
          <p:cNvSpPr/>
          <p:nvPr/>
        </p:nvSpPr>
        <p:spPr>
          <a:xfrm>
            <a:off x="548640" y="2697480"/>
            <a:ext cx="347472"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P₀</a:t>
            </a:r>
            <a:endParaRPr lang="en-US" sz="1100" dirty="0"/>
          </a:p>
        </p:txBody>
      </p:sp>
      <p:sp>
        <p:nvSpPr>
          <p:cNvPr id="23" name="Text 21">
            <a:extLst>
              <a:ext uri="{C183D7F6-B498-43B3-948B-1728B52AA6E4}">
                <adec:decorative xmlns:adec="http://schemas.microsoft.com/office/drawing/2017/decorative" val="1"/>
              </a:ext>
            </a:extLst>
          </p:cNvPr>
          <p:cNvSpPr/>
          <p:nvPr/>
        </p:nvSpPr>
        <p:spPr>
          <a:xfrm>
            <a:off x="548640" y="3136392"/>
            <a:ext cx="347472"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P₁</a:t>
            </a:r>
            <a:endParaRPr lang="en-US" sz="1100" dirty="0"/>
          </a:p>
        </p:txBody>
      </p:sp>
      <p:sp>
        <p:nvSpPr>
          <p:cNvPr id="24" name="Text 22">
            <a:extLst>
              <a:ext uri="{C183D7F6-B498-43B3-948B-1728B52AA6E4}">
                <adec:decorative xmlns:adec="http://schemas.microsoft.com/office/drawing/2017/decorative" val="1"/>
              </a:ext>
            </a:extLst>
          </p:cNvPr>
          <p:cNvSpPr/>
          <p:nvPr/>
        </p:nvSpPr>
        <p:spPr>
          <a:xfrm>
            <a:off x="4297680" y="4946904"/>
            <a:ext cx="45720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Yp</a:t>
            </a:r>
            <a:endParaRPr lang="en-US" sz="1100" dirty="0"/>
          </a:p>
        </p:txBody>
      </p:sp>
      <p:sp>
        <p:nvSpPr>
          <p:cNvPr id="25" name="Text 23">
            <a:extLst>
              <a:ext uri="{C183D7F6-B498-43B3-948B-1728B52AA6E4}">
                <adec:decorative xmlns:adec="http://schemas.microsoft.com/office/drawing/2017/decorative" val="1"/>
              </a:ext>
            </a:extLst>
          </p:cNvPr>
          <p:cNvSpPr/>
          <p:nvPr/>
        </p:nvSpPr>
        <p:spPr>
          <a:xfrm>
            <a:off x="5010912" y="4946904"/>
            <a:ext cx="45720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Y₀</a:t>
            </a:r>
            <a:endParaRPr lang="en-US" sz="1100" dirty="0"/>
          </a:p>
        </p:txBody>
      </p:sp>
      <p:sp>
        <p:nvSpPr>
          <p:cNvPr id="26" name="Shape 24">
            <a:extLst>
              <a:ext uri="{C183D7F6-B498-43B3-948B-1728B52AA6E4}">
                <adec:decorative xmlns:adec="http://schemas.microsoft.com/office/drawing/2017/decorative" val="1"/>
              </a:ext>
            </a:extLst>
          </p:cNvPr>
          <p:cNvSpPr/>
          <p:nvPr/>
        </p:nvSpPr>
        <p:spPr>
          <a:xfrm>
            <a:off x="8503920" y="960120"/>
            <a:ext cx="3291840" cy="4023360"/>
          </a:xfrm>
          <a:prstGeom prst="rect">
            <a:avLst/>
          </a:prstGeom>
          <a:solidFill>
            <a:srgbClr val="E8ECF0"/>
          </a:solidFill>
          <a:ln w="12700">
            <a:solidFill>
              <a:srgbClr val="E8ECF0"/>
            </a:solidFill>
            <a:prstDash val="solid"/>
          </a:ln>
        </p:spPr>
        <p:txBody>
          <a:bodyPr/>
          <a:lstStyle/>
          <a:p>
            <a:endParaRPr lang="en-US"/>
          </a:p>
        </p:txBody>
      </p:sp>
      <p:sp>
        <p:nvSpPr>
          <p:cNvPr id="27" name="Text 25"/>
          <p:cNvSpPr/>
          <p:nvPr/>
        </p:nvSpPr>
        <p:spPr>
          <a:xfrm>
            <a:off x="8595360" y="1024128"/>
            <a:ext cx="3108960" cy="3886200"/>
          </a:xfrm>
          <a:prstGeom prst="rect">
            <a:avLst/>
          </a:prstGeom>
          <a:noFill/>
          <a:ln/>
        </p:spPr>
        <p:txBody>
          <a:bodyPr wrap="square" rtlCol="0" anchor="ctr"/>
          <a:lstStyle/>
          <a:p>
            <a:pPr marL="0" indent="0">
              <a:buNone/>
            </a:pPr>
            <a:r>
              <a:rPr lang="en-US" sz="1600" dirty="0">
                <a:solidFill>
                  <a:srgbClr val="1A1A2E"/>
                </a:solidFill>
                <a:latin typeface="Calibri" pitchFamily="34" charset="0"/>
                <a:ea typeface="Calibri" pitchFamily="34" charset="-122"/>
                <a:cs typeface="Calibri" pitchFamily="34" charset="-120"/>
              </a:rPr>
              <a:t>E₀ is above potential GDP</a:t>
            </a:r>
            <a:endParaRPr lang="en-US" sz="1600" dirty="0"/>
          </a:p>
          <a:p>
            <a:pPr marL="0" indent="0">
              <a:buNone/>
            </a:pPr>
            <a:r>
              <a:rPr lang="en-US" sz="1600" dirty="0">
                <a:solidFill>
                  <a:srgbClr val="1A1A2E"/>
                </a:solidFill>
                <a:latin typeface="Calibri" pitchFamily="34" charset="0"/>
                <a:ea typeface="Calibri" pitchFamily="34" charset="-122"/>
                <a:cs typeface="Calibri" pitchFamily="34" charset="-120"/>
              </a:rPr>
              <a:t>→ overheating &amp; inflation</a:t>
            </a:r>
            <a:endParaRPr lang="en-US" sz="1600" dirty="0"/>
          </a:p>
          <a:p>
            <a:pPr marL="0" indent="0">
              <a:buNone/>
            </a:pPr>
            <a:endParaRPr lang="en-US" sz="1600" dirty="0"/>
          </a:p>
          <a:p>
            <a:pPr marL="0" indent="0">
              <a:buNone/>
            </a:pPr>
            <a:r>
              <a:rPr lang="en-US" sz="1600" dirty="0">
                <a:solidFill>
                  <a:srgbClr val="1A1A2E"/>
                </a:solidFill>
                <a:latin typeface="Calibri" pitchFamily="34" charset="0"/>
                <a:ea typeface="Calibri" pitchFamily="34" charset="-122"/>
                <a:cs typeface="Calibri" pitchFamily="34" charset="-120"/>
              </a:rPr>
              <a:t>Contractionary policy shifts AD left</a:t>
            </a:r>
            <a:endParaRPr lang="en-US" sz="1600" dirty="0"/>
          </a:p>
          <a:p>
            <a:pPr marL="0" indent="0">
              <a:buNone/>
            </a:pPr>
            <a:r>
              <a:rPr lang="en-US" sz="1600" dirty="0">
                <a:solidFill>
                  <a:srgbClr val="1A1A2E"/>
                </a:solidFill>
                <a:latin typeface="Calibri" pitchFamily="34" charset="0"/>
                <a:ea typeface="Calibri" pitchFamily="34" charset="-122"/>
                <a:cs typeface="Calibri" pitchFamily="34" charset="-120"/>
              </a:rPr>
              <a:t>→ output returns to potential GDP</a:t>
            </a:r>
            <a:endParaRPr lang="en-US" sz="1600" dirty="0"/>
          </a:p>
          <a:p>
            <a:pPr marL="0" indent="0">
              <a:buNone/>
            </a:pPr>
            <a:endParaRPr lang="en-US" sz="1600" dirty="0"/>
          </a:p>
          <a:p>
            <a:pPr marL="0" indent="0">
              <a:buNone/>
            </a:pPr>
            <a:r>
              <a:rPr lang="en-US" sz="1600" dirty="0">
                <a:solidFill>
                  <a:srgbClr val="1A1A2E"/>
                </a:solidFill>
                <a:latin typeface="Calibri" pitchFamily="34" charset="0"/>
                <a:ea typeface="Calibri" pitchFamily="34" charset="-122"/>
                <a:cs typeface="Calibri" pitchFamily="34" charset="-120"/>
              </a:rPr>
              <a:t>Price level falls from P₀ to P₁</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Automatic Stabilizers: Built-In Shock Absorbers</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Text 1"/>
          <p:cNvSpPr/>
          <p:nvPr/>
        </p:nvSpPr>
        <p:spPr>
          <a:xfrm>
            <a:off x="457200" y="960120"/>
            <a:ext cx="5486400" cy="77724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Definition: </a:t>
            </a:r>
            <a:r>
              <a:rPr lang="en-US" sz="1400" dirty="0">
                <a:solidFill>
                  <a:srgbClr val="1A1A2E"/>
                </a:solidFill>
                <a:latin typeface="Calibri" pitchFamily="34" charset="0"/>
                <a:ea typeface="Calibri" pitchFamily="34" charset="-122"/>
                <a:cs typeface="Calibri" pitchFamily="34" charset="-120"/>
              </a:rPr>
              <a:t>Tax and spending rules that automatically stimulate AD in recessions and restrain it in booms — no new legislation required</a:t>
            </a:r>
            <a:endParaRPr lang="en-US" sz="1400" dirty="0"/>
          </a:p>
        </p:txBody>
      </p:sp>
      <p:sp>
        <p:nvSpPr>
          <p:cNvPr id="4" name="Text 2"/>
          <p:cNvSpPr/>
          <p:nvPr/>
        </p:nvSpPr>
        <p:spPr>
          <a:xfrm>
            <a:off x="457200" y="1828800"/>
            <a:ext cx="5486400" cy="320040"/>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Examples:</a:t>
            </a:r>
            <a:endParaRPr lang="en-US" sz="1400" dirty="0"/>
          </a:p>
        </p:txBody>
      </p:sp>
      <p:sp>
        <p:nvSpPr>
          <p:cNvPr id="5" name="Text 3"/>
          <p:cNvSpPr/>
          <p:nvPr/>
        </p:nvSpPr>
        <p:spPr>
          <a:xfrm>
            <a:off x="457200" y="2194560"/>
            <a:ext cx="5486400" cy="13716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 Unemployment insurance</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Food stamps (SNAP)</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Progressive income tax (less collected automatically when incomes fall)</a:t>
            </a:r>
            <a:endParaRPr lang="en-US" sz="1400" dirty="0"/>
          </a:p>
          <a:p>
            <a:pPr marL="0" indent="0">
              <a:buNone/>
            </a:pPr>
            <a:r>
              <a:rPr lang="en-US" sz="1400" dirty="0">
                <a:solidFill>
                  <a:srgbClr val="1A1A2E"/>
                </a:solidFill>
                <a:latin typeface="Calibri" pitchFamily="34" charset="0"/>
                <a:ea typeface="Calibri" pitchFamily="34" charset="-122"/>
                <a:cs typeface="Calibri" pitchFamily="34" charset="-120"/>
              </a:rPr>
              <a:t>• Medicaid</a:t>
            </a:r>
            <a:endParaRPr lang="en-US" sz="1400" dirty="0"/>
          </a:p>
        </p:txBody>
      </p:sp>
      <p:sp>
        <p:nvSpPr>
          <p:cNvPr id="6" name="Shape 4">
            <a:extLst>
              <a:ext uri="{C183D7F6-B498-43B3-948B-1728B52AA6E4}">
                <adec:decorative xmlns:adec="http://schemas.microsoft.com/office/drawing/2017/decorative" val="1"/>
              </a:ext>
            </a:extLst>
          </p:cNvPr>
          <p:cNvSpPr/>
          <p:nvPr/>
        </p:nvSpPr>
        <p:spPr>
          <a:xfrm>
            <a:off x="457200" y="3657600"/>
            <a:ext cx="5486400" cy="685800"/>
          </a:xfrm>
          <a:prstGeom prst="rect">
            <a:avLst/>
          </a:prstGeom>
          <a:solidFill>
            <a:srgbClr val="1B3A6B"/>
          </a:solidFill>
          <a:ln w="12700">
            <a:solidFill>
              <a:srgbClr val="1B3A6B"/>
            </a:solidFill>
            <a:prstDash val="solid"/>
          </a:ln>
        </p:spPr>
        <p:txBody>
          <a:bodyPr/>
          <a:lstStyle/>
          <a:p>
            <a:endParaRPr lang="en-US"/>
          </a:p>
        </p:txBody>
      </p:sp>
      <p:sp>
        <p:nvSpPr>
          <p:cNvPr id="7" name="Text 5"/>
          <p:cNvSpPr/>
          <p:nvPr/>
        </p:nvSpPr>
        <p:spPr>
          <a:xfrm>
            <a:off x="457200" y="3657600"/>
            <a:ext cx="5486400" cy="6858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Automatic stabilizers offset roughly 10% of any initial shock to output</a:t>
            </a:r>
            <a:endParaRPr lang="en-US" sz="1400" dirty="0"/>
          </a:p>
        </p:txBody>
      </p:sp>
      <p:sp>
        <p:nvSpPr>
          <p:cNvPr id="8" name="Shape 6">
            <a:extLst>
              <a:ext uri="{C183D7F6-B498-43B3-948B-1728B52AA6E4}">
                <adec:decorative xmlns:adec="http://schemas.microsoft.com/office/drawing/2017/decorative" val="1"/>
              </a:ext>
            </a:extLst>
          </p:cNvPr>
          <p:cNvSpPr/>
          <p:nvPr/>
        </p:nvSpPr>
        <p:spPr>
          <a:xfrm>
            <a:off x="6400800" y="960120"/>
            <a:ext cx="5394960" cy="1920240"/>
          </a:xfrm>
          <a:prstGeom prst="rect">
            <a:avLst/>
          </a:prstGeom>
          <a:solidFill>
            <a:srgbClr val="D6E4F0"/>
          </a:solidFill>
          <a:ln w="12700">
            <a:solidFill>
              <a:srgbClr val="D6E4F0"/>
            </a:solidFill>
            <a:prstDash val="solid"/>
          </a:ln>
        </p:spPr>
        <p:txBody>
          <a:bodyPr/>
          <a:lstStyle/>
          <a:p>
            <a:endParaRPr lang="en-US"/>
          </a:p>
        </p:txBody>
      </p:sp>
      <p:sp>
        <p:nvSpPr>
          <p:cNvPr id="9" name="Text 7"/>
          <p:cNvSpPr/>
          <p:nvPr/>
        </p:nvSpPr>
        <p:spPr>
          <a:xfrm>
            <a:off x="6537960" y="978408"/>
            <a:ext cx="5120640" cy="1883664"/>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RECESSION: </a:t>
            </a:r>
            <a:r>
              <a:rPr lang="en-US" sz="1300" dirty="0">
                <a:solidFill>
                  <a:srgbClr val="1A1A2E"/>
                </a:solidFill>
                <a:latin typeface="Calibri" pitchFamily="34" charset="0"/>
                <a:ea typeface="Calibri" pitchFamily="34" charset="-122"/>
                <a:cs typeface="Calibri" pitchFamily="34" charset="-120"/>
              </a:rPr>
              <a:t>Income falls → taxes automatically fall → government transfers automatically rise → AD cushioned</a:t>
            </a:r>
            <a:endParaRPr lang="en-US" sz="1300" dirty="0"/>
          </a:p>
        </p:txBody>
      </p:sp>
      <p:sp>
        <p:nvSpPr>
          <p:cNvPr id="10" name="Text 8"/>
          <p:cNvSpPr/>
          <p:nvPr/>
        </p:nvSpPr>
        <p:spPr>
          <a:xfrm>
            <a:off x="8915400" y="2880360"/>
            <a:ext cx="365760" cy="292608"/>
          </a:xfrm>
          <a:prstGeom prst="rect">
            <a:avLst/>
          </a:prstGeom>
          <a:noFill/>
          <a:ln/>
        </p:spPr>
        <p:txBody>
          <a:bodyPr wrap="square" rtlCol="0" anchor="ctr"/>
          <a:lstStyle/>
          <a:p>
            <a:pPr marL="0" indent="0" algn="ctr">
              <a:buNone/>
            </a:pPr>
            <a:r>
              <a:rPr lang="en-US" sz="1600" b="1" dirty="0">
                <a:latin typeface="Calibri" pitchFamily="34" charset="0"/>
                <a:ea typeface="Calibri" pitchFamily="34" charset="-122"/>
                <a:cs typeface="Calibri" pitchFamily="34" charset="-120"/>
              </a:rPr>
              <a:t>↓</a:t>
            </a:r>
            <a:endParaRPr lang="en-US" sz="1600" dirty="0"/>
          </a:p>
        </p:txBody>
      </p:sp>
      <p:sp>
        <p:nvSpPr>
          <p:cNvPr id="11" name="Shape 9">
            <a:extLst>
              <a:ext uri="{C183D7F6-B498-43B3-948B-1728B52AA6E4}">
                <adec:decorative xmlns:adec="http://schemas.microsoft.com/office/drawing/2017/decorative" val="1"/>
              </a:ext>
            </a:extLst>
          </p:cNvPr>
          <p:cNvSpPr/>
          <p:nvPr/>
        </p:nvSpPr>
        <p:spPr>
          <a:xfrm>
            <a:off x="6400800" y="3172968"/>
            <a:ext cx="5394960" cy="1920240"/>
          </a:xfrm>
          <a:prstGeom prst="rect">
            <a:avLst/>
          </a:prstGeom>
          <a:solidFill>
            <a:srgbClr val="E8ECF0"/>
          </a:solidFill>
          <a:ln w="12700">
            <a:solidFill>
              <a:srgbClr val="E8ECF0"/>
            </a:solidFill>
            <a:prstDash val="solid"/>
          </a:ln>
        </p:spPr>
        <p:txBody>
          <a:bodyPr/>
          <a:lstStyle/>
          <a:p>
            <a:endParaRPr lang="en-US"/>
          </a:p>
        </p:txBody>
      </p:sp>
      <p:sp>
        <p:nvSpPr>
          <p:cNvPr id="12" name="Text 10"/>
          <p:cNvSpPr/>
          <p:nvPr/>
        </p:nvSpPr>
        <p:spPr>
          <a:xfrm>
            <a:off x="6537960" y="3191256"/>
            <a:ext cx="5120640" cy="1883664"/>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BOOM: </a:t>
            </a:r>
            <a:r>
              <a:rPr lang="en-US" sz="1300" dirty="0">
                <a:solidFill>
                  <a:srgbClr val="1A1A2E"/>
                </a:solidFill>
                <a:latin typeface="Calibri" pitchFamily="34" charset="0"/>
                <a:ea typeface="Calibri" pitchFamily="34" charset="-122"/>
                <a:cs typeface="Calibri" pitchFamily="34" charset="-120"/>
              </a:rPr>
              <a:t>Income rises → taxes automatically rise → transfers fall → AD restrained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Discretionary vs. Automatic Fiscal Policy</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365760" y="960120"/>
            <a:ext cx="2011680" cy="475488"/>
          </a:xfrm>
          <a:prstGeom prst="rect">
            <a:avLst/>
          </a:prstGeom>
          <a:solidFill>
            <a:srgbClr val="1B3A6B"/>
          </a:solidFill>
          <a:ln w="12700">
            <a:solidFill>
              <a:srgbClr val="1B3A6B"/>
            </a:solidFill>
            <a:prstDash val="solid"/>
          </a:ln>
        </p:spPr>
        <p:txBody>
          <a:bodyPr/>
          <a:lstStyle/>
          <a:p>
            <a:endParaRPr lang="en-US"/>
          </a:p>
        </p:txBody>
      </p:sp>
      <p:sp>
        <p:nvSpPr>
          <p:cNvPr id="4" name="Text 2"/>
          <p:cNvSpPr/>
          <p:nvPr/>
        </p:nvSpPr>
        <p:spPr>
          <a:xfrm>
            <a:off x="365760" y="960120"/>
            <a:ext cx="2011680"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Dimension</a:t>
            </a:r>
            <a:endParaRPr lang="en-US" sz="1300" dirty="0"/>
          </a:p>
        </p:txBody>
      </p:sp>
      <p:sp>
        <p:nvSpPr>
          <p:cNvPr id="5" name="Shape 3">
            <a:extLst>
              <a:ext uri="{C183D7F6-B498-43B3-948B-1728B52AA6E4}">
                <adec:decorative xmlns:adec="http://schemas.microsoft.com/office/drawing/2017/decorative" val="1"/>
              </a:ext>
            </a:extLst>
          </p:cNvPr>
          <p:cNvSpPr/>
          <p:nvPr/>
        </p:nvSpPr>
        <p:spPr>
          <a:xfrm>
            <a:off x="2468880" y="960120"/>
            <a:ext cx="4572000" cy="475488"/>
          </a:xfrm>
          <a:prstGeom prst="rect">
            <a:avLst/>
          </a:prstGeom>
          <a:solidFill>
            <a:srgbClr val="1B3A6B"/>
          </a:solidFill>
          <a:ln w="12700">
            <a:solidFill>
              <a:srgbClr val="1B3A6B"/>
            </a:solidFill>
            <a:prstDash val="solid"/>
          </a:ln>
        </p:spPr>
        <p:txBody>
          <a:bodyPr/>
          <a:lstStyle/>
          <a:p>
            <a:endParaRPr lang="en-US"/>
          </a:p>
        </p:txBody>
      </p:sp>
      <p:sp>
        <p:nvSpPr>
          <p:cNvPr id="6" name="Text 4"/>
          <p:cNvSpPr/>
          <p:nvPr/>
        </p:nvSpPr>
        <p:spPr>
          <a:xfrm>
            <a:off x="2468880" y="960120"/>
            <a:ext cx="4572000"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AUTOMATIC STABILIZERS</a:t>
            </a:r>
            <a:endParaRPr lang="en-US" sz="1300" dirty="0"/>
          </a:p>
        </p:txBody>
      </p:sp>
      <p:sp>
        <p:nvSpPr>
          <p:cNvPr id="7" name="Shape 5">
            <a:extLst>
              <a:ext uri="{C183D7F6-B498-43B3-948B-1728B52AA6E4}">
                <adec:decorative xmlns:adec="http://schemas.microsoft.com/office/drawing/2017/decorative" val="1"/>
              </a:ext>
            </a:extLst>
          </p:cNvPr>
          <p:cNvSpPr/>
          <p:nvPr/>
        </p:nvSpPr>
        <p:spPr>
          <a:xfrm>
            <a:off x="7132320" y="960120"/>
            <a:ext cx="5303520" cy="475488"/>
          </a:xfrm>
          <a:prstGeom prst="rect">
            <a:avLst/>
          </a:prstGeom>
          <a:solidFill>
            <a:srgbClr val="1B3A6B"/>
          </a:solidFill>
          <a:ln w="12700">
            <a:solidFill>
              <a:srgbClr val="1B3A6B"/>
            </a:solidFill>
            <a:prstDash val="solid"/>
          </a:ln>
        </p:spPr>
        <p:txBody>
          <a:bodyPr/>
          <a:lstStyle/>
          <a:p>
            <a:endParaRPr lang="en-US"/>
          </a:p>
        </p:txBody>
      </p:sp>
      <p:sp>
        <p:nvSpPr>
          <p:cNvPr id="8" name="Text 6"/>
          <p:cNvSpPr/>
          <p:nvPr/>
        </p:nvSpPr>
        <p:spPr>
          <a:xfrm>
            <a:off x="7132320" y="960120"/>
            <a:ext cx="5303520"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DISCRETIONARY FISCAL POLICY</a:t>
            </a:r>
            <a:endParaRPr lang="en-US" sz="1300" dirty="0"/>
          </a:p>
        </p:txBody>
      </p:sp>
      <p:sp>
        <p:nvSpPr>
          <p:cNvPr id="9" name="Shape 7">
            <a:extLst>
              <a:ext uri="{C183D7F6-B498-43B3-948B-1728B52AA6E4}">
                <adec:decorative xmlns:adec="http://schemas.microsoft.com/office/drawing/2017/decorative" val="1"/>
              </a:ext>
            </a:extLst>
          </p:cNvPr>
          <p:cNvSpPr/>
          <p:nvPr/>
        </p:nvSpPr>
        <p:spPr>
          <a:xfrm>
            <a:off x="365760" y="1481328"/>
            <a:ext cx="2011680" cy="822960"/>
          </a:xfrm>
          <a:prstGeom prst="rect">
            <a:avLst/>
          </a:prstGeom>
          <a:solidFill>
            <a:srgbClr val="D6E4F0"/>
          </a:solidFill>
          <a:ln w="12700">
            <a:solidFill>
              <a:srgbClr val="CCCCCC"/>
            </a:solidFill>
            <a:prstDash val="solid"/>
          </a:ln>
        </p:spPr>
        <p:txBody>
          <a:bodyPr/>
          <a:lstStyle/>
          <a:p>
            <a:endParaRPr lang="en-US"/>
          </a:p>
        </p:txBody>
      </p:sp>
      <p:sp>
        <p:nvSpPr>
          <p:cNvPr id="10" name="Text 8"/>
          <p:cNvSpPr/>
          <p:nvPr/>
        </p:nvSpPr>
        <p:spPr>
          <a:xfrm>
            <a:off x="438912" y="1481328"/>
            <a:ext cx="1865376" cy="822960"/>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Trigger</a:t>
            </a:r>
            <a:endParaRPr lang="en-US" sz="1300" dirty="0"/>
          </a:p>
        </p:txBody>
      </p:sp>
      <p:sp>
        <p:nvSpPr>
          <p:cNvPr id="11" name="Shape 9">
            <a:extLst>
              <a:ext uri="{C183D7F6-B498-43B3-948B-1728B52AA6E4}">
                <adec:decorative xmlns:adec="http://schemas.microsoft.com/office/drawing/2017/decorative" val="1"/>
              </a:ext>
            </a:extLst>
          </p:cNvPr>
          <p:cNvSpPr/>
          <p:nvPr/>
        </p:nvSpPr>
        <p:spPr>
          <a:xfrm>
            <a:off x="2468880" y="1481328"/>
            <a:ext cx="4572000" cy="822960"/>
          </a:xfrm>
          <a:prstGeom prst="rect">
            <a:avLst/>
          </a:prstGeom>
          <a:solidFill>
            <a:srgbClr val="E8ECF0"/>
          </a:solidFill>
          <a:ln w="12700">
            <a:solidFill>
              <a:srgbClr val="CCCCCC"/>
            </a:solidFill>
            <a:prstDash val="solid"/>
          </a:ln>
        </p:spPr>
        <p:txBody>
          <a:bodyPr/>
          <a:lstStyle/>
          <a:p>
            <a:endParaRPr lang="en-US"/>
          </a:p>
        </p:txBody>
      </p:sp>
      <p:sp>
        <p:nvSpPr>
          <p:cNvPr id="12" name="Text 10"/>
          <p:cNvSpPr/>
          <p:nvPr/>
        </p:nvSpPr>
        <p:spPr>
          <a:xfrm>
            <a:off x="2542032" y="1481328"/>
            <a:ext cx="4425696" cy="8229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Automatic (triggered by economic conditions)</a:t>
            </a:r>
            <a:endParaRPr lang="en-US" sz="1300" dirty="0"/>
          </a:p>
        </p:txBody>
      </p:sp>
      <p:sp>
        <p:nvSpPr>
          <p:cNvPr id="13" name="Shape 11">
            <a:extLst>
              <a:ext uri="{C183D7F6-B498-43B3-948B-1728B52AA6E4}">
                <adec:decorative xmlns:adec="http://schemas.microsoft.com/office/drawing/2017/decorative" val="1"/>
              </a:ext>
            </a:extLst>
          </p:cNvPr>
          <p:cNvSpPr/>
          <p:nvPr/>
        </p:nvSpPr>
        <p:spPr>
          <a:xfrm>
            <a:off x="7132320" y="1481328"/>
            <a:ext cx="5303520" cy="822960"/>
          </a:xfrm>
          <a:prstGeom prst="rect">
            <a:avLst/>
          </a:prstGeom>
          <a:solidFill>
            <a:srgbClr val="E8ECF0"/>
          </a:solidFill>
          <a:ln w="12700">
            <a:solidFill>
              <a:srgbClr val="CCCCCC"/>
            </a:solidFill>
            <a:prstDash val="solid"/>
          </a:ln>
        </p:spPr>
        <p:txBody>
          <a:bodyPr/>
          <a:lstStyle/>
          <a:p>
            <a:endParaRPr lang="en-US"/>
          </a:p>
        </p:txBody>
      </p:sp>
      <p:sp>
        <p:nvSpPr>
          <p:cNvPr id="14" name="Text 12"/>
          <p:cNvSpPr/>
          <p:nvPr/>
        </p:nvSpPr>
        <p:spPr>
          <a:xfrm>
            <a:off x="7205472" y="1481328"/>
            <a:ext cx="5157216" cy="8229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Requires new legislation</a:t>
            </a:r>
            <a:endParaRPr lang="en-US" sz="1300" dirty="0"/>
          </a:p>
        </p:txBody>
      </p:sp>
      <p:sp>
        <p:nvSpPr>
          <p:cNvPr id="15" name="Shape 13">
            <a:extLst>
              <a:ext uri="{C183D7F6-B498-43B3-948B-1728B52AA6E4}">
                <adec:decorative xmlns:adec="http://schemas.microsoft.com/office/drawing/2017/decorative" val="1"/>
              </a:ext>
            </a:extLst>
          </p:cNvPr>
          <p:cNvSpPr/>
          <p:nvPr/>
        </p:nvSpPr>
        <p:spPr>
          <a:xfrm>
            <a:off x="365760" y="2350008"/>
            <a:ext cx="2011680" cy="822960"/>
          </a:xfrm>
          <a:prstGeom prst="rect">
            <a:avLst/>
          </a:prstGeom>
          <a:solidFill>
            <a:srgbClr val="D6E4F0"/>
          </a:solidFill>
          <a:ln w="12700">
            <a:solidFill>
              <a:srgbClr val="CCCCCC"/>
            </a:solidFill>
            <a:prstDash val="solid"/>
          </a:ln>
        </p:spPr>
        <p:txBody>
          <a:bodyPr/>
          <a:lstStyle/>
          <a:p>
            <a:endParaRPr lang="en-US"/>
          </a:p>
        </p:txBody>
      </p:sp>
      <p:sp>
        <p:nvSpPr>
          <p:cNvPr id="16" name="Text 14"/>
          <p:cNvSpPr/>
          <p:nvPr/>
        </p:nvSpPr>
        <p:spPr>
          <a:xfrm>
            <a:off x="438912" y="2350008"/>
            <a:ext cx="1865376" cy="822960"/>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Speed</a:t>
            </a:r>
            <a:endParaRPr lang="en-US" sz="1300" dirty="0"/>
          </a:p>
        </p:txBody>
      </p:sp>
      <p:sp>
        <p:nvSpPr>
          <p:cNvPr id="17" name="Shape 15">
            <a:extLst>
              <a:ext uri="{C183D7F6-B498-43B3-948B-1728B52AA6E4}">
                <adec:decorative xmlns:adec="http://schemas.microsoft.com/office/drawing/2017/decorative" val="1"/>
              </a:ext>
            </a:extLst>
          </p:cNvPr>
          <p:cNvSpPr/>
          <p:nvPr/>
        </p:nvSpPr>
        <p:spPr>
          <a:xfrm>
            <a:off x="2468880" y="2350008"/>
            <a:ext cx="4572000" cy="822960"/>
          </a:xfrm>
          <a:prstGeom prst="rect">
            <a:avLst/>
          </a:prstGeom>
          <a:solidFill>
            <a:srgbClr val="FFFFFF"/>
          </a:solidFill>
          <a:ln w="12700">
            <a:solidFill>
              <a:srgbClr val="CCCCCC"/>
            </a:solidFill>
            <a:prstDash val="solid"/>
          </a:ln>
        </p:spPr>
        <p:txBody>
          <a:bodyPr/>
          <a:lstStyle/>
          <a:p>
            <a:endParaRPr lang="en-US"/>
          </a:p>
        </p:txBody>
      </p:sp>
      <p:sp>
        <p:nvSpPr>
          <p:cNvPr id="18" name="Text 16"/>
          <p:cNvSpPr/>
          <p:nvPr/>
        </p:nvSpPr>
        <p:spPr>
          <a:xfrm>
            <a:off x="2542032" y="2350008"/>
            <a:ext cx="4425696" cy="8229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Immediate (weeks)</a:t>
            </a:r>
            <a:endParaRPr lang="en-US" sz="1300" dirty="0"/>
          </a:p>
        </p:txBody>
      </p:sp>
      <p:sp>
        <p:nvSpPr>
          <p:cNvPr id="19" name="Shape 17">
            <a:extLst>
              <a:ext uri="{C183D7F6-B498-43B3-948B-1728B52AA6E4}">
                <adec:decorative xmlns:adec="http://schemas.microsoft.com/office/drawing/2017/decorative" val="1"/>
              </a:ext>
            </a:extLst>
          </p:cNvPr>
          <p:cNvSpPr/>
          <p:nvPr/>
        </p:nvSpPr>
        <p:spPr>
          <a:xfrm>
            <a:off x="7132320" y="2350008"/>
            <a:ext cx="5303520" cy="822960"/>
          </a:xfrm>
          <a:prstGeom prst="rect">
            <a:avLst/>
          </a:prstGeom>
          <a:solidFill>
            <a:srgbClr val="FFFFFF"/>
          </a:solidFill>
          <a:ln w="12700">
            <a:solidFill>
              <a:srgbClr val="CCCCCC"/>
            </a:solidFill>
            <a:prstDash val="solid"/>
          </a:ln>
        </p:spPr>
        <p:txBody>
          <a:bodyPr/>
          <a:lstStyle/>
          <a:p>
            <a:endParaRPr lang="en-US"/>
          </a:p>
        </p:txBody>
      </p:sp>
      <p:sp>
        <p:nvSpPr>
          <p:cNvPr id="20" name="Text 18"/>
          <p:cNvSpPr/>
          <p:nvPr/>
        </p:nvSpPr>
        <p:spPr>
          <a:xfrm>
            <a:off x="7205472" y="2350008"/>
            <a:ext cx="5157216" cy="8229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Months to years</a:t>
            </a:r>
            <a:endParaRPr lang="en-US" sz="1300" dirty="0"/>
          </a:p>
        </p:txBody>
      </p:sp>
      <p:sp>
        <p:nvSpPr>
          <p:cNvPr id="21" name="Shape 19">
            <a:extLst>
              <a:ext uri="{C183D7F6-B498-43B3-948B-1728B52AA6E4}">
                <adec:decorative xmlns:adec="http://schemas.microsoft.com/office/drawing/2017/decorative" val="1"/>
              </a:ext>
            </a:extLst>
          </p:cNvPr>
          <p:cNvSpPr/>
          <p:nvPr/>
        </p:nvSpPr>
        <p:spPr>
          <a:xfrm>
            <a:off x="365760" y="3218688"/>
            <a:ext cx="2011680" cy="822960"/>
          </a:xfrm>
          <a:prstGeom prst="rect">
            <a:avLst/>
          </a:prstGeom>
          <a:solidFill>
            <a:srgbClr val="D6E4F0"/>
          </a:solidFill>
          <a:ln w="12700">
            <a:solidFill>
              <a:srgbClr val="CCCCCC"/>
            </a:solidFill>
            <a:prstDash val="solid"/>
          </a:ln>
        </p:spPr>
        <p:txBody>
          <a:bodyPr/>
          <a:lstStyle/>
          <a:p>
            <a:endParaRPr lang="en-US"/>
          </a:p>
        </p:txBody>
      </p:sp>
      <p:sp>
        <p:nvSpPr>
          <p:cNvPr id="22" name="Text 20"/>
          <p:cNvSpPr/>
          <p:nvPr/>
        </p:nvSpPr>
        <p:spPr>
          <a:xfrm>
            <a:off x="438912" y="3218688"/>
            <a:ext cx="1865376" cy="822960"/>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Example</a:t>
            </a:r>
            <a:endParaRPr lang="en-US" sz="1300" dirty="0"/>
          </a:p>
        </p:txBody>
      </p:sp>
      <p:sp>
        <p:nvSpPr>
          <p:cNvPr id="23" name="Shape 21">
            <a:extLst>
              <a:ext uri="{C183D7F6-B498-43B3-948B-1728B52AA6E4}">
                <adec:decorative xmlns:adec="http://schemas.microsoft.com/office/drawing/2017/decorative" val="1"/>
              </a:ext>
            </a:extLst>
          </p:cNvPr>
          <p:cNvSpPr/>
          <p:nvPr/>
        </p:nvSpPr>
        <p:spPr>
          <a:xfrm>
            <a:off x="2468880" y="3218688"/>
            <a:ext cx="4572000" cy="822960"/>
          </a:xfrm>
          <a:prstGeom prst="rect">
            <a:avLst/>
          </a:prstGeom>
          <a:solidFill>
            <a:srgbClr val="E8ECF0"/>
          </a:solidFill>
          <a:ln w="12700">
            <a:solidFill>
              <a:srgbClr val="CCCCCC"/>
            </a:solidFill>
            <a:prstDash val="solid"/>
          </a:ln>
        </p:spPr>
        <p:txBody>
          <a:bodyPr/>
          <a:lstStyle/>
          <a:p>
            <a:endParaRPr lang="en-US"/>
          </a:p>
        </p:txBody>
      </p:sp>
      <p:sp>
        <p:nvSpPr>
          <p:cNvPr id="24" name="Text 22"/>
          <p:cNvSpPr/>
          <p:nvPr/>
        </p:nvSpPr>
        <p:spPr>
          <a:xfrm>
            <a:off x="2542032" y="3218688"/>
            <a:ext cx="4425696" cy="8229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Unemployment insurance kicks in automatically</a:t>
            </a:r>
            <a:endParaRPr lang="en-US" sz="1300" dirty="0"/>
          </a:p>
        </p:txBody>
      </p:sp>
      <p:sp>
        <p:nvSpPr>
          <p:cNvPr id="25" name="Shape 23">
            <a:extLst>
              <a:ext uri="{C183D7F6-B498-43B3-948B-1728B52AA6E4}">
                <adec:decorative xmlns:adec="http://schemas.microsoft.com/office/drawing/2017/decorative" val="1"/>
              </a:ext>
            </a:extLst>
          </p:cNvPr>
          <p:cNvSpPr/>
          <p:nvPr/>
        </p:nvSpPr>
        <p:spPr>
          <a:xfrm>
            <a:off x="7132320" y="3218688"/>
            <a:ext cx="5303520" cy="822960"/>
          </a:xfrm>
          <a:prstGeom prst="rect">
            <a:avLst/>
          </a:prstGeom>
          <a:solidFill>
            <a:srgbClr val="E8ECF0"/>
          </a:solidFill>
          <a:ln w="12700">
            <a:solidFill>
              <a:srgbClr val="CCCCCC"/>
            </a:solidFill>
            <a:prstDash val="solid"/>
          </a:ln>
        </p:spPr>
        <p:txBody>
          <a:bodyPr/>
          <a:lstStyle/>
          <a:p>
            <a:endParaRPr lang="en-US"/>
          </a:p>
        </p:txBody>
      </p:sp>
      <p:sp>
        <p:nvSpPr>
          <p:cNvPr id="26" name="Text 24"/>
          <p:cNvSpPr/>
          <p:nvPr/>
        </p:nvSpPr>
        <p:spPr>
          <a:xfrm>
            <a:off x="7205472" y="3218688"/>
            <a:ext cx="5157216" cy="8229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2009 ARRA stimulus bill ($830B)</a:t>
            </a:r>
            <a:endParaRPr lang="en-US" sz="1300" dirty="0"/>
          </a:p>
        </p:txBody>
      </p:sp>
      <p:sp>
        <p:nvSpPr>
          <p:cNvPr id="27" name="Shape 25">
            <a:extLst>
              <a:ext uri="{C183D7F6-B498-43B3-948B-1728B52AA6E4}">
                <adec:decorative xmlns:adec="http://schemas.microsoft.com/office/drawing/2017/decorative" val="1"/>
              </a:ext>
            </a:extLst>
          </p:cNvPr>
          <p:cNvSpPr/>
          <p:nvPr/>
        </p:nvSpPr>
        <p:spPr>
          <a:xfrm>
            <a:off x="365760" y="4087368"/>
            <a:ext cx="2011680" cy="822960"/>
          </a:xfrm>
          <a:prstGeom prst="rect">
            <a:avLst/>
          </a:prstGeom>
          <a:solidFill>
            <a:srgbClr val="D6E4F0"/>
          </a:solidFill>
          <a:ln w="12700">
            <a:solidFill>
              <a:srgbClr val="CCCCCC"/>
            </a:solidFill>
            <a:prstDash val="solid"/>
          </a:ln>
        </p:spPr>
        <p:txBody>
          <a:bodyPr/>
          <a:lstStyle/>
          <a:p>
            <a:endParaRPr lang="en-US"/>
          </a:p>
        </p:txBody>
      </p:sp>
      <p:sp>
        <p:nvSpPr>
          <p:cNvPr id="28" name="Text 26"/>
          <p:cNvSpPr/>
          <p:nvPr/>
        </p:nvSpPr>
        <p:spPr>
          <a:xfrm>
            <a:off x="438912" y="4087368"/>
            <a:ext cx="1865376" cy="822960"/>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Limitation</a:t>
            </a:r>
            <a:endParaRPr lang="en-US" sz="1300" dirty="0"/>
          </a:p>
        </p:txBody>
      </p:sp>
      <p:sp>
        <p:nvSpPr>
          <p:cNvPr id="29" name="Shape 27">
            <a:extLst>
              <a:ext uri="{C183D7F6-B498-43B3-948B-1728B52AA6E4}">
                <adec:decorative xmlns:adec="http://schemas.microsoft.com/office/drawing/2017/decorative" val="1"/>
              </a:ext>
            </a:extLst>
          </p:cNvPr>
          <p:cNvSpPr/>
          <p:nvPr/>
        </p:nvSpPr>
        <p:spPr>
          <a:xfrm>
            <a:off x="2468880" y="4087368"/>
            <a:ext cx="4572000" cy="822960"/>
          </a:xfrm>
          <a:prstGeom prst="rect">
            <a:avLst/>
          </a:prstGeom>
          <a:solidFill>
            <a:srgbClr val="FFFFFF"/>
          </a:solidFill>
          <a:ln w="12700">
            <a:solidFill>
              <a:srgbClr val="CCCCCC"/>
            </a:solidFill>
            <a:prstDash val="solid"/>
          </a:ln>
        </p:spPr>
        <p:txBody>
          <a:bodyPr/>
          <a:lstStyle/>
          <a:p>
            <a:endParaRPr lang="en-US"/>
          </a:p>
        </p:txBody>
      </p:sp>
      <p:sp>
        <p:nvSpPr>
          <p:cNvPr id="30" name="Text 28"/>
          <p:cNvSpPr/>
          <p:nvPr/>
        </p:nvSpPr>
        <p:spPr>
          <a:xfrm>
            <a:off x="2542032" y="4087368"/>
            <a:ext cx="4425696" cy="8229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Modest in scale (~10% offset)</a:t>
            </a:r>
            <a:endParaRPr lang="en-US" sz="1300" dirty="0"/>
          </a:p>
        </p:txBody>
      </p:sp>
      <p:sp>
        <p:nvSpPr>
          <p:cNvPr id="31" name="Shape 29">
            <a:extLst>
              <a:ext uri="{C183D7F6-B498-43B3-948B-1728B52AA6E4}">
                <adec:decorative xmlns:adec="http://schemas.microsoft.com/office/drawing/2017/decorative" val="1"/>
              </a:ext>
            </a:extLst>
          </p:cNvPr>
          <p:cNvSpPr/>
          <p:nvPr/>
        </p:nvSpPr>
        <p:spPr>
          <a:xfrm>
            <a:off x="7132320" y="4087368"/>
            <a:ext cx="5303520" cy="822960"/>
          </a:xfrm>
          <a:prstGeom prst="rect">
            <a:avLst/>
          </a:prstGeom>
          <a:solidFill>
            <a:srgbClr val="FFFFFF"/>
          </a:solidFill>
          <a:ln w="12700">
            <a:solidFill>
              <a:srgbClr val="CCCCCC"/>
            </a:solidFill>
            <a:prstDash val="solid"/>
          </a:ln>
        </p:spPr>
        <p:txBody>
          <a:bodyPr/>
          <a:lstStyle/>
          <a:p>
            <a:endParaRPr lang="en-US"/>
          </a:p>
        </p:txBody>
      </p:sp>
      <p:sp>
        <p:nvSpPr>
          <p:cNvPr id="32" name="Text 30"/>
          <p:cNvSpPr/>
          <p:nvPr/>
        </p:nvSpPr>
        <p:spPr>
          <a:xfrm>
            <a:off x="7205472" y="4087368"/>
            <a:ext cx="5157216" cy="8229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Uncertain size, timing, and political feasibility</a:t>
            </a:r>
            <a:endParaRPr lang="en-US" sz="1300" dirty="0"/>
          </a:p>
        </p:txBody>
      </p:sp>
      <p:sp>
        <p:nvSpPr>
          <p:cNvPr id="33" name="Shape 31">
            <a:extLst>
              <a:ext uri="{C183D7F6-B498-43B3-948B-1728B52AA6E4}">
                <adec:decorative xmlns:adec="http://schemas.microsoft.com/office/drawing/2017/decorative" val="1"/>
              </a:ext>
            </a:extLst>
          </p:cNvPr>
          <p:cNvSpPr/>
          <p:nvPr/>
        </p:nvSpPr>
        <p:spPr>
          <a:xfrm>
            <a:off x="365760" y="5047488"/>
            <a:ext cx="11430000" cy="594360"/>
          </a:xfrm>
          <a:prstGeom prst="rect">
            <a:avLst/>
          </a:prstGeom>
          <a:solidFill>
            <a:srgbClr val="1B3A6B"/>
          </a:solidFill>
          <a:ln w="12700">
            <a:solidFill>
              <a:srgbClr val="1B3A6B"/>
            </a:solidFill>
            <a:prstDash val="solid"/>
          </a:ln>
        </p:spPr>
        <p:txBody>
          <a:bodyPr/>
          <a:lstStyle/>
          <a:p>
            <a:endParaRPr lang="en-US"/>
          </a:p>
        </p:txBody>
      </p:sp>
      <p:sp>
        <p:nvSpPr>
          <p:cNvPr id="34" name="Text 32"/>
          <p:cNvSpPr/>
          <p:nvPr/>
        </p:nvSpPr>
        <p:spPr>
          <a:xfrm>
            <a:off x="365760" y="5047488"/>
            <a:ext cx="1143000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 extreme recessions, both are needed — stabilizers provide the floor; discretionary policy provides additional lift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Three Lags: Why Timing Fiscal Policy Is Hard</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365760" y="1005840"/>
            <a:ext cx="3657600" cy="2377440"/>
          </a:xfrm>
          <a:prstGeom prst="rect">
            <a:avLst/>
          </a:prstGeom>
          <a:solidFill>
            <a:srgbClr val="D6E4F0"/>
          </a:solidFill>
          <a:ln w="12700">
            <a:solidFill>
              <a:srgbClr val="D6E4F0"/>
            </a:solidFill>
            <a:prstDash val="solid"/>
          </a:ln>
        </p:spPr>
        <p:txBody>
          <a:bodyPr/>
          <a:lstStyle/>
          <a:p>
            <a:endParaRPr lang="en-US"/>
          </a:p>
        </p:txBody>
      </p:sp>
      <p:sp>
        <p:nvSpPr>
          <p:cNvPr id="4" name="Text 2"/>
          <p:cNvSpPr/>
          <p:nvPr/>
        </p:nvSpPr>
        <p:spPr>
          <a:xfrm>
            <a:off x="502920" y="1097280"/>
            <a:ext cx="3383280" cy="457200"/>
          </a:xfrm>
          <a:prstGeom prst="rect">
            <a:avLst/>
          </a:prstGeom>
          <a:noFill/>
          <a:ln/>
        </p:spPr>
        <p:txBody>
          <a:bodyPr wrap="square" rtlCol="0" anchor="ctr"/>
          <a:lstStyle/>
          <a:p>
            <a:pPr marL="0" indent="0" algn="ctr">
              <a:buNone/>
            </a:pPr>
            <a:r>
              <a:rPr lang="en-US" sz="1500" b="1" dirty="0">
                <a:solidFill>
                  <a:srgbClr val="1B3A6B"/>
                </a:solidFill>
                <a:latin typeface="Calibri" pitchFamily="34" charset="0"/>
                <a:ea typeface="Calibri" pitchFamily="34" charset="-122"/>
                <a:cs typeface="Calibri" pitchFamily="34" charset="-120"/>
              </a:rPr>
              <a:t>RECOGNITION LAG</a:t>
            </a:r>
            <a:endParaRPr lang="en-US" sz="1500" dirty="0"/>
          </a:p>
        </p:txBody>
      </p:sp>
      <p:sp>
        <p:nvSpPr>
          <p:cNvPr id="5" name="Text 3"/>
          <p:cNvSpPr/>
          <p:nvPr/>
        </p:nvSpPr>
        <p:spPr>
          <a:xfrm>
            <a:off x="502920" y="1664208"/>
            <a:ext cx="3383280" cy="1600200"/>
          </a:xfrm>
          <a:prstGeom prst="rect">
            <a:avLst/>
          </a:prstGeom>
          <a:noFill/>
          <a:ln/>
        </p:spPr>
        <p:txBody>
          <a:bodyPr wrap="square" rtlCol="0" anchor="t"/>
          <a:lstStyle/>
          <a:p>
            <a:pPr marL="0" indent="0" algn="ctr">
              <a:buNone/>
            </a:pPr>
            <a:r>
              <a:rPr lang="en-US" sz="1300" dirty="0">
                <a:solidFill>
                  <a:srgbClr val="1A1A2E"/>
                </a:solidFill>
                <a:latin typeface="Calibri" pitchFamily="34" charset="0"/>
                <a:ea typeface="Calibri" pitchFamily="34" charset="-122"/>
                <a:cs typeface="Calibri" pitchFamily="34" charset="-120"/>
              </a:rPr>
              <a:t>Economy deteriorates for months before data confirms a recession. By the time it's clear, the trough may already be past.</a:t>
            </a:r>
            <a:endParaRPr lang="en-US" sz="1300" dirty="0"/>
          </a:p>
        </p:txBody>
      </p:sp>
      <p:sp>
        <p:nvSpPr>
          <p:cNvPr id="6" name="Text 4"/>
          <p:cNvSpPr/>
          <p:nvPr/>
        </p:nvSpPr>
        <p:spPr>
          <a:xfrm>
            <a:off x="4069080" y="1965960"/>
            <a:ext cx="320040" cy="457200"/>
          </a:xfrm>
          <a:prstGeom prst="rect">
            <a:avLst/>
          </a:prstGeom>
          <a:noFill/>
          <a:ln/>
        </p:spPr>
        <p:txBody>
          <a:bodyPr wrap="square" rtlCol="0" anchor="ctr"/>
          <a:lstStyle/>
          <a:p>
            <a:pPr marL="0" indent="0" algn="ctr">
              <a:buNone/>
            </a:pPr>
            <a:r>
              <a:rPr lang="en-US" sz="1800" b="1" dirty="0">
                <a:solidFill>
                  <a:srgbClr val="1B3A6B"/>
                </a:solidFill>
                <a:latin typeface="Calibri" pitchFamily="34" charset="0"/>
                <a:ea typeface="Calibri" pitchFamily="34" charset="-122"/>
                <a:cs typeface="Calibri" pitchFamily="34" charset="-120"/>
              </a:rPr>
              <a:t>►</a:t>
            </a:r>
            <a:endParaRPr lang="en-US" sz="1800" dirty="0"/>
          </a:p>
        </p:txBody>
      </p:sp>
      <p:sp>
        <p:nvSpPr>
          <p:cNvPr id="7" name="Shape 5">
            <a:extLst>
              <a:ext uri="{C183D7F6-B498-43B3-948B-1728B52AA6E4}">
                <adec:decorative xmlns:adec="http://schemas.microsoft.com/office/drawing/2017/decorative" val="1"/>
              </a:ext>
            </a:extLst>
          </p:cNvPr>
          <p:cNvSpPr/>
          <p:nvPr/>
        </p:nvSpPr>
        <p:spPr>
          <a:xfrm>
            <a:off x="4297680" y="1005840"/>
            <a:ext cx="3657600" cy="2377440"/>
          </a:xfrm>
          <a:prstGeom prst="rect">
            <a:avLst/>
          </a:prstGeom>
          <a:solidFill>
            <a:srgbClr val="E8ECF0"/>
          </a:solidFill>
          <a:ln w="12700">
            <a:solidFill>
              <a:srgbClr val="E8ECF0"/>
            </a:solidFill>
            <a:prstDash val="solid"/>
          </a:ln>
        </p:spPr>
        <p:txBody>
          <a:bodyPr/>
          <a:lstStyle/>
          <a:p>
            <a:endParaRPr lang="en-US"/>
          </a:p>
        </p:txBody>
      </p:sp>
      <p:sp>
        <p:nvSpPr>
          <p:cNvPr id="8" name="Text 6"/>
          <p:cNvSpPr/>
          <p:nvPr/>
        </p:nvSpPr>
        <p:spPr>
          <a:xfrm>
            <a:off x="4434840" y="1097280"/>
            <a:ext cx="3383280" cy="457200"/>
          </a:xfrm>
          <a:prstGeom prst="rect">
            <a:avLst/>
          </a:prstGeom>
          <a:noFill/>
          <a:ln/>
        </p:spPr>
        <p:txBody>
          <a:bodyPr wrap="square" rtlCol="0" anchor="ctr"/>
          <a:lstStyle/>
          <a:p>
            <a:pPr marL="0" indent="0" algn="ctr">
              <a:buNone/>
            </a:pPr>
            <a:r>
              <a:rPr lang="en-US" sz="1500" b="1" dirty="0">
                <a:solidFill>
                  <a:srgbClr val="1B3A6B"/>
                </a:solidFill>
                <a:latin typeface="Calibri" pitchFamily="34" charset="0"/>
                <a:ea typeface="Calibri" pitchFamily="34" charset="-122"/>
                <a:cs typeface="Calibri" pitchFamily="34" charset="-120"/>
              </a:rPr>
              <a:t>LEGISLATIVE LAG</a:t>
            </a:r>
            <a:endParaRPr lang="en-US" sz="1500" dirty="0"/>
          </a:p>
        </p:txBody>
      </p:sp>
      <p:sp>
        <p:nvSpPr>
          <p:cNvPr id="9" name="Text 7"/>
          <p:cNvSpPr/>
          <p:nvPr/>
        </p:nvSpPr>
        <p:spPr>
          <a:xfrm>
            <a:off x="4434840" y="1664208"/>
            <a:ext cx="3383280" cy="1600200"/>
          </a:xfrm>
          <a:prstGeom prst="rect">
            <a:avLst/>
          </a:prstGeom>
          <a:noFill/>
          <a:ln/>
        </p:spPr>
        <p:txBody>
          <a:bodyPr wrap="square" rtlCol="0" anchor="t"/>
          <a:lstStyle/>
          <a:p>
            <a:pPr marL="0" indent="0" algn="ctr">
              <a:buNone/>
            </a:pPr>
            <a:r>
              <a:rPr lang="en-US" sz="1300" dirty="0">
                <a:solidFill>
                  <a:srgbClr val="1A1A2E"/>
                </a:solidFill>
                <a:latin typeface="Calibri" pitchFamily="34" charset="0"/>
                <a:ea typeface="Calibri" pitchFamily="34" charset="-122"/>
                <a:cs typeface="Calibri" pitchFamily="34" charset="-120"/>
              </a:rPr>
              <a:t>Bill must pass committee hearings, floor votes, and presidential signature. Can take 6–18 months for major legislation.</a:t>
            </a:r>
            <a:endParaRPr lang="en-US" sz="1300" dirty="0"/>
          </a:p>
        </p:txBody>
      </p:sp>
      <p:sp>
        <p:nvSpPr>
          <p:cNvPr id="10" name="Text 8"/>
          <p:cNvSpPr/>
          <p:nvPr/>
        </p:nvSpPr>
        <p:spPr>
          <a:xfrm>
            <a:off x="8001000" y="1965960"/>
            <a:ext cx="320040" cy="457200"/>
          </a:xfrm>
          <a:prstGeom prst="rect">
            <a:avLst/>
          </a:prstGeom>
          <a:noFill/>
          <a:ln/>
        </p:spPr>
        <p:txBody>
          <a:bodyPr wrap="square" rtlCol="0" anchor="ctr"/>
          <a:lstStyle/>
          <a:p>
            <a:pPr marL="0" indent="0" algn="ctr">
              <a:buNone/>
            </a:pPr>
            <a:r>
              <a:rPr lang="en-US" sz="1800" b="1" dirty="0">
                <a:solidFill>
                  <a:srgbClr val="1B3A6B"/>
                </a:solidFill>
                <a:latin typeface="Calibri" pitchFamily="34" charset="0"/>
                <a:ea typeface="Calibri" pitchFamily="34" charset="-122"/>
                <a:cs typeface="Calibri" pitchFamily="34" charset="-120"/>
              </a:rPr>
              <a:t>►</a:t>
            </a:r>
            <a:endParaRPr lang="en-US" sz="1800" dirty="0"/>
          </a:p>
        </p:txBody>
      </p:sp>
      <p:sp>
        <p:nvSpPr>
          <p:cNvPr id="11" name="Shape 9">
            <a:extLst>
              <a:ext uri="{C183D7F6-B498-43B3-948B-1728B52AA6E4}">
                <adec:decorative xmlns:adec="http://schemas.microsoft.com/office/drawing/2017/decorative" val="1"/>
              </a:ext>
            </a:extLst>
          </p:cNvPr>
          <p:cNvSpPr/>
          <p:nvPr/>
        </p:nvSpPr>
        <p:spPr>
          <a:xfrm>
            <a:off x="8229600" y="1005840"/>
            <a:ext cx="3657600" cy="2377440"/>
          </a:xfrm>
          <a:prstGeom prst="rect">
            <a:avLst/>
          </a:prstGeom>
          <a:solidFill>
            <a:srgbClr val="D6E4F0"/>
          </a:solidFill>
          <a:ln w="12700">
            <a:solidFill>
              <a:srgbClr val="D6E4F0"/>
            </a:solidFill>
            <a:prstDash val="solid"/>
          </a:ln>
        </p:spPr>
        <p:txBody>
          <a:bodyPr/>
          <a:lstStyle/>
          <a:p>
            <a:endParaRPr lang="en-US"/>
          </a:p>
        </p:txBody>
      </p:sp>
      <p:sp>
        <p:nvSpPr>
          <p:cNvPr id="12" name="Text 10"/>
          <p:cNvSpPr/>
          <p:nvPr/>
        </p:nvSpPr>
        <p:spPr>
          <a:xfrm>
            <a:off x="8366760" y="1097280"/>
            <a:ext cx="3383280" cy="457200"/>
          </a:xfrm>
          <a:prstGeom prst="rect">
            <a:avLst/>
          </a:prstGeom>
          <a:noFill/>
          <a:ln/>
        </p:spPr>
        <p:txBody>
          <a:bodyPr wrap="square" rtlCol="0" anchor="ctr"/>
          <a:lstStyle/>
          <a:p>
            <a:pPr marL="0" indent="0" algn="ctr">
              <a:buNone/>
            </a:pPr>
            <a:r>
              <a:rPr lang="en-US" sz="1500" b="1" dirty="0">
                <a:solidFill>
                  <a:srgbClr val="1B3A6B"/>
                </a:solidFill>
                <a:latin typeface="Calibri" pitchFamily="34" charset="0"/>
                <a:ea typeface="Calibri" pitchFamily="34" charset="-122"/>
                <a:cs typeface="Calibri" pitchFamily="34" charset="-120"/>
              </a:rPr>
              <a:t>IMPLEMENTATION LAG</a:t>
            </a:r>
            <a:endParaRPr lang="en-US" sz="1500" dirty="0"/>
          </a:p>
        </p:txBody>
      </p:sp>
      <p:sp>
        <p:nvSpPr>
          <p:cNvPr id="13" name="Text 11"/>
          <p:cNvSpPr/>
          <p:nvPr/>
        </p:nvSpPr>
        <p:spPr>
          <a:xfrm>
            <a:off x="8366760" y="1664208"/>
            <a:ext cx="3383280" cy="1600200"/>
          </a:xfrm>
          <a:prstGeom prst="rect">
            <a:avLst/>
          </a:prstGeom>
          <a:noFill/>
          <a:ln/>
        </p:spPr>
        <p:txBody>
          <a:bodyPr wrap="square" rtlCol="0" anchor="t"/>
          <a:lstStyle/>
          <a:p>
            <a:pPr marL="0" indent="0" algn="ctr">
              <a:buNone/>
            </a:pPr>
            <a:r>
              <a:rPr lang="en-US" sz="1300" dirty="0">
                <a:solidFill>
                  <a:srgbClr val="1A1A2E"/>
                </a:solidFill>
                <a:latin typeface="Calibri" pitchFamily="34" charset="0"/>
                <a:ea typeface="Calibri" pitchFamily="34" charset="-122"/>
                <a:cs typeface="Calibri" pitchFamily="34" charset="-120"/>
              </a:rPr>
              <a:t>Funds must be dispersed; projects must start. Infrastructure spending may take years to fully deploy.</a:t>
            </a:r>
            <a:endParaRPr lang="en-US" sz="1300" dirty="0"/>
          </a:p>
        </p:txBody>
      </p:sp>
      <p:sp>
        <p:nvSpPr>
          <p:cNvPr id="14" name="Shape 12">
            <a:extLst>
              <a:ext uri="{C183D7F6-B498-43B3-948B-1728B52AA6E4}">
                <adec:decorative xmlns:adec="http://schemas.microsoft.com/office/drawing/2017/decorative" val="1"/>
              </a:ext>
            </a:extLst>
          </p:cNvPr>
          <p:cNvSpPr/>
          <p:nvPr/>
        </p:nvSpPr>
        <p:spPr>
          <a:xfrm>
            <a:off x="365760" y="3566160"/>
            <a:ext cx="11430000" cy="2331720"/>
          </a:xfrm>
          <a:prstGeom prst="rect">
            <a:avLst/>
          </a:prstGeom>
          <a:solidFill>
            <a:srgbClr val="E8ECF0"/>
          </a:solidFill>
          <a:ln w="12700">
            <a:solidFill>
              <a:srgbClr val="E8ECF0"/>
            </a:solidFill>
            <a:prstDash val="solid"/>
          </a:ln>
        </p:spPr>
        <p:txBody>
          <a:bodyPr/>
          <a:lstStyle/>
          <a:p>
            <a:endParaRPr lang="en-US"/>
          </a:p>
        </p:txBody>
      </p:sp>
      <p:sp>
        <p:nvSpPr>
          <p:cNvPr id="15" name="Text 13"/>
          <p:cNvSpPr/>
          <p:nvPr/>
        </p:nvSpPr>
        <p:spPr>
          <a:xfrm>
            <a:off x="548640" y="3657600"/>
            <a:ext cx="11064240" cy="2148840"/>
          </a:xfrm>
          <a:prstGeom prst="rect">
            <a:avLst/>
          </a:prstGeom>
          <a:noFill/>
          <a:ln/>
        </p:spPr>
        <p:txBody>
          <a:bodyPr wrap="square" rtlCol="0" anchor="ctr"/>
          <a:lstStyle/>
          <a:p>
            <a:pPr marL="0" indent="0" algn="ctr">
              <a:buNone/>
            </a:pPr>
            <a:r>
              <a:rPr lang="en-US" sz="1400" i="1" dirty="0">
                <a:solidFill>
                  <a:srgbClr val="1A1A2E"/>
                </a:solidFill>
                <a:latin typeface="Calibri" pitchFamily="34" charset="0"/>
                <a:ea typeface="Calibri" pitchFamily="34" charset="-122"/>
                <a:cs typeface="Calibri" pitchFamily="34" charset="-120"/>
              </a:rPr>
              <a:t>"While the economist is accustomed to the concept of lags, the politician likes instant results. The tension comes because, as I have seen on many occasions, the economist's lag is the politician's nightmare."</a:t>
            </a:r>
            <a:endParaRPr lang="en-US" sz="1400" dirty="0"/>
          </a:p>
          <a:p>
            <a:pPr marL="0" indent="0" algn="ctr">
              <a:buNone/>
            </a:pPr>
            <a:endParaRPr lang="en-US" sz="1400" dirty="0"/>
          </a:p>
          <a:p>
            <a:pPr marL="0" indent="0" algn="ctr">
              <a:buNone/>
            </a:pPr>
            <a:r>
              <a:rPr lang="en-US" sz="1400" i="1" dirty="0">
                <a:solidFill>
                  <a:srgbClr val="1A1A2E"/>
                </a:solidFill>
                <a:latin typeface="Calibri" pitchFamily="34" charset="0"/>
                <a:ea typeface="Calibri" pitchFamily="34" charset="-122"/>
                <a:cs typeface="Calibri" pitchFamily="34" charset="-120"/>
              </a:rPr>
              <a:t>— George P. Shultz, former U.S. Secretary of the Treasury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Crowding Out: The Hidden Cost of Deficits</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Text 1"/>
          <p:cNvSpPr/>
          <p:nvPr/>
        </p:nvSpPr>
        <p:spPr>
          <a:xfrm>
            <a:off x="457200" y="960120"/>
            <a:ext cx="5486400" cy="347472"/>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What is crowding out?</a:t>
            </a:r>
            <a:endParaRPr lang="en-US" sz="1500" dirty="0"/>
          </a:p>
        </p:txBody>
      </p:sp>
      <p:sp>
        <p:nvSpPr>
          <p:cNvPr id="4" name="Text 2"/>
          <p:cNvSpPr/>
          <p:nvPr/>
        </p:nvSpPr>
        <p:spPr>
          <a:xfrm>
            <a:off x="457200" y="1344168"/>
            <a:ext cx="5486400" cy="6858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When government borrows in financial capital markets, it competes with private borrowers — pushing up interest rates</a:t>
            </a:r>
            <a:endParaRPr lang="en-US" sz="1400" dirty="0"/>
          </a:p>
        </p:txBody>
      </p:sp>
      <p:sp>
        <p:nvSpPr>
          <p:cNvPr id="5" name="Text 3"/>
          <p:cNvSpPr/>
          <p:nvPr/>
        </p:nvSpPr>
        <p:spPr>
          <a:xfrm>
            <a:off x="457200" y="2121408"/>
            <a:ext cx="5486400" cy="320040"/>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Mechanism:</a:t>
            </a:r>
            <a:endParaRPr lang="en-US" sz="1400" dirty="0"/>
          </a:p>
        </p:txBody>
      </p:sp>
      <p:sp>
        <p:nvSpPr>
          <p:cNvPr id="6" name="Text 4"/>
          <p:cNvSpPr/>
          <p:nvPr/>
        </p:nvSpPr>
        <p:spPr>
          <a:xfrm>
            <a:off x="457200" y="2487168"/>
            <a:ext cx="5486400" cy="21945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1. Government runs deficit → sells Treasury bonds</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2. Demand for loanable funds ↑</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3. Interest rates rise</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4. Private investment ↓</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5. Household borrowing ↓</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6. Expansionary effect is partially offset</a:t>
            </a:r>
            <a:endParaRPr lang="en-US" sz="1300" dirty="0"/>
          </a:p>
        </p:txBody>
      </p:sp>
      <p:sp>
        <p:nvSpPr>
          <p:cNvPr id="7" name="Shape 5">
            <a:extLst>
              <a:ext uri="{C183D7F6-B498-43B3-948B-1728B52AA6E4}">
                <adec:decorative xmlns:adec="http://schemas.microsoft.com/office/drawing/2017/decorative" val="1"/>
              </a:ext>
            </a:extLst>
          </p:cNvPr>
          <p:cNvSpPr/>
          <p:nvPr/>
        </p:nvSpPr>
        <p:spPr>
          <a:xfrm>
            <a:off x="457200" y="4800600"/>
            <a:ext cx="5486400" cy="594360"/>
          </a:xfrm>
          <a:prstGeom prst="rect">
            <a:avLst/>
          </a:prstGeom>
          <a:solidFill>
            <a:srgbClr val="D6E4F0"/>
          </a:solidFill>
          <a:ln w="12700">
            <a:solidFill>
              <a:srgbClr val="D6E4F0"/>
            </a:solidFill>
            <a:prstDash val="solid"/>
          </a:ln>
        </p:spPr>
        <p:txBody>
          <a:bodyPr/>
          <a:lstStyle/>
          <a:p>
            <a:endParaRPr lang="en-US"/>
          </a:p>
        </p:txBody>
      </p:sp>
      <p:sp>
        <p:nvSpPr>
          <p:cNvPr id="8" name="Text 6"/>
          <p:cNvSpPr/>
          <p:nvPr/>
        </p:nvSpPr>
        <p:spPr>
          <a:xfrm>
            <a:off x="457200" y="4800600"/>
            <a:ext cx="5486400" cy="594360"/>
          </a:xfrm>
          <a:prstGeom prst="rect">
            <a:avLst/>
          </a:prstGeom>
          <a:noFill/>
          <a:ln/>
        </p:spPr>
        <p:txBody>
          <a:bodyPr wrap="square" rtlCol="0" anchor="ctr"/>
          <a:lstStyle/>
          <a:p>
            <a:pPr marL="0" indent="0" algn="ctr">
              <a:buNone/>
            </a:pPr>
            <a:r>
              <a:rPr lang="en-US" sz="1200" b="1" dirty="0">
                <a:solidFill>
                  <a:srgbClr val="1B3A6B"/>
                </a:solidFill>
                <a:latin typeface="Calibri" pitchFamily="34" charset="0"/>
                <a:ea typeface="Calibri" pitchFamily="34" charset="-122"/>
                <a:cs typeface="Calibri" pitchFamily="34" charset="-120"/>
              </a:rPr>
              <a:t>A 1% of GDP increase in deficit raises long-term interest rates by 0.5–1.0 percentage points</a:t>
            </a:r>
            <a:endParaRPr lang="en-US" sz="1200" dirty="0"/>
          </a:p>
        </p:txBody>
      </p:sp>
      <p:sp>
        <p:nvSpPr>
          <p:cNvPr id="9" name="Text 7">
            <a:extLst>
              <a:ext uri="{C183D7F6-B498-43B3-948B-1728B52AA6E4}">
                <adec:decorative xmlns:adec="http://schemas.microsoft.com/office/drawing/2017/decorative" val="1"/>
              </a:ext>
            </a:extLst>
          </p:cNvPr>
          <p:cNvSpPr/>
          <p:nvPr/>
        </p:nvSpPr>
        <p:spPr>
          <a:xfrm>
            <a:off x="6492240" y="960120"/>
            <a:ext cx="5303520" cy="347472"/>
          </a:xfrm>
          <a:prstGeom prst="rect">
            <a:avLst/>
          </a:prstGeom>
          <a:noFill/>
          <a:ln/>
        </p:spPr>
        <p:txBody>
          <a:bodyPr wrap="square" rtlCol="0" anchor="ctr"/>
          <a:lstStyle/>
          <a:p>
            <a:pPr marL="0" indent="0" algn="ctr">
              <a:buNone/>
            </a:pPr>
            <a:r>
              <a:rPr lang="en-US" sz="1300" b="1" dirty="0">
                <a:solidFill>
                  <a:srgbClr val="1B3A6B"/>
                </a:solidFill>
                <a:latin typeface="Calibri" pitchFamily="34" charset="0"/>
                <a:ea typeface="Calibri" pitchFamily="34" charset="-122"/>
                <a:cs typeface="Calibri" pitchFamily="34" charset="-120"/>
              </a:rPr>
              <a:t>Loanable Funds Market</a:t>
            </a:r>
            <a:endParaRPr lang="en-US" sz="1300" dirty="0"/>
          </a:p>
        </p:txBody>
      </p:sp>
      <p:sp>
        <p:nvSpPr>
          <p:cNvPr id="10" name="Shape 8">
            <a:extLst>
              <a:ext uri="{C183D7F6-B498-43B3-948B-1728B52AA6E4}">
                <adec:decorative xmlns:adec="http://schemas.microsoft.com/office/drawing/2017/decorative" val="1"/>
              </a:ext>
            </a:extLst>
          </p:cNvPr>
          <p:cNvSpPr/>
          <p:nvPr/>
        </p:nvSpPr>
        <p:spPr>
          <a:xfrm>
            <a:off x="6949440" y="5257800"/>
            <a:ext cx="4389120" cy="0"/>
          </a:xfrm>
          <a:prstGeom prst="line">
            <a:avLst/>
          </a:prstGeom>
          <a:noFill/>
          <a:ln w="19050">
            <a:solidFill>
              <a:srgbClr val="333333"/>
            </a:solidFill>
            <a:prstDash val="solid"/>
          </a:ln>
        </p:spPr>
        <p:txBody>
          <a:bodyPr/>
          <a:lstStyle/>
          <a:p>
            <a:endParaRPr lang="en-US"/>
          </a:p>
        </p:txBody>
      </p:sp>
      <p:sp>
        <p:nvSpPr>
          <p:cNvPr id="11" name="Shape 9">
            <a:extLst>
              <a:ext uri="{C183D7F6-B498-43B3-948B-1728B52AA6E4}">
                <adec:decorative xmlns:adec="http://schemas.microsoft.com/office/drawing/2017/decorative" val="1"/>
              </a:ext>
            </a:extLst>
          </p:cNvPr>
          <p:cNvSpPr/>
          <p:nvPr/>
        </p:nvSpPr>
        <p:spPr>
          <a:xfrm>
            <a:off x="6949440" y="1417320"/>
            <a:ext cx="0" cy="3840480"/>
          </a:xfrm>
          <a:prstGeom prst="line">
            <a:avLst/>
          </a:prstGeom>
          <a:noFill/>
          <a:ln w="19050">
            <a:solidFill>
              <a:srgbClr val="333333"/>
            </a:solidFill>
            <a:prstDash val="solid"/>
          </a:ln>
        </p:spPr>
        <p:txBody>
          <a:bodyPr/>
          <a:lstStyle/>
          <a:p>
            <a:endParaRPr lang="en-US"/>
          </a:p>
        </p:txBody>
      </p:sp>
      <p:sp>
        <p:nvSpPr>
          <p:cNvPr id="13" name="Text 11">
            <a:extLst>
              <a:ext uri="{C183D7F6-B498-43B3-948B-1728B52AA6E4}">
                <adec:decorative xmlns:adec="http://schemas.microsoft.com/office/drawing/2017/decorative" val="1"/>
              </a:ext>
            </a:extLst>
          </p:cNvPr>
          <p:cNvSpPr/>
          <p:nvPr/>
        </p:nvSpPr>
        <p:spPr>
          <a:xfrm>
            <a:off x="6949440" y="5330952"/>
            <a:ext cx="4389120" cy="32004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Quantity of Financial Capital</a:t>
            </a:r>
            <a:endParaRPr lang="en-US" sz="1000" dirty="0"/>
          </a:p>
        </p:txBody>
      </p:sp>
      <p:sp>
        <p:nvSpPr>
          <p:cNvPr id="12" name="Text 10">
            <a:extLst>
              <a:ext uri="{C183D7F6-B498-43B3-948B-1728B52AA6E4}">
                <adec:decorative xmlns:adec="http://schemas.microsoft.com/office/drawing/2017/decorative" val="1"/>
              </a:ext>
            </a:extLst>
          </p:cNvPr>
          <p:cNvSpPr/>
          <p:nvPr/>
        </p:nvSpPr>
        <p:spPr>
          <a:xfrm>
            <a:off x="6345936" y="2498297"/>
            <a:ext cx="731520" cy="640080"/>
          </a:xfrm>
          <a:prstGeom prst="rect">
            <a:avLst/>
          </a:prstGeom>
          <a:noFill/>
          <a:ln/>
        </p:spPr>
        <p:txBody>
          <a:bodyPr wrap="square"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Interest</a:t>
            </a:r>
            <a:endParaRPr lang="en-US" sz="1000" dirty="0"/>
          </a:p>
          <a:p>
            <a:pPr marL="0" indent="0" algn="ctr">
              <a:buNone/>
            </a:pPr>
            <a:r>
              <a:rPr lang="en-US" sz="1000" b="1" dirty="0">
                <a:solidFill>
                  <a:srgbClr val="1A1A2E"/>
                </a:solidFill>
                <a:latin typeface="Calibri" pitchFamily="34" charset="0"/>
                <a:ea typeface="Calibri" pitchFamily="34" charset="-122"/>
                <a:cs typeface="Calibri" pitchFamily="34" charset="-120"/>
              </a:rPr>
              <a:t>Rate (%)</a:t>
            </a:r>
            <a:endParaRPr lang="en-US" sz="1000" dirty="0"/>
          </a:p>
        </p:txBody>
      </p:sp>
      <p:sp>
        <p:nvSpPr>
          <p:cNvPr id="14" name="Shape 12">
            <a:extLst>
              <a:ext uri="{C183D7F6-B498-43B3-948B-1728B52AA6E4}">
                <adec:decorative xmlns:adec="http://schemas.microsoft.com/office/drawing/2017/decorative" val="1"/>
              </a:ext>
            </a:extLst>
          </p:cNvPr>
          <p:cNvSpPr/>
          <p:nvPr/>
        </p:nvSpPr>
        <p:spPr>
          <a:xfrm>
            <a:off x="7406640" y="4800600"/>
            <a:ext cx="3200400" cy="0"/>
          </a:xfrm>
          <a:prstGeom prst="line">
            <a:avLst/>
          </a:prstGeom>
          <a:noFill/>
          <a:ln w="19050">
            <a:solidFill>
              <a:srgbClr val="555555"/>
            </a:solidFill>
            <a:prstDash val="solid"/>
          </a:ln>
        </p:spPr>
        <p:txBody>
          <a:bodyPr/>
          <a:lstStyle/>
          <a:p>
            <a:endParaRPr lang="en-US"/>
          </a:p>
        </p:txBody>
      </p:sp>
      <p:sp>
        <p:nvSpPr>
          <p:cNvPr id="16" name="Shape 14">
            <a:extLst>
              <a:ext uri="{C183D7F6-B498-43B3-948B-1728B52AA6E4}">
                <adec:decorative xmlns:adec="http://schemas.microsoft.com/office/drawing/2017/decorative" val="1"/>
              </a:ext>
            </a:extLst>
          </p:cNvPr>
          <p:cNvSpPr/>
          <p:nvPr/>
        </p:nvSpPr>
        <p:spPr>
          <a:xfrm>
            <a:off x="7223760" y="2148840"/>
            <a:ext cx="3474720" cy="2743200"/>
          </a:xfrm>
          <a:prstGeom prst="line">
            <a:avLst/>
          </a:prstGeom>
          <a:noFill/>
          <a:ln w="19050">
            <a:solidFill>
              <a:srgbClr val="1B3A6B"/>
            </a:solidFill>
            <a:prstDash val="solid"/>
          </a:ln>
        </p:spPr>
        <p:txBody>
          <a:bodyPr/>
          <a:lstStyle/>
          <a:p>
            <a:endParaRPr lang="en-US"/>
          </a:p>
        </p:txBody>
      </p:sp>
      <p:sp>
        <p:nvSpPr>
          <p:cNvPr id="17" name="Text 15">
            <a:extLst>
              <a:ext uri="{C183D7F6-B498-43B3-948B-1728B52AA6E4}">
                <adec:decorative xmlns:adec="http://schemas.microsoft.com/office/drawing/2017/decorative" val="1"/>
              </a:ext>
            </a:extLst>
          </p:cNvPr>
          <p:cNvSpPr/>
          <p:nvPr/>
        </p:nvSpPr>
        <p:spPr>
          <a:xfrm>
            <a:off x="10515600" y="4798611"/>
            <a:ext cx="457200" cy="274320"/>
          </a:xfrm>
          <a:prstGeom prst="rect">
            <a:avLst/>
          </a:prstGeom>
          <a:noFill/>
          <a:ln/>
        </p:spPr>
        <p:txBody>
          <a:bodyPr wrap="square"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D₀</a:t>
            </a:r>
            <a:endParaRPr lang="en-US" sz="1100" dirty="0"/>
          </a:p>
        </p:txBody>
      </p:sp>
      <p:sp>
        <p:nvSpPr>
          <p:cNvPr id="18" name="Shape 16">
            <a:extLst>
              <a:ext uri="{C183D7F6-B498-43B3-948B-1728B52AA6E4}">
                <adec:decorative xmlns:adec="http://schemas.microsoft.com/office/drawing/2017/decorative" val="1"/>
              </a:ext>
            </a:extLst>
          </p:cNvPr>
          <p:cNvSpPr/>
          <p:nvPr/>
        </p:nvSpPr>
        <p:spPr>
          <a:xfrm>
            <a:off x="7955280" y="2148840"/>
            <a:ext cx="3200400" cy="2743200"/>
          </a:xfrm>
          <a:prstGeom prst="line">
            <a:avLst/>
          </a:prstGeom>
          <a:noFill/>
          <a:ln w="19050">
            <a:solidFill>
              <a:srgbClr val="C62828"/>
            </a:solidFill>
            <a:prstDash val="dash"/>
          </a:ln>
        </p:spPr>
        <p:txBody>
          <a:bodyPr/>
          <a:lstStyle/>
          <a:p>
            <a:endParaRPr lang="en-US"/>
          </a:p>
        </p:txBody>
      </p:sp>
      <p:sp>
        <p:nvSpPr>
          <p:cNvPr id="19" name="Text 17">
            <a:extLst>
              <a:ext uri="{C183D7F6-B498-43B3-948B-1728B52AA6E4}">
                <adec:decorative xmlns:adec="http://schemas.microsoft.com/office/drawing/2017/decorative" val="1"/>
              </a:ext>
            </a:extLst>
          </p:cNvPr>
          <p:cNvSpPr/>
          <p:nvPr/>
        </p:nvSpPr>
        <p:spPr>
          <a:xfrm>
            <a:off x="10921116" y="4792647"/>
            <a:ext cx="457200" cy="274320"/>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D₁</a:t>
            </a:r>
            <a:endParaRPr lang="en-US" sz="1100" dirty="0"/>
          </a:p>
        </p:txBody>
      </p:sp>
      <p:sp>
        <p:nvSpPr>
          <p:cNvPr id="20" name="Shape 18">
            <a:extLst>
              <a:ext uri="{C183D7F6-B498-43B3-948B-1728B52AA6E4}">
                <adec:decorative xmlns:adec="http://schemas.microsoft.com/office/drawing/2017/decorative" val="1"/>
              </a:ext>
            </a:extLst>
          </p:cNvPr>
          <p:cNvSpPr/>
          <p:nvPr/>
        </p:nvSpPr>
        <p:spPr>
          <a:xfrm>
            <a:off x="8778237" y="3383280"/>
            <a:ext cx="146304" cy="146304"/>
          </a:xfrm>
          <a:prstGeom prst="ellipse">
            <a:avLst/>
          </a:prstGeom>
          <a:solidFill>
            <a:srgbClr val="1B3A6B"/>
          </a:solidFill>
          <a:ln w="12700">
            <a:solidFill>
              <a:srgbClr val="1B3A6B"/>
            </a:solidFill>
            <a:prstDash val="solid"/>
          </a:ln>
        </p:spPr>
        <p:txBody>
          <a:bodyPr/>
          <a:lstStyle/>
          <a:p>
            <a:endParaRPr lang="en-US"/>
          </a:p>
        </p:txBody>
      </p:sp>
      <p:sp>
        <p:nvSpPr>
          <p:cNvPr id="21" name="Text 19">
            <a:extLst>
              <a:ext uri="{C183D7F6-B498-43B3-948B-1728B52AA6E4}">
                <adec:decorative xmlns:adec="http://schemas.microsoft.com/office/drawing/2017/decorative" val="1"/>
              </a:ext>
            </a:extLst>
          </p:cNvPr>
          <p:cNvSpPr/>
          <p:nvPr/>
        </p:nvSpPr>
        <p:spPr>
          <a:xfrm>
            <a:off x="8046717" y="3154680"/>
            <a:ext cx="731520" cy="365760"/>
          </a:xfrm>
          <a:prstGeom prst="rect">
            <a:avLst/>
          </a:prstGeom>
          <a:noFill/>
          <a:ln/>
        </p:spPr>
        <p:txBody>
          <a:bodyPr wrap="square" rtlCol="0" anchor="ctr"/>
          <a:lstStyle/>
          <a:p>
            <a:pPr marL="0" indent="0" algn="ctr">
              <a:buNone/>
            </a:pPr>
            <a:r>
              <a:rPr lang="en-US" sz="1000" dirty="0">
                <a:solidFill>
                  <a:srgbClr val="1B3A6B"/>
                </a:solidFill>
                <a:latin typeface="Calibri" pitchFamily="34" charset="0"/>
                <a:ea typeface="Calibri" pitchFamily="34" charset="-122"/>
                <a:cs typeface="Calibri" pitchFamily="34" charset="-120"/>
              </a:rPr>
              <a:t>E₀</a:t>
            </a:r>
            <a:endParaRPr lang="en-US" sz="1000" dirty="0"/>
          </a:p>
          <a:p>
            <a:pPr marL="0" indent="0" algn="ctr">
              <a:buNone/>
            </a:pPr>
            <a:r>
              <a:rPr lang="en-US" sz="1000" dirty="0">
                <a:solidFill>
                  <a:srgbClr val="1B3A6B"/>
                </a:solidFill>
                <a:latin typeface="Calibri" pitchFamily="34" charset="0"/>
                <a:ea typeface="Calibri" pitchFamily="34" charset="-122"/>
                <a:cs typeface="Calibri" pitchFamily="34" charset="-120"/>
              </a:rPr>
              <a:t>r=6%</a:t>
            </a:r>
            <a:endParaRPr lang="en-US" sz="1000" dirty="0"/>
          </a:p>
        </p:txBody>
      </p:sp>
      <p:sp>
        <p:nvSpPr>
          <p:cNvPr id="22" name="Shape 20">
            <a:extLst>
              <a:ext uri="{C183D7F6-B498-43B3-948B-1728B52AA6E4}">
                <adec:decorative xmlns:adec="http://schemas.microsoft.com/office/drawing/2017/decorative" val="1"/>
              </a:ext>
            </a:extLst>
          </p:cNvPr>
          <p:cNvSpPr/>
          <p:nvPr/>
        </p:nvSpPr>
        <p:spPr>
          <a:xfrm>
            <a:off x="9217152" y="3202385"/>
            <a:ext cx="146304" cy="146304"/>
          </a:xfrm>
          <a:prstGeom prst="ellipse">
            <a:avLst/>
          </a:prstGeom>
          <a:solidFill>
            <a:srgbClr val="C62828"/>
          </a:solidFill>
          <a:ln w="12700">
            <a:solidFill>
              <a:srgbClr val="C62828"/>
            </a:solidFill>
            <a:prstDash val="solid"/>
          </a:ln>
        </p:spPr>
        <p:txBody>
          <a:bodyPr/>
          <a:lstStyle/>
          <a:p>
            <a:endParaRPr lang="en-US"/>
          </a:p>
        </p:txBody>
      </p:sp>
      <p:sp>
        <p:nvSpPr>
          <p:cNvPr id="23" name="Text 21">
            <a:extLst>
              <a:ext uri="{C183D7F6-B498-43B3-948B-1728B52AA6E4}">
                <adec:decorative xmlns:adec="http://schemas.microsoft.com/office/drawing/2017/decorative" val="1"/>
              </a:ext>
            </a:extLst>
          </p:cNvPr>
          <p:cNvSpPr/>
          <p:nvPr/>
        </p:nvSpPr>
        <p:spPr>
          <a:xfrm>
            <a:off x="9281160" y="2955497"/>
            <a:ext cx="731520" cy="365760"/>
          </a:xfrm>
          <a:prstGeom prst="rect">
            <a:avLst/>
          </a:prstGeom>
          <a:noFill/>
          <a:ln/>
        </p:spPr>
        <p:txBody>
          <a:bodyPr wrap="square" rtlCol="0" anchor="ctr"/>
          <a:lstStyle/>
          <a:p>
            <a:pPr marL="0" indent="0" algn="ctr">
              <a:buNone/>
            </a:pPr>
            <a:r>
              <a:rPr lang="en-US" sz="1000" dirty="0">
                <a:solidFill>
                  <a:srgbClr val="C62828"/>
                </a:solidFill>
                <a:latin typeface="Calibri" pitchFamily="34" charset="0"/>
                <a:ea typeface="Calibri" pitchFamily="34" charset="-122"/>
                <a:cs typeface="Calibri" pitchFamily="34" charset="-120"/>
              </a:rPr>
              <a:t>E₁</a:t>
            </a:r>
            <a:endParaRPr lang="en-US" sz="1000" dirty="0"/>
          </a:p>
          <a:p>
            <a:pPr marL="0" indent="0" algn="ctr">
              <a:buNone/>
            </a:pPr>
            <a:r>
              <a:rPr lang="en-US" sz="1000" dirty="0">
                <a:solidFill>
                  <a:srgbClr val="C62828"/>
                </a:solidFill>
                <a:latin typeface="Calibri" pitchFamily="34" charset="0"/>
                <a:ea typeface="Calibri" pitchFamily="34" charset="-122"/>
                <a:cs typeface="Calibri" pitchFamily="34" charset="-120"/>
              </a:rPr>
              <a:t>r=7%</a:t>
            </a:r>
            <a:endParaRPr lang="en-US" sz="1000" dirty="0"/>
          </a:p>
        </p:txBody>
      </p:sp>
      <p:sp>
        <p:nvSpPr>
          <p:cNvPr id="24" name="Shape 22">
            <a:extLst>
              <a:ext uri="{C183D7F6-B498-43B3-948B-1728B52AA6E4}">
                <adec:decorative xmlns:adec="http://schemas.microsoft.com/office/drawing/2017/decorative" val="1"/>
              </a:ext>
            </a:extLst>
          </p:cNvPr>
          <p:cNvSpPr/>
          <p:nvPr/>
        </p:nvSpPr>
        <p:spPr>
          <a:xfrm>
            <a:off x="10387813" y="4617720"/>
            <a:ext cx="320040" cy="0"/>
          </a:xfrm>
          <a:prstGeom prst="line">
            <a:avLst/>
          </a:prstGeom>
          <a:noFill/>
          <a:ln w="19050">
            <a:solidFill>
              <a:srgbClr val="C62828"/>
            </a:solidFill>
            <a:prstDash val="solid"/>
          </a:ln>
        </p:spPr>
        <p:txBody>
          <a:bodyPr/>
          <a:lstStyle/>
          <a:p>
            <a:endParaRPr lang="en-US"/>
          </a:p>
        </p:txBody>
      </p:sp>
      <p:sp>
        <p:nvSpPr>
          <p:cNvPr id="25" name="Text 23">
            <a:extLst>
              <a:ext uri="{C183D7F6-B498-43B3-948B-1728B52AA6E4}">
                <adec:decorative xmlns:adec="http://schemas.microsoft.com/office/drawing/2017/decorative" val="1"/>
              </a:ext>
            </a:extLst>
          </p:cNvPr>
          <p:cNvSpPr/>
          <p:nvPr/>
        </p:nvSpPr>
        <p:spPr>
          <a:xfrm>
            <a:off x="10581244" y="4432026"/>
            <a:ext cx="320040" cy="365760"/>
          </a:xfrm>
          <a:prstGeom prst="rect">
            <a:avLst/>
          </a:prstGeom>
          <a:noFill/>
          <a:ln/>
        </p:spPr>
        <p:txBody>
          <a:bodyPr wrap="square" rtlCol="0" anchor="ctr"/>
          <a:lstStyle/>
          <a:p>
            <a:pPr marL="0" indent="0">
              <a:buNone/>
            </a:pPr>
            <a:r>
              <a:rPr lang="en-US" sz="1400" dirty="0">
                <a:solidFill>
                  <a:srgbClr val="C62828"/>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Other Challenges for Discretionary Policy</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457200" y="960120"/>
            <a:ext cx="11274552" cy="1554480"/>
          </a:xfrm>
          <a:prstGeom prst="rect">
            <a:avLst/>
          </a:prstGeom>
          <a:solidFill>
            <a:srgbClr val="D6E4F0"/>
          </a:solidFill>
          <a:ln w="12700">
            <a:solidFill>
              <a:srgbClr val="D6E4F0"/>
            </a:solidFill>
            <a:prstDash val="solid"/>
          </a:ln>
        </p:spPr>
        <p:txBody>
          <a:bodyPr/>
          <a:lstStyle/>
          <a:p>
            <a:endParaRPr lang="en-US"/>
          </a:p>
        </p:txBody>
      </p:sp>
      <p:sp>
        <p:nvSpPr>
          <p:cNvPr id="4" name="Text 2"/>
          <p:cNvSpPr/>
          <p:nvPr/>
        </p:nvSpPr>
        <p:spPr>
          <a:xfrm>
            <a:off x="594360" y="1033272"/>
            <a:ext cx="10972800" cy="365760"/>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Temporary vs. Permanent Policy</a:t>
            </a:r>
            <a:endParaRPr lang="en-US" sz="1500" dirty="0"/>
          </a:p>
        </p:txBody>
      </p:sp>
      <p:sp>
        <p:nvSpPr>
          <p:cNvPr id="5" name="Text 3"/>
          <p:cNvSpPr/>
          <p:nvPr/>
        </p:nvSpPr>
        <p:spPr>
          <a:xfrm>
            <a:off x="594360" y="1435608"/>
            <a:ext cx="10972800" cy="1024128"/>
          </a:xfrm>
          <a:prstGeom prst="rect">
            <a:avLst/>
          </a:prstGeom>
          <a:noFill/>
          <a:ln/>
        </p:spPr>
        <p:txBody>
          <a:bodyPr wrap="square" rtlCol="0" anchor="t"/>
          <a:lstStyle/>
          <a:p>
            <a:pPr marL="0" indent="0">
              <a:buNone/>
            </a:pPr>
            <a:r>
              <a:rPr lang="en-US" sz="1300" dirty="0">
                <a:solidFill>
                  <a:srgbClr val="1A1A2E"/>
                </a:solidFill>
                <a:latin typeface="Calibri" pitchFamily="34" charset="0"/>
                <a:ea typeface="Calibri" pitchFamily="34" charset="-122"/>
                <a:cs typeface="Calibri" pitchFamily="34" charset="-120"/>
              </a:rPr>
              <a:t>A one-year tax cut has less stimulus effect than a permanent one — households adjust spending based on expected long-run income (permanent income hypothesis)</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457200" y="2651760"/>
            <a:ext cx="11274552" cy="1554480"/>
          </a:xfrm>
          <a:prstGeom prst="rect">
            <a:avLst/>
          </a:prstGeom>
          <a:solidFill>
            <a:srgbClr val="E8ECF0"/>
          </a:solidFill>
          <a:ln w="12700">
            <a:solidFill>
              <a:srgbClr val="E8ECF0"/>
            </a:solidFill>
            <a:prstDash val="solid"/>
          </a:ln>
        </p:spPr>
        <p:txBody>
          <a:bodyPr/>
          <a:lstStyle/>
          <a:p>
            <a:endParaRPr lang="en-US"/>
          </a:p>
        </p:txBody>
      </p:sp>
      <p:sp>
        <p:nvSpPr>
          <p:cNvPr id="7" name="Text 5"/>
          <p:cNvSpPr/>
          <p:nvPr/>
        </p:nvSpPr>
        <p:spPr>
          <a:xfrm>
            <a:off x="594360" y="2724912"/>
            <a:ext cx="10972800" cy="365760"/>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Political Bias Toward Expansion</a:t>
            </a:r>
            <a:endParaRPr lang="en-US" sz="1500" dirty="0"/>
          </a:p>
        </p:txBody>
      </p:sp>
      <p:sp>
        <p:nvSpPr>
          <p:cNvPr id="8" name="Text 6"/>
          <p:cNvSpPr/>
          <p:nvPr/>
        </p:nvSpPr>
        <p:spPr>
          <a:xfrm>
            <a:off x="594360" y="3127248"/>
            <a:ext cx="10972800" cy="1024128"/>
          </a:xfrm>
          <a:prstGeom prst="rect">
            <a:avLst/>
          </a:prstGeom>
          <a:noFill/>
          <a:ln/>
        </p:spPr>
        <p:txBody>
          <a:bodyPr wrap="square" rtlCol="0" anchor="t"/>
          <a:lstStyle/>
          <a:p>
            <a:pPr marL="0" indent="0">
              <a:buNone/>
            </a:pPr>
            <a:r>
              <a:rPr lang="en-US" sz="1300" dirty="0">
                <a:solidFill>
                  <a:srgbClr val="1A1A2E"/>
                </a:solidFill>
                <a:latin typeface="Calibri" pitchFamily="34" charset="0"/>
                <a:ea typeface="Calibri" pitchFamily="34" charset="-122"/>
                <a:cs typeface="Calibri" pitchFamily="34" charset="-120"/>
              </a:rPr>
              <a:t>Politicians love tax cuts and spending increases; they hate tax hikes and spending cuts. Result: expansionary policy gets enacted in recessions but contractionary policy rarely gets enacted in booms.</a:t>
            </a:r>
            <a:endParaRPr lang="en-US" sz="1300" dirty="0"/>
          </a:p>
          <a:p>
            <a:pPr marL="0" indent="0">
              <a:buNone/>
            </a:pP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Example: Late 1990s — economy above potential GDP, unemployment unsustainably low. No major politician proposed contractionary measures.</a:t>
            </a:r>
            <a:endParaRPr lang="en-US" sz="1300" dirty="0"/>
          </a:p>
        </p:txBody>
      </p:sp>
      <p:sp>
        <p:nvSpPr>
          <p:cNvPr id="9" name="Shape 7">
            <a:extLst>
              <a:ext uri="{C183D7F6-B498-43B3-948B-1728B52AA6E4}">
                <adec:decorative xmlns:adec="http://schemas.microsoft.com/office/drawing/2017/decorative" val="1"/>
              </a:ext>
            </a:extLst>
          </p:cNvPr>
          <p:cNvSpPr/>
          <p:nvPr/>
        </p:nvSpPr>
        <p:spPr>
          <a:xfrm>
            <a:off x="457200" y="4343400"/>
            <a:ext cx="11274552" cy="1554480"/>
          </a:xfrm>
          <a:prstGeom prst="rect">
            <a:avLst/>
          </a:prstGeom>
          <a:solidFill>
            <a:srgbClr val="1B3A6B"/>
          </a:solidFill>
          <a:ln w="12700">
            <a:solidFill>
              <a:srgbClr val="1B3A6B"/>
            </a:solidFill>
            <a:prstDash val="solid"/>
          </a:ln>
        </p:spPr>
        <p:txBody>
          <a:bodyPr/>
          <a:lstStyle/>
          <a:p>
            <a:endParaRPr lang="en-US"/>
          </a:p>
        </p:txBody>
      </p:sp>
      <p:sp>
        <p:nvSpPr>
          <p:cNvPr id="10" name="Text 8"/>
          <p:cNvSpPr/>
          <p:nvPr/>
        </p:nvSpPr>
        <p:spPr>
          <a:xfrm>
            <a:off x="594360" y="4416552"/>
            <a:ext cx="109728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Bottom Line</a:t>
            </a:r>
            <a:endParaRPr lang="en-US" sz="1500" dirty="0"/>
          </a:p>
        </p:txBody>
      </p:sp>
      <p:sp>
        <p:nvSpPr>
          <p:cNvPr id="11" name="Text 9"/>
          <p:cNvSpPr/>
          <p:nvPr/>
        </p:nvSpPr>
        <p:spPr>
          <a:xfrm>
            <a:off x="594360" y="4818888"/>
            <a:ext cx="10972800" cy="1024128"/>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By the mid-1990s, many economists concluded discretionary fiscal policy is 'more like a club than a scalpel' — use in extreme situations only; rely on automatic stabilizers and monetary policy otherwise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The Balanced Budget Debate</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365760" y="960120"/>
            <a:ext cx="5394960" cy="4160520"/>
          </a:xfrm>
          <a:prstGeom prst="rect">
            <a:avLst/>
          </a:prstGeom>
          <a:solidFill>
            <a:srgbClr val="D6E4F0"/>
          </a:solidFill>
          <a:ln w="12700">
            <a:solidFill>
              <a:srgbClr val="D6E4F0"/>
            </a:solidFill>
            <a:prstDash val="solid"/>
          </a:ln>
        </p:spPr>
        <p:txBody>
          <a:bodyPr/>
          <a:lstStyle/>
          <a:p>
            <a:endParaRPr lang="en-US"/>
          </a:p>
        </p:txBody>
      </p:sp>
      <p:sp>
        <p:nvSpPr>
          <p:cNvPr id="4" name="Text 2"/>
          <p:cNvSpPr/>
          <p:nvPr/>
        </p:nvSpPr>
        <p:spPr>
          <a:xfrm>
            <a:off x="502920" y="1024128"/>
            <a:ext cx="5120640" cy="457200"/>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Arguments FOR a Balanced Budget Rule</a:t>
            </a:r>
            <a:endParaRPr lang="en-US" sz="1500" dirty="0"/>
          </a:p>
        </p:txBody>
      </p:sp>
      <p:sp>
        <p:nvSpPr>
          <p:cNvPr id="5" name="Text 3"/>
          <p:cNvSpPr/>
          <p:nvPr/>
        </p:nvSpPr>
        <p:spPr>
          <a:xfrm>
            <a:off x="502920" y="1527048"/>
            <a:ext cx="5120640" cy="342900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 Fiscal discipline: prevents politicians from funding popular programs with borrowed money</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Reduced interest costs over time</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Intergenerational fairness: don't pass today's bills to future taxpayers</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Long-run stability: stable debt/GDP builds investor confidence</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Household analogy: families balance budgets</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6400800" y="960120"/>
            <a:ext cx="5394960" cy="4160520"/>
          </a:xfrm>
          <a:prstGeom prst="rect">
            <a:avLst/>
          </a:prstGeom>
          <a:solidFill>
            <a:srgbClr val="E8ECF0"/>
          </a:solidFill>
          <a:ln w="12700">
            <a:solidFill>
              <a:srgbClr val="E8ECF0"/>
            </a:solidFill>
            <a:prstDash val="solid"/>
          </a:ln>
        </p:spPr>
        <p:txBody>
          <a:bodyPr/>
          <a:lstStyle/>
          <a:p>
            <a:endParaRPr lang="en-US"/>
          </a:p>
        </p:txBody>
      </p:sp>
      <p:sp>
        <p:nvSpPr>
          <p:cNvPr id="7" name="Text 5"/>
          <p:cNvSpPr/>
          <p:nvPr/>
        </p:nvSpPr>
        <p:spPr>
          <a:xfrm>
            <a:off x="6537960" y="1024128"/>
            <a:ext cx="5120640" cy="457200"/>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Arguments AGAINST a Balanced Budget Rule</a:t>
            </a:r>
            <a:endParaRPr lang="en-US" sz="1500" dirty="0"/>
          </a:p>
        </p:txBody>
      </p:sp>
      <p:sp>
        <p:nvSpPr>
          <p:cNvPr id="8" name="Text 6"/>
          <p:cNvSpPr/>
          <p:nvPr/>
        </p:nvSpPr>
        <p:spPr>
          <a:xfrm>
            <a:off x="6537960" y="1527048"/>
            <a:ext cx="5120640" cy="342900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 Prevents automatic stabilizers from working → worsens recessions</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The household analogy is flawed: households DO borrow (mortgages, cars, tuition)</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Government has macroeconomic responsibilities households don't</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Deficits can fund productive long-run investments</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Invites accounting gimmicks</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Political gridlock: disagreements more likely to cause shutdowns</a:t>
            </a:r>
            <a:endParaRPr lang="en-US" sz="1300" dirty="0"/>
          </a:p>
        </p:txBody>
      </p:sp>
      <p:sp>
        <p:nvSpPr>
          <p:cNvPr id="9" name="Shape 7">
            <a:extLst>
              <a:ext uri="{C183D7F6-B498-43B3-948B-1728B52AA6E4}">
                <adec:decorative xmlns:adec="http://schemas.microsoft.com/office/drawing/2017/decorative" val="1"/>
              </a:ext>
            </a:extLst>
          </p:cNvPr>
          <p:cNvSpPr/>
          <p:nvPr/>
        </p:nvSpPr>
        <p:spPr>
          <a:xfrm>
            <a:off x="365760" y="5230368"/>
            <a:ext cx="11430000" cy="530352"/>
          </a:xfrm>
          <a:prstGeom prst="rect">
            <a:avLst/>
          </a:prstGeom>
          <a:solidFill>
            <a:srgbClr val="1B3A6B"/>
          </a:solidFill>
          <a:ln w="12700">
            <a:solidFill>
              <a:srgbClr val="1B3A6B"/>
            </a:solidFill>
            <a:prstDash val="solid"/>
          </a:ln>
        </p:spPr>
        <p:txBody>
          <a:bodyPr/>
          <a:lstStyle/>
          <a:p>
            <a:endParaRPr lang="en-US"/>
          </a:p>
        </p:txBody>
      </p:sp>
      <p:sp>
        <p:nvSpPr>
          <p:cNvPr id="10" name="Text 8"/>
          <p:cNvSpPr/>
          <p:nvPr/>
        </p:nvSpPr>
        <p:spPr>
          <a:xfrm>
            <a:off x="365760" y="5230368"/>
            <a:ext cx="11430000" cy="5303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Better metric: Debt/GDP ratio — not the annual dollar deficit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Can We Run Deficits Forever?</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365760" y="960120"/>
            <a:ext cx="5943600" cy="1920240"/>
          </a:xfrm>
          <a:prstGeom prst="rect">
            <a:avLst/>
          </a:prstGeom>
          <a:solidFill>
            <a:srgbClr val="D6E4F0"/>
          </a:solidFill>
          <a:ln w="12700">
            <a:solidFill>
              <a:srgbClr val="D6E4F0"/>
            </a:solidFill>
            <a:prstDash val="solid"/>
          </a:ln>
        </p:spPr>
        <p:txBody>
          <a:bodyPr/>
          <a:lstStyle/>
          <a:p>
            <a:endParaRPr lang="en-US"/>
          </a:p>
        </p:txBody>
      </p:sp>
      <p:sp>
        <p:nvSpPr>
          <p:cNvPr id="4" name="Text 2"/>
          <p:cNvSpPr/>
          <p:nvPr/>
        </p:nvSpPr>
        <p:spPr>
          <a:xfrm>
            <a:off x="502920" y="1005840"/>
            <a:ext cx="5669280" cy="347472"/>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Not necessarily unsustainable if...</a:t>
            </a:r>
            <a:endParaRPr lang="en-US" sz="1400" dirty="0"/>
          </a:p>
        </p:txBody>
      </p:sp>
      <p:sp>
        <p:nvSpPr>
          <p:cNvPr id="5" name="Text 3"/>
          <p:cNvSpPr/>
          <p:nvPr/>
        </p:nvSpPr>
        <p:spPr>
          <a:xfrm>
            <a:off x="502920" y="1389888"/>
            <a:ext cx="5669280" cy="137160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 GDP grows faster than debt</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Debt/GDP ratio stabilizes or falls</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Example: U.S. ran near-continuous deficits WWII–1980, yet debt/GDP fell because economy grew faster than debt</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365760" y="3017520"/>
            <a:ext cx="5943600" cy="2377440"/>
          </a:xfrm>
          <a:prstGeom prst="rect">
            <a:avLst/>
          </a:prstGeom>
          <a:solidFill>
            <a:srgbClr val="E8ECF0"/>
          </a:solidFill>
          <a:ln w="12700">
            <a:solidFill>
              <a:srgbClr val="E8ECF0"/>
            </a:solidFill>
            <a:prstDash val="solid"/>
          </a:ln>
        </p:spPr>
        <p:txBody>
          <a:bodyPr/>
          <a:lstStyle/>
          <a:p>
            <a:endParaRPr lang="en-US"/>
          </a:p>
        </p:txBody>
      </p:sp>
      <p:sp>
        <p:nvSpPr>
          <p:cNvPr id="7" name="Text 5"/>
          <p:cNvSpPr/>
          <p:nvPr/>
        </p:nvSpPr>
        <p:spPr>
          <a:xfrm>
            <a:off x="502920" y="3063240"/>
            <a:ext cx="5669280" cy="347472"/>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Long-run risks of large structural deficits:</a:t>
            </a:r>
            <a:endParaRPr lang="en-US" sz="1400" dirty="0"/>
          </a:p>
        </p:txBody>
      </p:sp>
      <p:sp>
        <p:nvSpPr>
          <p:cNvPr id="8" name="Text 6"/>
          <p:cNvSpPr/>
          <p:nvPr/>
        </p:nvSpPr>
        <p:spPr>
          <a:xfrm>
            <a:off x="502920" y="3456432"/>
            <a:ext cx="5669280" cy="182880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 Crowds out private investment</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Reduces national saving</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Raises interest rates</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Risk of financial crises if creditors lose confidence</a:t>
            </a:r>
            <a:endParaRPr lang="en-US" sz="1300" dirty="0"/>
          </a:p>
          <a:p>
            <a:pPr marL="0" indent="0">
              <a:buNone/>
            </a:pPr>
            <a:r>
              <a:rPr lang="en-US" sz="1300" dirty="0">
                <a:solidFill>
                  <a:srgbClr val="1A1A2E"/>
                </a:solidFill>
                <a:latin typeface="Calibri" pitchFamily="34" charset="0"/>
                <a:ea typeface="Calibri" pitchFamily="34" charset="-122"/>
                <a:cs typeface="Calibri" pitchFamily="34" charset="-120"/>
              </a:rPr>
              <a:t>• Demographics: Social Security + Medicare projected to rise from 8.7% to 10.8% of GDP by 2027–2031</a:t>
            </a:r>
            <a:endParaRPr lang="en-US" sz="1300" dirty="0"/>
          </a:p>
        </p:txBody>
      </p:sp>
      <p:sp>
        <p:nvSpPr>
          <p:cNvPr id="9" name="Shape 7">
            <a:extLst>
              <a:ext uri="{C183D7F6-B498-43B3-948B-1728B52AA6E4}">
                <adec:decorative xmlns:adec="http://schemas.microsoft.com/office/drawing/2017/decorative" val="1"/>
              </a:ext>
            </a:extLst>
          </p:cNvPr>
          <p:cNvSpPr/>
          <p:nvPr/>
        </p:nvSpPr>
        <p:spPr>
          <a:xfrm>
            <a:off x="6629400" y="960120"/>
            <a:ext cx="5212080" cy="3200400"/>
          </a:xfrm>
          <a:prstGeom prst="rect">
            <a:avLst/>
          </a:prstGeom>
          <a:solidFill>
            <a:srgbClr val="1B3A6B"/>
          </a:solidFill>
          <a:ln w="12700">
            <a:solidFill>
              <a:srgbClr val="1B3A6B"/>
            </a:solidFill>
            <a:prstDash val="solid"/>
          </a:ln>
        </p:spPr>
        <p:txBody>
          <a:bodyPr/>
          <a:lstStyle/>
          <a:p>
            <a:endParaRPr lang="en-US"/>
          </a:p>
        </p:txBody>
      </p:sp>
      <p:sp>
        <p:nvSpPr>
          <p:cNvPr id="10" name="Text 8"/>
          <p:cNvSpPr/>
          <p:nvPr/>
        </p:nvSpPr>
        <p:spPr>
          <a:xfrm>
            <a:off x="6720840" y="1024128"/>
            <a:ext cx="5029200" cy="23774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"The key question is not 'Is there a deficit?'</a:t>
            </a:r>
            <a:endParaRPr lang="en-US" sz="1800" dirty="0"/>
          </a:p>
          <a:p>
            <a:pPr marL="0" indent="0" algn="ctr">
              <a:buNone/>
            </a:pPr>
            <a:r>
              <a:rPr lang="en-US" sz="1800" b="1" dirty="0">
                <a:solidFill>
                  <a:srgbClr val="FFFFFF"/>
                </a:solidFill>
                <a:latin typeface="Calibri" pitchFamily="34" charset="0"/>
                <a:ea typeface="Calibri" pitchFamily="34" charset="-122"/>
                <a:cs typeface="Calibri" pitchFamily="34" charset="-120"/>
              </a:rPr>
              <a:t>It's 'Is the debt/GDP ratio on a sustainable path?'"</a:t>
            </a:r>
            <a:endParaRPr lang="en-US" sz="1800" dirty="0"/>
          </a:p>
        </p:txBody>
      </p:sp>
      <p:sp>
        <p:nvSpPr>
          <p:cNvPr id="11" name="Text 9"/>
          <p:cNvSpPr/>
          <p:nvPr/>
        </p:nvSpPr>
        <p:spPr>
          <a:xfrm>
            <a:off x="6720840" y="3310128"/>
            <a:ext cx="5029200" cy="347472"/>
          </a:xfrm>
          <a:prstGeom prst="rect">
            <a:avLst/>
          </a:prstGeom>
          <a:noFill/>
          <a:ln/>
        </p:spPr>
        <p:txBody>
          <a:bodyPr wrap="square" rtlCol="0" anchor="ctr"/>
          <a:lstStyle/>
          <a:p>
            <a:pPr marL="0" indent="0" algn="ctr">
              <a:buNone/>
            </a:pPr>
            <a:r>
              <a:rPr lang="en-US" sz="1100" i="1" dirty="0">
                <a:solidFill>
                  <a:srgbClr val="8AAAD4"/>
                </a:solidFill>
                <a:latin typeface="Calibri" pitchFamily="34" charset="0"/>
                <a:ea typeface="Calibri" pitchFamily="34" charset="-122"/>
                <a:cs typeface="Calibri" pitchFamily="34" charset="-120"/>
              </a:rPr>
              <a:t>— OpenStax, Principles of Macroeconomics 3e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01168"/>
            <a:ext cx="11274552" cy="5943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3A6B"/>
                </a:solidFill>
                <a:effectLst/>
                <a:uLnTx/>
                <a:uFillTx/>
                <a:latin typeface="Calibri" pitchFamily="34" charset="0"/>
                <a:ea typeface="Calibri" pitchFamily="34" charset="-122"/>
                <a:cs typeface="Calibri" pitchFamily="34" charset="-120"/>
              </a:rPr>
              <a:t>Chapter 17 Summary</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365760" y="960120"/>
            <a:ext cx="5669280" cy="1600200"/>
          </a:xfrm>
          <a:prstGeom prst="rect">
            <a:avLst/>
          </a:prstGeom>
          <a:solidFill>
            <a:srgbClr val="1B3A6B"/>
          </a:solidFill>
          <a:ln w="12700">
            <a:solidFill>
              <a:srgbClr val="1B3A6B"/>
            </a:solidFill>
            <a:prstDash val="solid"/>
          </a:ln>
        </p:spPr>
        <p:txBody>
          <a:bodyPr/>
          <a:lstStyle/>
          <a:p>
            <a:endParaRPr lang="en-US"/>
          </a:p>
        </p:txBody>
      </p:sp>
      <p:sp>
        <p:nvSpPr>
          <p:cNvPr id="4" name="Text 2"/>
          <p:cNvSpPr/>
          <p:nvPr/>
        </p:nvSpPr>
        <p:spPr>
          <a:xfrm>
            <a:off x="502920" y="1051560"/>
            <a:ext cx="5394960" cy="38404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Government Spending</a:t>
            </a:r>
            <a:endParaRPr lang="en-US" sz="1600" dirty="0"/>
          </a:p>
        </p:txBody>
      </p:sp>
      <p:sp>
        <p:nvSpPr>
          <p:cNvPr id="5" name="Text 3"/>
          <p:cNvSpPr/>
          <p:nvPr/>
        </p:nvSpPr>
        <p:spPr>
          <a:xfrm>
            <a:off x="502920" y="1463040"/>
            <a:ext cx="5394960" cy="1005840"/>
          </a:xfrm>
          <a:prstGeom prst="rect">
            <a:avLst/>
          </a:prstGeom>
          <a:noFill/>
          <a:ln/>
        </p:spPr>
        <p:txBody>
          <a:bodyPr wrap="square" rtlCol="0" anchor="t"/>
          <a:lstStyle/>
          <a:p>
            <a:pPr marL="0" indent="0">
              <a:buNone/>
            </a:pPr>
            <a:r>
              <a:rPr lang="en-US" sz="1300" dirty="0">
                <a:solidFill>
                  <a:srgbClr val="C9D8F0"/>
                </a:solidFill>
                <a:latin typeface="Calibri" pitchFamily="34" charset="0"/>
                <a:ea typeface="Calibri" pitchFamily="34" charset="-122"/>
                <a:cs typeface="Calibri" pitchFamily="34" charset="-120"/>
              </a:rPr>
              <a:t>~20% of GDP; Social Security, defense, health, and interest = 75% of federal budget</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6309360" y="960120"/>
            <a:ext cx="5669280" cy="1600200"/>
          </a:xfrm>
          <a:prstGeom prst="rect">
            <a:avLst/>
          </a:prstGeom>
          <a:solidFill>
            <a:srgbClr val="1B3A6B"/>
          </a:solidFill>
          <a:ln w="12700">
            <a:solidFill>
              <a:srgbClr val="1B3A6B"/>
            </a:solidFill>
            <a:prstDash val="solid"/>
          </a:ln>
        </p:spPr>
        <p:txBody>
          <a:bodyPr/>
          <a:lstStyle/>
          <a:p>
            <a:endParaRPr lang="en-US"/>
          </a:p>
        </p:txBody>
      </p:sp>
      <p:sp>
        <p:nvSpPr>
          <p:cNvPr id="7" name="Text 5"/>
          <p:cNvSpPr/>
          <p:nvPr/>
        </p:nvSpPr>
        <p:spPr>
          <a:xfrm>
            <a:off x="6446520" y="1051560"/>
            <a:ext cx="5394960" cy="38404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Taxation</a:t>
            </a:r>
            <a:endParaRPr lang="en-US" sz="1600" dirty="0"/>
          </a:p>
        </p:txBody>
      </p:sp>
      <p:sp>
        <p:nvSpPr>
          <p:cNvPr id="8" name="Text 6"/>
          <p:cNvSpPr/>
          <p:nvPr/>
        </p:nvSpPr>
        <p:spPr>
          <a:xfrm>
            <a:off x="6446520" y="1463040"/>
            <a:ext cx="5394960" cy="1005840"/>
          </a:xfrm>
          <a:prstGeom prst="rect">
            <a:avLst/>
          </a:prstGeom>
          <a:noFill/>
          <a:ln/>
        </p:spPr>
        <p:txBody>
          <a:bodyPr wrap="square" rtlCol="0" anchor="t"/>
          <a:lstStyle/>
          <a:p>
            <a:pPr marL="0" indent="0">
              <a:buNone/>
            </a:pPr>
            <a:r>
              <a:rPr lang="en-US" sz="1300" dirty="0">
                <a:solidFill>
                  <a:srgbClr val="C9D8F0"/>
                </a:solidFill>
                <a:latin typeface="Calibri" pitchFamily="34" charset="0"/>
                <a:ea typeface="Calibri" pitchFamily="34" charset="-122"/>
                <a:cs typeface="Calibri" pitchFamily="34" charset="-120"/>
              </a:rPr>
              <a:t>Progressive income tax + payroll taxes = 85%+ of revenue; marginal ≠ average rate</a:t>
            </a:r>
            <a:endParaRPr lang="en-US" sz="1300" dirty="0"/>
          </a:p>
        </p:txBody>
      </p:sp>
      <p:sp>
        <p:nvSpPr>
          <p:cNvPr id="9" name="Shape 7">
            <a:extLst>
              <a:ext uri="{C183D7F6-B498-43B3-948B-1728B52AA6E4}">
                <adec:decorative xmlns:adec="http://schemas.microsoft.com/office/drawing/2017/decorative" val="1"/>
              </a:ext>
            </a:extLst>
          </p:cNvPr>
          <p:cNvSpPr/>
          <p:nvPr/>
        </p:nvSpPr>
        <p:spPr>
          <a:xfrm>
            <a:off x="365760" y="2679192"/>
            <a:ext cx="5669280" cy="1600200"/>
          </a:xfrm>
          <a:prstGeom prst="rect">
            <a:avLst/>
          </a:prstGeom>
          <a:solidFill>
            <a:srgbClr val="1B3A6B"/>
          </a:solidFill>
          <a:ln w="12700">
            <a:solidFill>
              <a:srgbClr val="1B3A6B"/>
            </a:solidFill>
            <a:prstDash val="solid"/>
          </a:ln>
        </p:spPr>
        <p:txBody>
          <a:bodyPr/>
          <a:lstStyle/>
          <a:p>
            <a:endParaRPr lang="en-US"/>
          </a:p>
        </p:txBody>
      </p:sp>
      <p:sp>
        <p:nvSpPr>
          <p:cNvPr id="10" name="Text 8"/>
          <p:cNvSpPr/>
          <p:nvPr/>
        </p:nvSpPr>
        <p:spPr>
          <a:xfrm>
            <a:off x="502920" y="2770632"/>
            <a:ext cx="5394960" cy="38404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Deficit &amp; Debt</a:t>
            </a:r>
            <a:endParaRPr lang="en-US" sz="1600" dirty="0"/>
          </a:p>
        </p:txBody>
      </p:sp>
      <p:sp>
        <p:nvSpPr>
          <p:cNvPr id="11" name="Text 9"/>
          <p:cNvSpPr/>
          <p:nvPr/>
        </p:nvSpPr>
        <p:spPr>
          <a:xfrm>
            <a:off x="502920" y="3182112"/>
            <a:ext cx="5394960" cy="1005840"/>
          </a:xfrm>
          <a:prstGeom prst="rect">
            <a:avLst/>
          </a:prstGeom>
          <a:noFill/>
          <a:ln/>
        </p:spPr>
        <p:txBody>
          <a:bodyPr wrap="square" rtlCol="0" anchor="t"/>
          <a:lstStyle/>
          <a:p>
            <a:pPr marL="0" indent="0">
              <a:buNone/>
            </a:pPr>
            <a:r>
              <a:rPr lang="en-US" sz="1300" dirty="0">
                <a:solidFill>
                  <a:srgbClr val="C9D8F0"/>
                </a:solidFill>
                <a:latin typeface="Calibri" pitchFamily="34" charset="0"/>
                <a:ea typeface="Calibri" pitchFamily="34" charset="-122"/>
                <a:cs typeface="Calibri" pitchFamily="34" charset="-120"/>
              </a:rPr>
              <a:t>Annual deficit adds to cumulative debt; track debt/GDP, not just dollars</a:t>
            </a:r>
            <a:endParaRPr lang="en-US" sz="1300" dirty="0"/>
          </a:p>
        </p:txBody>
      </p:sp>
      <p:sp>
        <p:nvSpPr>
          <p:cNvPr id="12" name="Shape 10">
            <a:extLst>
              <a:ext uri="{C183D7F6-B498-43B3-948B-1728B52AA6E4}">
                <adec:decorative xmlns:adec="http://schemas.microsoft.com/office/drawing/2017/decorative" val="1"/>
              </a:ext>
            </a:extLst>
          </p:cNvPr>
          <p:cNvSpPr/>
          <p:nvPr/>
        </p:nvSpPr>
        <p:spPr>
          <a:xfrm>
            <a:off x="6309360" y="2679192"/>
            <a:ext cx="5669280" cy="1600200"/>
          </a:xfrm>
          <a:prstGeom prst="rect">
            <a:avLst/>
          </a:prstGeom>
          <a:solidFill>
            <a:srgbClr val="1B3A6B"/>
          </a:solidFill>
          <a:ln w="12700">
            <a:solidFill>
              <a:srgbClr val="1B3A6B"/>
            </a:solidFill>
            <a:prstDash val="solid"/>
          </a:ln>
        </p:spPr>
        <p:txBody>
          <a:bodyPr/>
          <a:lstStyle/>
          <a:p>
            <a:endParaRPr lang="en-US"/>
          </a:p>
        </p:txBody>
      </p:sp>
      <p:sp>
        <p:nvSpPr>
          <p:cNvPr id="13" name="Text 11"/>
          <p:cNvSpPr/>
          <p:nvPr/>
        </p:nvSpPr>
        <p:spPr>
          <a:xfrm>
            <a:off x="6446520" y="2770632"/>
            <a:ext cx="5394960" cy="38404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Fiscal Policy Tools</a:t>
            </a:r>
            <a:endParaRPr lang="en-US" sz="1600" dirty="0"/>
          </a:p>
        </p:txBody>
      </p:sp>
      <p:sp>
        <p:nvSpPr>
          <p:cNvPr id="14" name="Text 12"/>
          <p:cNvSpPr/>
          <p:nvPr/>
        </p:nvSpPr>
        <p:spPr>
          <a:xfrm>
            <a:off x="6446520" y="3182112"/>
            <a:ext cx="5394960" cy="1005840"/>
          </a:xfrm>
          <a:prstGeom prst="rect">
            <a:avLst/>
          </a:prstGeom>
          <a:noFill/>
          <a:ln/>
        </p:spPr>
        <p:txBody>
          <a:bodyPr wrap="square" rtlCol="0" anchor="t"/>
          <a:lstStyle/>
          <a:p>
            <a:pPr marL="0" indent="0">
              <a:buNone/>
            </a:pPr>
            <a:r>
              <a:rPr lang="en-US" sz="1300" dirty="0">
                <a:solidFill>
                  <a:srgbClr val="C9D8F0"/>
                </a:solidFill>
                <a:latin typeface="Calibri" pitchFamily="34" charset="0"/>
                <a:ea typeface="Calibri" pitchFamily="34" charset="-122"/>
                <a:cs typeface="Calibri" pitchFamily="34" charset="-120"/>
              </a:rPr>
              <a:t>Expansionary shifts AD right (recession); Contractionary shifts AD left (inflation)</a:t>
            </a:r>
            <a:endParaRPr lang="en-US" sz="1300" dirty="0"/>
          </a:p>
        </p:txBody>
      </p:sp>
      <p:sp>
        <p:nvSpPr>
          <p:cNvPr id="15" name="Shape 13">
            <a:extLst>
              <a:ext uri="{C183D7F6-B498-43B3-948B-1728B52AA6E4}">
                <adec:decorative xmlns:adec="http://schemas.microsoft.com/office/drawing/2017/decorative" val="1"/>
              </a:ext>
            </a:extLst>
          </p:cNvPr>
          <p:cNvSpPr/>
          <p:nvPr/>
        </p:nvSpPr>
        <p:spPr>
          <a:xfrm>
            <a:off x="365760" y="4398264"/>
            <a:ext cx="5669280" cy="1600200"/>
          </a:xfrm>
          <a:prstGeom prst="rect">
            <a:avLst/>
          </a:prstGeom>
          <a:solidFill>
            <a:srgbClr val="1B3A6B"/>
          </a:solidFill>
          <a:ln w="12700">
            <a:solidFill>
              <a:srgbClr val="1B3A6B"/>
            </a:solidFill>
            <a:prstDash val="solid"/>
          </a:ln>
        </p:spPr>
        <p:txBody>
          <a:bodyPr/>
          <a:lstStyle/>
          <a:p>
            <a:endParaRPr lang="en-US"/>
          </a:p>
        </p:txBody>
      </p:sp>
      <p:sp>
        <p:nvSpPr>
          <p:cNvPr id="16" name="Text 14"/>
          <p:cNvSpPr/>
          <p:nvPr/>
        </p:nvSpPr>
        <p:spPr>
          <a:xfrm>
            <a:off x="502920" y="4489704"/>
            <a:ext cx="5394960" cy="38404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Automatic Stabilizers</a:t>
            </a:r>
            <a:endParaRPr lang="en-US" sz="1600" dirty="0"/>
          </a:p>
        </p:txBody>
      </p:sp>
      <p:sp>
        <p:nvSpPr>
          <p:cNvPr id="17" name="Text 15"/>
          <p:cNvSpPr/>
          <p:nvPr/>
        </p:nvSpPr>
        <p:spPr>
          <a:xfrm>
            <a:off x="502920" y="4901184"/>
            <a:ext cx="5394960" cy="1005840"/>
          </a:xfrm>
          <a:prstGeom prst="rect">
            <a:avLst/>
          </a:prstGeom>
          <a:noFill/>
          <a:ln/>
        </p:spPr>
        <p:txBody>
          <a:bodyPr wrap="square" rtlCol="0" anchor="t"/>
          <a:lstStyle/>
          <a:p>
            <a:pPr marL="0" indent="0">
              <a:buNone/>
            </a:pPr>
            <a:r>
              <a:rPr lang="en-US" sz="1300" dirty="0">
                <a:solidFill>
                  <a:srgbClr val="C9D8F0"/>
                </a:solidFill>
                <a:latin typeface="Calibri" pitchFamily="34" charset="0"/>
                <a:ea typeface="Calibri" pitchFamily="34" charset="-122"/>
                <a:cs typeface="Calibri" pitchFamily="34" charset="-120"/>
              </a:rPr>
              <a:t>Built-in cushions; act immediately without new legislation; offset ~10% of shocks</a:t>
            </a:r>
            <a:endParaRPr lang="en-US" sz="1300" dirty="0"/>
          </a:p>
        </p:txBody>
      </p:sp>
      <p:sp>
        <p:nvSpPr>
          <p:cNvPr id="18" name="Shape 16">
            <a:extLst>
              <a:ext uri="{C183D7F6-B498-43B3-948B-1728B52AA6E4}">
                <adec:decorative xmlns:adec="http://schemas.microsoft.com/office/drawing/2017/decorative" val="1"/>
              </a:ext>
            </a:extLst>
          </p:cNvPr>
          <p:cNvSpPr/>
          <p:nvPr/>
        </p:nvSpPr>
        <p:spPr>
          <a:xfrm>
            <a:off x="6309360" y="4398264"/>
            <a:ext cx="5669280" cy="1600200"/>
          </a:xfrm>
          <a:prstGeom prst="rect">
            <a:avLst/>
          </a:prstGeom>
          <a:solidFill>
            <a:srgbClr val="1B3A6B"/>
          </a:solidFill>
          <a:ln w="12700">
            <a:solidFill>
              <a:srgbClr val="1B3A6B"/>
            </a:solidFill>
            <a:prstDash val="solid"/>
          </a:ln>
        </p:spPr>
        <p:txBody>
          <a:bodyPr/>
          <a:lstStyle/>
          <a:p>
            <a:endParaRPr lang="en-US"/>
          </a:p>
        </p:txBody>
      </p:sp>
      <p:sp>
        <p:nvSpPr>
          <p:cNvPr id="19" name="Text 17"/>
          <p:cNvSpPr/>
          <p:nvPr/>
        </p:nvSpPr>
        <p:spPr>
          <a:xfrm>
            <a:off x="6446520" y="4489704"/>
            <a:ext cx="5394960" cy="38404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Practical Limits</a:t>
            </a:r>
            <a:endParaRPr lang="en-US" sz="1600" dirty="0"/>
          </a:p>
        </p:txBody>
      </p:sp>
      <p:sp>
        <p:nvSpPr>
          <p:cNvPr id="20" name="Text 18"/>
          <p:cNvSpPr/>
          <p:nvPr/>
        </p:nvSpPr>
        <p:spPr>
          <a:xfrm>
            <a:off x="6446520" y="4901184"/>
            <a:ext cx="5394960" cy="1005840"/>
          </a:xfrm>
          <a:prstGeom prst="rect">
            <a:avLst/>
          </a:prstGeom>
          <a:noFill/>
          <a:ln/>
        </p:spPr>
        <p:txBody>
          <a:bodyPr wrap="square" rtlCol="0" anchor="t"/>
          <a:lstStyle/>
          <a:p>
            <a:pPr marL="0" indent="0">
              <a:buNone/>
            </a:pPr>
            <a:r>
              <a:rPr lang="en-US" sz="1300" dirty="0">
                <a:solidFill>
                  <a:srgbClr val="C9D8F0"/>
                </a:solidFill>
                <a:latin typeface="Calibri" pitchFamily="34" charset="0"/>
                <a:ea typeface="Calibri" pitchFamily="34" charset="-122"/>
                <a:cs typeface="Calibri" pitchFamily="34" charset="-120"/>
              </a:rPr>
              <a:t>Lags, crowding out, political bias, and temporary vs. permanent effects reduce fiscal policy precision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3A6B"/>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685800" y="731520"/>
            <a:ext cx="10817352" cy="41148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Key Takeaway</a:t>
            </a:r>
            <a:endParaRPr kumimoji="0" lang="en-US" sz="1800" b="0" i="0" u="none" strike="noStrike" kern="1200" cap="none" spc="0" normalizeH="0" baseline="0" noProof="0" dirty="0">
              <a:ln>
                <a:noFill/>
              </a:ln>
              <a:solidFill>
                <a:schemeClr val="bg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4270248" y="1234440"/>
            <a:ext cx="3657600" cy="54864"/>
          </a:xfrm>
          <a:prstGeom prst="rect">
            <a:avLst/>
          </a:prstGeom>
          <a:solidFill>
            <a:srgbClr val="8AAAD4"/>
          </a:solidFill>
          <a:ln w="12700">
            <a:solidFill>
              <a:srgbClr val="8AAAD4"/>
            </a:solidFill>
            <a:prstDash val="solid"/>
          </a:ln>
        </p:spPr>
        <p:txBody>
          <a:bodyPr/>
          <a:lstStyle/>
          <a:p>
            <a:endParaRPr lang="en-US"/>
          </a:p>
        </p:txBody>
      </p:sp>
      <p:sp>
        <p:nvSpPr>
          <p:cNvPr id="4" name="Text 2"/>
          <p:cNvSpPr/>
          <p:nvPr/>
        </p:nvSpPr>
        <p:spPr>
          <a:xfrm>
            <a:off x="914400" y="1463040"/>
            <a:ext cx="10360152" cy="2743200"/>
          </a:xfrm>
          <a:prstGeom prst="rect">
            <a:avLst/>
          </a:prstGeom>
          <a:noFill/>
          <a:ln/>
        </p:spPr>
        <p:txBody>
          <a:bodyPr wrap="square" rtlCol="0" anchor="ctr"/>
          <a:lstStyle/>
          <a:p>
            <a:pPr marL="0" indent="0" algn="ctr">
              <a:buNone/>
            </a:pPr>
            <a:r>
              <a:rPr lang="en-US" sz="2600" i="1" dirty="0">
                <a:solidFill>
                  <a:srgbClr val="FFFFFF"/>
                </a:solidFill>
                <a:latin typeface="Calibri" pitchFamily="34" charset="0"/>
                <a:ea typeface="Calibri" pitchFamily="34" charset="-122"/>
                <a:cs typeface="Calibri" pitchFamily="34" charset="-120"/>
              </a:rPr>
              <a:t>"Fiscal policy is not free — every dollar spent must be taxed, borrowed, or printed. The question is not whether to use it, but when, how much, and at what cost."</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4238</Words>
  <Application>Microsoft Macintosh PowerPoint</Application>
  <PresentationFormat>Widescreen</PresentationFormat>
  <Paragraphs>374</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Chapter 17</vt:lpstr>
      <vt:lpstr>What Is Fiscal Policy?</vt:lpstr>
      <vt:lpstr>Federal Spending: The Big Picture</vt:lpstr>
      <vt:lpstr>Mandatory vs. Discretionary Spending</vt:lpstr>
      <vt:lpstr>Federal Revenue Sources</vt:lpstr>
      <vt:lpstr>Types of Tax Systems</vt:lpstr>
      <vt:lpstr>Marginal vs. Average Tax Rate</vt:lpstr>
      <vt:lpstr>Deficit vs. Debt: Two Different Things</vt:lpstr>
      <vt:lpstr>Financing the Deficit: Treasury Securities</vt:lpstr>
      <vt:lpstr>Debt/GDP Ratio: The Better Measure</vt:lpstr>
      <vt:lpstr>Expansionary vs. Contractionary Fiscal Policy</vt:lpstr>
      <vt:lpstr>AD/AS: Fighting a Recession</vt:lpstr>
      <vt:lpstr>AD/AS: Fighting Inflation</vt:lpstr>
      <vt:lpstr>Automatic Stabilizers: Built-In Shock Absorbers</vt:lpstr>
      <vt:lpstr>Discretionary vs. Automatic Fiscal Policy</vt:lpstr>
      <vt:lpstr>Three Lags: Why Timing Fiscal Policy Is Hard</vt:lpstr>
      <vt:lpstr>Crowding Out: The Hidden Cost of Deficits</vt:lpstr>
      <vt:lpstr>Other Challenges for Discretionary Policy</vt:lpstr>
      <vt:lpstr>The Balanced Budget Debate</vt:lpstr>
      <vt:lpstr>Can We Run Deficits Forever?</vt:lpstr>
      <vt:lpstr>Chapter 17 Summary</vt:lpstr>
      <vt:lpstr>Key Takeaway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Scott T Lane</cp:lastModifiedBy>
  <cp:revision>2</cp:revision>
  <dcterms:created xsi:type="dcterms:W3CDTF">2026-04-11T13:46:26Z</dcterms:created>
  <dcterms:modified xsi:type="dcterms:W3CDTF">2026-04-20T19:47:13Z</dcterms:modified>
</cp:coreProperties>
</file>