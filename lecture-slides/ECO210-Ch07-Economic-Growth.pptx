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7" autoAdjust="0"/>
    <p:restoredTop sz="70873" autoAdjust="0"/>
  </p:normalViewPr>
  <p:slideViewPr>
    <p:cSldViewPr snapToGrid="0" snapToObjects="1">
      <p:cViewPr varScale="1">
        <p:scale>
          <a:sx n="85" d="100"/>
          <a:sy n="85" d="100"/>
        </p:scale>
        <p:origin x="1142" y="67"/>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ott T Lane" userId="c97bbaa9-35da-4a3b-a646-d12e455ac46e" providerId="ADAL" clId="{2FF3E2E3-7818-4E76-9C63-7C10A568D9B9}"/>
    <pc:docChg chg="custSel modSld">
      <pc:chgData name="Scott T Lane" userId="c97bbaa9-35da-4a3b-a646-d12e455ac46e" providerId="ADAL" clId="{2FF3E2E3-7818-4E76-9C63-7C10A568D9B9}" dt="2026-03-30T12:58:54.087" v="26" actId="113"/>
      <pc:docMkLst>
        <pc:docMk/>
      </pc:docMkLst>
      <pc:sldChg chg="delSp modSp mod">
        <pc:chgData name="Scott T Lane" userId="c97bbaa9-35da-4a3b-a646-d12e455ac46e" providerId="ADAL" clId="{2FF3E2E3-7818-4E76-9C63-7C10A568D9B9}" dt="2026-03-26T15:23:30.619" v="3" actId="478"/>
        <pc:sldMkLst>
          <pc:docMk/>
          <pc:sldMk cId="0" sldId="257"/>
        </pc:sldMkLst>
        <pc:spChg chg="mod">
          <ac:chgData name="Scott T Lane" userId="c97bbaa9-35da-4a3b-a646-d12e455ac46e" providerId="ADAL" clId="{2FF3E2E3-7818-4E76-9C63-7C10A568D9B9}" dt="2026-03-26T15:23:06.114" v="0" actId="207"/>
          <ac:spMkLst>
            <pc:docMk/>
            <pc:sldMk cId="0" sldId="257"/>
            <ac:spMk id="5" creationId="{00000000-0000-0000-0000-000000000000}"/>
          </ac:spMkLst>
        </pc:spChg>
        <pc:spChg chg="mod">
          <ac:chgData name="Scott T Lane" userId="c97bbaa9-35da-4a3b-a646-d12e455ac46e" providerId="ADAL" clId="{2FF3E2E3-7818-4E76-9C63-7C10A568D9B9}" dt="2026-03-26T15:23:12.288" v="1" actId="207"/>
          <ac:spMkLst>
            <pc:docMk/>
            <pc:sldMk cId="0" sldId="257"/>
            <ac:spMk id="8" creationId="{00000000-0000-0000-0000-000000000000}"/>
          </ac:spMkLst>
        </pc:spChg>
        <pc:spChg chg="mod">
          <ac:chgData name="Scott T Lane" userId="c97bbaa9-35da-4a3b-a646-d12e455ac46e" providerId="ADAL" clId="{2FF3E2E3-7818-4E76-9C63-7C10A568D9B9}" dt="2026-03-26T15:23:24.726" v="2" actId="207"/>
          <ac:spMkLst>
            <pc:docMk/>
            <pc:sldMk cId="0" sldId="257"/>
            <ac:spMk id="11" creationId="{00000000-0000-0000-0000-000000000000}"/>
          </ac:spMkLst>
        </pc:spChg>
      </pc:sldChg>
      <pc:sldChg chg="addSp delSp modSp mod">
        <pc:chgData name="Scott T Lane" userId="c97bbaa9-35da-4a3b-a646-d12e455ac46e" providerId="ADAL" clId="{2FF3E2E3-7818-4E76-9C63-7C10A568D9B9}" dt="2026-03-30T12:57:01.086" v="25" actId="1076"/>
        <pc:sldMkLst>
          <pc:docMk/>
          <pc:sldMk cId="0" sldId="258"/>
        </pc:sldMkLst>
        <pc:picChg chg="add mod">
          <ac:chgData name="Scott T Lane" userId="c97bbaa9-35da-4a3b-a646-d12e455ac46e" providerId="ADAL" clId="{2FF3E2E3-7818-4E76-9C63-7C10A568D9B9}" dt="2026-03-30T12:57:01.086" v="25" actId="1076"/>
          <ac:picMkLst>
            <pc:docMk/>
            <pc:sldMk cId="0" sldId="258"/>
            <ac:picMk id="24" creationId="{4A4A12F4-4EB5-FCAD-581B-B73A95398F7F}"/>
          </ac:picMkLst>
        </pc:picChg>
      </pc:sldChg>
      <pc:sldChg chg="delSp mod">
        <pc:chgData name="Scott T Lane" userId="c97bbaa9-35da-4a3b-a646-d12e455ac46e" providerId="ADAL" clId="{2FF3E2E3-7818-4E76-9C63-7C10A568D9B9}" dt="2026-03-26T15:23:59.615" v="5" actId="478"/>
        <pc:sldMkLst>
          <pc:docMk/>
          <pc:sldMk cId="0" sldId="259"/>
        </pc:sldMkLst>
      </pc:sldChg>
      <pc:sldChg chg="delSp mod">
        <pc:chgData name="Scott T Lane" userId="c97bbaa9-35da-4a3b-a646-d12e455ac46e" providerId="ADAL" clId="{2FF3E2E3-7818-4E76-9C63-7C10A568D9B9}" dt="2026-03-26T15:24:09.430" v="6" actId="478"/>
        <pc:sldMkLst>
          <pc:docMk/>
          <pc:sldMk cId="0" sldId="260"/>
        </pc:sldMkLst>
      </pc:sldChg>
      <pc:sldChg chg="delSp mod">
        <pc:chgData name="Scott T Lane" userId="c97bbaa9-35da-4a3b-a646-d12e455ac46e" providerId="ADAL" clId="{2FF3E2E3-7818-4E76-9C63-7C10A568D9B9}" dt="2026-03-26T15:24:20.402" v="7" actId="478"/>
        <pc:sldMkLst>
          <pc:docMk/>
          <pc:sldMk cId="0" sldId="261"/>
        </pc:sldMkLst>
      </pc:sldChg>
      <pc:sldChg chg="delSp modSp mod">
        <pc:chgData name="Scott T Lane" userId="c97bbaa9-35da-4a3b-a646-d12e455ac46e" providerId="ADAL" clId="{2FF3E2E3-7818-4E76-9C63-7C10A568D9B9}" dt="2026-03-26T15:24:38.639" v="11" actId="207"/>
        <pc:sldMkLst>
          <pc:docMk/>
          <pc:sldMk cId="0" sldId="262"/>
        </pc:sldMkLst>
        <pc:spChg chg="mod">
          <ac:chgData name="Scott T Lane" userId="c97bbaa9-35da-4a3b-a646-d12e455ac46e" providerId="ADAL" clId="{2FF3E2E3-7818-4E76-9C63-7C10A568D9B9}" dt="2026-03-26T15:24:31.182" v="9" actId="207"/>
          <ac:spMkLst>
            <pc:docMk/>
            <pc:sldMk cId="0" sldId="262"/>
            <ac:spMk id="5" creationId="{00000000-0000-0000-0000-000000000000}"/>
          </ac:spMkLst>
        </pc:spChg>
        <pc:spChg chg="mod">
          <ac:chgData name="Scott T Lane" userId="c97bbaa9-35da-4a3b-a646-d12e455ac46e" providerId="ADAL" clId="{2FF3E2E3-7818-4E76-9C63-7C10A568D9B9}" dt="2026-03-26T15:24:34.887" v="10" actId="207"/>
          <ac:spMkLst>
            <pc:docMk/>
            <pc:sldMk cId="0" sldId="262"/>
            <ac:spMk id="8" creationId="{00000000-0000-0000-0000-000000000000}"/>
          </ac:spMkLst>
        </pc:spChg>
        <pc:spChg chg="mod">
          <ac:chgData name="Scott T Lane" userId="c97bbaa9-35da-4a3b-a646-d12e455ac46e" providerId="ADAL" clId="{2FF3E2E3-7818-4E76-9C63-7C10A568D9B9}" dt="2026-03-26T15:24:38.639" v="11" actId="207"/>
          <ac:spMkLst>
            <pc:docMk/>
            <pc:sldMk cId="0" sldId="262"/>
            <ac:spMk id="11" creationId="{00000000-0000-0000-0000-000000000000}"/>
          </ac:spMkLst>
        </pc:spChg>
      </pc:sldChg>
      <pc:sldChg chg="delSp mod">
        <pc:chgData name="Scott T Lane" userId="c97bbaa9-35da-4a3b-a646-d12e455ac46e" providerId="ADAL" clId="{2FF3E2E3-7818-4E76-9C63-7C10A568D9B9}" dt="2026-03-26T15:25:22.797" v="12" actId="478"/>
        <pc:sldMkLst>
          <pc:docMk/>
          <pc:sldMk cId="0" sldId="263"/>
        </pc:sldMkLst>
      </pc:sldChg>
      <pc:sldChg chg="delSp modSp mod">
        <pc:chgData name="Scott T Lane" userId="c97bbaa9-35da-4a3b-a646-d12e455ac46e" providerId="ADAL" clId="{2FF3E2E3-7818-4E76-9C63-7C10A568D9B9}" dt="2026-03-26T15:25:40.530" v="14" actId="207"/>
        <pc:sldMkLst>
          <pc:docMk/>
          <pc:sldMk cId="0" sldId="264"/>
        </pc:sldMkLst>
        <pc:spChg chg="mod">
          <ac:chgData name="Scott T Lane" userId="c97bbaa9-35da-4a3b-a646-d12e455ac46e" providerId="ADAL" clId="{2FF3E2E3-7818-4E76-9C63-7C10A568D9B9}" dt="2026-03-26T15:25:40.530" v="14" actId="207"/>
          <ac:spMkLst>
            <pc:docMk/>
            <pc:sldMk cId="0" sldId="264"/>
            <ac:spMk id="5" creationId="{00000000-0000-0000-0000-000000000000}"/>
          </ac:spMkLst>
        </pc:spChg>
      </pc:sldChg>
      <pc:sldChg chg="delSp modSp mod">
        <pc:chgData name="Scott T Lane" userId="c97bbaa9-35da-4a3b-a646-d12e455ac46e" providerId="ADAL" clId="{2FF3E2E3-7818-4E76-9C63-7C10A568D9B9}" dt="2026-03-26T15:26:09.441" v="20" actId="478"/>
        <pc:sldMkLst>
          <pc:docMk/>
          <pc:sldMk cId="0" sldId="265"/>
        </pc:sldMkLst>
        <pc:spChg chg="mod">
          <ac:chgData name="Scott T Lane" userId="c97bbaa9-35da-4a3b-a646-d12e455ac46e" providerId="ADAL" clId="{2FF3E2E3-7818-4E76-9C63-7C10A568D9B9}" dt="2026-03-26T15:26:03.793" v="19" actId="1035"/>
          <ac:spMkLst>
            <pc:docMk/>
            <pc:sldMk cId="0" sldId="265"/>
            <ac:spMk id="3" creationId="{00000000-0000-0000-0000-000000000000}"/>
          </ac:spMkLst>
        </pc:spChg>
      </pc:sldChg>
      <pc:sldChg chg="modSp mod">
        <pc:chgData name="Scott T Lane" userId="c97bbaa9-35da-4a3b-a646-d12e455ac46e" providerId="ADAL" clId="{2FF3E2E3-7818-4E76-9C63-7C10A568D9B9}" dt="2026-03-30T12:58:54.087" v="26" actId="113"/>
        <pc:sldMkLst>
          <pc:docMk/>
          <pc:sldMk cId="0" sldId="266"/>
        </pc:sldMkLst>
        <pc:spChg chg="mod">
          <ac:chgData name="Scott T Lane" userId="c97bbaa9-35da-4a3b-a646-d12e455ac46e" providerId="ADAL" clId="{2FF3E2E3-7818-4E76-9C63-7C10A568D9B9}" dt="2026-03-30T12:58:54.087" v="26" actId="113"/>
          <ac:spMkLst>
            <pc:docMk/>
            <pc:sldMk cId="0" sldId="266"/>
            <ac:spMk id="4" creationId="{00000000-0000-0000-0000-000000000000}"/>
          </ac:spMkLst>
        </pc:spChg>
        <pc:spChg chg="mod">
          <ac:chgData name="Scott T Lane" userId="c97bbaa9-35da-4a3b-a646-d12e455ac46e" providerId="ADAL" clId="{2FF3E2E3-7818-4E76-9C63-7C10A568D9B9}" dt="2026-03-26T15:27:10.473" v="21" actId="207"/>
          <ac:spMkLst>
            <pc:docMk/>
            <pc:sldMk cId="0" sldId="266"/>
            <ac:spMk id="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2485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Chapter 7 on Economic Growth. This is arguably the most important topic in macroeconomics. As Nobel laureate Robert Lucas once said, "The consequences for human welfare involved in questions like these are simply staggering: Once one starts to think about them, it is hard to think about anything else." Today we'll explore why growth is a relatively recent phenomenon, what drives it, and whether poorer nations can catch up.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thousands of years, the average person lived on the equivalent of about $3 a day. Think about that — whether you lived in ancient Rome, medieval England, or Ming Dynasty China, your daily life was remarkably similar in material terms. Then around 1800, something extraordinary happened. The Industrial Revolution, beginning in Britain with inventions like the steam engine and power loom, set off an explosion of growth. Here's a way to think about it: if all of human history were compressed into a 24-hour day, modern economic growth doesn't begin until about 11:58 PM — the last two minutes. Yet in those two minutes, we've gone from $3 a day to over $35 a day globally. That's the Great Enrichment. [Source: OpenStax Principles of Macroeconomics 3e, Ch. 7 Intro and Section 7.1]</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South Korea is perhaps the greatest economic growth story of the 20th century. After the Korean War in the 1950s, it was one of the poorest countries on earth — GDP per capita was just $854 in today's dollars. Most people worked in peasant agriculture. Then Korea executed a remarkable playbook: it achieved universal primary school enrollment by 1965, doubled investment rates from 15% to over 30% of GDP, sent students abroad for technical training, and built partnerships with foreign firms. The result? Over four decades of growth exceeding 6% per year. Today, South Korea is the 11th largest economy in the world with a GDP per capita above $30,000. It's like watching a student go from failing every class to graduating as valedictorian — in a single generation. [Source: OpenStax 7.1 and 7.3]</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institutions like the soil in a garden. You can have the best seeds — talented workers, great technology, plenty of capital — but if the soil is toxic, nothing grows. Property rights are fundamental: would you plant a crop if anyone could come and harvest it? That's exactly the problem in countries without secure property rights. The rule of law traces back to the Magna Carta in 1215, which established that even kings must follow due process. This principle migrated to the U.S. Constitution and became a cornerstone of market economies. Contractual rights let strangers do business together — if I'm a surgeon and I operate on you, I need to know the legal system will enforce your obligation to pay me. Corruption and excessive red tape act like friction in an engine: they don't stop the machine entirely, but they dramatically reduce its output. Countries at the bottom of the World Bank's rule-of-law rankings — Somalia, South Sudan, the Central African Republic — are also among the poorest on earth. That's not a coincidence. [Source: OpenStax 7.1]</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Labor productivity is the engine that drives long-run economic growth. It measures the value each worker creates per unit of input. Here's a simple way to think about it: imagine two bakers. One has a wood-fired oven and can bake 10 loaves per hour. The other has an industrial automated oven and can bake 100 loaves per hour. Same number of hours worked, but 10 times the output. That's what productivity gains look like. Economists use the aggregate production function to organize this thinking: GDP is the output, and the inputs are labor, physical capital, human capital, and technology. In the U.S., workers have more than doubled their productivity since 1977. And here's the crucial connection: in the long run, productivity per hour is the single most important determinant of average wages. Higher productivity doesn't just make the economy bigger — it makes workers richer. [Source: OpenStax 7.2]</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Economic growth has four key ingredients, and they work together like instruments in an orchestra. First, physical capital — tools, machinery, roads, and factories. The average U.S. worker today has access to roughly three times the physical capital of a 1950s worker. But physical capital alone has diminishing returns; each additional unit adds less than the one before. Second, human capital — the knowledge, skills, and experience workers bring. The U.S. high school graduation rate rose from about 50% in 1970 to over 80% by the early 2000s. In low-income countries, each additional year of education increases wages by 10-20%. Third, technology and innovation — what the textbook calls "the joker in the deck." Unlike physical capital, ideas don't wear out, can be shared freely, and often spark even more ideas. The U.S. Patent Office issues over 150,000 patents every year. Finally, specialization and trade allow countries to focus on what they do best, accessing larger markets and achieving economies of scale. These four ingredients don't just add up — they multiply each other. [Source: OpenStax 7.3]</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the late 1950s, economists have conducted growth accounting studies — breaking down GDP growth into how much came from physical capital, human capital, and technology. Three big lessons emerge. First, technology is consistently the most important contributor. Physical and human capital together explain at most half of economic growth. Second, human capital investment is at least as important as physical capital. Building factories matters, but so does educating the people who work in them. Third — and this is crucial — these factors reinforce each other. Think of a restaurant: you need a kitchen (physical capital) and trained chefs (human capital), but the recipe (technology) is what turns a diner into a Michelin-star experience. And a great recipe inspires chefs to develop new techniques, which call for better equipment, and so on. It's a virtuous cycle. [Source: OpenStax 7.3]</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where growth gets personal. The Rule of 70 is one of the most useful tools in economics: divide 70 by the annual growth rate, and you get the approximate number of years for an economy — or your personal income — to double. At 1% growth, it takes 70 years to double. At 3%, just 23 years. At 5%, only 14. The differences compound dramatically over longer horizons. Start at 100: after 50 years at 1% growth, you reach 164. At 5%, you reach 1,147. At 8%, an astonishing 4,690. Think of it like a snowball rolling downhill — it starts small, but the longer it rolls, the bigger it gets, and the faster it grows. This isn't just abstract GDP math. The exact same formula applies to compound interest on your savings. If your investments grow at 7% per year, they'll double roughly every 10 years. Start investing at 20, and by 50 your money has doubled three times — that's 8x your original investment. Time is your greatest asset. [Source: OpenStax 7.2]</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big questions in economics is whether poor countries will eventually catch up to rich ones. Several arguments say yes. First, diminishing marginal returns: when you have very little capital, each new dollar of investment produces a large gain. Going from a dirt road to a paved road transforms a whole region; adding one more lane to a six-lane highway barely moves the needle. Second, low-income countries enjoy what Alexander Gerschenkron called "advantages of backwardness" — they can adopt existing, well-tested technologies rather than having to invent new ones. It's like following a trail someone else already blazed through the jungle rather than hacking through the underbrush yourself. But convergence isn't guaranteed. Adopting technology requires the right institutions — property rights, education systems, and openness to trade. Without those, the "advantages of backwardness" are purely theoretical. Rich countries also keep pushing the frontier with new innovations that offset their own diminishing returns. And the math is humbling: even if a low-income country grows at 7% while a rich one grows at 2%, after 30 years the rich country is still richer. The gap narrows, but it takes a very long time to close. [Source: OpenStax 7.4]</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the actual data. The textbook groups countries into a "Fast Growth Club" — those averaging 5% or more in both the 1990s and 2010s — and a "Slow Growth Club" at 2% or less. The fast growers are mostly low and middle-income nations: China at over 7%, India approaching 7%, Vietnam and Cambodia both above 6%. The slow growers? Japan at 1.3%, France at 1.4%, Italy at just 0.3%. The U.S. sits in between at 2.3%. When we look at the world averages, the pattern is clear: low-income countries grew at 4.5% in the 2010s, middle-income at 4.0%, and high-income at just 1.7%. That's convergence in action — the poorer groups are growing faster. But notice the caveats: the Fast Growth Club is dominated by East and Southeast Asia. Many countries in Sub-Saharan Africa and the Middle East are not converging. Growth requires the right institutions, policies, and investments — there's no automatic pilot. [Source: OpenStax 7.4]</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wrap up with five key takeaways. First, modern economic growth is remarkably recent — for most of human history, the average person lived on about $3 a day. Second, institutions are the foundation: property rights, rule of law, and economic freedom create the conditions for growth. Third, the four ingredients of growth are physical capital, human capital, technology, and trade — with technology as the most powerful and unlimited driver. Fourth, compound growth is extraordinarily powerful: even a 1% difference in growth rates produces enormous differences over decades. And fifth, while convergence is happening — poor countries are growing faster on average — it's not automatic. It requires the right institutional recipe. As Robert Lucas said, once you start thinking about these questions, it's hard to think about anything else. [Source: OpenStax Principles of Macroeconomics 3e, Chapter 7]</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3D"/>
        </a:solidFill>
        <a:effectLst/>
      </p:bgPr>
    </p:bg>
    <p:spTree>
      <p:nvGrpSpPr>
        <p:cNvPr id="1" name=""/>
        <p:cNvGrpSpPr/>
        <p:nvPr/>
      </p:nvGrpSpPr>
      <p:grpSpPr>
        <a:xfrm>
          <a:off x="0" y="0"/>
          <a:ext cx="0" cy="0"/>
          <a:chOff x="0" y="0"/>
          <a:chExt cx="0" cy="0"/>
        </a:xfrm>
      </p:grpSpPr>
      <p:pic>
        <p:nvPicPr>
          <p:cNvPr id="2" name="Image 0">
            <a:extLst>
              <a:ext uri="{C183D7F6-B498-43B3-948B-1728B52AA6E4}">
                <adec:decorative xmlns:adec="http://schemas.microsoft.com/office/drawing/2017/decorative" val="1"/>
              </a:ext>
            </a:extLst>
          </p:cNvPr>
          <p:cNvPicPr>
            <a:picLocks noChangeAspect="1"/>
          </p:cNvPicPr>
          <p:nvPr/>
        </p:nvPicPr>
        <p:blipFill>
          <a:blip r:embed="rId3"/>
          <a:srcRect/>
          <a:stretch/>
        </p:blipFill>
        <p:spPr>
          <a:xfrm>
            <a:off x="4572000" y="0"/>
            <a:ext cx="4572000" cy="5143500"/>
          </a:xfrm>
          <a:prstGeom prst="rect">
            <a:avLst/>
          </a:prstGeom>
        </p:spPr>
      </p:pic>
      <p:sp>
        <p:nvSpPr>
          <p:cNvPr id="3" name="Shape 0">
            <a:extLst>
              <a:ext uri="{C183D7F6-B498-43B3-948B-1728B52AA6E4}">
                <adec:decorative xmlns:adec="http://schemas.microsoft.com/office/drawing/2017/decorative" val="1"/>
              </a:ext>
            </a:extLst>
          </p:cNvPr>
          <p:cNvSpPr/>
          <p:nvPr/>
        </p:nvSpPr>
        <p:spPr>
          <a:xfrm>
            <a:off x="0" y="0"/>
            <a:ext cx="5029200" cy="5143500"/>
          </a:xfrm>
          <a:prstGeom prst="rect">
            <a:avLst/>
          </a:prstGeom>
          <a:solidFill>
            <a:srgbClr val="1B2A3D"/>
          </a:solidFill>
          <a:ln/>
        </p:spPr>
        <p:txBody>
          <a:bodyPr/>
          <a:lstStyle/>
          <a:p>
            <a:endParaRPr lang="en-US"/>
          </a:p>
        </p:txBody>
      </p:sp>
      <p:sp>
        <p:nvSpPr>
          <p:cNvPr id="4" name="Text 1"/>
          <p:cNvSpPr/>
          <p:nvPr/>
        </p:nvSpPr>
        <p:spPr>
          <a:xfrm>
            <a:off x="640080" y="1097280"/>
            <a:ext cx="3840480" cy="548640"/>
          </a:xfrm>
          <a:prstGeom prst="rect">
            <a:avLst/>
          </a:prstGeom>
          <a:noFill/>
          <a:ln/>
        </p:spPr>
        <p:txBody>
          <a:bodyPr wrap="square" lIns="0" tIns="0" rIns="0" bIns="0" rtlCol="0" anchor="ctr"/>
          <a:lstStyle/>
          <a:p>
            <a:pPr marL="0" indent="0">
              <a:buNone/>
            </a:pPr>
            <a:r>
              <a:rPr lang="en-US" sz="1800" dirty="0">
                <a:solidFill>
                  <a:srgbClr val="FFFFFF"/>
                </a:solidFill>
                <a:latin typeface="Calibri" pitchFamily="34" charset="0"/>
                <a:ea typeface="Calibri" pitchFamily="34" charset="-122"/>
                <a:cs typeface="Calibri" pitchFamily="34" charset="-120"/>
              </a:rPr>
              <a:t>Chapter 7</a:t>
            </a:r>
            <a:endParaRPr lang="en-US" sz="1800" dirty="0"/>
          </a:p>
        </p:txBody>
      </p:sp>
      <p:sp>
        <p:nvSpPr>
          <p:cNvPr id="5" name="Text 2"/>
          <p:cNvSpPr>
            <a:spLocks noGrp="1"/>
          </p:cNvSpPr>
          <p:nvPr>
            <p:ph type="title" idx="4294967295"/>
          </p:nvPr>
        </p:nvSpPr>
        <p:spPr>
          <a:xfrm>
            <a:off x="640080" y="1554480"/>
            <a:ext cx="3840480" cy="146304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ts val="5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Economic</a:t>
            </a:r>
            <a:endParaRPr kumimoji="0" lang="en-US" sz="4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auto" latinLnBrk="0" hangingPunct="1">
              <a:lnSpc>
                <a:spcPts val="5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Growth</a:t>
            </a:r>
            <a:endParaRPr kumimoji="0" lang="en-US" sz="44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Text 3"/>
          <p:cNvSpPr/>
          <p:nvPr/>
        </p:nvSpPr>
        <p:spPr>
          <a:xfrm>
            <a:off x="640080" y="3108960"/>
            <a:ext cx="3840480" cy="457200"/>
          </a:xfrm>
          <a:prstGeom prst="rect">
            <a:avLst/>
          </a:prstGeom>
          <a:noFill/>
          <a:ln/>
        </p:spPr>
        <p:txBody>
          <a:bodyPr wrap="square" lIns="0" tIns="0" rIns="0" bIns="0" rtlCol="0" anchor="ctr"/>
          <a:lstStyle/>
          <a:p>
            <a:pPr marL="0" indent="0">
              <a:buNone/>
            </a:pPr>
            <a:r>
              <a:rPr lang="en-US" sz="1600" dirty="0">
                <a:solidFill>
                  <a:srgbClr val="8899AA"/>
                </a:solidFill>
                <a:latin typeface="Calibri" pitchFamily="34" charset="0"/>
                <a:ea typeface="Calibri" pitchFamily="34" charset="-122"/>
                <a:cs typeface="Calibri" pitchFamily="34" charset="-120"/>
              </a:rPr>
              <a:t>Why Growth Matters and What Drives It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a:effectLst/>
      </p:bgPr>
    </p:bg>
    <p:spTree>
      <p:nvGrpSpPr>
        <p:cNvPr id="1" name=""/>
        <p:cNvGrpSpPr/>
        <p:nvPr/>
      </p:nvGrpSpPr>
      <p:grpSpPr>
        <a:xfrm>
          <a:off x="0" y="0"/>
          <a:ext cx="0" cy="0"/>
          <a:chOff x="0" y="0"/>
          <a:chExt cx="0" cy="0"/>
        </a:xfrm>
      </p:grpSpPr>
      <p:sp>
        <p:nvSpPr>
          <p:cNvPr id="2" name="Text 0"/>
          <p:cNvSpPr>
            <a:spLocks noGrp="1"/>
          </p:cNvSpPr>
          <p:nvPr>
            <p:ph type="title" idx="4294967295"/>
          </p:nvPr>
        </p:nvSpPr>
        <p:spPr>
          <a:xfrm>
            <a:off x="457200" y="457200"/>
            <a:ext cx="8229600" cy="54864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01696F"/>
                </a:solidFill>
                <a:effectLst/>
                <a:uLnTx/>
                <a:uFillTx/>
                <a:latin typeface="Trebuchet MS" pitchFamily="34" charset="0"/>
                <a:ea typeface="Trebuchet MS" pitchFamily="34" charset="-122"/>
                <a:cs typeface="Trebuchet MS" pitchFamily="34" charset="-120"/>
              </a:rPr>
              <a:t>The Great Enrichment: A Recent Revolution</a:t>
            </a:r>
            <a:endParaRPr kumimoji="0" lang="en-US" sz="3000" b="0" i="0" u="none" strike="noStrike" kern="1200" cap="none" spc="0" normalizeH="0" baseline="0" noProof="0" dirty="0">
              <a:ln>
                <a:noFill/>
              </a:ln>
              <a:solidFill>
                <a:schemeClr val="tx1"/>
              </a:solidFill>
              <a:effectLst/>
              <a:uLnTx/>
              <a:uFillTx/>
              <a:latin typeface="+mn-lt"/>
              <a:ea typeface="+mn-ea"/>
              <a:cs typeface="+mn-cs"/>
            </a:endParaRPr>
          </a:p>
        </p:txBody>
      </p:sp>
      <p:sp>
        <p:nvSpPr>
          <p:cNvPr id="3" name="Shape 1">
            <a:extLst>
              <a:ext uri="{C183D7F6-B498-43B3-948B-1728B52AA6E4}">
                <adec:decorative xmlns:adec="http://schemas.microsoft.com/office/drawing/2017/decorative" val="1"/>
              </a:ext>
            </a:extLst>
          </p:cNvPr>
          <p:cNvSpPr/>
          <p:nvPr/>
        </p:nvSpPr>
        <p:spPr>
          <a:xfrm>
            <a:off x="457200" y="1051560"/>
            <a:ext cx="3474720" cy="1051560"/>
          </a:xfrm>
          <a:prstGeom prst="roundRect">
            <a:avLst>
              <a:gd name="adj" fmla="val 8696"/>
            </a:avLst>
          </a:prstGeom>
          <a:solidFill>
            <a:srgbClr val="FFFFFF"/>
          </a:solidFill>
          <a:ln/>
          <a:effectLst>
            <a:outerShdw blurRad="50800" dist="25400" dir="9000000" algn="bl" rotWithShape="0">
              <a:srgbClr val="000000">
                <a:alpha val="6000"/>
              </a:srgbClr>
            </a:outerShdw>
          </a:effectLst>
        </p:spPr>
        <p:txBody>
          <a:bodyPr/>
          <a:lstStyle/>
          <a:p>
            <a:endParaRPr lang="en-US"/>
          </a:p>
        </p:txBody>
      </p:sp>
      <p:sp>
        <p:nvSpPr>
          <p:cNvPr id="4" name="Text 2"/>
          <p:cNvSpPr/>
          <p:nvPr/>
        </p:nvSpPr>
        <p:spPr>
          <a:xfrm>
            <a:off x="640080" y="1143000"/>
            <a:ext cx="3108960" cy="457200"/>
          </a:xfrm>
          <a:prstGeom prst="rect">
            <a:avLst/>
          </a:prstGeom>
          <a:noFill/>
          <a:ln/>
        </p:spPr>
        <p:txBody>
          <a:bodyPr wrap="square" lIns="0" tIns="0" rIns="0" bIns="0" rtlCol="0" anchor="ctr"/>
          <a:lstStyle/>
          <a:p>
            <a:pPr marL="0" indent="0">
              <a:buNone/>
            </a:pPr>
            <a:r>
              <a:rPr lang="en-US" sz="2800" b="1" dirty="0">
                <a:solidFill>
                  <a:srgbClr val="01696F"/>
                </a:solidFill>
                <a:latin typeface="Trebuchet MS" pitchFamily="34" charset="0"/>
                <a:ea typeface="Trebuchet MS" pitchFamily="34" charset="-122"/>
                <a:cs typeface="Trebuchet MS" pitchFamily="34" charset="-120"/>
              </a:rPr>
              <a:t>$3/day</a:t>
            </a:r>
            <a:endParaRPr lang="en-US" sz="2800" dirty="0"/>
          </a:p>
        </p:txBody>
      </p:sp>
      <p:sp>
        <p:nvSpPr>
          <p:cNvPr id="5" name="Text 3"/>
          <p:cNvSpPr/>
          <p:nvPr/>
        </p:nvSpPr>
        <p:spPr>
          <a:xfrm>
            <a:off x="640080" y="1600200"/>
            <a:ext cx="3108960" cy="365760"/>
          </a:xfrm>
          <a:prstGeom prst="rect">
            <a:avLst/>
          </a:prstGeom>
          <a:noFill/>
          <a:ln/>
        </p:spPr>
        <p:txBody>
          <a:bodyPr wrap="square" lIns="0" tIns="0" rIns="0" bIns="0" rtlCol="0" anchor="ctr"/>
          <a:lstStyle/>
          <a:p>
            <a:pPr marL="0" indent="0">
              <a:buNone/>
            </a:pPr>
            <a:r>
              <a:rPr lang="en-US" sz="1100" dirty="0">
                <a:latin typeface="Calibri" pitchFamily="34" charset="0"/>
                <a:ea typeface="Calibri" pitchFamily="34" charset="-122"/>
                <a:cs typeface="Calibri" pitchFamily="34" charset="-120"/>
              </a:rPr>
              <a:t>Average income in 1800 (today's dollars)</a:t>
            </a:r>
            <a:endParaRPr lang="en-US" sz="1100" dirty="0"/>
          </a:p>
        </p:txBody>
      </p:sp>
      <p:sp>
        <p:nvSpPr>
          <p:cNvPr id="6" name="Shape 4">
            <a:extLst>
              <a:ext uri="{C183D7F6-B498-43B3-948B-1728B52AA6E4}">
                <adec:decorative xmlns:adec="http://schemas.microsoft.com/office/drawing/2017/decorative" val="1"/>
              </a:ext>
            </a:extLst>
          </p:cNvPr>
          <p:cNvSpPr/>
          <p:nvPr/>
        </p:nvSpPr>
        <p:spPr>
          <a:xfrm>
            <a:off x="457200" y="2286000"/>
            <a:ext cx="3474720" cy="1051560"/>
          </a:xfrm>
          <a:prstGeom prst="roundRect">
            <a:avLst>
              <a:gd name="adj" fmla="val 8696"/>
            </a:avLst>
          </a:prstGeom>
          <a:solidFill>
            <a:srgbClr val="FFFFFF"/>
          </a:solidFill>
          <a:ln/>
          <a:effectLst>
            <a:outerShdw blurRad="50800" dist="25400" dir="9000000" algn="bl" rotWithShape="0">
              <a:srgbClr val="000000">
                <a:alpha val="6000"/>
              </a:srgbClr>
            </a:outerShdw>
          </a:effectLst>
        </p:spPr>
        <p:txBody>
          <a:bodyPr/>
          <a:lstStyle/>
          <a:p>
            <a:endParaRPr lang="en-US"/>
          </a:p>
        </p:txBody>
      </p:sp>
      <p:sp>
        <p:nvSpPr>
          <p:cNvPr id="7" name="Text 5"/>
          <p:cNvSpPr/>
          <p:nvPr/>
        </p:nvSpPr>
        <p:spPr>
          <a:xfrm>
            <a:off x="640080" y="2377440"/>
            <a:ext cx="3108960" cy="457200"/>
          </a:xfrm>
          <a:prstGeom prst="rect">
            <a:avLst/>
          </a:prstGeom>
          <a:noFill/>
          <a:ln/>
        </p:spPr>
        <p:txBody>
          <a:bodyPr wrap="square" lIns="0" tIns="0" rIns="0" bIns="0" rtlCol="0" anchor="ctr"/>
          <a:lstStyle/>
          <a:p>
            <a:pPr marL="0" indent="0">
              <a:buNone/>
            </a:pPr>
            <a:r>
              <a:rPr lang="en-US" sz="2800" b="1" dirty="0">
                <a:solidFill>
                  <a:srgbClr val="01696F"/>
                </a:solidFill>
                <a:latin typeface="Trebuchet MS" pitchFamily="34" charset="0"/>
                <a:ea typeface="Trebuchet MS" pitchFamily="34" charset="-122"/>
                <a:cs typeface="Trebuchet MS" pitchFamily="34" charset="-120"/>
              </a:rPr>
              <a:t>$35+/day</a:t>
            </a:r>
            <a:endParaRPr lang="en-US" sz="2800" dirty="0"/>
          </a:p>
        </p:txBody>
      </p:sp>
      <p:sp>
        <p:nvSpPr>
          <p:cNvPr id="8" name="Text 6"/>
          <p:cNvSpPr/>
          <p:nvPr/>
        </p:nvSpPr>
        <p:spPr>
          <a:xfrm>
            <a:off x="640080" y="2834640"/>
            <a:ext cx="3108960" cy="365760"/>
          </a:xfrm>
          <a:prstGeom prst="rect">
            <a:avLst/>
          </a:prstGeom>
          <a:noFill/>
          <a:ln/>
        </p:spPr>
        <p:txBody>
          <a:bodyPr wrap="square" lIns="0" tIns="0" rIns="0" bIns="0" rtlCol="0" anchor="ctr"/>
          <a:lstStyle/>
          <a:p>
            <a:pPr marL="0" indent="0">
              <a:buNone/>
            </a:pPr>
            <a:r>
              <a:rPr lang="en-US" sz="1100" dirty="0">
                <a:latin typeface="Calibri" pitchFamily="34" charset="0"/>
                <a:ea typeface="Calibri" pitchFamily="34" charset="-122"/>
                <a:cs typeface="Calibri" pitchFamily="34" charset="-120"/>
              </a:rPr>
              <a:t>Average income today, globally</a:t>
            </a:r>
            <a:endParaRPr lang="en-US" sz="1100" dirty="0"/>
          </a:p>
        </p:txBody>
      </p:sp>
      <p:sp>
        <p:nvSpPr>
          <p:cNvPr id="9" name="Shape 7">
            <a:extLst>
              <a:ext uri="{C183D7F6-B498-43B3-948B-1728B52AA6E4}">
                <adec:decorative xmlns:adec="http://schemas.microsoft.com/office/drawing/2017/decorative" val="1"/>
              </a:ext>
            </a:extLst>
          </p:cNvPr>
          <p:cNvSpPr/>
          <p:nvPr/>
        </p:nvSpPr>
        <p:spPr>
          <a:xfrm>
            <a:off x="457200" y="3520440"/>
            <a:ext cx="3474720" cy="1051560"/>
          </a:xfrm>
          <a:prstGeom prst="roundRect">
            <a:avLst>
              <a:gd name="adj" fmla="val 8696"/>
            </a:avLst>
          </a:prstGeom>
          <a:solidFill>
            <a:srgbClr val="FFFFFF"/>
          </a:solidFill>
          <a:ln/>
          <a:effectLst>
            <a:outerShdw blurRad="50800" dist="25400" dir="9000000" algn="bl" rotWithShape="0">
              <a:srgbClr val="000000">
                <a:alpha val="6000"/>
              </a:srgbClr>
            </a:outerShdw>
          </a:effectLst>
        </p:spPr>
        <p:txBody>
          <a:bodyPr/>
          <a:lstStyle/>
          <a:p>
            <a:endParaRPr lang="en-US"/>
          </a:p>
        </p:txBody>
      </p:sp>
      <p:sp>
        <p:nvSpPr>
          <p:cNvPr id="10" name="Text 8"/>
          <p:cNvSpPr/>
          <p:nvPr/>
        </p:nvSpPr>
        <p:spPr>
          <a:xfrm>
            <a:off x="640080" y="3611880"/>
            <a:ext cx="3108960" cy="457200"/>
          </a:xfrm>
          <a:prstGeom prst="rect">
            <a:avLst/>
          </a:prstGeom>
          <a:noFill/>
          <a:ln/>
        </p:spPr>
        <p:txBody>
          <a:bodyPr wrap="square" lIns="0" tIns="0" rIns="0" bIns="0" rtlCol="0" anchor="ctr"/>
          <a:lstStyle/>
          <a:p>
            <a:pPr marL="0" indent="0">
              <a:buNone/>
            </a:pPr>
            <a:r>
              <a:rPr lang="en-US" sz="2800" b="1" dirty="0">
                <a:solidFill>
                  <a:srgbClr val="01696F"/>
                </a:solidFill>
                <a:latin typeface="Trebuchet MS" pitchFamily="34" charset="0"/>
                <a:ea typeface="Trebuchet MS" pitchFamily="34" charset="-122"/>
                <a:cs typeface="Trebuchet MS" pitchFamily="34" charset="-120"/>
              </a:rPr>
              <a:t>200 years</a:t>
            </a:r>
            <a:endParaRPr lang="en-US" sz="2800" dirty="0"/>
          </a:p>
        </p:txBody>
      </p:sp>
      <p:sp>
        <p:nvSpPr>
          <p:cNvPr id="11" name="Text 9"/>
          <p:cNvSpPr/>
          <p:nvPr/>
        </p:nvSpPr>
        <p:spPr>
          <a:xfrm>
            <a:off x="640080" y="4069080"/>
            <a:ext cx="3108960" cy="365760"/>
          </a:xfrm>
          <a:prstGeom prst="rect">
            <a:avLst/>
          </a:prstGeom>
          <a:noFill/>
          <a:ln/>
        </p:spPr>
        <p:txBody>
          <a:bodyPr wrap="square" lIns="0" tIns="0" rIns="0" bIns="0" rtlCol="0" anchor="ctr"/>
          <a:lstStyle/>
          <a:p>
            <a:pPr marL="0" indent="0">
              <a:buNone/>
            </a:pPr>
            <a:r>
              <a:rPr lang="en-US" sz="1100" dirty="0">
                <a:latin typeface="Calibri" pitchFamily="34" charset="0"/>
                <a:ea typeface="Calibri" pitchFamily="34" charset="-122"/>
                <a:cs typeface="Calibri" pitchFamily="34" charset="-120"/>
              </a:rPr>
              <a:t>Period of explosive growth</a:t>
            </a:r>
            <a:endParaRPr lang="en-US" sz="1100" dirty="0"/>
          </a:p>
        </p:txBody>
      </p:sp>
      <p:sp>
        <p:nvSpPr>
          <p:cNvPr id="12" name="Text 10"/>
          <p:cNvSpPr/>
          <p:nvPr/>
        </p:nvSpPr>
        <p:spPr>
          <a:xfrm>
            <a:off x="4206240" y="1051560"/>
            <a:ext cx="4572000" cy="3474720"/>
          </a:xfrm>
          <a:prstGeom prst="rect">
            <a:avLst/>
          </a:prstGeom>
          <a:noFill/>
          <a:ln/>
        </p:spPr>
        <p:txBody>
          <a:bodyPr wrap="square" lIns="0" tIns="0" rIns="0" bIns="0" rtlCol="0" anchor="t"/>
          <a:lstStyle/>
          <a:p>
            <a:pPr marL="342900" indent="-342900">
              <a:spcAft>
                <a:spcPts val="1000"/>
              </a:spcAft>
              <a:buSzPct val="100000"/>
              <a:buChar char="–"/>
            </a:pPr>
            <a:r>
              <a:rPr lang="en-US" sz="1350" dirty="0">
                <a:solidFill>
                  <a:srgbClr val="28251D"/>
                </a:solidFill>
                <a:latin typeface="Calibri" pitchFamily="34" charset="0"/>
                <a:ea typeface="Calibri" pitchFamily="34" charset="-122"/>
                <a:cs typeface="Calibri" pitchFamily="34" charset="-120"/>
              </a:rPr>
              <a:t>For most of history, living standards barely changed — like a flat EKG that suddenly spikes</a:t>
            </a:r>
            <a:endParaRPr lang="en-US" sz="1350" dirty="0"/>
          </a:p>
          <a:p>
            <a:pPr marL="342900" indent="-342900">
              <a:spcAft>
                <a:spcPts val="1000"/>
              </a:spcAft>
              <a:buSzPct val="100000"/>
              <a:buChar char="–"/>
            </a:pPr>
            <a:r>
              <a:rPr lang="en-US" sz="1350" dirty="0">
                <a:solidFill>
                  <a:srgbClr val="28251D"/>
                </a:solidFill>
                <a:latin typeface="Calibri" pitchFamily="34" charset="0"/>
                <a:ea typeface="Calibri" pitchFamily="34" charset="-122"/>
                <a:cs typeface="Calibri" pitchFamily="34" charset="-120"/>
              </a:rPr>
              <a:t>The Industrial Revolution (c. 1800) was the defibrillator: steam engines, power looms, railroads</a:t>
            </a:r>
            <a:endParaRPr lang="en-US" sz="1350" dirty="0"/>
          </a:p>
          <a:p>
            <a:pPr marL="342900" indent="-342900">
              <a:spcAft>
                <a:spcPts val="1000"/>
              </a:spcAft>
              <a:buSzPct val="100000"/>
              <a:buChar char="–"/>
            </a:pPr>
            <a:r>
              <a:rPr lang="en-US" sz="1350" dirty="0">
                <a:solidFill>
                  <a:srgbClr val="28251D"/>
                </a:solidFill>
                <a:latin typeface="Calibri" pitchFamily="34" charset="0"/>
                <a:ea typeface="Calibri" pitchFamily="34" charset="-122"/>
                <a:cs typeface="Calibri" pitchFamily="34" charset="-120"/>
              </a:rPr>
              <a:t>Imagine humanity on a 24-hour clock — modern growth starts at 11:58 PM</a:t>
            </a:r>
            <a:endParaRPr lang="en-US" sz="1350" dirty="0"/>
          </a:p>
          <a:p>
            <a:pPr marL="342900" indent="-342900">
              <a:spcAft>
                <a:spcPts val="1000"/>
              </a:spcAft>
              <a:buSzPct val="100000"/>
              <a:buChar char="–"/>
            </a:pPr>
            <a:r>
              <a:rPr lang="en-US" sz="1350" dirty="0">
                <a:solidFill>
                  <a:srgbClr val="28251D"/>
                </a:solidFill>
                <a:latin typeface="Calibri" pitchFamily="34" charset="0"/>
                <a:ea typeface="Calibri" pitchFamily="34" charset="-122"/>
                <a:cs typeface="Calibri" pitchFamily="34" charset="-120"/>
              </a:rPr>
              <a:t>"More change in the last 200 years than the previous 2,000 combined"</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a:effectLst/>
      </p:bgPr>
    </p:bg>
    <p:spTree>
      <p:nvGrpSpPr>
        <p:cNvPr id="1" name=""/>
        <p:cNvGrpSpPr/>
        <p:nvPr/>
      </p:nvGrpSpPr>
      <p:grpSpPr>
        <a:xfrm>
          <a:off x="0" y="0"/>
          <a:ext cx="0" cy="0"/>
          <a:chOff x="0" y="0"/>
          <a:chExt cx="0" cy="0"/>
        </a:xfrm>
      </p:grpSpPr>
      <p:sp>
        <p:nvSpPr>
          <p:cNvPr id="2" name="Text 0"/>
          <p:cNvSpPr>
            <a:spLocks noGrp="1"/>
          </p:cNvSpPr>
          <p:nvPr>
            <p:ph type="title" idx="4294967295"/>
          </p:nvPr>
        </p:nvSpPr>
        <p:spPr>
          <a:xfrm>
            <a:off x="457200" y="457200"/>
            <a:ext cx="8229600" cy="54864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01696F"/>
                </a:solidFill>
                <a:effectLst/>
                <a:uLnTx/>
                <a:uFillTx/>
                <a:latin typeface="Trebuchet MS" pitchFamily="34" charset="0"/>
                <a:ea typeface="Trebuchet MS" pitchFamily="34" charset="-122"/>
                <a:cs typeface="Trebuchet MS" pitchFamily="34" charset="-120"/>
              </a:rPr>
              <a:t>From Poverty to Prosperity: South Korea</a:t>
            </a:r>
            <a:endParaRPr kumimoji="0" lang="en-US" sz="3000" b="0" i="0" u="none" strike="noStrike" kern="1200" cap="none" spc="0" normalizeH="0" baseline="0" noProof="0" dirty="0">
              <a:ln>
                <a:noFill/>
              </a:ln>
              <a:solidFill>
                <a:schemeClr val="tx1"/>
              </a:solidFill>
              <a:effectLst/>
              <a:uLnTx/>
              <a:uFillTx/>
              <a:latin typeface="+mn-lt"/>
              <a:ea typeface="+mn-ea"/>
              <a:cs typeface="+mn-cs"/>
            </a:endParaRPr>
          </a:p>
        </p:txBody>
      </p:sp>
      <p:sp>
        <p:nvSpPr>
          <p:cNvPr id="3" name="Shape 1">
            <a:extLst>
              <a:ext uri="{C183D7F6-B498-43B3-948B-1728B52AA6E4}">
                <adec:decorative xmlns:adec="http://schemas.microsoft.com/office/drawing/2017/decorative" val="1"/>
              </a:ext>
            </a:extLst>
          </p:cNvPr>
          <p:cNvSpPr/>
          <p:nvPr/>
        </p:nvSpPr>
        <p:spPr>
          <a:xfrm>
            <a:off x="457200" y="1097280"/>
            <a:ext cx="365760" cy="365760"/>
          </a:xfrm>
          <a:prstGeom prst="ellipse">
            <a:avLst/>
          </a:prstGeom>
          <a:solidFill>
            <a:srgbClr val="D4D1CA"/>
          </a:solidFill>
          <a:ln/>
        </p:spPr>
        <p:txBody>
          <a:bodyPr/>
          <a:lstStyle/>
          <a:p>
            <a:endParaRPr lang="en-US"/>
          </a:p>
        </p:txBody>
      </p:sp>
      <p:sp>
        <p:nvSpPr>
          <p:cNvPr id="4" name="Text 2"/>
          <p:cNvSpPr/>
          <p:nvPr/>
        </p:nvSpPr>
        <p:spPr>
          <a:xfrm>
            <a:off x="457200" y="1097280"/>
            <a:ext cx="365760" cy="365760"/>
          </a:xfrm>
          <a:prstGeom prst="rect">
            <a:avLst/>
          </a:prstGeom>
          <a:noFill/>
          <a:ln/>
        </p:spPr>
        <p:txBody>
          <a:bodyPr wrap="square" lIns="0" tIns="0" rIns="0" bIns="0" rtlCol="0" anchor="ctr"/>
          <a:lstStyle/>
          <a:p>
            <a:pPr marL="0" indent="0" algn="ctr">
              <a:buNone/>
            </a:pPr>
            <a:r>
              <a:rPr lang="en-US" sz="1400" b="1" dirty="0">
                <a:solidFill>
                  <a:srgbClr val="28251D"/>
                </a:solidFill>
                <a:latin typeface="Trebuchet MS" pitchFamily="34" charset="0"/>
                <a:ea typeface="Trebuchet MS" pitchFamily="34" charset="-122"/>
                <a:cs typeface="Trebuchet MS" pitchFamily="34" charset="-120"/>
              </a:rPr>
              <a:t>1</a:t>
            </a:r>
            <a:endParaRPr lang="en-US" sz="1400" dirty="0"/>
          </a:p>
        </p:txBody>
      </p:sp>
      <p:sp>
        <p:nvSpPr>
          <p:cNvPr id="5" name="Text 3"/>
          <p:cNvSpPr/>
          <p:nvPr/>
        </p:nvSpPr>
        <p:spPr>
          <a:xfrm>
            <a:off x="960120" y="1051560"/>
            <a:ext cx="1097280" cy="228600"/>
          </a:xfrm>
          <a:prstGeom prst="rect">
            <a:avLst/>
          </a:prstGeom>
          <a:noFill/>
          <a:ln/>
        </p:spPr>
        <p:txBody>
          <a:bodyPr wrap="square" lIns="0" tIns="0" rIns="0" bIns="0" rtlCol="0" anchor="ctr"/>
          <a:lstStyle/>
          <a:p>
            <a:pPr marL="0" indent="0">
              <a:buNone/>
            </a:pPr>
            <a:r>
              <a:rPr lang="en-US" sz="1300" b="1" dirty="0">
                <a:solidFill>
                  <a:srgbClr val="A84B2F"/>
                </a:solidFill>
                <a:latin typeface="Trebuchet MS" pitchFamily="34" charset="0"/>
                <a:ea typeface="Trebuchet MS" pitchFamily="34" charset="-122"/>
                <a:cs typeface="Trebuchet MS" pitchFamily="34" charset="-120"/>
              </a:rPr>
              <a:t>1950s</a:t>
            </a:r>
            <a:endParaRPr lang="en-US" sz="1300" dirty="0"/>
          </a:p>
        </p:txBody>
      </p:sp>
      <p:sp>
        <p:nvSpPr>
          <p:cNvPr id="6" name="Text 4"/>
          <p:cNvSpPr/>
          <p:nvPr/>
        </p:nvSpPr>
        <p:spPr>
          <a:xfrm>
            <a:off x="960120" y="1280160"/>
            <a:ext cx="3108960" cy="228600"/>
          </a:xfrm>
          <a:prstGeom prst="rect">
            <a:avLst/>
          </a:prstGeom>
          <a:noFill/>
          <a:ln/>
        </p:spPr>
        <p:txBody>
          <a:bodyPr wrap="square" lIns="0" tIns="0" rIns="0" bIns="0" rtlCol="0" anchor="ctr"/>
          <a:lstStyle/>
          <a:p>
            <a:pPr marL="0" indent="0">
              <a:buNone/>
            </a:pPr>
            <a:r>
              <a:rPr lang="en-US" sz="1200" dirty="0">
                <a:solidFill>
                  <a:srgbClr val="28251D"/>
                </a:solidFill>
                <a:latin typeface="Calibri" pitchFamily="34" charset="0"/>
                <a:ea typeface="Calibri" pitchFamily="34" charset="-122"/>
                <a:cs typeface="Calibri" pitchFamily="34" charset="-120"/>
              </a:rPr>
              <a:t>War-torn, GDP per capita $854</a:t>
            </a:r>
            <a:endParaRPr lang="en-US" sz="1200" dirty="0"/>
          </a:p>
        </p:txBody>
      </p:sp>
      <p:sp>
        <p:nvSpPr>
          <p:cNvPr id="7" name="Shape 5">
            <a:extLst>
              <a:ext uri="{C183D7F6-B498-43B3-948B-1728B52AA6E4}">
                <adec:decorative xmlns:adec="http://schemas.microsoft.com/office/drawing/2017/decorative" val="1"/>
              </a:ext>
            </a:extLst>
          </p:cNvPr>
          <p:cNvSpPr/>
          <p:nvPr/>
        </p:nvSpPr>
        <p:spPr>
          <a:xfrm>
            <a:off x="621792" y="1463040"/>
            <a:ext cx="36576" cy="548640"/>
          </a:xfrm>
          <a:prstGeom prst="rect">
            <a:avLst/>
          </a:prstGeom>
          <a:solidFill>
            <a:srgbClr val="D4D1CA"/>
          </a:solidFill>
          <a:ln/>
        </p:spPr>
        <p:txBody>
          <a:bodyPr/>
          <a:lstStyle/>
          <a:p>
            <a:endParaRPr lang="en-US"/>
          </a:p>
        </p:txBody>
      </p:sp>
      <p:sp>
        <p:nvSpPr>
          <p:cNvPr id="8" name="Shape 6">
            <a:extLst>
              <a:ext uri="{C183D7F6-B498-43B3-948B-1728B52AA6E4}">
                <adec:decorative xmlns:adec="http://schemas.microsoft.com/office/drawing/2017/decorative" val="1"/>
              </a:ext>
            </a:extLst>
          </p:cNvPr>
          <p:cNvSpPr/>
          <p:nvPr/>
        </p:nvSpPr>
        <p:spPr>
          <a:xfrm>
            <a:off x="457200" y="2057400"/>
            <a:ext cx="365760" cy="365760"/>
          </a:xfrm>
          <a:prstGeom prst="ellipse">
            <a:avLst/>
          </a:prstGeom>
          <a:solidFill>
            <a:srgbClr val="D4D1CA"/>
          </a:solidFill>
          <a:ln/>
        </p:spPr>
        <p:txBody>
          <a:bodyPr/>
          <a:lstStyle/>
          <a:p>
            <a:endParaRPr lang="en-US"/>
          </a:p>
        </p:txBody>
      </p:sp>
      <p:sp>
        <p:nvSpPr>
          <p:cNvPr id="9" name="Text 7"/>
          <p:cNvSpPr/>
          <p:nvPr/>
        </p:nvSpPr>
        <p:spPr>
          <a:xfrm>
            <a:off x="457200" y="2057400"/>
            <a:ext cx="365760" cy="365760"/>
          </a:xfrm>
          <a:prstGeom prst="rect">
            <a:avLst/>
          </a:prstGeom>
          <a:noFill/>
          <a:ln/>
        </p:spPr>
        <p:txBody>
          <a:bodyPr wrap="square" lIns="0" tIns="0" rIns="0" bIns="0" rtlCol="0" anchor="ctr"/>
          <a:lstStyle/>
          <a:p>
            <a:pPr marL="0" indent="0" algn="ctr">
              <a:buNone/>
            </a:pPr>
            <a:r>
              <a:rPr lang="en-US" sz="1400" b="1" dirty="0">
                <a:solidFill>
                  <a:srgbClr val="28251D"/>
                </a:solidFill>
                <a:latin typeface="Trebuchet MS" pitchFamily="34" charset="0"/>
                <a:ea typeface="Trebuchet MS" pitchFamily="34" charset="-122"/>
                <a:cs typeface="Trebuchet MS" pitchFamily="34" charset="-120"/>
              </a:rPr>
              <a:t>2</a:t>
            </a:r>
            <a:endParaRPr lang="en-US" sz="1400" dirty="0"/>
          </a:p>
        </p:txBody>
      </p:sp>
      <p:sp>
        <p:nvSpPr>
          <p:cNvPr id="10" name="Text 8"/>
          <p:cNvSpPr/>
          <p:nvPr/>
        </p:nvSpPr>
        <p:spPr>
          <a:xfrm>
            <a:off x="960120" y="2011680"/>
            <a:ext cx="1097280" cy="228600"/>
          </a:xfrm>
          <a:prstGeom prst="rect">
            <a:avLst/>
          </a:prstGeom>
          <a:noFill/>
          <a:ln/>
        </p:spPr>
        <p:txBody>
          <a:bodyPr wrap="square" lIns="0" tIns="0" rIns="0" bIns="0" rtlCol="0" anchor="ctr"/>
          <a:lstStyle/>
          <a:p>
            <a:pPr marL="0" indent="0">
              <a:buNone/>
            </a:pPr>
            <a:r>
              <a:rPr lang="en-US" sz="1300" b="1" dirty="0">
                <a:solidFill>
                  <a:srgbClr val="A84B2F"/>
                </a:solidFill>
                <a:latin typeface="Trebuchet MS" pitchFamily="34" charset="0"/>
                <a:ea typeface="Trebuchet MS" pitchFamily="34" charset="-122"/>
                <a:cs typeface="Trebuchet MS" pitchFamily="34" charset="-120"/>
              </a:rPr>
              <a:t>1960s-70s</a:t>
            </a:r>
            <a:endParaRPr lang="en-US" sz="1300" dirty="0"/>
          </a:p>
        </p:txBody>
      </p:sp>
      <p:sp>
        <p:nvSpPr>
          <p:cNvPr id="11" name="Text 9"/>
          <p:cNvSpPr/>
          <p:nvPr/>
        </p:nvSpPr>
        <p:spPr>
          <a:xfrm>
            <a:off x="960120" y="2240280"/>
            <a:ext cx="3108960" cy="228600"/>
          </a:xfrm>
          <a:prstGeom prst="rect">
            <a:avLst/>
          </a:prstGeom>
          <a:noFill/>
          <a:ln/>
        </p:spPr>
        <p:txBody>
          <a:bodyPr wrap="square" lIns="0" tIns="0" rIns="0" bIns="0" rtlCol="0" anchor="ctr"/>
          <a:lstStyle/>
          <a:p>
            <a:pPr marL="0" indent="0">
              <a:buNone/>
            </a:pPr>
            <a:r>
              <a:rPr lang="en-US" sz="1200" dirty="0">
                <a:solidFill>
                  <a:srgbClr val="28251D"/>
                </a:solidFill>
                <a:latin typeface="Calibri" pitchFamily="34" charset="0"/>
                <a:ea typeface="Calibri" pitchFamily="34" charset="-122"/>
                <a:cs typeface="Calibri" pitchFamily="34" charset="-120"/>
              </a:rPr>
              <a:t>Investment surge to 30-35% of GDP</a:t>
            </a:r>
            <a:endParaRPr lang="en-US" sz="1200" dirty="0"/>
          </a:p>
        </p:txBody>
      </p:sp>
      <p:sp>
        <p:nvSpPr>
          <p:cNvPr id="12" name="Shape 10">
            <a:extLst>
              <a:ext uri="{C183D7F6-B498-43B3-948B-1728B52AA6E4}">
                <adec:decorative xmlns:adec="http://schemas.microsoft.com/office/drawing/2017/decorative" val="1"/>
              </a:ext>
            </a:extLst>
          </p:cNvPr>
          <p:cNvSpPr/>
          <p:nvPr/>
        </p:nvSpPr>
        <p:spPr>
          <a:xfrm>
            <a:off x="621792" y="2423160"/>
            <a:ext cx="36576" cy="548640"/>
          </a:xfrm>
          <a:prstGeom prst="rect">
            <a:avLst/>
          </a:prstGeom>
          <a:solidFill>
            <a:srgbClr val="D4D1CA"/>
          </a:solidFill>
          <a:ln/>
        </p:spPr>
        <p:txBody>
          <a:bodyPr/>
          <a:lstStyle/>
          <a:p>
            <a:endParaRPr lang="en-US"/>
          </a:p>
        </p:txBody>
      </p:sp>
      <p:sp>
        <p:nvSpPr>
          <p:cNvPr id="13" name="Shape 11">
            <a:extLst>
              <a:ext uri="{C183D7F6-B498-43B3-948B-1728B52AA6E4}">
                <adec:decorative xmlns:adec="http://schemas.microsoft.com/office/drawing/2017/decorative" val="1"/>
              </a:ext>
            </a:extLst>
          </p:cNvPr>
          <p:cNvSpPr/>
          <p:nvPr/>
        </p:nvSpPr>
        <p:spPr>
          <a:xfrm>
            <a:off x="457200" y="3017520"/>
            <a:ext cx="365760" cy="365760"/>
          </a:xfrm>
          <a:prstGeom prst="ellipse">
            <a:avLst/>
          </a:prstGeom>
          <a:solidFill>
            <a:srgbClr val="D4D1CA"/>
          </a:solidFill>
          <a:ln/>
        </p:spPr>
        <p:txBody>
          <a:bodyPr/>
          <a:lstStyle/>
          <a:p>
            <a:endParaRPr lang="en-US"/>
          </a:p>
        </p:txBody>
      </p:sp>
      <p:sp>
        <p:nvSpPr>
          <p:cNvPr id="14" name="Text 12"/>
          <p:cNvSpPr/>
          <p:nvPr/>
        </p:nvSpPr>
        <p:spPr>
          <a:xfrm>
            <a:off x="457200" y="3017520"/>
            <a:ext cx="365760" cy="365760"/>
          </a:xfrm>
          <a:prstGeom prst="rect">
            <a:avLst/>
          </a:prstGeom>
          <a:noFill/>
          <a:ln/>
        </p:spPr>
        <p:txBody>
          <a:bodyPr wrap="square" lIns="0" tIns="0" rIns="0" bIns="0" rtlCol="0" anchor="ctr"/>
          <a:lstStyle/>
          <a:p>
            <a:pPr marL="0" indent="0" algn="ctr">
              <a:buNone/>
            </a:pPr>
            <a:r>
              <a:rPr lang="en-US" sz="1400" b="1" dirty="0">
                <a:solidFill>
                  <a:srgbClr val="28251D"/>
                </a:solidFill>
                <a:latin typeface="Trebuchet MS" pitchFamily="34" charset="0"/>
                <a:ea typeface="Trebuchet MS" pitchFamily="34" charset="-122"/>
                <a:cs typeface="Trebuchet MS" pitchFamily="34" charset="-120"/>
              </a:rPr>
              <a:t>3</a:t>
            </a:r>
            <a:endParaRPr lang="en-US" sz="1400" dirty="0"/>
          </a:p>
        </p:txBody>
      </p:sp>
      <p:sp>
        <p:nvSpPr>
          <p:cNvPr id="15" name="Text 13"/>
          <p:cNvSpPr/>
          <p:nvPr/>
        </p:nvSpPr>
        <p:spPr>
          <a:xfrm>
            <a:off x="960120" y="2971800"/>
            <a:ext cx="1097280" cy="228600"/>
          </a:xfrm>
          <a:prstGeom prst="rect">
            <a:avLst/>
          </a:prstGeom>
          <a:noFill/>
          <a:ln/>
        </p:spPr>
        <p:txBody>
          <a:bodyPr wrap="square" lIns="0" tIns="0" rIns="0" bIns="0" rtlCol="0" anchor="ctr"/>
          <a:lstStyle/>
          <a:p>
            <a:pPr marL="0" indent="0">
              <a:buNone/>
            </a:pPr>
            <a:r>
              <a:rPr lang="en-US" sz="1300" b="1" dirty="0">
                <a:solidFill>
                  <a:srgbClr val="A84B2F"/>
                </a:solidFill>
                <a:latin typeface="Trebuchet MS" pitchFamily="34" charset="0"/>
                <a:ea typeface="Trebuchet MS" pitchFamily="34" charset="-122"/>
                <a:cs typeface="Trebuchet MS" pitchFamily="34" charset="-120"/>
              </a:rPr>
              <a:t>1980s</a:t>
            </a:r>
            <a:endParaRPr lang="en-US" sz="1300" dirty="0"/>
          </a:p>
        </p:txBody>
      </p:sp>
      <p:sp>
        <p:nvSpPr>
          <p:cNvPr id="16" name="Text 14"/>
          <p:cNvSpPr/>
          <p:nvPr/>
        </p:nvSpPr>
        <p:spPr>
          <a:xfrm>
            <a:off x="960120" y="3200400"/>
            <a:ext cx="3108960" cy="228600"/>
          </a:xfrm>
          <a:prstGeom prst="rect">
            <a:avLst/>
          </a:prstGeom>
          <a:noFill/>
          <a:ln/>
        </p:spPr>
        <p:txBody>
          <a:bodyPr wrap="square" lIns="0" tIns="0" rIns="0" bIns="0" rtlCol="0" anchor="ctr"/>
          <a:lstStyle/>
          <a:p>
            <a:pPr marL="0" indent="0">
              <a:buNone/>
            </a:pPr>
            <a:r>
              <a:rPr lang="en-US" sz="1200" dirty="0">
                <a:solidFill>
                  <a:srgbClr val="28251D"/>
                </a:solidFill>
                <a:latin typeface="Calibri" pitchFamily="34" charset="0"/>
                <a:ea typeface="Calibri" pitchFamily="34" charset="-122"/>
                <a:cs typeface="Calibri" pitchFamily="34" charset="-120"/>
              </a:rPr>
              <a:t>Near-universal secondary education</a:t>
            </a:r>
            <a:endParaRPr lang="en-US" sz="1200" dirty="0"/>
          </a:p>
        </p:txBody>
      </p:sp>
      <p:sp>
        <p:nvSpPr>
          <p:cNvPr id="17" name="Shape 15">
            <a:extLst>
              <a:ext uri="{C183D7F6-B498-43B3-948B-1728B52AA6E4}">
                <adec:decorative xmlns:adec="http://schemas.microsoft.com/office/drawing/2017/decorative" val="1"/>
              </a:ext>
            </a:extLst>
          </p:cNvPr>
          <p:cNvSpPr/>
          <p:nvPr/>
        </p:nvSpPr>
        <p:spPr>
          <a:xfrm>
            <a:off x="621792" y="3383280"/>
            <a:ext cx="36576" cy="548640"/>
          </a:xfrm>
          <a:prstGeom prst="rect">
            <a:avLst/>
          </a:prstGeom>
          <a:solidFill>
            <a:srgbClr val="D4D1CA"/>
          </a:solidFill>
          <a:ln/>
        </p:spPr>
        <p:txBody>
          <a:bodyPr/>
          <a:lstStyle/>
          <a:p>
            <a:endParaRPr lang="en-US"/>
          </a:p>
        </p:txBody>
      </p:sp>
      <p:sp>
        <p:nvSpPr>
          <p:cNvPr id="18" name="Shape 16">
            <a:extLst>
              <a:ext uri="{C183D7F6-B498-43B3-948B-1728B52AA6E4}">
                <adec:decorative xmlns:adec="http://schemas.microsoft.com/office/drawing/2017/decorative" val="1"/>
              </a:ext>
            </a:extLst>
          </p:cNvPr>
          <p:cNvSpPr/>
          <p:nvPr/>
        </p:nvSpPr>
        <p:spPr>
          <a:xfrm>
            <a:off x="457200" y="3977640"/>
            <a:ext cx="365760" cy="365760"/>
          </a:xfrm>
          <a:prstGeom prst="ellipse">
            <a:avLst/>
          </a:prstGeom>
          <a:solidFill>
            <a:srgbClr val="01696F"/>
          </a:solidFill>
          <a:ln/>
        </p:spPr>
        <p:txBody>
          <a:bodyPr/>
          <a:lstStyle/>
          <a:p>
            <a:endParaRPr lang="en-US"/>
          </a:p>
        </p:txBody>
      </p:sp>
      <p:sp>
        <p:nvSpPr>
          <p:cNvPr id="19" name="Text 17"/>
          <p:cNvSpPr/>
          <p:nvPr/>
        </p:nvSpPr>
        <p:spPr>
          <a:xfrm>
            <a:off x="457200" y="39776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4</a:t>
            </a:r>
            <a:endParaRPr lang="en-US" sz="1400" dirty="0"/>
          </a:p>
        </p:txBody>
      </p:sp>
      <p:sp>
        <p:nvSpPr>
          <p:cNvPr id="20" name="Text 18"/>
          <p:cNvSpPr/>
          <p:nvPr/>
        </p:nvSpPr>
        <p:spPr>
          <a:xfrm>
            <a:off x="960120" y="3931920"/>
            <a:ext cx="1097280" cy="228600"/>
          </a:xfrm>
          <a:prstGeom prst="rect">
            <a:avLst/>
          </a:prstGeom>
          <a:noFill/>
          <a:ln/>
        </p:spPr>
        <p:txBody>
          <a:bodyPr wrap="square" lIns="0" tIns="0" rIns="0" bIns="0" rtlCol="0" anchor="ctr"/>
          <a:lstStyle/>
          <a:p>
            <a:pPr marL="0" indent="0">
              <a:buNone/>
            </a:pPr>
            <a:r>
              <a:rPr lang="en-US" sz="1300" b="1" dirty="0">
                <a:solidFill>
                  <a:srgbClr val="A84B2F"/>
                </a:solidFill>
                <a:latin typeface="Trebuchet MS" pitchFamily="34" charset="0"/>
                <a:ea typeface="Trebuchet MS" pitchFamily="34" charset="-122"/>
                <a:cs typeface="Trebuchet MS" pitchFamily="34" charset="-120"/>
              </a:rPr>
              <a:t>Today</a:t>
            </a:r>
            <a:endParaRPr lang="en-US" sz="1300" dirty="0"/>
          </a:p>
        </p:txBody>
      </p:sp>
      <p:sp>
        <p:nvSpPr>
          <p:cNvPr id="21" name="Text 19"/>
          <p:cNvSpPr/>
          <p:nvPr/>
        </p:nvSpPr>
        <p:spPr>
          <a:xfrm>
            <a:off x="960120" y="4160520"/>
            <a:ext cx="3108960" cy="228600"/>
          </a:xfrm>
          <a:prstGeom prst="rect">
            <a:avLst/>
          </a:prstGeom>
          <a:noFill/>
          <a:ln/>
        </p:spPr>
        <p:txBody>
          <a:bodyPr wrap="square" lIns="0" tIns="0" rIns="0" bIns="0" rtlCol="0" anchor="ctr"/>
          <a:lstStyle/>
          <a:p>
            <a:pPr marL="0" indent="0">
              <a:buNone/>
            </a:pPr>
            <a:r>
              <a:rPr lang="en-US" sz="1200" dirty="0">
                <a:solidFill>
                  <a:srgbClr val="28251D"/>
                </a:solidFill>
                <a:latin typeface="Calibri" pitchFamily="34" charset="0"/>
                <a:ea typeface="Calibri" pitchFamily="34" charset="-122"/>
                <a:cs typeface="Calibri" pitchFamily="34" charset="-120"/>
              </a:rPr>
              <a:t>11th largest economy, GDP/cap &gt;$30,000</a:t>
            </a:r>
            <a:endParaRPr lang="en-US" sz="1200" dirty="0"/>
          </a:p>
        </p:txBody>
      </p:sp>
      <p:sp>
        <p:nvSpPr>
          <p:cNvPr id="22" name="Text 20"/>
          <p:cNvSpPr/>
          <p:nvPr/>
        </p:nvSpPr>
        <p:spPr>
          <a:xfrm>
            <a:off x="4572000" y="1051560"/>
            <a:ext cx="4206240" cy="3474720"/>
          </a:xfrm>
          <a:prstGeom prst="rect">
            <a:avLst/>
          </a:prstGeom>
          <a:noFill/>
          <a:ln/>
        </p:spPr>
        <p:txBody>
          <a:bodyPr wrap="square" lIns="0" tIns="0" rIns="0" bIns="0" rtlCol="0" anchor="t"/>
          <a:lstStyle/>
          <a:p>
            <a:pPr marL="342900" indent="-342900">
              <a:spcAft>
                <a:spcPts val="1000"/>
              </a:spcAft>
              <a:buSzPct val="100000"/>
              <a:buChar char="•"/>
            </a:pPr>
            <a:r>
              <a:rPr lang="en-US" sz="1350" dirty="0">
                <a:solidFill>
                  <a:srgbClr val="28251D"/>
                </a:solidFill>
                <a:latin typeface="Calibri" pitchFamily="34" charset="0"/>
                <a:ea typeface="Calibri" pitchFamily="34" charset="-122"/>
                <a:cs typeface="Calibri" pitchFamily="34" charset="-120"/>
              </a:rPr>
              <a:t>South Korea's transformation is like a student going from failing grades to valedictorian in one generation</a:t>
            </a:r>
            <a:endParaRPr lang="en-US" sz="1350" dirty="0"/>
          </a:p>
          <a:p>
            <a:pPr marL="342900" indent="-342900">
              <a:spcAft>
                <a:spcPts val="1000"/>
              </a:spcAft>
              <a:buSzPct val="100000"/>
              <a:buChar char="•"/>
            </a:pPr>
            <a:r>
              <a:rPr lang="en-US" sz="1350" dirty="0">
                <a:solidFill>
                  <a:srgbClr val="28251D"/>
                </a:solidFill>
                <a:latin typeface="Calibri" pitchFamily="34" charset="0"/>
                <a:ea typeface="Calibri" pitchFamily="34" charset="-122"/>
                <a:cs typeface="Calibri" pitchFamily="34" charset="-120"/>
              </a:rPr>
              <a:t>Grew at &gt;6% annually for four decades</a:t>
            </a:r>
            <a:endParaRPr lang="en-US" sz="1350" dirty="0"/>
          </a:p>
          <a:p>
            <a:pPr marL="342900" indent="-342900">
              <a:spcAft>
                <a:spcPts val="1000"/>
              </a:spcAft>
              <a:buSzPct val="100000"/>
              <a:buChar char="•"/>
            </a:pPr>
            <a:r>
              <a:rPr lang="en-US" sz="1350" dirty="0">
                <a:solidFill>
                  <a:srgbClr val="28251D"/>
                </a:solidFill>
                <a:latin typeface="Calibri" pitchFamily="34" charset="0"/>
                <a:ea typeface="Calibri" pitchFamily="34" charset="-122"/>
                <a:cs typeface="Calibri" pitchFamily="34" charset="-120"/>
              </a:rPr>
              <a:t>Recipe: education + investment + technology adoption + economic freedom</a:t>
            </a:r>
            <a:endParaRPr lang="en-US" sz="1350" dirty="0"/>
          </a:p>
          <a:p>
            <a:pPr marL="342900" indent="-342900">
              <a:spcAft>
                <a:spcPts val="1000"/>
              </a:spcAft>
              <a:buSzPct val="100000"/>
              <a:buChar char="•"/>
            </a:pPr>
            <a:r>
              <a:rPr lang="en-US" sz="1350" dirty="0">
                <a:solidFill>
                  <a:srgbClr val="28251D"/>
                </a:solidFill>
                <a:latin typeface="Calibri" pitchFamily="34" charset="0"/>
                <a:ea typeface="Calibri" pitchFamily="34" charset="-122"/>
                <a:cs typeface="Calibri" pitchFamily="34" charset="-120"/>
              </a:rPr>
              <a:t>Now peers with Italy, New Zealand, and Israel</a:t>
            </a:r>
            <a:endParaRPr lang="en-US" sz="1350" dirty="0"/>
          </a:p>
        </p:txBody>
      </p:sp>
      <p:pic>
        <p:nvPicPr>
          <p:cNvPr id="24" name="Picture 23">
            <a:extLst>
              <a:ext uri="{FF2B5EF4-FFF2-40B4-BE49-F238E27FC236}">
                <a16:creationId xmlns:a16="http://schemas.microsoft.com/office/drawing/2014/main" id="{4A4A12F4-4EB5-FCAD-581B-B73A95398F7F}"/>
              </a:ext>
            </a:extLst>
          </p:cNvPr>
          <p:cNvPicPr>
            <a:picLocks noChangeAspect="1"/>
          </p:cNvPicPr>
          <p:nvPr/>
        </p:nvPicPr>
        <p:blipFill>
          <a:blip r:embed="rId3"/>
          <a:stretch>
            <a:fillRect/>
          </a:stretch>
        </p:blipFill>
        <p:spPr>
          <a:xfrm>
            <a:off x="5735574" y="2777266"/>
            <a:ext cx="1879092" cy="221315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a:effectLst/>
      </p:bgPr>
    </p:bg>
    <p:spTree>
      <p:nvGrpSpPr>
        <p:cNvPr id="1" name=""/>
        <p:cNvGrpSpPr/>
        <p:nvPr/>
      </p:nvGrpSpPr>
      <p:grpSpPr>
        <a:xfrm>
          <a:off x="0" y="0"/>
          <a:ext cx="0" cy="0"/>
          <a:chOff x="0" y="0"/>
          <a:chExt cx="0" cy="0"/>
        </a:xfrm>
      </p:grpSpPr>
      <p:sp>
        <p:nvSpPr>
          <p:cNvPr id="2" name="Text 0"/>
          <p:cNvSpPr>
            <a:spLocks noGrp="1"/>
          </p:cNvSpPr>
          <p:nvPr>
            <p:ph type="title" idx="4294967295"/>
          </p:nvPr>
        </p:nvSpPr>
        <p:spPr>
          <a:xfrm>
            <a:off x="457200" y="457200"/>
            <a:ext cx="8229600" cy="54864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696F"/>
                </a:solidFill>
                <a:effectLst/>
                <a:uLnTx/>
                <a:uFillTx/>
                <a:latin typeface="Trebuchet MS" pitchFamily="34" charset="0"/>
                <a:ea typeface="Trebuchet MS" pitchFamily="34" charset="-122"/>
                <a:cs typeface="Trebuchet MS" pitchFamily="34" charset="-120"/>
              </a:rPr>
              <a:t>Institutions: The Soil Where Growth Takes Root</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pic>
        <p:nvPicPr>
          <p:cNvPr id="3" name="Image 0">
            <a:extLst>
              <a:ext uri="{C183D7F6-B498-43B3-948B-1728B52AA6E4}">
                <adec:decorative xmlns:adec="http://schemas.microsoft.com/office/drawing/2017/decorative" val="1"/>
              </a:ext>
            </a:extLst>
          </p:cNvPr>
          <p:cNvPicPr>
            <a:picLocks noChangeAspect="1"/>
          </p:cNvPicPr>
          <p:nvPr/>
        </p:nvPicPr>
        <p:blipFill>
          <a:blip r:embed="rId3"/>
          <a:srcRect/>
          <a:stretch/>
        </p:blipFill>
        <p:spPr>
          <a:xfrm>
            <a:off x="457200" y="1005840"/>
            <a:ext cx="3840480" cy="2377440"/>
          </a:xfrm>
          <a:prstGeom prst="ellipse">
            <a:avLst/>
          </a:prstGeom>
        </p:spPr>
      </p:pic>
      <p:sp>
        <p:nvSpPr>
          <p:cNvPr id="4" name="Text 1"/>
          <p:cNvSpPr/>
          <p:nvPr/>
        </p:nvSpPr>
        <p:spPr>
          <a:xfrm>
            <a:off x="4572000" y="1005840"/>
            <a:ext cx="4206240" cy="237744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28251D"/>
                </a:solidFill>
                <a:latin typeface="Calibri" pitchFamily="34" charset="0"/>
                <a:ea typeface="Calibri" pitchFamily="34" charset="-122"/>
                <a:cs typeface="Calibri" pitchFamily="34" charset="-120"/>
              </a:rPr>
              <a:t>Property rights: "Would you plant a crop if anyone could harvest it?"</a:t>
            </a:r>
            <a:endParaRPr lang="en-US" sz="1300" dirty="0"/>
          </a:p>
          <a:p>
            <a:pPr marL="342900" indent="-342900">
              <a:spcAft>
                <a:spcPts val="1000"/>
              </a:spcAft>
              <a:buSzPct val="100000"/>
              <a:buChar char="•"/>
            </a:pPr>
            <a:r>
              <a:rPr lang="en-US" sz="1300" dirty="0">
                <a:solidFill>
                  <a:srgbClr val="28251D"/>
                </a:solidFill>
                <a:latin typeface="Calibri" pitchFamily="34" charset="0"/>
                <a:ea typeface="Calibri" pitchFamily="34" charset="-122"/>
                <a:cs typeface="Calibri" pitchFamily="34" charset="-120"/>
              </a:rPr>
              <a:t>Rule of law: Magna Carta (1215) → U.S. Constitution → modern legal systems</a:t>
            </a:r>
            <a:endParaRPr lang="en-US" sz="1300" dirty="0"/>
          </a:p>
          <a:p>
            <a:pPr marL="342900" indent="-342900">
              <a:spcAft>
                <a:spcPts val="1000"/>
              </a:spcAft>
              <a:buSzPct val="100000"/>
              <a:buChar char="•"/>
            </a:pPr>
            <a:r>
              <a:rPr lang="en-US" sz="1300" dirty="0">
                <a:solidFill>
                  <a:srgbClr val="28251D"/>
                </a:solidFill>
                <a:latin typeface="Calibri" pitchFamily="34" charset="0"/>
                <a:ea typeface="Calibri" pitchFamily="34" charset="-122"/>
                <a:cs typeface="Calibri" pitchFamily="34" charset="-120"/>
              </a:rPr>
              <a:t>Contractual rights: Enable trust between strangers — the foundation of markets</a:t>
            </a:r>
            <a:endParaRPr lang="en-US" sz="1300" dirty="0"/>
          </a:p>
          <a:p>
            <a:pPr marL="342900" indent="-342900">
              <a:spcAft>
                <a:spcPts val="1000"/>
              </a:spcAft>
              <a:buSzPct val="100000"/>
              <a:buChar char="•"/>
            </a:pPr>
            <a:r>
              <a:rPr lang="en-US" sz="1300" dirty="0">
                <a:solidFill>
                  <a:srgbClr val="28251D"/>
                </a:solidFill>
                <a:latin typeface="Calibri" pitchFamily="34" charset="0"/>
                <a:ea typeface="Calibri" pitchFamily="34" charset="-122"/>
                <a:cs typeface="Calibri" pitchFamily="34" charset="-120"/>
              </a:rPr>
              <a:t>Corruption &amp; red tape: Act like friction in an engine — they slow everything down</a:t>
            </a:r>
            <a:endParaRPr lang="en-US" sz="1300" dirty="0"/>
          </a:p>
        </p:txBody>
      </p:sp>
      <p:sp>
        <p:nvSpPr>
          <p:cNvPr id="5" name="Shape 2">
            <a:extLst>
              <a:ext uri="{C183D7F6-B498-43B3-948B-1728B52AA6E4}">
                <adec:decorative xmlns:adec="http://schemas.microsoft.com/office/drawing/2017/decorative" val="1"/>
              </a:ext>
            </a:extLst>
          </p:cNvPr>
          <p:cNvSpPr/>
          <p:nvPr/>
        </p:nvSpPr>
        <p:spPr>
          <a:xfrm>
            <a:off x="457200" y="3657600"/>
            <a:ext cx="8229600" cy="777240"/>
          </a:xfrm>
          <a:prstGeom prst="roundRect">
            <a:avLst>
              <a:gd name="adj" fmla="val 11765"/>
            </a:avLst>
          </a:prstGeom>
          <a:solidFill>
            <a:srgbClr val="EAE5DA"/>
          </a:solidFill>
          <a:ln/>
        </p:spPr>
        <p:txBody>
          <a:bodyPr/>
          <a:lstStyle/>
          <a:p>
            <a:endParaRPr lang="en-US"/>
          </a:p>
        </p:txBody>
      </p:sp>
      <p:sp>
        <p:nvSpPr>
          <p:cNvPr id="6" name="Text 3"/>
          <p:cNvSpPr/>
          <p:nvPr/>
        </p:nvSpPr>
        <p:spPr>
          <a:xfrm>
            <a:off x="640080" y="3703320"/>
            <a:ext cx="7863840" cy="685800"/>
          </a:xfrm>
          <a:prstGeom prst="rect">
            <a:avLst/>
          </a:prstGeom>
          <a:noFill/>
          <a:ln/>
        </p:spPr>
        <p:txBody>
          <a:bodyPr wrap="square" lIns="0" tIns="0" rIns="0" bIns="0" rtlCol="0" anchor="ctr"/>
          <a:lstStyle/>
          <a:p>
            <a:pPr marL="0" indent="0">
              <a:buNone/>
            </a:pPr>
            <a:r>
              <a:rPr lang="en-US" sz="1300" i="1" dirty="0">
                <a:solidFill>
                  <a:srgbClr val="A84B2F"/>
                </a:solidFill>
                <a:latin typeface="Calibri" pitchFamily="34" charset="0"/>
                <a:ea typeface="Calibri" pitchFamily="34" charset="-122"/>
                <a:cs typeface="Calibri" pitchFamily="34" charset="-120"/>
              </a:rPr>
              <a:t>Countries with weak rule of law (Somalia, South Sudan, Zimbabwe) remain among the poorest. No coincidence.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a:effectLst/>
      </p:bgPr>
    </p:bg>
    <p:spTree>
      <p:nvGrpSpPr>
        <p:cNvPr id="1" name=""/>
        <p:cNvGrpSpPr/>
        <p:nvPr/>
      </p:nvGrpSpPr>
      <p:grpSpPr>
        <a:xfrm>
          <a:off x="0" y="0"/>
          <a:ext cx="0" cy="0"/>
          <a:chOff x="0" y="0"/>
          <a:chExt cx="0" cy="0"/>
        </a:xfrm>
      </p:grpSpPr>
      <p:sp>
        <p:nvSpPr>
          <p:cNvPr id="2" name="Text 0"/>
          <p:cNvSpPr>
            <a:spLocks noGrp="1"/>
          </p:cNvSpPr>
          <p:nvPr>
            <p:ph type="title" idx="4294967295"/>
          </p:nvPr>
        </p:nvSpPr>
        <p:spPr>
          <a:xfrm>
            <a:off x="457200" y="457200"/>
            <a:ext cx="8229600" cy="54864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01696F"/>
                </a:solidFill>
                <a:effectLst/>
                <a:uLnTx/>
                <a:uFillTx/>
                <a:latin typeface="Trebuchet MS" pitchFamily="34" charset="0"/>
                <a:ea typeface="Trebuchet MS" pitchFamily="34" charset="-122"/>
                <a:cs typeface="Trebuchet MS" pitchFamily="34" charset="-120"/>
              </a:rPr>
              <a:t>Labor Productivity: The Engine of Growth</a:t>
            </a:r>
            <a:endParaRPr kumimoji="0" lang="en-US" sz="3000" b="0" i="0" u="none" strike="noStrike" kern="1200" cap="none" spc="0" normalizeH="0" baseline="0" noProof="0" dirty="0">
              <a:ln>
                <a:noFill/>
              </a:ln>
              <a:solidFill>
                <a:schemeClr val="tx1"/>
              </a:solidFill>
              <a:effectLst/>
              <a:uLnTx/>
              <a:uFillTx/>
              <a:latin typeface="+mn-lt"/>
              <a:ea typeface="+mn-ea"/>
              <a:cs typeface="+mn-cs"/>
            </a:endParaRPr>
          </a:p>
        </p:txBody>
      </p:sp>
      <p:pic>
        <p:nvPicPr>
          <p:cNvPr id="3" name="Image 0">
            <a:extLst>
              <a:ext uri="{C183D7F6-B498-43B3-948B-1728B52AA6E4}">
                <adec:decorative xmlns:adec="http://schemas.microsoft.com/office/drawing/2017/decorative" val="1"/>
              </a:ext>
            </a:extLst>
          </p:cNvPr>
          <p:cNvPicPr>
            <a:picLocks noChangeAspect="1"/>
          </p:cNvPicPr>
          <p:nvPr/>
        </p:nvPicPr>
        <p:blipFill>
          <a:blip r:embed="rId3"/>
          <a:srcRect/>
          <a:stretch/>
        </p:blipFill>
        <p:spPr>
          <a:xfrm>
            <a:off x="457200" y="1005840"/>
            <a:ext cx="3840480" cy="2194560"/>
          </a:xfrm>
          <a:prstGeom prst="ellipse">
            <a:avLst/>
          </a:prstGeom>
        </p:spPr>
      </p:pic>
      <p:sp>
        <p:nvSpPr>
          <p:cNvPr id="4" name="Text 1"/>
          <p:cNvSpPr/>
          <p:nvPr/>
        </p:nvSpPr>
        <p:spPr>
          <a:xfrm>
            <a:off x="4572000" y="1005840"/>
            <a:ext cx="4206240" cy="2286000"/>
          </a:xfrm>
          <a:prstGeom prst="rect">
            <a:avLst/>
          </a:prstGeom>
          <a:noFill/>
          <a:ln/>
        </p:spPr>
        <p:txBody>
          <a:bodyPr wrap="square" lIns="0" tIns="0" rIns="0" bIns="0" rtlCol="0" anchor="t"/>
          <a:lstStyle/>
          <a:p>
            <a:pPr marL="0" indent="0">
              <a:buNone/>
            </a:pPr>
            <a:r>
              <a:rPr lang="en-US" sz="1300" b="1" dirty="0">
                <a:solidFill>
                  <a:srgbClr val="01696F"/>
                </a:solidFill>
                <a:latin typeface="Calibri" pitchFamily="34" charset="0"/>
                <a:ea typeface="Calibri" pitchFamily="34" charset="-122"/>
                <a:cs typeface="Calibri" pitchFamily="34" charset="-120"/>
              </a:rPr>
              <a:t>Definition: </a:t>
            </a:r>
            <a:r>
              <a:rPr lang="en-US" sz="1300" dirty="0">
                <a:solidFill>
                  <a:srgbClr val="28251D"/>
                </a:solidFill>
                <a:latin typeface="Calibri" pitchFamily="34" charset="0"/>
                <a:ea typeface="Calibri" pitchFamily="34" charset="-122"/>
                <a:cs typeface="Calibri" pitchFamily="34" charset="-120"/>
              </a:rPr>
              <a:t>Value each worker creates per unit of input</a:t>
            </a:r>
            <a:endParaRPr lang="en-US" sz="1300" dirty="0"/>
          </a:p>
          <a:p>
            <a:pPr marL="0" indent="0">
              <a:buNone/>
            </a:pPr>
            <a:endParaRPr lang="en-US" sz="1300" dirty="0"/>
          </a:p>
          <a:p>
            <a:pPr marL="342900" indent="-342900">
              <a:spcAft>
                <a:spcPts val="800"/>
              </a:spcAft>
              <a:buSzPct val="100000"/>
              <a:buChar char="•"/>
            </a:pPr>
            <a:r>
              <a:rPr lang="en-US" sz="1300" dirty="0">
                <a:solidFill>
                  <a:srgbClr val="28251D"/>
                </a:solidFill>
                <a:latin typeface="Calibri" pitchFamily="34" charset="0"/>
                <a:ea typeface="Calibri" pitchFamily="34" charset="-122"/>
                <a:cs typeface="Calibri" pitchFamily="34" charset="-120"/>
              </a:rPr>
              <a:t>Analogy: A baker with a wood-fired oven vs. one with an industrial oven — same hours, 10× the bread</a:t>
            </a:r>
            <a:endParaRPr lang="en-US" sz="1300" dirty="0"/>
          </a:p>
          <a:p>
            <a:pPr marL="342900" indent="-342900">
              <a:spcAft>
                <a:spcPts val="800"/>
              </a:spcAft>
              <a:buSzPct val="100000"/>
              <a:buChar char="•"/>
            </a:pPr>
            <a:r>
              <a:rPr lang="en-US" sz="1300" dirty="0">
                <a:solidFill>
                  <a:srgbClr val="28251D"/>
                </a:solidFill>
                <a:latin typeface="Calibri" pitchFamily="34" charset="0"/>
                <a:ea typeface="Calibri" pitchFamily="34" charset="-122"/>
                <a:cs typeface="Calibri" pitchFamily="34" charset="-120"/>
              </a:rPr>
              <a:t>U.S. workers have more than doubled productivity since 1977</a:t>
            </a:r>
            <a:endParaRPr lang="en-US" sz="1300" dirty="0"/>
          </a:p>
          <a:p>
            <a:pPr marL="0" indent="0">
              <a:spcAft>
                <a:spcPts val="800"/>
              </a:spcAft>
              <a:buNone/>
            </a:pPr>
            <a:r>
              <a:rPr lang="en-US" sz="1200" i="1" dirty="0">
                <a:solidFill>
                  <a:srgbClr val="A84B2F"/>
                </a:solidFill>
                <a:latin typeface="Calibri" pitchFamily="34" charset="0"/>
                <a:ea typeface="Calibri" pitchFamily="34" charset="-122"/>
                <a:cs typeface="Calibri" pitchFamily="34" charset="-120"/>
              </a:rPr>
              <a:t>In the long run, productivity per hour is the most important determinant of the average wage level</a:t>
            </a:r>
            <a:endParaRPr lang="en-US" sz="1300" dirty="0"/>
          </a:p>
        </p:txBody>
      </p:sp>
      <p:sp>
        <p:nvSpPr>
          <p:cNvPr id="5" name="Shape 2">
            <a:extLst>
              <a:ext uri="{C183D7F6-B498-43B3-948B-1728B52AA6E4}">
                <adec:decorative xmlns:adec="http://schemas.microsoft.com/office/drawing/2017/decorative" val="1"/>
              </a:ext>
            </a:extLst>
          </p:cNvPr>
          <p:cNvSpPr/>
          <p:nvPr/>
        </p:nvSpPr>
        <p:spPr>
          <a:xfrm>
            <a:off x="457200" y="3474720"/>
            <a:ext cx="8229600" cy="914400"/>
          </a:xfrm>
          <a:prstGeom prst="roundRect">
            <a:avLst>
              <a:gd name="adj" fmla="val 10000"/>
            </a:avLst>
          </a:prstGeom>
          <a:solidFill>
            <a:srgbClr val="FFFFFF"/>
          </a:solidFill>
          <a:ln/>
          <a:effectLst>
            <a:outerShdw blurRad="50800" dist="25400" dir="9000000" algn="bl" rotWithShape="0">
              <a:srgbClr val="000000">
                <a:alpha val="6000"/>
              </a:srgbClr>
            </a:outerShdw>
          </a:effectLst>
        </p:spPr>
        <p:txBody>
          <a:bodyPr/>
          <a:lstStyle/>
          <a:p>
            <a:endParaRPr lang="en-US"/>
          </a:p>
        </p:txBody>
      </p:sp>
      <p:sp>
        <p:nvSpPr>
          <p:cNvPr id="6" name="Text 3"/>
          <p:cNvSpPr/>
          <p:nvPr/>
        </p:nvSpPr>
        <p:spPr>
          <a:xfrm>
            <a:off x="640080" y="3520440"/>
            <a:ext cx="7863840" cy="274320"/>
          </a:xfrm>
          <a:prstGeom prst="rect">
            <a:avLst/>
          </a:prstGeom>
          <a:noFill/>
          <a:ln/>
        </p:spPr>
        <p:txBody>
          <a:bodyPr wrap="square" lIns="0" tIns="0" rIns="0" bIns="0" rtlCol="0" anchor="ctr"/>
          <a:lstStyle/>
          <a:p>
            <a:pPr marL="0" indent="0">
              <a:buNone/>
            </a:pPr>
            <a:r>
              <a:rPr lang="en-US" sz="1200" b="1" dirty="0">
                <a:solidFill>
                  <a:srgbClr val="01696F"/>
                </a:solidFill>
                <a:latin typeface="Trebuchet MS" pitchFamily="34" charset="0"/>
                <a:ea typeface="Trebuchet MS" pitchFamily="34" charset="-122"/>
                <a:cs typeface="Trebuchet MS" pitchFamily="34" charset="-120"/>
              </a:rPr>
              <a:t>Aggregate Production Function</a:t>
            </a:r>
            <a:endParaRPr lang="en-US" sz="1200" dirty="0"/>
          </a:p>
        </p:txBody>
      </p:sp>
      <p:sp>
        <p:nvSpPr>
          <p:cNvPr id="7" name="Text 4"/>
          <p:cNvSpPr/>
          <p:nvPr/>
        </p:nvSpPr>
        <p:spPr>
          <a:xfrm>
            <a:off x="640080" y="3840480"/>
            <a:ext cx="7863840" cy="365760"/>
          </a:xfrm>
          <a:prstGeom prst="rect">
            <a:avLst/>
          </a:prstGeom>
          <a:noFill/>
          <a:ln/>
        </p:spPr>
        <p:txBody>
          <a:bodyPr wrap="square" lIns="0" tIns="0" rIns="0" bIns="0" rtlCol="0" anchor="ctr"/>
          <a:lstStyle/>
          <a:p>
            <a:pPr marL="0" indent="0" algn="ctr">
              <a:buNone/>
            </a:pPr>
            <a:r>
              <a:rPr lang="en-US" sz="1600" b="1" dirty="0">
                <a:solidFill>
                  <a:srgbClr val="28251D"/>
                </a:solidFill>
                <a:latin typeface="Calibri" pitchFamily="34" charset="0"/>
                <a:ea typeface="Calibri" pitchFamily="34" charset="-122"/>
                <a:cs typeface="Calibri" pitchFamily="34" charset="-120"/>
              </a:rPr>
              <a:t>Labor  +  Physical Capital  +  Human Capital  +  Technology   →   GDP</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a:effectLst/>
      </p:bgPr>
    </p:bg>
    <p:spTree>
      <p:nvGrpSpPr>
        <p:cNvPr id="1" name=""/>
        <p:cNvGrpSpPr/>
        <p:nvPr/>
      </p:nvGrpSpPr>
      <p:grpSpPr>
        <a:xfrm>
          <a:off x="0" y="0"/>
          <a:ext cx="0" cy="0"/>
          <a:chOff x="0" y="0"/>
          <a:chExt cx="0" cy="0"/>
        </a:xfrm>
      </p:grpSpPr>
      <p:sp>
        <p:nvSpPr>
          <p:cNvPr id="2" name="Text 0"/>
          <p:cNvSpPr>
            <a:spLocks noGrp="1"/>
          </p:cNvSpPr>
          <p:nvPr>
            <p:ph type="title" idx="4294967295"/>
          </p:nvPr>
        </p:nvSpPr>
        <p:spPr>
          <a:xfrm>
            <a:off x="457200" y="292608"/>
            <a:ext cx="8229600" cy="50292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696F"/>
                </a:solidFill>
                <a:effectLst/>
                <a:uLnTx/>
                <a:uFillTx/>
                <a:latin typeface="Trebuchet MS" pitchFamily="34" charset="0"/>
                <a:ea typeface="Trebuchet MS" pitchFamily="34" charset="-122"/>
                <a:cs typeface="Trebuchet MS" pitchFamily="34" charset="-120"/>
              </a:rPr>
              <a:t>The Four Ingredients of Economic Growth</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3" name="Shape 1">
            <a:extLst>
              <a:ext uri="{C183D7F6-B498-43B3-948B-1728B52AA6E4}">
                <adec:decorative xmlns:adec="http://schemas.microsoft.com/office/drawing/2017/decorative" val="1"/>
              </a:ext>
            </a:extLst>
          </p:cNvPr>
          <p:cNvSpPr/>
          <p:nvPr/>
        </p:nvSpPr>
        <p:spPr>
          <a:xfrm>
            <a:off x="457200" y="868680"/>
            <a:ext cx="3977640" cy="1691640"/>
          </a:xfrm>
          <a:prstGeom prst="roundRect">
            <a:avLst>
              <a:gd name="adj" fmla="val 5405"/>
            </a:avLst>
          </a:prstGeom>
          <a:solidFill>
            <a:srgbClr val="FFFFFF"/>
          </a:solidFill>
          <a:ln/>
          <a:effectLst>
            <a:outerShdw blurRad="50800" dist="25400" dir="9000000" algn="bl" rotWithShape="0">
              <a:srgbClr val="000000">
                <a:alpha val="6000"/>
              </a:srgbClr>
            </a:outerShdw>
          </a:effectLst>
        </p:spPr>
        <p:txBody>
          <a:bodyPr/>
          <a:lstStyle/>
          <a:p>
            <a:endParaRPr lang="en-US"/>
          </a:p>
        </p:txBody>
      </p:sp>
      <p:sp>
        <p:nvSpPr>
          <p:cNvPr id="4" name="Text 2"/>
          <p:cNvSpPr/>
          <p:nvPr/>
        </p:nvSpPr>
        <p:spPr>
          <a:xfrm>
            <a:off x="640080" y="978408"/>
            <a:ext cx="3611880" cy="320040"/>
          </a:xfrm>
          <a:prstGeom prst="rect">
            <a:avLst/>
          </a:prstGeom>
          <a:noFill/>
          <a:ln/>
        </p:spPr>
        <p:txBody>
          <a:bodyPr wrap="square" lIns="0" tIns="0" rIns="0" bIns="0" rtlCol="0" anchor="ctr"/>
          <a:lstStyle/>
          <a:p>
            <a:pPr marL="0" indent="0">
              <a:buNone/>
            </a:pPr>
            <a:r>
              <a:rPr lang="en-US" sz="1500" b="1" dirty="0">
                <a:solidFill>
                  <a:srgbClr val="01696F"/>
                </a:solidFill>
                <a:latin typeface="Trebuchet MS" pitchFamily="34" charset="0"/>
                <a:ea typeface="Trebuchet MS" pitchFamily="34" charset="-122"/>
                <a:cs typeface="Trebuchet MS" pitchFamily="34" charset="-120"/>
              </a:rPr>
              <a:t>Physical Capital</a:t>
            </a:r>
            <a:endParaRPr lang="en-US" sz="1500" dirty="0"/>
          </a:p>
        </p:txBody>
      </p:sp>
      <p:sp>
        <p:nvSpPr>
          <p:cNvPr id="5" name="Text 3"/>
          <p:cNvSpPr/>
          <p:nvPr/>
        </p:nvSpPr>
        <p:spPr>
          <a:xfrm>
            <a:off x="640080" y="1325880"/>
            <a:ext cx="3611880" cy="10972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28251D"/>
                </a:solidFill>
                <a:latin typeface="Calibri" pitchFamily="34" charset="0"/>
                <a:ea typeface="Calibri" pitchFamily="34" charset="-122"/>
                <a:cs typeface="Calibri" pitchFamily="34" charset="-120"/>
              </a:rPr>
              <a:t>Tools, machinery, infrastructure</a:t>
            </a:r>
            <a:endParaRPr lang="en-US" sz="1200" dirty="0"/>
          </a:p>
          <a:p>
            <a:pPr marL="342900" indent="-342900">
              <a:spcAft>
                <a:spcPts val="400"/>
              </a:spcAft>
              <a:buSzPct val="100000"/>
              <a:buChar char="•"/>
            </a:pPr>
            <a:r>
              <a:rPr lang="en-US" sz="1200" dirty="0">
                <a:solidFill>
                  <a:srgbClr val="28251D"/>
                </a:solidFill>
                <a:latin typeface="Calibri" pitchFamily="34" charset="0"/>
                <a:ea typeface="Calibri" pitchFamily="34" charset="-122"/>
                <a:cs typeface="Calibri" pitchFamily="34" charset="-120"/>
              </a:rPr>
              <a:t>U.S. worker today: ~3× the capital vs. 1950s</a:t>
            </a:r>
            <a:endParaRPr lang="en-US" sz="1200" dirty="0"/>
          </a:p>
          <a:p>
            <a:pPr marL="342900" indent="-342900">
              <a:spcAft>
                <a:spcPts val="400"/>
              </a:spcAft>
              <a:buSzPct val="100000"/>
              <a:buChar char="•"/>
            </a:pPr>
            <a:r>
              <a:rPr lang="en-US" sz="1200" dirty="0">
                <a:solidFill>
                  <a:srgbClr val="28251D"/>
                </a:solidFill>
                <a:latin typeface="Calibri" pitchFamily="34" charset="0"/>
                <a:ea typeface="Calibri" pitchFamily="34" charset="-122"/>
                <a:cs typeface="Calibri" pitchFamily="34" charset="-120"/>
              </a:rPr>
              <a:t>Faces diminishing returns</a:t>
            </a:r>
            <a:endParaRPr lang="en-US" sz="1200" dirty="0"/>
          </a:p>
        </p:txBody>
      </p:sp>
      <p:sp>
        <p:nvSpPr>
          <p:cNvPr id="6" name="Shape 4">
            <a:extLst>
              <a:ext uri="{C183D7F6-B498-43B3-948B-1728B52AA6E4}">
                <adec:decorative xmlns:adec="http://schemas.microsoft.com/office/drawing/2017/decorative" val="1"/>
              </a:ext>
            </a:extLst>
          </p:cNvPr>
          <p:cNvSpPr/>
          <p:nvPr/>
        </p:nvSpPr>
        <p:spPr>
          <a:xfrm>
            <a:off x="4709160" y="868680"/>
            <a:ext cx="3977640" cy="1691640"/>
          </a:xfrm>
          <a:prstGeom prst="roundRect">
            <a:avLst>
              <a:gd name="adj" fmla="val 5405"/>
            </a:avLst>
          </a:prstGeom>
          <a:solidFill>
            <a:srgbClr val="FFFFFF"/>
          </a:solidFill>
          <a:ln/>
          <a:effectLst>
            <a:outerShdw blurRad="50800" dist="25400" dir="9000000" algn="bl" rotWithShape="0">
              <a:srgbClr val="000000">
                <a:alpha val="6000"/>
              </a:srgbClr>
            </a:outerShdw>
          </a:effectLst>
        </p:spPr>
        <p:txBody>
          <a:bodyPr/>
          <a:lstStyle/>
          <a:p>
            <a:endParaRPr lang="en-US"/>
          </a:p>
        </p:txBody>
      </p:sp>
      <p:sp>
        <p:nvSpPr>
          <p:cNvPr id="7" name="Text 5"/>
          <p:cNvSpPr/>
          <p:nvPr/>
        </p:nvSpPr>
        <p:spPr>
          <a:xfrm>
            <a:off x="4892040" y="978408"/>
            <a:ext cx="3611880" cy="320040"/>
          </a:xfrm>
          <a:prstGeom prst="rect">
            <a:avLst/>
          </a:prstGeom>
          <a:noFill/>
          <a:ln/>
        </p:spPr>
        <p:txBody>
          <a:bodyPr wrap="square" lIns="0" tIns="0" rIns="0" bIns="0" rtlCol="0" anchor="ctr"/>
          <a:lstStyle/>
          <a:p>
            <a:pPr marL="0" indent="0">
              <a:buNone/>
            </a:pPr>
            <a:r>
              <a:rPr lang="en-US" sz="1500" b="1" dirty="0">
                <a:solidFill>
                  <a:srgbClr val="01696F"/>
                </a:solidFill>
                <a:latin typeface="Trebuchet MS" pitchFamily="34" charset="0"/>
                <a:ea typeface="Trebuchet MS" pitchFamily="34" charset="-122"/>
                <a:cs typeface="Trebuchet MS" pitchFamily="34" charset="-120"/>
              </a:rPr>
              <a:t>Human Capital</a:t>
            </a:r>
            <a:endParaRPr lang="en-US" sz="1500" dirty="0"/>
          </a:p>
        </p:txBody>
      </p:sp>
      <p:sp>
        <p:nvSpPr>
          <p:cNvPr id="8" name="Text 6"/>
          <p:cNvSpPr/>
          <p:nvPr/>
        </p:nvSpPr>
        <p:spPr>
          <a:xfrm>
            <a:off x="4892040" y="1325880"/>
            <a:ext cx="3611880" cy="10972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28251D"/>
                </a:solidFill>
                <a:latin typeface="Calibri" pitchFamily="34" charset="0"/>
                <a:ea typeface="Calibri" pitchFamily="34" charset="-122"/>
                <a:cs typeface="Calibri" pitchFamily="34" charset="-120"/>
              </a:rPr>
              <a:t>Education, skills, experience</a:t>
            </a:r>
            <a:endParaRPr lang="en-US" sz="1200" dirty="0"/>
          </a:p>
          <a:p>
            <a:pPr marL="342900" indent="-342900">
              <a:spcAft>
                <a:spcPts val="400"/>
              </a:spcAft>
              <a:buSzPct val="100000"/>
              <a:buChar char="•"/>
            </a:pPr>
            <a:r>
              <a:rPr lang="en-US" sz="1200" dirty="0">
                <a:solidFill>
                  <a:srgbClr val="28251D"/>
                </a:solidFill>
                <a:latin typeface="Calibri" pitchFamily="34" charset="0"/>
                <a:ea typeface="Calibri" pitchFamily="34" charset="-122"/>
                <a:cs typeface="Calibri" pitchFamily="34" charset="-120"/>
              </a:rPr>
              <a:t>U.S. HS graduation: 50% (1970) → 80%+ (2000s)</a:t>
            </a:r>
            <a:endParaRPr lang="en-US" sz="1200" dirty="0"/>
          </a:p>
          <a:p>
            <a:pPr marL="342900" indent="-342900">
              <a:spcAft>
                <a:spcPts val="400"/>
              </a:spcAft>
              <a:buSzPct val="100000"/>
              <a:buChar char="•"/>
            </a:pPr>
            <a:r>
              <a:rPr lang="en-US" sz="1200" dirty="0">
                <a:solidFill>
                  <a:srgbClr val="28251D"/>
                </a:solidFill>
                <a:latin typeface="Calibri" pitchFamily="34" charset="0"/>
                <a:ea typeface="Calibri" pitchFamily="34" charset="-122"/>
                <a:cs typeface="Calibri" pitchFamily="34" charset="-120"/>
              </a:rPr>
              <a:t>Each extra year of education → 10-20% higher wages</a:t>
            </a:r>
            <a:endParaRPr lang="en-US" sz="1200" dirty="0"/>
          </a:p>
        </p:txBody>
      </p:sp>
      <p:sp>
        <p:nvSpPr>
          <p:cNvPr id="9" name="Shape 7">
            <a:extLst>
              <a:ext uri="{C183D7F6-B498-43B3-948B-1728B52AA6E4}">
                <adec:decorative xmlns:adec="http://schemas.microsoft.com/office/drawing/2017/decorative" val="1"/>
              </a:ext>
            </a:extLst>
          </p:cNvPr>
          <p:cNvSpPr/>
          <p:nvPr/>
        </p:nvSpPr>
        <p:spPr>
          <a:xfrm>
            <a:off x="457200" y="2788920"/>
            <a:ext cx="3977640" cy="1691640"/>
          </a:xfrm>
          <a:prstGeom prst="roundRect">
            <a:avLst>
              <a:gd name="adj" fmla="val 5405"/>
            </a:avLst>
          </a:prstGeom>
          <a:solidFill>
            <a:srgbClr val="FFFFFF"/>
          </a:solidFill>
          <a:ln/>
          <a:effectLst>
            <a:outerShdw blurRad="50800" dist="25400" dir="9000000" algn="bl" rotWithShape="0">
              <a:srgbClr val="000000">
                <a:alpha val="6000"/>
              </a:srgbClr>
            </a:outerShdw>
          </a:effectLst>
        </p:spPr>
        <p:txBody>
          <a:bodyPr/>
          <a:lstStyle/>
          <a:p>
            <a:endParaRPr lang="en-US"/>
          </a:p>
        </p:txBody>
      </p:sp>
      <p:sp>
        <p:nvSpPr>
          <p:cNvPr id="10" name="Text 8"/>
          <p:cNvSpPr/>
          <p:nvPr/>
        </p:nvSpPr>
        <p:spPr>
          <a:xfrm>
            <a:off x="640080" y="2898648"/>
            <a:ext cx="3611880" cy="320040"/>
          </a:xfrm>
          <a:prstGeom prst="rect">
            <a:avLst/>
          </a:prstGeom>
          <a:noFill/>
          <a:ln/>
        </p:spPr>
        <p:txBody>
          <a:bodyPr wrap="square" lIns="0" tIns="0" rIns="0" bIns="0" rtlCol="0" anchor="ctr"/>
          <a:lstStyle/>
          <a:p>
            <a:pPr marL="0" indent="0">
              <a:buNone/>
            </a:pPr>
            <a:r>
              <a:rPr lang="en-US" sz="1500" b="1" dirty="0">
                <a:solidFill>
                  <a:srgbClr val="01696F"/>
                </a:solidFill>
                <a:latin typeface="Trebuchet MS" pitchFamily="34" charset="0"/>
                <a:ea typeface="Trebuchet MS" pitchFamily="34" charset="-122"/>
                <a:cs typeface="Trebuchet MS" pitchFamily="34" charset="-120"/>
              </a:rPr>
              <a:t>Technology &amp; Innovation</a:t>
            </a:r>
            <a:endParaRPr lang="en-US" sz="1500" dirty="0"/>
          </a:p>
        </p:txBody>
      </p:sp>
      <p:sp>
        <p:nvSpPr>
          <p:cNvPr id="11" name="Text 9"/>
          <p:cNvSpPr/>
          <p:nvPr/>
        </p:nvSpPr>
        <p:spPr>
          <a:xfrm>
            <a:off x="640080" y="3246120"/>
            <a:ext cx="3611880" cy="10972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28251D"/>
                </a:solidFill>
                <a:latin typeface="Calibri" pitchFamily="34" charset="0"/>
                <a:ea typeface="Calibri" pitchFamily="34" charset="-122"/>
                <a:cs typeface="Calibri" pitchFamily="34" charset="-120"/>
              </a:rPr>
              <a:t>"The joker in the deck" — unlimited growth</a:t>
            </a:r>
            <a:endParaRPr lang="en-US" sz="1200" dirty="0"/>
          </a:p>
          <a:p>
            <a:pPr marL="342900" indent="-342900">
              <a:spcAft>
                <a:spcPts val="400"/>
              </a:spcAft>
              <a:buSzPct val="100000"/>
              <a:buChar char="•"/>
            </a:pPr>
            <a:r>
              <a:rPr lang="en-US" sz="1200" dirty="0">
                <a:solidFill>
                  <a:srgbClr val="28251D"/>
                </a:solidFill>
                <a:latin typeface="Calibri" pitchFamily="34" charset="0"/>
                <a:ea typeface="Calibri" pitchFamily="34" charset="-122"/>
                <a:cs typeface="Calibri" pitchFamily="34" charset="-120"/>
              </a:rPr>
              <a:t>Ideas don't depreciate, can be shared freely</a:t>
            </a:r>
            <a:endParaRPr lang="en-US" sz="1200" dirty="0"/>
          </a:p>
          <a:p>
            <a:pPr marL="342900" indent="-342900">
              <a:spcAft>
                <a:spcPts val="400"/>
              </a:spcAft>
              <a:buSzPct val="100000"/>
              <a:buChar char="•"/>
            </a:pPr>
            <a:r>
              <a:rPr lang="en-US" sz="1200" dirty="0">
                <a:solidFill>
                  <a:srgbClr val="28251D"/>
                </a:solidFill>
                <a:latin typeface="Calibri" pitchFamily="34" charset="0"/>
                <a:ea typeface="Calibri" pitchFamily="34" charset="-122"/>
                <a:cs typeface="Calibri" pitchFamily="34" charset="-120"/>
              </a:rPr>
              <a:t>U.S. issues &gt;150,000 patents annually</a:t>
            </a:r>
            <a:endParaRPr lang="en-US" sz="1200" dirty="0"/>
          </a:p>
        </p:txBody>
      </p:sp>
      <p:sp>
        <p:nvSpPr>
          <p:cNvPr id="12" name="Shape 10">
            <a:extLst>
              <a:ext uri="{C183D7F6-B498-43B3-948B-1728B52AA6E4}">
                <adec:decorative xmlns:adec="http://schemas.microsoft.com/office/drawing/2017/decorative" val="1"/>
              </a:ext>
            </a:extLst>
          </p:cNvPr>
          <p:cNvSpPr/>
          <p:nvPr/>
        </p:nvSpPr>
        <p:spPr>
          <a:xfrm>
            <a:off x="4709160" y="2788920"/>
            <a:ext cx="3977640" cy="1691640"/>
          </a:xfrm>
          <a:prstGeom prst="roundRect">
            <a:avLst>
              <a:gd name="adj" fmla="val 5405"/>
            </a:avLst>
          </a:prstGeom>
          <a:solidFill>
            <a:srgbClr val="FFFFFF"/>
          </a:solidFill>
          <a:ln/>
          <a:effectLst>
            <a:outerShdw blurRad="50800" dist="25400" dir="9000000" algn="bl" rotWithShape="0">
              <a:srgbClr val="000000">
                <a:alpha val="6000"/>
              </a:srgbClr>
            </a:outerShdw>
          </a:effectLst>
        </p:spPr>
        <p:txBody>
          <a:bodyPr/>
          <a:lstStyle/>
          <a:p>
            <a:endParaRPr lang="en-US"/>
          </a:p>
        </p:txBody>
      </p:sp>
      <p:sp>
        <p:nvSpPr>
          <p:cNvPr id="13" name="Text 11"/>
          <p:cNvSpPr/>
          <p:nvPr/>
        </p:nvSpPr>
        <p:spPr>
          <a:xfrm>
            <a:off x="4892040" y="2898648"/>
            <a:ext cx="3611880" cy="320040"/>
          </a:xfrm>
          <a:prstGeom prst="rect">
            <a:avLst/>
          </a:prstGeom>
          <a:noFill/>
          <a:ln/>
        </p:spPr>
        <p:txBody>
          <a:bodyPr wrap="square" lIns="0" tIns="0" rIns="0" bIns="0" rtlCol="0" anchor="ctr"/>
          <a:lstStyle/>
          <a:p>
            <a:pPr marL="0" indent="0">
              <a:buNone/>
            </a:pPr>
            <a:r>
              <a:rPr lang="en-US" sz="1500" b="1" dirty="0">
                <a:solidFill>
                  <a:srgbClr val="01696F"/>
                </a:solidFill>
                <a:latin typeface="Trebuchet MS" pitchFamily="34" charset="0"/>
                <a:ea typeface="Trebuchet MS" pitchFamily="34" charset="-122"/>
                <a:cs typeface="Trebuchet MS" pitchFamily="34" charset="-120"/>
              </a:rPr>
              <a:t>Specialization &amp; Trade</a:t>
            </a:r>
            <a:endParaRPr lang="en-US" sz="1500" dirty="0"/>
          </a:p>
        </p:txBody>
      </p:sp>
      <p:sp>
        <p:nvSpPr>
          <p:cNvPr id="14" name="Text 12"/>
          <p:cNvSpPr/>
          <p:nvPr/>
        </p:nvSpPr>
        <p:spPr>
          <a:xfrm>
            <a:off x="4892040" y="3246120"/>
            <a:ext cx="3611880" cy="10972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28251D"/>
                </a:solidFill>
                <a:latin typeface="Calibri" pitchFamily="34" charset="0"/>
                <a:ea typeface="Calibri" pitchFamily="34" charset="-122"/>
                <a:cs typeface="Calibri" pitchFamily="34" charset="-120"/>
              </a:rPr>
              <a:t>Comparative advantage → gains from trade</a:t>
            </a:r>
            <a:endParaRPr lang="en-US" sz="1200" dirty="0"/>
          </a:p>
          <a:p>
            <a:pPr marL="342900" indent="-342900">
              <a:spcAft>
                <a:spcPts val="400"/>
              </a:spcAft>
              <a:buSzPct val="100000"/>
              <a:buChar char="•"/>
            </a:pPr>
            <a:r>
              <a:rPr lang="en-US" sz="1200" dirty="0">
                <a:solidFill>
                  <a:srgbClr val="28251D"/>
                </a:solidFill>
                <a:latin typeface="Calibri" pitchFamily="34" charset="0"/>
                <a:ea typeface="Calibri" pitchFamily="34" charset="-122"/>
                <a:cs typeface="Calibri" pitchFamily="34" charset="-120"/>
              </a:rPr>
              <a:t>Access to larger markets → economies of scale</a:t>
            </a:r>
            <a:endParaRPr lang="en-US" sz="1200" dirty="0"/>
          </a:p>
          <a:p>
            <a:pPr marL="342900" indent="-342900">
              <a:spcAft>
                <a:spcPts val="400"/>
              </a:spcAft>
              <a:buSzPct val="100000"/>
              <a:buChar char="•"/>
            </a:pPr>
            <a:r>
              <a:rPr lang="en-US" sz="1200" dirty="0">
                <a:solidFill>
                  <a:srgbClr val="28251D"/>
                </a:solidFill>
                <a:latin typeface="Calibri" pitchFamily="34" charset="0"/>
                <a:ea typeface="Calibri" pitchFamily="34" charset="-122"/>
                <a:cs typeface="Calibri" pitchFamily="34" charset="-120"/>
              </a:rPr>
              <a:t>Economic freedom enables all of the above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a:effectLst/>
      </p:bgPr>
    </p:bg>
    <p:spTree>
      <p:nvGrpSpPr>
        <p:cNvPr id="1" name=""/>
        <p:cNvGrpSpPr/>
        <p:nvPr/>
      </p:nvGrpSpPr>
      <p:grpSpPr>
        <a:xfrm>
          <a:off x="0" y="0"/>
          <a:ext cx="0" cy="0"/>
          <a:chOff x="0" y="0"/>
          <a:chExt cx="0" cy="0"/>
        </a:xfrm>
      </p:grpSpPr>
      <p:sp>
        <p:nvSpPr>
          <p:cNvPr id="2" name="Text 0"/>
          <p:cNvSpPr>
            <a:spLocks noGrp="1"/>
          </p:cNvSpPr>
          <p:nvPr>
            <p:ph type="title" idx="4294967295"/>
          </p:nvPr>
        </p:nvSpPr>
        <p:spPr>
          <a:xfrm>
            <a:off x="457200" y="457200"/>
            <a:ext cx="8229600" cy="54864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01696F"/>
                </a:solidFill>
                <a:effectLst/>
                <a:uLnTx/>
                <a:uFillTx/>
                <a:latin typeface="Trebuchet MS" pitchFamily="34" charset="0"/>
                <a:ea typeface="Trebuchet MS" pitchFamily="34" charset="-122"/>
                <a:cs typeface="Trebuchet MS" pitchFamily="34" charset="-120"/>
              </a:rPr>
              <a:t>What Matters Most? Growth Accounting</a:t>
            </a:r>
            <a:endParaRPr kumimoji="0" lang="en-US" sz="3000" b="0" i="0" u="none" strike="noStrike" kern="1200" cap="none" spc="0" normalizeH="0" baseline="0" noProof="0" dirty="0">
              <a:ln>
                <a:noFill/>
              </a:ln>
              <a:solidFill>
                <a:schemeClr val="tx1"/>
              </a:solidFill>
              <a:effectLst/>
              <a:uLnTx/>
              <a:uFillTx/>
              <a:latin typeface="+mn-lt"/>
              <a:ea typeface="+mn-ea"/>
              <a:cs typeface="+mn-cs"/>
            </a:endParaRPr>
          </a:p>
        </p:txBody>
      </p:sp>
      <p:sp>
        <p:nvSpPr>
          <p:cNvPr id="3" name="Shape 1" descr="Technology is the largest contributor to growth&#10;"/>
          <p:cNvSpPr/>
          <p:nvPr/>
        </p:nvSpPr>
        <p:spPr>
          <a:xfrm>
            <a:off x="457200" y="1005840"/>
            <a:ext cx="2560320" cy="1280160"/>
          </a:xfrm>
          <a:prstGeom prst="roundRect">
            <a:avLst>
              <a:gd name="adj" fmla="val 7143"/>
            </a:avLst>
          </a:prstGeom>
          <a:solidFill>
            <a:srgbClr val="FFFFFF"/>
          </a:solidFill>
          <a:ln/>
          <a:effectLst>
            <a:outerShdw blurRad="50800" dist="25400" dir="9000000" algn="bl" rotWithShape="0">
              <a:srgbClr val="000000">
                <a:alpha val="6000"/>
              </a:srgbClr>
            </a:outerShdw>
          </a:effectLst>
        </p:spPr>
        <p:txBody>
          <a:bodyPr/>
          <a:lstStyle/>
          <a:p>
            <a:endParaRPr lang="en-US"/>
          </a:p>
        </p:txBody>
      </p:sp>
      <p:sp>
        <p:nvSpPr>
          <p:cNvPr id="4" name="Text 2"/>
          <p:cNvSpPr/>
          <p:nvPr/>
        </p:nvSpPr>
        <p:spPr>
          <a:xfrm>
            <a:off x="457200" y="1051560"/>
            <a:ext cx="2560320" cy="640080"/>
          </a:xfrm>
          <a:prstGeom prst="rect">
            <a:avLst/>
          </a:prstGeom>
          <a:noFill/>
          <a:ln/>
        </p:spPr>
        <p:txBody>
          <a:bodyPr wrap="square" lIns="0" tIns="0" rIns="0" bIns="0" rtlCol="0" anchor="ctr"/>
          <a:lstStyle/>
          <a:p>
            <a:pPr marL="0" indent="0" algn="ctr">
              <a:buNone/>
            </a:pPr>
            <a:r>
              <a:rPr lang="en-US" sz="3600" b="1" dirty="0">
                <a:solidFill>
                  <a:srgbClr val="01696F"/>
                </a:solidFill>
                <a:latin typeface="Trebuchet MS" pitchFamily="34" charset="0"/>
                <a:ea typeface="Trebuchet MS" pitchFamily="34" charset="-122"/>
                <a:cs typeface="Trebuchet MS" pitchFamily="34" charset="-120"/>
              </a:rPr>
              <a:t>#1</a:t>
            </a:r>
            <a:endParaRPr lang="en-US" sz="3600" dirty="0"/>
          </a:p>
        </p:txBody>
      </p:sp>
      <p:sp>
        <p:nvSpPr>
          <p:cNvPr id="5" name="Text 3"/>
          <p:cNvSpPr/>
          <p:nvPr/>
        </p:nvSpPr>
        <p:spPr>
          <a:xfrm>
            <a:off x="594360" y="1691640"/>
            <a:ext cx="2286000" cy="502920"/>
          </a:xfrm>
          <a:prstGeom prst="rect">
            <a:avLst/>
          </a:prstGeom>
          <a:noFill/>
          <a:ln/>
        </p:spPr>
        <p:txBody>
          <a:bodyPr wrap="square" lIns="0" tIns="0" rIns="0" bIns="0" rtlCol="0" anchor="ctr"/>
          <a:lstStyle/>
          <a:p>
            <a:pPr marL="0" indent="0" algn="ctr">
              <a:buNone/>
            </a:pPr>
            <a:r>
              <a:rPr lang="en-US" sz="1100" dirty="0">
                <a:latin typeface="Calibri" pitchFamily="34" charset="0"/>
                <a:ea typeface="Calibri" pitchFamily="34" charset="-122"/>
                <a:cs typeface="Calibri" pitchFamily="34" charset="-120"/>
              </a:rPr>
              <a:t>Technology is the largest contributor to growth</a:t>
            </a:r>
            <a:endParaRPr lang="en-US" sz="1100" dirty="0"/>
          </a:p>
        </p:txBody>
      </p:sp>
      <p:sp>
        <p:nvSpPr>
          <p:cNvPr id="6" name="Shape 4" descr="Physical + human capital explain at most half&#10;"/>
          <p:cNvSpPr/>
          <p:nvPr/>
        </p:nvSpPr>
        <p:spPr>
          <a:xfrm>
            <a:off x="3291840" y="1005840"/>
            <a:ext cx="2560320" cy="1280160"/>
          </a:xfrm>
          <a:prstGeom prst="roundRect">
            <a:avLst>
              <a:gd name="adj" fmla="val 7143"/>
            </a:avLst>
          </a:prstGeom>
          <a:solidFill>
            <a:srgbClr val="FFFFFF"/>
          </a:solidFill>
          <a:ln/>
          <a:effectLst>
            <a:outerShdw blurRad="50800" dist="25400" dir="9000000" algn="bl" rotWithShape="0">
              <a:srgbClr val="000000">
                <a:alpha val="6000"/>
              </a:srgbClr>
            </a:outerShdw>
          </a:effectLst>
        </p:spPr>
        <p:txBody>
          <a:bodyPr/>
          <a:lstStyle/>
          <a:p>
            <a:endParaRPr lang="en-US"/>
          </a:p>
        </p:txBody>
      </p:sp>
      <p:sp>
        <p:nvSpPr>
          <p:cNvPr id="7" name="Text 5"/>
          <p:cNvSpPr/>
          <p:nvPr/>
        </p:nvSpPr>
        <p:spPr>
          <a:xfrm>
            <a:off x="3291840" y="1051560"/>
            <a:ext cx="2560320" cy="640080"/>
          </a:xfrm>
          <a:prstGeom prst="rect">
            <a:avLst/>
          </a:prstGeom>
          <a:noFill/>
          <a:ln/>
        </p:spPr>
        <p:txBody>
          <a:bodyPr wrap="square" lIns="0" tIns="0" rIns="0" bIns="0" rtlCol="0" anchor="ctr"/>
          <a:lstStyle/>
          <a:p>
            <a:pPr marL="0" indent="0" algn="ctr">
              <a:buNone/>
            </a:pPr>
            <a:r>
              <a:rPr lang="en-US" sz="3600" b="1" dirty="0">
                <a:solidFill>
                  <a:srgbClr val="A84B2F"/>
                </a:solidFill>
                <a:latin typeface="Trebuchet MS" pitchFamily="34" charset="0"/>
                <a:ea typeface="Trebuchet MS" pitchFamily="34" charset="-122"/>
                <a:cs typeface="Trebuchet MS" pitchFamily="34" charset="-120"/>
              </a:rPr>
              <a:t>≤50%</a:t>
            </a:r>
            <a:endParaRPr lang="en-US" sz="3600" dirty="0"/>
          </a:p>
        </p:txBody>
      </p:sp>
      <p:sp>
        <p:nvSpPr>
          <p:cNvPr id="8" name="Text 6"/>
          <p:cNvSpPr/>
          <p:nvPr/>
        </p:nvSpPr>
        <p:spPr>
          <a:xfrm>
            <a:off x="3429000" y="1691640"/>
            <a:ext cx="2286000" cy="502920"/>
          </a:xfrm>
          <a:prstGeom prst="rect">
            <a:avLst/>
          </a:prstGeom>
          <a:noFill/>
          <a:ln/>
        </p:spPr>
        <p:txBody>
          <a:bodyPr wrap="square" lIns="0" tIns="0" rIns="0" bIns="0" rtlCol="0" anchor="ctr"/>
          <a:lstStyle/>
          <a:p>
            <a:pPr marL="0" indent="0" algn="ctr">
              <a:buNone/>
            </a:pPr>
            <a:r>
              <a:rPr lang="en-US" sz="1100" dirty="0">
                <a:latin typeface="Calibri" pitchFamily="34" charset="0"/>
                <a:ea typeface="Calibri" pitchFamily="34" charset="-122"/>
                <a:cs typeface="Calibri" pitchFamily="34" charset="-120"/>
              </a:rPr>
              <a:t>Physical + human capital explain at most half</a:t>
            </a:r>
            <a:endParaRPr lang="en-US" sz="1100" dirty="0"/>
          </a:p>
        </p:txBody>
      </p:sp>
      <p:sp>
        <p:nvSpPr>
          <p:cNvPr id="9" name="Shape 7" descr="Human capital is at least as important as physical capital&#10;"/>
          <p:cNvSpPr/>
          <p:nvPr/>
        </p:nvSpPr>
        <p:spPr>
          <a:xfrm>
            <a:off x="6126480" y="1005840"/>
            <a:ext cx="2560320" cy="1280160"/>
          </a:xfrm>
          <a:prstGeom prst="roundRect">
            <a:avLst>
              <a:gd name="adj" fmla="val 7143"/>
            </a:avLst>
          </a:prstGeom>
          <a:solidFill>
            <a:srgbClr val="FFFFFF"/>
          </a:solidFill>
          <a:ln/>
          <a:effectLst>
            <a:outerShdw blurRad="50800" dist="25400" dir="9000000" algn="bl" rotWithShape="0">
              <a:srgbClr val="000000">
                <a:alpha val="6000"/>
              </a:srgbClr>
            </a:outerShdw>
          </a:effectLst>
        </p:spPr>
        <p:txBody>
          <a:bodyPr/>
          <a:lstStyle/>
          <a:p>
            <a:endParaRPr lang="en-US"/>
          </a:p>
        </p:txBody>
      </p:sp>
      <p:sp>
        <p:nvSpPr>
          <p:cNvPr id="10" name="Text 8"/>
          <p:cNvSpPr/>
          <p:nvPr/>
        </p:nvSpPr>
        <p:spPr>
          <a:xfrm>
            <a:off x="6126480" y="1051560"/>
            <a:ext cx="2560320" cy="640080"/>
          </a:xfrm>
          <a:prstGeom prst="rect">
            <a:avLst/>
          </a:prstGeom>
          <a:noFill/>
          <a:ln/>
        </p:spPr>
        <p:txBody>
          <a:bodyPr wrap="square" lIns="0" tIns="0" rIns="0" bIns="0" rtlCol="0" anchor="ctr"/>
          <a:lstStyle/>
          <a:p>
            <a:pPr marL="0" indent="0" algn="ctr">
              <a:buNone/>
            </a:pPr>
            <a:r>
              <a:rPr lang="en-US" sz="3600" b="1" dirty="0">
                <a:solidFill>
                  <a:srgbClr val="01696F"/>
                </a:solidFill>
                <a:latin typeface="Trebuchet MS" pitchFamily="34" charset="0"/>
                <a:ea typeface="Trebuchet MS" pitchFamily="34" charset="-122"/>
                <a:cs typeface="Trebuchet MS" pitchFamily="34" charset="-120"/>
              </a:rPr>
              <a:t>=</a:t>
            </a:r>
            <a:endParaRPr lang="en-US" sz="3600" dirty="0"/>
          </a:p>
        </p:txBody>
      </p:sp>
      <p:sp>
        <p:nvSpPr>
          <p:cNvPr id="11" name="Text 9"/>
          <p:cNvSpPr/>
          <p:nvPr/>
        </p:nvSpPr>
        <p:spPr>
          <a:xfrm>
            <a:off x="6263640" y="1691640"/>
            <a:ext cx="2286000" cy="502920"/>
          </a:xfrm>
          <a:prstGeom prst="rect">
            <a:avLst/>
          </a:prstGeom>
          <a:noFill/>
          <a:ln/>
        </p:spPr>
        <p:txBody>
          <a:bodyPr wrap="square" lIns="0" tIns="0" rIns="0" bIns="0" rtlCol="0" anchor="ctr"/>
          <a:lstStyle/>
          <a:p>
            <a:pPr marL="0" indent="0" algn="ctr">
              <a:buNone/>
            </a:pPr>
            <a:r>
              <a:rPr lang="en-US" sz="1100" dirty="0">
                <a:latin typeface="Calibri" pitchFamily="34" charset="0"/>
                <a:ea typeface="Calibri" pitchFamily="34" charset="-122"/>
                <a:cs typeface="Calibri" pitchFamily="34" charset="-120"/>
              </a:rPr>
              <a:t>Human capital is at least as important as physical capital</a:t>
            </a:r>
            <a:endParaRPr lang="en-US" sz="1100" dirty="0"/>
          </a:p>
        </p:txBody>
      </p:sp>
      <p:sp>
        <p:nvSpPr>
          <p:cNvPr id="12" name="Text 10"/>
          <p:cNvSpPr/>
          <p:nvPr/>
        </p:nvSpPr>
        <p:spPr>
          <a:xfrm>
            <a:off x="457200" y="2514600"/>
            <a:ext cx="8229600" cy="20116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8251D"/>
                </a:solidFill>
                <a:latin typeface="Calibri" pitchFamily="34" charset="0"/>
                <a:ea typeface="Calibri" pitchFamily="34" charset="-122"/>
                <a:cs typeface="Calibri" pitchFamily="34" charset="-120"/>
              </a:rPr>
              <a:t>Growth accounting studies (since late 1950s) decompose GDP growth into its sources</a:t>
            </a:r>
            <a:endParaRPr lang="en-US" sz="1300" dirty="0"/>
          </a:p>
          <a:p>
            <a:pPr marL="342900" indent="-342900">
              <a:spcAft>
                <a:spcPts val="800"/>
              </a:spcAft>
              <a:buSzPct val="100000"/>
              <a:buChar char="•"/>
            </a:pPr>
            <a:r>
              <a:rPr lang="en-US" sz="1300" dirty="0">
                <a:solidFill>
                  <a:srgbClr val="28251D"/>
                </a:solidFill>
                <a:latin typeface="Calibri" pitchFamily="34" charset="0"/>
                <a:ea typeface="Calibri" pitchFamily="34" charset="-122"/>
                <a:cs typeface="Calibri" pitchFamily="34" charset="-120"/>
              </a:rPr>
              <a:t>Lesson: You can't just build roads and factories — you need ideas</a:t>
            </a:r>
            <a:endParaRPr lang="en-US" sz="1300" dirty="0"/>
          </a:p>
          <a:p>
            <a:pPr marL="342900" indent="-342900">
              <a:spcAft>
                <a:spcPts val="800"/>
              </a:spcAft>
              <a:buSzPct val="100000"/>
              <a:buChar char="•"/>
            </a:pPr>
            <a:r>
              <a:rPr lang="en-US" sz="1300" dirty="0">
                <a:solidFill>
                  <a:srgbClr val="28251D"/>
                </a:solidFill>
                <a:latin typeface="Calibri" pitchFamily="34" charset="0"/>
                <a:ea typeface="Calibri" pitchFamily="34" charset="-122"/>
                <a:cs typeface="Calibri" pitchFamily="34" charset="-120"/>
              </a:rPr>
              <a:t>A restaurant needs a kitchen (physical capital) and trained chefs (human capital), but the recipe (technology) is what makes it Michelin-star</a:t>
            </a:r>
            <a:endParaRPr lang="en-US" sz="1300" dirty="0"/>
          </a:p>
          <a:p>
            <a:pPr marL="342900" indent="-342900">
              <a:spcAft>
                <a:spcPts val="800"/>
              </a:spcAft>
              <a:buSzPct val="100000"/>
              <a:buChar char="•"/>
            </a:pPr>
            <a:r>
              <a:rPr lang="en-US" sz="1300" dirty="0">
                <a:solidFill>
                  <a:srgbClr val="28251D"/>
                </a:solidFill>
                <a:latin typeface="Calibri" pitchFamily="34" charset="0"/>
                <a:ea typeface="Calibri" pitchFamily="34" charset="-122"/>
                <a:cs typeface="Calibri" pitchFamily="34" charset="-120"/>
              </a:rPr>
              <a:t>All three factors reinforce each other in a virtuous cycle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a:effectLst/>
      </p:bgPr>
    </p:bg>
    <p:spTree>
      <p:nvGrpSpPr>
        <p:cNvPr id="1" name=""/>
        <p:cNvGrpSpPr/>
        <p:nvPr/>
      </p:nvGrpSpPr>
      <p:grpSpPr>
        <a:xfrm>
          <a:off x="0" y="0"/>
          <a:ext cx="0" cy="0"/>
          <a:chOff x="0" y="0"/>
          <a:chExt cx="0" cy="0"/>
        </a:xfrm>
      </p:grpSpPr>
      <p:sp>
        <p:nvSpPr>
          <p:cNvPr id="2" name="Text 0"/>
          <p:cNvSpPr>
            <a:spLocks noGrp="1"/>
          </p:cNvSpPr>
          <p:nvPr>
            <p:ph type="title" idx="4294967295"/>
          </p:nvPr>
        </p:nvSpPr>
        <p:spPr>
          <a:xfrm>
            <a:off x="457200" y="365760"/>
            <a:ext cx="8229600" cy="54864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01696F"/>
                </a:solidFill>
                <a:effectLst/>
                <a:uLnTx/>
                <a:uFillTx/>
                <a:latin typeface="Trebuchet MS" pitchFamily="34" charset="0"/>
                <a:ea typeface="Trebuchet MS" pitchFamily="34" charset="-122"/>
                <a:cs typeface="Trebuchet MS" pitchFamily="34" charset="-120"/>
              </a:rPr>
              <a:t>Why Even 1% Growth Matters</a:t>
            </a:r>
            <a:endParaRPr kumimoji="0" lang="en-US" sz="3000" b="0" i="0" u="none" strike="noStrike" kern="1200" cap="none" spc="0" normalizeH="0" baseline="0" noProof="0" dirty="0">
              <a:ln>
                <a:noFill/>
              </a:ln>
              <a:solidFill>
                <a:schemeClr val="tx1"/>
              </a:solidFill>
              <a:effectLst/>
              <a:uLnTx/>
              <a:uFillTx/>
              <a:latin typeface="+mn-lt"/>
              <a:ea typeface="+mn-ea"/>
              <a:cs typeface="+mn-cs"/>
            </a:endParaRPr>
          </a:p>
        </p:txBody>
      </p:sp>
      <p:pic>
        <p:nvPicPr>
          <p:cNvPr id="3" name="Image 0">
            <a:extLst>
              <a:ext uri="{C183D7F6-B498-43B3-948B-1728B52AA6E4}">
                <adec:decorative xmlns:adec="http://schemas.microsoft.com/office/drawing/2017/decorative" val="1"/>
              </a:ext>
            </a:extLst>
          </p:cNvPr>
          <p:cNvPicPr>
            <a:picLocks noChangeAspect="1"/>
          </p:cNvPicPr>
          <p:nvPr/>
        </p:nvPicPr>
        <p:blipFill>
          <a:blip r:embed="rId3"/>
          <a:srcRect/>
          <a:stretch/>
        </p:blipFill>
        <p:spPr>
          <a:xfrm>
            <a:off x="457200" y="1005840"/>
            <a:ext cx="3840480" cy="2194560"/>
          </a:xfrm>
          <a:prstGeom prst="ellipse">
            <a:avLst/>
          </a:prstGeom>
        </p:spPr>
      </p:pic>
      <p:sp>
        <p:nvSpPr>
          <p:cNvPr id="4" name="Text 1"/>
          <p:cNvSpPr/>
          <p:nvPr/>
        </p:nvSpPr>
        <p:spPr>
          <a:xfrm>
            <a:off x="4572000" y="1005840"/>
            <a:ext cx="4206240" cy="320040"/>
          </a:xfrm>
          <a:prstGeom prst="rect">
            <a:avLst/>
          </a:prstGeom>
          <a:noFill/>
          <a:ln/>
        </p:spPr>
        <p:txBody>
          <a:bodyPr wrap="square" lIns="0" tIns="0" rIns="0" bIns="0" rtlCol="0" anchor="ctr"/>
          <a:lstStyle/>
          <a:p>
            <a:pPr marL="0" indent="0">
              <a:buNone/>
            </a:pPr>
            <a:r>
              <a:rPr lang="en-US" sz="1600" b="1" dirty="0">
                <a:solidFill>
                  <a:srgbClr val="A84B2F"/>
                </a:solidFill>
                <a:latin typeface="Trebuchet MS" pitchFamily="34" charset="0"/>
                <a:ea typeface="Trebuchet MS" pitchFamily="34" charset="-122"/>
                <a:cs typeface="Trebuchet MS" pitchFamily="34" charset="-120"/>
              </a:rPr>
              <a:t>The Rule of 70</a:t>
            </a:r>
            <a:endParaRPr lang="en-US" sz="1600" dirty="0"/>
          </a:p>
        </p:txBody>
      </p:sp>
      <p:sp>
        <p:nvSpPr>
          <p:cNvPr id="5" name="Text 2"/>
          <p:cNvSpPr/>
          <p:nvPr/>
        </p:nvSpPr>
        <p:spPr>
          <a:xfrm>
            <a:off x="4572000" y="1325880"/>
            <a:ext cx="4206240" cy="274320"/>
          </a:xfrm>
          <a:prstGeom prst="rect">
            <a:avLst/>
          </a:prstGeom>
          <a:noFill/>
          <a:ln/>
        </p:spPr>
        <p:txBody>
          <a:bodyPr wrap="square" lIns="0" tIns="0" rIns="0" bIns="0" rtlCol="0" anchor="ctr"/>
          <a:lstStyle/>
          <a:p>
            <a:pPr marL="0" indent="0">
              <a:buNone/>
            </a:pPr>
            <a:r>
              <a:rPr lang="en-US" sz="1400" dirty="0">
                <a:solidFill>
                  <a:srgbClr val="28251D"/>
                </a:solidFill>
                <a:latin typeface="Calibri" pitchFamily="34" charset="0"/>
                <a:ea typeface="Calibri" pitchFamily="34" charset="-122"/>
                <a:cs typeface="Calibri" pitchFamily="34" charset="-120"/>
              </a:rPr>
              <a:t>Years to double = 70 ÷ Growth Rate</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1535481"/>
              </p:ext>
            </p:extLst>
          </p:nvPr>
        </p:nvGraphicFramePr>
        <p:xfrm>
          <a:off x="4572000" y="1737360"/>
          <a:ext cx="4206240" cy="1600200"/>
        </p:xfrm>
        <a:graphic>
          <a:graphicData uri="http://schemas.openxmlformats.org/drawingml/2006/table">
            <a:tbl>
              <a:tblPr firstRow="1"/>
              <a:tblGrid>
                <a:gridCol w="118872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32004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Growth Rate</a:t>
                      </a:r>
                      <a:endParaRPr lang="en-US" sz="1200" dirty="0">
                        <a:latin typeface="Calibri" charset="0"/>
                        <a:ea typeface="Calibri" charset="0"/>
                        <a:cs typeface="Calibri" charset="0"/>
                      </a:endParaRPr>
                    </a:p>
                  </a:txBody>
                  <a:tcPr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Years to Double</a:t>
                      </a:r>
                      <a:endParaRPr lang="en-US" sz="1200" dirty="0">
                        <a:latin typeface="Calibri" charset="0"/>
                        <a:ea typeface="Calibri" charset="0"/>
                        <a:cs typeface="Calibri" charset="0"/>
                      </a:endParaRPr>
                    </a:p>
                  </a:txBody>
                  <a:tcPr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GDP after 50 Yrs</a:t>
                      </a:r>
                      <a:endParaRPr lang="en-US" sz="1200" dirty="0">
                        <a:latin typeface="Calibri" charset="0"/>
                        <a:ea typeface="Calibri" charset="0"/>
                        <a:cs typeface="Calibri" charset="0"/>
                      </a:endParaRPr>
                    </a:p>
                  </a:txBody>
                  <a:tcPr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extLst>
                  <a:ext uri="{0D108BD9-81ED-4DB2-BD59-A6C34878D82A}">
                    <a16:rowId xmlns:a16="http://schemas.microsoft.com/office/drawing/2014/main" val="10000"/>
                  </a:ext>
                </a:extLst>
              </a:tr>
              <a:tr h="320040">
                <a:tc>
                  <a:txBody>
                    <a:bodyPr/>
                    <a:lstStyle/>
                    <a:p>
                      <a:pPr marL="0" indent="0" algn="ctr">
                        <a:buNone/>
                      </a:pPr>
                      <a:r>
                        <a:rPr lang="en-US" sz="1200" dirty="0">
                          <a:solidFill>
                            <a:srgbClr val="28251D"/>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8251D"/>
                          </a:solidFill>
                          <a:latin typeface="Calibri" pitchFamily="34" charset="0"/>
                          <a:ea typeface="Calibri" pitchFamily="34" charset="-122"/>
                          <a:cs typeface="Calibri" pitchFamily="34" charset="-120"/>
                        </a:rPr>
                        <a:t>70 years</a:t>
                      </a:r>
                      <a:endParaRPr lang="en-US" sz="1200" dirty="0">
                        <a:latin typeface="Calibri" charset="0"/>
                        <a:ea typeface="Calibri" charset="0"/>
                        <a:cs typeface="Calibri" charset="0"/>
                      </a:endParaRPr>
                    </a:p>
                  </a:txBody>
                  <a:tcPr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8251D"/>
                          </a:solidFill>
                          <a:latin typeface="Calibri" pitchFamily="34" charset="0"/>
                          <a:ea typeface="Calibri" pitchFamily="34" charset="-122"/>
                          <a:cs typeface="Calibri" pitchFamily="34" charset="-120"/>
                        </a:rPr>
                        <a:t>164</a:t>
                      </a:r>
                      <a:endParaRPr lang="en-US" sz="1200" dirty="0">
                        <a:latin typeface="Calibri" charset="0"/>
                        <a:ea typeface="Calibri" charset="0"/>
                        <a:cs typeface="Calibri" charset="0"/>
                      </a:endParaRPr>
                    </a:p>
                  </a:txBody>
                  <a:tcPr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0040">
                <a:tc>
                  <a:txBody>
                    <a:bodyPr/>
                    <a:lstStyle/>
                    <a:p>
                      <a:pPr marL="0" indent="0" algn="ctr">
                        <a:buNone/>
                      </a:pPr>
                      <a:r>
                        <a:rPr lang="en-US" sz="1200" dirty="0">
                          <a:solidFill>
                            <a:srgbClr val="28251D"/>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0EDE6"/>
                    </a:solidFill>
                  </a:tcPr>
                </a:tc>
                <a:tc>
                  <a:txBody>
                    <a:bodyPr/>
                    <a:lstStyle/>
                    <a:p>
                      <a:pPr marL="0" indent="0" algn="ctr">
                        <a:buNone/>
                      </a:pPr>
                      <a:r>
                        <a:rPr lang="en-US" sz="1200" dirty="0">
                          <a:solidFill>
                            <a:srgbClr val="28251D"/>
                          </a:solidFill>
                          <a:latin typeface="Calibri" pitchFamily="34" charset="0"/>
                          <a:ea typeface="Calibri" pitchFamily="34" charset="-122"/>
                          <a:cs typeface="Calibri" pitchFamily="34" charset="-120"/>
                        </a:rPr>
                        <a:t>23 years</a:t>
                      </a:r>
                      <a:endParaRPr lang="en-US" sz="1200" dirty="0">
                        <a:latin typeface="Calibri" charset="0"/>
                        <a:ea typeface="Calibri" charset="0"/>
                        <a:cs typeface="Calibri" charset="0"/>
                      </a:endParaRPr>
                    </a:p>
                  </a:txBody>
                  <a:tcPr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0EDE6"/>
                    </a:solidFill>
                  </a:tcPr>
                </a:tc>
                <a:tc>
                  <a:txBody>
                    <a:bodyPr/>
                    <a:lstStyle/>
                    <a:p>
                      <a:pPr marL="0" indent="0" algn="ctr">
                        <a:buNone/>
                      </a:pPr>
                      <a:r>
                        <a:rPr lang="en-US" sz="1200" dirty="0">
                          <a:solidFill>
                            <a:srgbClr val="28251D"/>
                          </a:solidFill>
                          <a:latin typeface="Calibri" pitchFamily="34" charset="0"/>
                          <a:ea typeface="Calibri" pitchFamily="34" charset="-122"/>
                          <a:cs typeface="Calibri" pitchFamily="34" charset="-120"/>
                        </a:rPr>
                        <a:t>438</a:t>
                      </a:r>
                      <a:endParaRPr lang="en-US" sz="1200" dirty="0">
                        <a:latin typeface="Calibri" charset="0"/>
                        <a:ea typeface="Calibri" charset="0"/>
                        <a:cs typeface="Calibri" charset="0"/>
                      </a:endParaRPr>
                    </a:p>
                  </a:txBody>
                  <a:tcPr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0EDE6"/>
                    </a:solidFill>
                  </a:tcPr>
                </a:tc>
                <a:extLst>
                  <a:ext uri="{0D108BD9-81ED-4DB2-BD59-A6C34878D82A}">
                    <a16:rowId xmlns:a16="http://schemas.microsoft.com/office/drawing/2014/main" val="10002"/>
                  </a:ext>
                </a:extLst>
              </a:tr>
              <a:tr h="320040">
                <a:tc>
                  <a:txBody>
                    <a:bodyPr/>
                    <a:lstStyle/>
                    <a:p>
                      <a:pPr marL="0" indent="0" algn="ctr">
                        <a:buNone/>
                      </a:pPr>
                      <a:r>
                        <a:rPr lang="en-US" sz="1200" dirty="0">
                          <a:solidFill>
                            <a:srgbClr val="28251D"/>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8251D"/>
                          </a:solidFill>
                          <a:latin typeface="Calibri" pitchFamily="34" charset="0"/>
                          <a:ea typeface="Calibri" pitchFamily="34" charset="-122"/>
                          <a:cs typeface="Calibri" pitchFamily="34" charset="-120"/>
                        </a:rPr>
                        <a:t>14 years</a:t>
                      </a:r>
                      <a:endParaRPr lang="en-US" sz="1200" dirty="0">
                        <a:latin typeface="Calibri" charset="0"/>
                        <a:ea typeface="Calibri" charset="0"/>
                        <a:cs typeface="Calibri" charset="0"/>
                      </a:endParaRPr>
                    </a:p>
                  </a:txBody>
                  <a:tcPr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8251D"/>
                          </a:solidFill>
                          <a:latin typeface="Calibri" pitchFamily="34" charset="0"/>
                          <a:ea typeface="Calibri" pitchFamily="34" charset="-122"/>
                          <a:cs typeface="Calibri" pitchFamily="34" charset="-120"/>
                        </a:rPr>
                        <a:t>1,147</a:t>
                      </a:r>
                      <a:endParaRPr lang="en-US" sz="1200" dirty="0">
                        <a:latin typeface="Calibri" charset="0"/>
                        <a:ea typeface="Calibri" charset="0"/>
                        <a:cs typeface="Calibri" charset="0"/>
                      </a:endParaRPr>
                    </a:p>
                  </a:txBody>
                  <a:tcPr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0040">
                <a:tc>
                  <a:txBody>
                    <a:bodyPr/>
                    <a:lstStyle/>
                    <a:p>
                      <a:pPr marL="0" indent="0" algn="ctr">
                        <a:buNone/>
                      </a:pPr>
                      <a:r>
                        <a:rPr lang="en-US" sz="1200" b="1" dirty="0">
                          <a:solidFill>
                            <a:srgbClr val="01696F"/>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0EDE6"/>
                    </a:solidFill>
                  </a:tcPr>
                </a:tc>
                <a:tc>
                  <a:txBody>
                    <a:bodyPr/>
                    <a:lstStyle/>
                    <a:p>
                      <a:pPr marL="0" indent="0" algn="ctr">
                        <a:buNone/>
                      </a:pPr>
                      <a:r>
                        <a:rPr lang="en-US" sz="1200" b="1" dirty="0">
                          <a:solidFill>
                            <a:srgbClr val="01696F"/>
                          </a:solidFill>
                          <a:latin typeface="Calibri" pitchFamily="34" charset="0"/>
                          <a:ea typeface="Calibri" pitchFamily="34" charset="-122"/>
                          <a:cs typeface="Calibri" pitchFamily="34" charset="-120"/>
                        </a:rPr>
                        <a:t>9 years</a:t>
                      </a:r>
                      <a:endParaRPr lang="en-US" sz="1200" dirty="0">
                        <a:latin typeface="Calibri" charset="0"/>
                        <a:ea typeface="Calibri" charset="0"/>
                        <a:cs typeface="Calibri" charset="0"/>
                      </a:endParaRPr>
                    </a:p>
                  </a:txBody>
                  <a:tcPr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0EDE6"/>
                    </a:solidFill>
                  </a:tcPr>
                </a:tc>
                <a:tc>
                  <a:txBody>
                    <a:bodyPr/>
                    <a:lstStyle/>
                    <a:p>
                      <a:pPr marL="0" indent="0" algn="ctr">
                        <a:buNone/>
                      </a:pPr>
                      <a:r>
                        <a:rPr lang="en-US" sz="1200" b="1" dirty="0">
                          <a:solidFill>
                            <a:srgbClr val="01696F"/>
                          </a:solidFill>
                          <a:latin typeface="Calibri" pitchFamily="34" charset="0"/>
                          <a:ea typeface="Calibri" pitchFamily="34" charset="-122"/>
                          <a:cs typeface="Calibri" pitchFamily="34" charset="-120"/>
                        </a:rPr>
                        <a:t>4,690</a:t>
                      </a:r>
                      <a:endParaRPr lang="en-US" sz="1200" dirty="0">
                        <a:latin typeface="Calibri" charset="0"/>
                        <a:ea typeface="Calibri" charset="0"/>
                        <a:cs typeface="Calibri" charset="0"/>
                      </a:endParaRPr>
                    </a:p>
                  </a:txBody>
                  <a:tcPr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0EDE6"/>
                    </a:solidFill>
                  </a:tcPr>
                </a:tc>
                <a:extLst>
                  <a:ext uri="{0D108BD9-81ED-4DB2-BD59-A6C34878D82A}">
                    <a16:rowId xmlns:a16="http://schemas.microsoft.com/office/drawing/2014/main" val="10004"/>
                  </a:ext>
                </a:extLst>
              </a:tr>
            </a:tbl>
          </a:graphicData>
        </a:graphic>
      </p:graphicFrame>
      <p:sp>
        <p:nvSpPr>
          <p:cNvPr id="7" name="Text 3"/>
          <p:cNvSpPr/>
          <p:nvPr/>
        </p:nvSpPr>
        <p:spPr>
          <a:xfrm>
            <a:off x="457200" y="3474720"/>
            <a:ext cx="8229600" cy="1005840"/>
          </a:xfrm>
          <a:prstGeom prst="rect">
            <a:avLst/>
          </a:prstGeom>
          <a:noFill/>
          <a:ln/>
        </p:spPr>
        <p:txBody>
          <a:bodyPr wrap="square" lIns="0" tIns="0" rIns="0" bIns="0" rtlCol="0" anchor="t"/>
          <a:lstStyle/>
          <a:p>
            <a:pPr marL="0" indent="0">
              <a:buNone/>
            </a:pPr>
            <a:r>
              <a:rPr lang="en-US" sz="1200" i="1" dirty="0">
                <a:solidFill>
                  <a:srgbClr val="28251D"/>
                </a:solidFill>
                <a:latin typeface="Calibri" pitchFamily="34" charset="0"/>
                <a:ea typeface="Calibri" pitchFamily="34" charset="-122"/>
                <a:cs typeface="Calibri" pitchFamily="34" charset="-120"/>
              </a:rPr>
              <a:t>Like a snowball rolling downhill — small at first, enormous over time — the same formula applies to your savings and investments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a:effectLst/>
      </p:bgPr>
    </p:bg>
    <p:spTree>
      <p:nvGrpSpPr>
        <p:cNvPr id="1" name=""/>
        <p:cNvGrpSpPr/>
        <p:nvPr/>
      </p:nvGrpSpPr>
      <p:grpSpPr>
        <a:xfrm>
          <a:off x="0" y="0"/>
          <a:ext cx="0" cy="0"/>
          <a:chOff x="0" y="0"/>
          <a:chExt cx="0" cy="0"/>
        </a:xfrm>
      </p:grpSpPr>
      <p:sp>
        <p:nvSpPr>
          <p:cNvPr id="2" name="Text 0"/>
          <p:cNvSpPr>
            <a:spLocks noGrp="1"/>
          </p:cNvSpPr>
          <p:nvPr>
            <p:ph type="title" idx="4294967295"/>
          </p:nvPr>
        </p:nvSpPr>
        <p:spPr>
          <a:xfrm>
            <a:off x="457200" y="320040"/>
            <a:ext cx="8229600" cy="54864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01696F"/>
                </a:solidFill>
                <a:effectLst/>
                <a:uLnTx/>
                <a:uFillTx/>
                <a:latin typeface="Trebuchet MS" pitchFamily="34" charset="0"/>
                <a:ea typeface="Trebuchet MS" pitchFamily="34" charset="-122"/>
                <a:cs typeface="Trebuchet MS" pitchFamily="34" charset="-120"/>
              </a:rPr>
              <a:t>Can Poor Countries Catch Up?</a:t>
            </a:r>
            <a:endParaRPr kumimoji="0" lang="en-US" sz="3000" b="0" i="0" u="none" strike="noStrike" kern="1200" cap="none" spc="0" normalizeH="0" baseline="0" noProof="0" dirty="0">
              <a:ln>
                <a:noFill/>
              </a:ln>
              <a:solidFill>
                <a:schemeClr val="tx1"/>
              </a:solidFill>
              <a:effectLst/>
              <a:uLnTx/>
              <a:uFillTx/>
              <a:latin typeface="+mn-lt"/>
              <a:ea typeface="+mn-ea"/>
              <a:cs typeface="+mn-cs"/>
            </a:endParaRPr>
          </a:p>
        </p:txBody>
      </p:sp>
      <p:pic>
        <p:nvPicPr>
          <p:cNvPr id="3" name="Image 0">
            <a:extLst>
              <a:ext uri="{C183D7F6-B498-43B3-948B-1728B52AA6E4}">
                <adec:decorative xmlns:adec="http://schemas.microsoft.com/office/drawing/2017/decorative" val="1"/>
              </a:ext>
            </a:extLst>
          </p:cNvPr>
          <p:cNvPicPr>
            <a:picLocks noChangeAspect="1"/>
          </p:cNvPicPr>
          <p:nvPr/>
        </p:nvPicPr>
        <p:blipFill>
          <a:blip r:embed="rId3"/>
          <a:srcRect/>
          <a:stretch/>
        </p:blipFill>
        <p:spPr>
          <a:xfrm>
            <a:off x="457200" y="1005840"/>
            <a:ext cx="3840480" cy="3291840"/>
          </a:xfrm>
          <a:prstGeom prst="ellipse">
            <a:avLst/>
          </a:prstGeom>
        </p:spPr>
      </p:pic>
      <p:sp>
        <p:nvSpPr>
          <p:cNvPr id="4" name="Text 1"/>
          <p:cNvSpPr/>
          <p:nvPr/>
        </p:nvSpPr>
        <p:spPr>
          <a:xfrm>
            <a:off x="4572000" y="1005840"/>
            <a:ext cx="4206240" cy="274320"/>
          </a:xfrm>
          <a:prstGeom prst="rect">
            <a:avLst/>
          </a:prstGeom>
          <a:noFill/>
          <a:ln/>
        </p:spPr>
        <p:txBody>
          <a:bodyPr wrap="square" lIns="0" tIns="0" rIns="0" bIns="0" rtlCol="0" anchor="ctr"/>
          <a:lstStyle/>
          <a:p>
            <a:pPr marL="0" indent="0">
              <a:buNone/>
            </a:pPr>
            <a:r>
              <a:rPr lang="en-US" sz="1400" b="1" dirty="0">
                <a:solidFill>
                  <a:srgbClr val="01696F"/>
                </a:solidFill>
                <a:latin typeface="Trebuchet MS" pitchFamily="34" charset="0"/>
                <a:ea typeface="Trebuchet MS" pitchFamily="34" charset="-122"/>
                <a:cs typeface="Trebuchet MS" pitchFamily="34" charset="-120"/>
              </a:rPr>
              <a:t>Arguments FOR convergence:</a:t>
            </a:r>
            <a:endParaRPr lang="en-US" sz="1400" dirty="0"/>
          </a:p>
        </p:txBody>
      </p:sp>
      <p:sp>
        <p:nvSpPr>
          <p:cNvPr id="5" name="Text 2"/>
          <p:cNvSpPr/>
          <p:nvPr/>
        </p:nvSpPr>
        <p:spPr>
          <a:xfrm>
            <a:off x="4572000" y="1280160"/>
            <a:ext cx="4206240" cy="13716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8251D"/>
                </a:solidFill>
                <a:latin typeface="Calibri" pitchFamily="34" charset="0"/>
                <a:ea typeface="Calibri" pitchFamily="34" charset="-122"/>
                <a:cs typeface="Calibri" pitchFamily="34" charset="-120"/>
              </a:rPr>
              <a:t>Diminishing returns: Low-income countries get more bang per buck from investment</a:t>
            </a:r>
            <a:endParaRPr lang="en-US" sz="1250" dirty="0"/>
          </a:p>
          <a:p>
            <a:pPr marL="342900" indent="-342900">
              <a:spcAft>
                <a:spcPts val="600"/>
              </a:spcAft>
              <a:buSzPct val="100000"/>
              <a:buChar char="•"/>
            </a:pPr>
            <a:r>
              <a:rPr lang="en-US" sz="1250" dirty="0">
                <a:solidFill>
                  <a:srgbClr val="28251D"/>
                </a:solidFill>
                <a:latin typeface="Calibri" pitchFamily="34" charset="0"/>
                <a:ea typeface="Calibri" pitchFamily="34" charset="-122"/>
                <a:cs typeface="Calibri" pitchFamily="34" charset="-120"/>
              </a:rPr>
              <a:t>"Advantages of backwardness": Adopt existing tech rather than invent from scratch</a:t>
            </a:r>
            <a:endParaRPr lang="en-US" sz="1250" dirty="0"/>
          </a:p>
          <a:p>
            <a:pPr marL="0" indent="0">
              <a:buNone/>
            </a:pPr>
            <a:r>
              <a:rPr lang="en-US" sz="1250" i="1" dirty="0">
                <a:latin typeface="Calibri" pitchFamily="34" charset="0"/>
                <a:ea typeface="Calibri" pitchFamily="34" charset="-122"/>
                <a:cs typeface="Calibri" pitchFamily="34" charset="-120"/>
              </a:rPr>
              <a:t>It's easier to follow a trail someone else blazed than to hack through the jungle</a:t>
            </a:r>
            <a:endParaRPr lang="en-US" sz="1250" dirty="0"/>
          </a:p>
        </p:txBody>
      </p:sp>
      <p:sp>
        <p:nvSpPr>
          <p:cNvPr id="6" name="Text 3"/>
          <p:cNvSpPr/>
          <p:nvPr/>
        </p:nvSpPr>
        <p:spPr>
          <a:xfrm>
            <a:off x="4572000" y="2697480"/>
            <a:ext cx="4206240" cy="274320"/>
          </a:xfrm>
          <a:prstGeom prst="rect">
            <a:avLst/>
          </a:prstGeom>
          <a:noFill/>
          <a:ln/>
        </p:spPr>
        <p:txBody>
          <a:bodyPr wrap="square" lIns="0" tIns="0" rIns="0" bIns="0" rtlCol="0" anchor="ctr"/>
          <a:lstStyle/>
          <a:p>
            <a:pPr marL="0" indent="0">
              <a:buNone/>
            </a:pPr>
            <a:r>
              <a:rPr lang="en-US" sz="1400" b="1" dirty="0">
                <a:solidFill>
                  <a:srgbClr val="A84B2F"/>
                </a:solidFill>
                <a:latin typeface="Trebuchet MS" pitchFamily="34" charset="0"/>
                <a:ea typeface="Trebuchet MS" pitchFamily="34" charset="-122"/>
                <a:cs typeface="Trebuchet MS" pitchFamily="34" charset="-120"/>
              </a:rPr>
              <a:t>Arguments AGAINST:</a:t>
            </a:r>
            <a:endParaRPr lang="en-US" sz="1400" dirty="0"/>
          </a:p>
        </p:txBody>
      </p:sp>
      <p:sp>
        <p:nvSpPr>
          <p:cNvPr id="7" name="Text 4"/>
          <p:cNvSpPr/>
          <p:nvPr/>
        </p:nvSpPr>
        <p:spPr>
          <a:xfrm>
            <a:off x="4572000" y="2971800"/>
            <a:ext cx="4206240" cy="11887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8251D"/>
                </a:solidFill>
                <a:latin typeface="Calibri" pitchFamily="34" charset="0"/>
                <a:ea typeface="Calibri" pitchFamily="34" charset="-122"/>
                <a:cs typeface="Calibri" pitchFamily="34" charset="-120"/>
              </a:rPr>
              <a:t>Requires the right institutions — technology doesn't transfer into a vacuum</a:t>
            </a:r>
            <a:endParaRPr lang="en-US" sz="1250" dirty="0"/>
          </a:p>
          <a:p>
            <a:pPr marL="342900" indent="-342900">
              <a:spcAft>
                <a:spcPts val="600"/>
              </a:spcAft>
              <a:buSzPct val="100000"/>
              <a:buChar char="•"/>
            </a:pPr>
            <a:r>
              <a:rPr lang="en-US" sz="1250" dirty="0">
                <a:solidFill>
                  <a:srgbClr val="28251D"/>
                </a:solidFill>
                <a:latin typeface="Calibri" pitchFamily="34" charset="0"/>
                <a:ea typeface="Calibri" pitchFamily="34" charset="-122"/>
                <a:cs typeface="Calibri" pitchFamily="34" charset="-120"/>
              </a:rPr>
              <a:t>New technology offsets diminishing returns in rich countries</a:t>
            </a:r>
            <a:endParaRPr lang="en-US" sz="1250" dirty="0"/>
          </a:p>
          <a:p>
            <a:pPr marL="342900" indent="-342900">
              <a:buSzPct val="100000"/>
              <a:buChar char="•"/>
            </a:pPr>
            <a:r>
              <a:rPr lang="en-US" sz="1250" dirty="0">
                <a:solidFill>
                  <a:srgbClr val="28251D"/>
                </a:solidFill>
                <a:latin typeface="Calibri" pitchFamily="34" charset="0"/>
                <a:ea typeface="Calibri" pitchFamily="34" charset="-122"/>
                <a:cs typeface="Calibri" pitchFamily="34" charset="-120"/>
              </a:rPr>
              <a:t>Catch-up takes decades even at 7% growth</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a:effectLst/>
      </p:bgPr>
    </p:bg>
    <p:spTree>
      <p:nvGrpSpPr>
        <p:cNvPr id="1" name=""/>
        <p:cNvGrpSpPr/>
        <p:nvPr/>
      </p:nvGrpSpPr>
      <p:grpSpPr>
        <a:xfrm>
          <a:off x="0" y="0"/>
          <a:ext cx="0" cy="0"/>
          <a:chOff x="0" y="0"/>
          <a:chExt cx="0" cy="0"/>
        </a:xfrm>
      </p:grpSpPr>
      <p:sp>
        <p:nvSpPr>
          <p:cNvPr id="2" name="Text 0"/>
          <p:cNvSpPr>
            <a:spLocks noGrp="1"/>
          </p:cNvSpPr>
          <p:nvPr>
            <p:ph type="title" idx="4294967295"/>
          </p:nvPr>
        </p:nvSpPr>
        <p:spPr>
          <a:xfrm>
            <a:off x="457200" y="182880"/>
            <a:ext cx="8229600" cy="3657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01696F"/>
                </a:solidFill>
                <a:effectLst/>
                <a:uLnTx/>
                <a:uFillTx/>
                <a:latin typeface="Trebuchet MS" pitchFamily="34" charset="0"/>
                <a:ea typeface="Trebuchet MS" pitchFamily="34" charset="-122"/>
                <a:cs typeface="Trebuchet MS" pitchFamily="34" charset="-120"/>
              </a:rPr>
              <a:t>The Scoreboard: Who's Growing Fastest?</a:t>
            </a:r>
            <a:endParaRPr kumimoji="0" lang="en-US" sz="2600" b="0" i="0" u="none" strike="noStrike" kern="1200" cap="none" spc="0" normalizeH="0" baseline="0" noProof="0" dirty="0">
              <a:ln>
                <a:noFill/>
              </a:ln>
              <a:solidFill>
                <a:schemeClr val="tx1"/>
              </a:solidFill>
              <a:effectLst/>
              <a:uLnTx/>
              <a:uFillTx/>
              <a:latin typeface="+mn-lt"/>
              <a:ea typeface="+mn-ea"/>
              <a:cs typeface="+mn-cs"/>
            </a:endParaRPr>
          </a:p>
        </p:txBody>
      </p:sp>
      <p:sp>
        <p:nvSpPr>
          <p:cNvPr id="3" name="Text 1"/>
          <p:cNvSpPr/>
          <p:nvPr/>
        </p:nvSpPr>
        <p:spPr>
          <a:xfrm>
            <a:off x="457200" y="604220"/>
            <a:ext cx="8229600" cy="137160"/>
          </a:xfrm>
          <a:prstGeom prst="rect">
            <a:avLst/>
          </a:prstGeom>
          <a:noFill/>
          <a:ln/>
        </p:spPr>
        <p:txBody>
          <a:bodyPr wrap="square" lIns="0" tIns="0" rIns="0" bIns="0" rtlCol="0" anchor="ctr"/>
          <a:lstStyle/>
          <a:p>
            <a:pPr marL="0" indent="0">
              <a:buNone/>
            </a:pPr>
            <a:r>
              <a:rPr lang="en-US" sz="1200" dirty="0">
                <a:latin typeface="Calibri" pitchFamily="34" charset="0"/>
                <a:ea typeface="Calibri" pitchFamily="34" charset="-122"/>
                <a:cs typeface="Calibri" pitchFamily="34" charset="-120"/>
              </a:rPr>
              <a:t>Average Real GDP Growth Rates</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2956362602"/>
              </p:ext>
            </p:extLst>
          </p:nvPr>
        </p:nvGraphicFramePr>
        <p:xfrm>
          <a:off x="1097280" y="777240"/>
          <a:ext cx="6949440" cy="3474720"/>
        </p:xfrm>
        <a:graphic>
          <a:graphicData uri="http://schemas.openxmlformats.org/drawingml/2006/table">
            <a:tbl>
              <a:tblPr firstRow="1"/>
              <a:tblGrid>
                <a:gridCol w="29260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256032">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Country</a:t>
                      </a:r>
                      <a:endParaRPr lang="en-US" sz="1000" dirty="0">
                        <a:latin typeface="Calibri" charset="0"/>
                        <a:ea typeface="Calibri" charset="0"/>
                        <a:cs typeface="Calibri" charset="0"/>
                      </a:endParaRPr>
                    </a:p>
                  </a:txBody>
                  <a:tcPr marL="50800" marR="50800" marT="12700" marB="127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1990-2000</a:t>
                      </a:r>
                      <a:endParaRPr lang="en-US" sz="1000" dirty="0">
                        <a:latin typeface="Calibri" charset="0"/>
                        <a:ea typeface="Calibri" charset="0"/>
                        <a:cs typeface="Calibri" charset="0"/>
                      </a:endParaRPr>
                    </a:p>
                  </a:txBody>
                  <a:tcPr marL="50800" marR="50800" marT="12700" marB="127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2010-2019</a:t>
                      </a:r>
                      <a:endParaRPr lang="en-US" sz="1000" dirty="0">
                        <a:latin typeface="Calibri" charset="0"/>
                        <a:ea typeface="Calibri" charset="0"/>
                        <a:cs typeface="Calibri" charset="0"/>
                      </a:endParaRPr>
                    </a:p>
                  </a:txBody>
                  <a:tcPr marL="50800" marR="50800" marT="12700" marB="127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extLst>
                  <a:ext uri="{0D108BD9-81ED-4DB2-BD59-A6C34878D82A}">
                    <a16:rowId xmlns:a16="http://schemas.microsoft.com/office/drawing/2014/main" val="10000"/>
                  </a:ext>
                </a:extLst>
              </a:tr>
              <a:tr h="201168">
                <a:tc>
                  <a:txBody>
                    <a:bodyPr/>
                    <a:lstStyle/>
                    <a:p>
                      <a:pPr marL="0" indent="0" algn="l">
                        <a:buNone/>
                      </a:pPr>
                      <a:r>
                        <a:rPr lang="en-US" sz="1000" b="1" dirty="0">
                          <a:solidFill>
                            <a:srgbClr val="01696F"/>
                          </a:solidFill>
                          <a:latin typeface="Trebuchet MS" pitchFamily="34" charset="0"/>
                          <a:ea typeface="Trebuchet MS" pitchFamily="34" charset="-122"/>
                          <a:cs typeface="Trebuchet MS" pitchFamily="34" charset="-120"/>
                        </a:rPr>
                        <a:t>  Fast Growth Club (5%+)</a:t>
                      </a:r>
                      <a:endParaRPr lang="en-US" sz="1000" dirty="0">
                        <a:latin typeface="Trebuchet MS" charset="0"/>
                        <a:ea typeface="Trebuchet MS" charset="0"/>
                        <a:cs typeface="Trebuchet MS" charset="0"/>
                      </a:endParaRPr>
                    </a:p>
                  </a:txBody>
                  <a:tcPr marL="50800" marR="50800" marT="12700" marB="127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E0F0F0"/>
                    </a:solidFill>
                  </a:tcPr>
                </a:tc>
                <a:tc>
                  <a:txBody>
                    <a:bodyPr/>
                    <a:lstStyle/>
                    <a:p>
                      <a:pPr marL="0" indent="0">
                        <a:buNone/>
                      </a:pPr>
                      <a:endParaRPr lang="en-US" sz="1000" dirty="0">
                        <a:latin typeface="Trebuchet MS" charset="0"/>
                        <a:ea typeface="Trebuchet MS" charset="0"/>
                        <a:cs typeface="Trebuchet MS" charset="0"/>
                      </a:endParaRPr>
                    </a:p>
                  </a:txBody>
                  <a:tcPr marL="50800" marR="50800" marT="12700" marB="127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E0F0F0"/>
                    </a:solidFill>
                  </a:tcPr>
                </a:tc>
                <a:tc>
                  <a:txBody>
                    <a:bodyPr/>
                    <a:lstStyle/>
                    <a:p>
                      <a:pPr marL="0" indent="0">
                        <a:buNone/>
                      </a:pPr>
                      <a:endParaRPr lang="en-US" sz="1000" dirty="0">
                        <a:latin typeface="Trebuchet MS" charset="0"/>
                        <a:ea typeface="Trebuchet MS" charset="0"/>
                        <a:cs typeface="Trebuchet MS" charset="0"/>
                      </a:endParaRPr>
                    </a:p>
                  </a:txBody>
                  <a:tcPr marL="50800" marR="50800" marT="12700" marB="127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E0F0F0"/>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28251D"/>
                          </a:solidFill>
                          <a:latin typeface="Calibri" pitchFamily="34" charset="0"/>
                          <a:ea typeface="Calibri" pitchFamily="34" charset="-122"/>
                          <a:cs typeface="Calibri" pitchFamily="34" charset="-120"/>
                        </a:rPr>
                        <a:t>  China</a:t>
                      </a:r>
                      <a:endParaRPr lang="en-US" sz="1000" dirty="0">
                        <a:latin typeface="Calibri" charset="0"/>
                        <a:ea typeface="Calibri" charset="0"/>
                        <a:cs typeface="Calibri" charset="0"/>
                      </a:endParaRPr>
                    </a:p>
                  </a:txBody>
                  <a:tcPr marL="50800" marR="50800" marT="12700" marB="127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8251D"/>
                          </a:solidFill>
                          <a:latin typeface="Calibri" pitchFamily="34" charset="0"/>
                          <a:ea typeface="Calibri" pitchFamily="34" charset="-122"/>
                          <a:cs typeface="Calibri" pitchFamily="34" charset="-120"/>
                        </a:rPr>
                        <a:t>10.6%</a:t>
                      </a:r>
                      <a:endParaRPr lang="en-US" sz="1000" dirty="0">
                        <a:latin typeface="Calibri" charset="0"/>
                        <a:ea typeface="Calibri" charset="0"/>
                        <a:cs typeface="Calibri" charset="0"/>
                      </a:endParaRPr>
                    </a:p>
                  </a:txBody>
                  <a:tcPr marL="50800" marR="50800" marT="12700" marB="127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8251D"/>
                          </a:solidFill>
                          <a:latin typeface="Calibri" pitchFamily="34" charset="0"/>
                          <a:ea typeface="Calibri" pitchFamily="34" charset="-122"/>
                          <a:cs typeface="Calibri" pitchFamily="34" charset="-120"/>
                        </a:rPr>
                        <a:t>7.3%</a:t>
                      </a:r>
                      <a:endParaRPr lang="en-US" sz="1000" dirty="0">
                        <a:latin typeface="Calibri" charset="0"/>
                        <a:ea typeface="Calibri" charset="0"/>
                        <a:cs typeface="Calibri" charset="0"/>
                      </a:endParaRPr>
                    </a:p>
                  </a:txBody>
                  <a:tcPr marL="50800" marR="50800" marT="12700" marB="127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19456">
                <a:tc>
                  <a:txBody>
                    <a:bodyPr/>
                    <a:lstStyle/>
                    <a:p>
                      <a:pPr marL="0" indent="0">
                        <a:buNone/>
                      </a:pPr>
                      <a:r>
                        <a:rPr lang="en-US" sz="1000" dirty="0">
                          <a:solidFill>
                            <a:srgbClr val="28251D"/>
                          </a:solidFill>
                          <a:latin typeface="Calibri" pitchFamily="34" charset="0"/>
                          <a:ea typeface="Calibri" pitchFamily="34" charset="-122"/>
                          <a:cs typeface="Calibri" pitchFamily="34" charset="-120"/>
                        </a:rPr>
                        <a:t>  India</a:t>
                      </a:r>
                      <a:endParaRPr lang="en-US" sz="1000" dirty="0">
                        <a:latin typeface="Calibri" charset="0"/>
                        <a:ea typeface="Calibri" charset="0"/>
                        <a:cs typeface="Calibri" charset="0"/>
                      </a:endParaRPr>
                    </a:p>
                  </a:txBody>
                  <a:tcPr marL="50800" marR="50800" marT="12700" marB="127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0EDE6"/>
                    </a:solidFill>
                  </a:tcPr>
                </a:tc>
                <a:tc>
                  <a:txBody>
                    <a:bodyPr/>
                    <a:lstStyle/>
                    <a:p>
                      <a:pPr marL="0" indent="0" algn="ctr">
                        <a:buNone/>
                      </a:pPr>
                      <a:r>
                        <a:rPr lang="en-US" sz="1000" dirty="0">
                          <a:solidFill>
                            <a:srgbClr val="28251D"/>
                          </a:solidFill>
                          <a:latin typeface="Calibri" pitchFamily="34" charset="0"/>
                          <a:ea typeface="Calibri" pitchFamily="34" charset="-122"/>
                          <a:cs typeface="Calibri" pitchFamily="34" charset="-120"/>
                        </a:rPr>
                        <a:t>6.0%</a:t>
                      </a:r>
                      <a:endParaRPr lang="en-US" sz="1000" dirty="0">
                        <a:latin typeface="Calibri" charset="0"/>
                        <a:ea typeface="Calibri" charset="0"/>
                        <a:cs typeface="Calibri" charset="0"/>
                      </a:endParaRPr>
                    </a:p>
                  </a:txBody>
                  <a:tcPr marL="50800" marR="50800" marT="12700" marB="127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0EDE6"/>
                    </a:solidFill>
                  </a:tcPr>
                </a:tc>
                <a:tc>
                  <a:txBody>
                    <a:bodyPr/>
                    <a:lstStyle/>
                    <a:p>
                      <a:pPr marL="0" indent="0" algn="ctr">
                        <a:buNone/>
                      </a:pPr>
                      <a:r>
                        <a:rPr lang="en-US" sz="1000" dirty="0">
                          <a:solidFill>
                            <a:srgbClr val="28251D"/>
                          </a:solidFill>
                          <a:latin typeface="Calibri" pitchFamily="34" charset="0"/>
                          <a:ea typeface="Calibri" pitchFamily="34" charset="-122"/>
                          <a:cs typeface="Calibri" pitchFamily="34" charset="-120"/>
                        </a:rPr>
                        <a:t>6.7%</a:t>
                      </a:r>
                      <a:endParaRPr lang="en-US" sz="1000" dirty="0">
                        <a:latin typeface="Calibri" charset="0"/>
                        <a:ea typeface="Calibri" charset="0"/>
                        <a:cs typeface="Calibri" charset="0"/>
                      </a:endParaRPr>
                    </a:p>
                  </a:txBody>
                  <a:tcPr marL="50800" marR="50800" marT="12700" marB="127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0EDE6"/>
                    </a:solidFill>
                  </a:tcPr>
                </a:tc>
                <a:extLst>
                  <a:ext uri="{0D108BD9-81ED-4DB2-BD59-A6C34878D82A}">
                    <a16:rowId xmlns:a16="http://schemas.microsoft.com/office/drawing/2014/main" val="10003"/>
                  </a:ext>
                </a:extLst>
              </a:tr>
              <a:tr h="219456">
                <a:tc>
                  <a:txBody>
                    <a:bodyPr/>
                    <a:lstStyle/>
                    <a:p>
                      <a:pPr marL="0" indent="0">
                        <a:buNone/>
                      </a:pPr>
                      <a:r>
                        <a:rPr lang="en-US" sz="1000" dirty="0">
                          <a:solidFill>
                            <a:srgbClr val="28251D"/>
                          </a:solidFill>
                          <a:latin typeface="Calibri" pitchFamily="34" charset="0"/>
                          <a:ea typeface="Calibri" pitchFamily="34" charset="-122"/>
                          <a:cs typeface="Calibri" pitchFamily="34" charset="-120"/>
                        </a:rPr>
                        <a:t>  Vietnam</a:t>
                      </a:r>
                      <a:endParaRPr lang="en-US" sz="1000" dirty="0">
                        <a:latin typeface="Calibri" charset="0"/>
                        <a:ea typeface="Calibri" charset="0"/>
                        <a:cs typeface="Calibri" charset="0"/>
                      </a:endParaRPr>
                    </a:p>
                  </a:txBody>
                  <a:tcPr marL="50800" marR="50800" marT="12700" marB="127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8251D"/>
                          </a:solidFill>
                          <a:latin typeface="Calibri" pitchFamily="34" charset="0"/>
                          <a:ea typeface="Calibri" pitchFamily="34" charset="-122"/>
                          <a:cs typeface="Calibri" pitchFamily="34" charset="-120"/>
                        </a:rPr>
                        <a:t>7.9%</a:t>
                      </a:r>
                      <a:endParaRPr lang="en-US" sz="1000" dirty="0">
                        <a:latin typeface="Calibri" charset="0"/>
                        <a:ea typeface="Calibri" charset="0"/>
                        <a:cs typeface="Calibri" charset="0"/>
                      </a:endParaRPr>
                    </a:p>
                  </a:txBody>
                  <a:tcPr marL="50800" marR="50800" marT="12700" marB="127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8251D"/>
                          </a:solidFill>
                          <a:latin typeface="Calibri" pitchFamily="34" charset="0"/>
                          <a:ea typeface="Calibri" pitchFamily="34" charset="-122"/>
                          <a:cs typeface="Calibri" pitchFamily="34" charset="-120"/>
                        </a:rPr>
                        <a:t>6.3%</a:t>
                      </a:r>
                      <a:endParaRPr lang="en-US" sz="1000" dirty="0">
                        <a:latin typeface="Calibri" charset="0"/>
                        <a:ea typeface="Calibri" charset="0"/>
                        <a:cs typeface="Calibri" charset="0"/>
                      </a:endParaRPr>
                    </a:p>
                  </a:txBody>
                  <a:tcPr marL="50800" marR="50800" marT="12700" marB="127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19456">
                <a:tc>
                  <a:txBody>
                    <a:bodyPr/>
                    <a:lstStyle/>
                    <a:p>
                      <a:pPr marL="0" indent="0">
                        <a:buNone/>
                      </a:pPr>
                      <a:r>
                        <a:rPr lang="en-US" sz="1000" dirty="0">
                          <a:solidFill>
                            <a:srgbClr val="28251D"/>
                          </a:solidFill>
                          <a:latin typeface="Calibri" pitchFamily="34" charset="0"/>
                          <a:ea typeface="Calibri" pitchFamily="34" charset="-122"/>
                          <a:cs typeface="Calibri" pitchFamily="34" charset="-120"/>
                        </a:rPr>
                        <a:t>  Cambodia</a:t>
                      </a:r>
                      <a:endParaRPr lang="en-US" sz="1000" dirty="0">
                        <a:latin typeface="Calibri" charset="0"/>
                        <a:ea typeface="Calibri" charset="0"/>
                        <a:cs typeface="Calibri" charset="0"/>
                      </a:endParaRPr>
                    </a:p>
                  </a:txBody>
                  <a:tcPr marL="50800" marR="50800" marT="12700" marB="127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0EDE6"/>
                    </a:solidFill>
                  </a:tcPr>
                </a:tc>
                <a:tc>
                  <a:txBody>
                    <a:bodyPr/>
                    <a:lstStyle/>
                    <a:p>
                      <a:pPr marL="0" indent="0" algn="ctr">
                        <a:buNone/>
                      </a:pPr>
                      <a:r>
                        <a:rPr lang="en-US" sz="1000" dirty="0">
                          <a:solidFill>
                            <a:srgbClr val="28251D"/>
                          </a:solidFill>
                          <a:latin typeface="Calibri" pitchFamily="34" charset="0"/>
                          <a:ea typeface="Calibri" pitchFamily="34" charset="-122"/>
                          <a:cs typeface="Calibri" pitchFamily="34" charset="-120"/>
                        </a:rPr>
                        <a:t>7.1%</a:t>
                      </a:r>
                      <a:endParaRPr lang="en-US" sz="1000" dirty="0">
                        <a:latin typeface="Calibri" charset="0"/>
                        <a:ea typeface="Calibri" charset="0"/>
                        <a:cs typeface="Calibri" charset="0"/>
                      </a:endParaRPr>
                    </a:p>
                  </a:txBody>
                  <a:tcPr marL="50800" marR="50800" marT="12700" marB="127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0EDE6"/>
                    </a:solidFill>
                  </a:tcPr>
                </a:tc>
                <a:tc>
                  <a:txBody>
                    <a:bodyPr/>
                    <a:lstStyle/>
                    <a:p>
                      <a:pPr marL="0" indent="0" algn="ctr">
                        <a:buNone/>
                      </a:pPr>
                      <a:r>
                        <a:rPr lang="en-US" sz="1000" dirty="0">
                          <a:solidFill>
                            <a:srgbClr val="28251D"/>
                          </a:solidFill>
                          <a:latin typeface="Calibri" pitchFamily="34" charset="0"/>
                          <a:ea typeface="Calibri" pitchFamily="34" charset="-122"/>
                          <a:cs typeface="Calibri" pitchFamily="34" charset="-120"/>
                        </a:rPr>
                        <a:t>7.0%</a:t>
                      </a:r>
                      <a:endParaRPr lang="en-US" sz="1000" dirty="0">
                        <a:latin typeface="Calibri" charset="0"/>
                        <a:ea typeface="Calibri" charset="0"/>
                        <a:cs typeface="Calibri" charset="0"/>
                      </a:endParaRPr>
                    </a:p>
                  </a:txBody>
                  <a:tcPr marL="50800" marR="50800" marT="12700" marB="127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0EDE6"/>
                    </a:solidFill>
                  </a:tcPr>
                </a:tc>
                <a:extLst>
                  <a:ext uri="{0D108BD9-81ED-4DB2-BD59-A6C34878D82A}">
                    <a16:rowId xmlns:a16="http://schemas.microsoft.com/office/drawing/2014/main" val="10005"/>
                  </a:ext>
                </a:extLst>
              </a:tr>
              <a:tr h="201168">
                <a:tc>
                  <a:txBody>
                    <a:bodyPr/>
                    <a:lstStyle/>
                    <a:p>
                      <a:pPr marL="0" indent="0" algn="l">
                        <a:buNone/>
                      </a:pPr>
                      <a:r>
                        <a:rPr lang="en-US" sz="1000" b="1" dirty="0">
                          <a:solidFill>
                            <a:srgbClr val="01696F"/>
                          </a:solidFill>
                          <a:latin typeface="Trebuchet MS" pitchFamily="34" charset="0"/>
                          <a:ea typeface="Trebuchet MS" pitchFamily="34" charset="-122"/>
                          <a:cs typeface="Trebuchet MS" pitchFamily="34" charset="-120"/>
                        </a:rPr>
                        <a:t>  Slow Growth Club (≤2%)</a:t>
                      </a:r>
                      <a:endParaRPr lang="en-US" sz="1000" dirty="0">
                        <a:latin typeface="Trebuchet MS" charset="0"/>
                        <a:ea typeface="Trebuchet MS" charset="0"/>
                        <a:cs typeface="Trebuchet MS" charset="0"/>
                      </a:endParaRPr>
                    </a:p>
                  </a:txBody>
                  <a:tcPr marL="50800" marR="50800" marT="12700" marB="127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E0F0F0"/>
                    </a:solidFill>
                  </a:tcPr>
                </a:tc>
                <a:tc>
                  <a:txBody>
                    <a:bodyPr/>
                    <a:lstStyle/>
                    <a:p>
                      <a:pPr marL="0" indent="0">
                        <a:buNone/>
                      </a:pPr>
                      <a:endParaRPr lang="en-US" sz="1000" dirty="0">
                        <a:latin typeface="Trebuchet MS" charset="0"/>
                        <a:ea typeface="Trebuchet MS" charset="0"/>
                        <a:cs typeface="Trebuchet MS" charset="0"/>
                      </a:endParaRPr>
                    </a:p>
                  </a:txBody>
                  <a:tcPr marL="50800" marR="50800" marT="12700" marB="127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E0F0F0"/>
                    </a:solidFill>
                  </a:tcPr>
                </a:tc>
                <a:tc>
                  <a:txBody>
                    <a:bodyPr/>
                    <a:lstStyle/>
                    <a:p>
                      <a:pPr marL="0" indent="0">
                        <a:buNone/>
                      </a:pPr>
                      <a:endParaRPr lang="en-US" sz="1000" dirty="0">
                        <a:latin typeface="Trebuchet MS" charset="0"/>
                        <a:ea typeface="Trebuchet MS" charset="0"/>
                        <a:cs typeface="Trebuchet MS" charset="0"/>
                      </a:endParaRPr>
                    </a:p>
                  </a:txBody>
                  <a:tcPr marL="50800" marR="50800" marT="12700" marB="127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E0F0F0"/>
                    </a:solidFill>
                  </a:tcPr>
                </a:tc>
                <a:extLst>
                  <a:ext uri="{0D108BD9-81ED-4DB2-BD59-A6C34878D82A}">
                    <a16:rowId xmlns:a16="http://schemas.microsoft.com/office/drawing/2014/main" val="10006"/>
                  </a:ext>
                </a:extLst>
              </a:tr>
              <a:tr h="219456">
                <a:tc>
                  <a:txBody>
                    <a:bodyPr/>
                    <a:lstStyle/>
                    <a:p>
                      <a:pPr marL="0" indent="0">
                        <a:buNone/>
                      </a:pPr>
                      <a:r>
                        <a:rPr lang="en-US" sz="1000" dirty="0">
                          <a:solidFill>
                            <a:srgbClr val="28251D"/>
                          </a:solidFill>
                          <a:latin typeface="Calibri" pitchFamily="34" charset="0"/>
                          <a:ea typeface="Calibri" pitchFamily="34" charset="-122"/>
                          <a:cs typeface="Calibri" pitchFamily="34" charset="-120"/>
                        </a:rPr>
                        <a:t>  Japan</a:t>
                      </a:r>
                      <a:endParaRPr lang="en-US" sz="1000" dirty="0">
                        <a:latin typeface="Calibri" charset="0"/>
                        <a:ea typeface="Calibri" charset="0"/>
                        <a:cs typeface="Calibri" charset="0"/>
                      </a:endParaRPr>
                    </a:p>
                  </a:txBody>
                  <a:tcPr marL="50800" marR="50800" marT="12700" marB="127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8251D"/>
                          </a:solidFill>
                          <a:latin typeface="Calibri" pitchFamily="34" charset="0"/>
                          <a:ea typeface="Calibri" pitchFamily="34" charset="-122"/>
                          <a:cs typeface="Calibri" pitchFamily="34" charset="-120"/>
                        </a:rPr>
                        <a:t>1.3%</a:t>
                      </a:r>
                      <a:endParaRPr lang="en-US" sz="1000" dirty="0">
                        <a:latin typeface="Calibri" charset="0"/>
                        <a:ea typeface="Calibri" charset="0"/>
                        <a:cs typeface="Calibri" charset="0"/>
                      </a:endParaRPr>
                    </a:p>
                  </a:txBody>
                  <a:tcPr marL="50800" marR="50800" marT="12700" marB="127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8251D"/>
                          </a:solidFill>
                          <a:latin typeface="Calibri" pitchFamily="34" charset="0"/>
                          <a:ea typeface="Calibri" pitchFamily="34" charset="-122"/>
                          <a:cs typeface="Calibri" pitchFamily="34" charset="-120"/>
                        </a:rPr>
                        <a:t>1.3%</a:t>
                      </a:r>
                      <a:endParaRPr lang="en-US" sz="1000" dirty="0">
                        <a:latin typeface="Calibri" charset="0"/>
                        <a:ea typeface="Calibri" charset="0"/>
                        <a:cs typeface="Calibri" charset="0"/>
                      </a:endParaRPr>
                    </a:p>
                  </a:txBody>
                  <a:tcPr marL="50800" marR="50800" marT="12700" marB="127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19456">
                <a:tc>
                  <a:txBody>
                    <a:bodyPr/>
                    <a:lstStyle/>
                    <a:p>
                      <a:pPr marL="0" indent="0">
                        <a:buNone/>
                      </a:pPr>
                      <a:r>
                        <a:rPr lang="en-US" sz="1000" dirty="0">
                          <a:solidFill>
                            <a:srgbClr val="28251D"/>
                          </a:solidFill>
                          <a:latin typeface="Calibri" pitchFamily="34" charset="0"/>
                          <a:ea typeface="Calibri" pitchFamily="34" charset="-122"/>
                          <a:cs typeface="Calibri" pitchFamily="34" charset="-120"/>
                        </a:rPr>
                        <a:t>  France</a:t>
                      </a:r>
                      <a:endParaRPr lang="en-US" sz="1000" dirty="0">
                        <a:latin typeface="Calibri" charset="0"/>
                        <a:ea typeface="Calibri" charset="0"/>
                        <a:cs typeface="Calibri" charset="0"/>
                      </a:endParaRPr>
                    </a:p>
                  </a:txBody>
                  <a:tcPr marL="50800" marR="50800" marT="12700" marB="127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0EDE6"/>
                    </a:solidFill>
                  </a:tcPr>
                </a:tc>
                <a:tc>
                  <a:txBody>
                    <a:bodyPr/>
                    <a:lstStyle/>
                    <a:p>
                      <a:pPr marL="0" indent="0" algn="ctr">
                        <a:buNone/>
                      </a:pPr>
                      <a:r>
                        <a:rPr lang="en-US" sz="1000" dirty="0">
                          <a:solidFill>
                            <a:srgbClr val="28251D"/>
                          </a:solidFill>
                          <a:latin typeface="Calibri" pitchFamily="34" charset="0"/>
                          <a:ea typeface="Calibri" pitchFamily="34" charset="-122"/>
                          <a:cs typeface="Calibri" pitchFamily="34" charset="-120"/>
                        </a:rPr>
                        <a:t>2.0%</a:t>
                      </a:r>
                      <a:endParaRPr lang="en-US" sz="1000" dirty="0">
                        <a:latin typeface="Calibri" charset="0"/>
                        <a:ea typeface="Calibri" charset="0"/>
                        <a:cs typeface="Calibri" charset="0"/>
                      </a:endParaRPr>
                    </a:p>
                  </a:txBody>
                  <a:tcPr marL="50800" marR="50800" marT="12700" marB="127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0EDE6"/>
                    </a:solidFill>
                  </a:tcPr>
                </a:tc>
                <a:tc>
                  <a:txBody>
                    <a:bodyPr/>
                    <a:lstStyle/>
                    <a:p>
                      <a:pPr marL="0" indent="0" algn="ctr">
                        <a:buNone/>
                      </a:pPr>
                      <a:r>
                        <a:rPr lang="en-US" sz="1000" dirty="0">
                          <a:solidFill>
                            <a:srgbClr val="28251D"/>
                          </a:solidFill>
                          <a:latin typeface="Calibri" pitchFamily="34" charset="0"/>
                          <a:ea typeface="Calibri" pitchFamily="34" charset="-122"/>
                          <a:cs typeface="Calibri" pitchFamily="34" charset="-120"/>
                        </a:rPr>
                        <a:t>1.4%</a:t>
                      </a:r>
                      <a:endParaRPr lang="en-US" sz="1000" dirty="0">
                        <a:latin typeface="Calibri" charset="0"/>
                        <a:ea typeface="Calibri" charset="0"/>
                        <a:cs typeface="Calibri" charset="0"/>
                      </a:endParaRPr>
                    </a:p>
                  </a:txBody>
                  <a:tcPr marL="50800" marR="50800" marT="12700" marB="127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0EDE6"/>
                    </a:solidFill>
                  </a:tcPr>
                </a:tc>
                <a:extLst>
                  <a:ext uri="{0D108BD9-81ED-4DB2-BD59-A6C34878D82A}">
                    <a16:rowId xmlns:a16="http://schemas.microsoft.com/office/drawing/2014/main" val="10008"/>
                  </a:ext>
                </a:extLst>
              </a:tr>
              <a:tr h="219456">
                <a:tc>
                  <a:txBody>
                    <a:bodyPr/>
                    <a:lstStyle/>
                    <a:p>
                      <a:pPr marL="0" indent="0">
                        <a:buNone/>
                      </a:pPr>
                      <a:r>
                        <a:rPr lang="en-US" sz="1000" dirty="0">
                          <a:solidFill>
                            <a:srgbClr val="28251D"/>
                          </a:solidFill>
                          <a:latin typeface="Calibri" pitchFamily="34" charset="0"/>
                          <a:ea typeface="Calibri" pitchFamily="34" charset="-122"/>
                          <a:cs typeface="Calibri" pitchFamily="34" charset="-120"/>
                        </a:rPr>
                        <a:t>  Italy</a:t>
                      </a:r>
                      <a:endParaRPr lang="en-US" sz="1000" dirty="0">
                        <a:latin typeface="Calibri" charset="0"/>
                        <a:ea typeface="Calibri" charset="0"/>
                        <a:cs typeface="Calibri" charset="0"/>
                      </a:endParaRPr>
                    </a:p>
                  </a:txBody>
                  <a:tcPr marL="50800" marR="50800" marT="12700" marB="127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8251D"/>
                          </a:solidFill>
                          <a:latin typeface="Calibri" pitchFamily="34" charset="0"/>
                          <a:ea typeface="Calibri" pitchFamily="34" charset="-122"/>
                          <a:cs typeface="Calibri" pitchFamily="34" charset="-120"/>
                        </a:rPr>
                        <a:t>1.6%</a:t>
                      </a:r>
                      <a:endParaRPr lang="en-US" sz="1000" dirty="0">
                        <a:latin typeface="Calibri" charset="0"/>
                        <a:ea typeface="Calibri" charset="0"/>
                        <a:cs typeface="Calibri" charset="0"/>
                      </a:endParaRPr>
                    </a:p>
                  </a:txBody>
                  <a:tcPr marL="50800" marR="50800" marT="12700" marB="127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8251D"/>
                          </a:solidFill>
                          <a:latin typeface="Calibri" pitchFamily="34" charset="0"/>
                          <a:ea typeface="Calibri" pitchFamily="34" charset="-122"/>
                          <a:cs typeface="Calibri" pitchFamily="34" charset="-120"/>
                        </a:rPr>
                        <a:t>0.3%</a:t>
                      </a:r>
                      <a:endParaRPr lang="en-US" sz="1000" dirty="0">
                        <a:latin typeface="Calibri" charset="0"/>
                        <a:ea typeface="Calibri" charset="0"/>
                        <a:cs typeface="Calibri" charset="0"/>
                      </a:endParaRPr>
                    </a:p>
                  </a:txBody>
                  <a:tcPr marL="50800" marR="50800" marT="12700" marB="127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01168">
                <a:tc>
                  <a:txBody>
                    <a:bodyPr/>
                    <a:lstStyle/>
                    <a:p>
                      <a:pPr marL="0" indent="0" algn="l">
                        <a:buNone/>
                      </a:pPr>
                      <a:r>
                        <a:rPr lang="en-US" sz="1000" b="1" dirty="0">
                          <a:solidFill>
                            <a:srgbClr val="01696F"/>
                          </a:solidFill>
                          <a:latin typeface="Trebuchet MS" pitchFamily="34" charset="0"/>
                          <a:ea typeface="Trebuchet MS" pitchFamily="34" charset="-122"/>
                          <a:cs typeface="Trebuchet MS" pitchFamily="34" charset="-120"/>
                        </a:rPr>
                        <a:t>  For Reference</a:t>
                      </a:r>
                      <a:endParaRPr lang="en-US" sz="1000" dirty="0">
                        <a:latin typeface="Trebuchet MS" charset="0"/>
                        <a:ea typeface="Trebuchet MS" charset="0"/>
                        <a:cs typeface="Trebuchet MS" charset="0"/>
                      </a:endParaRPr>
                    </a:p>
                  </a:txBody>
                  <a:tcPr marL="50800" marR="50800" marT="12700" marB="127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E0F0F0"/>
                    </a:solidFill>
                  </a:tcPr>
                </a:tc>
                <a:tc>
                  <a:txBody>
                    <a:bodyPr/>
                    <a:lstStyle/>
                    <a:p>
                      <a:pPr marL="0" indent="0">
                        <a:buNone/>
                      </a:pPr>
                      <a:endParaRPr lang="en-US" sz="1000" dirty="0">
                        <a:latin typeface="Trebuchet MS" charset="0"/>
                        <a:ea typeface="Trebuchet MS" charset="0"/>
                        <a:cs typeface="Trebuchet MS" charset="0"/>
                      </a:endParaRPr>
                    </a:p>
                  </a:txBody>
                  <a:tcPr marL="50800" marR="50800" marT="12700" marB="127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E0F0F0"/>
                    </a:solidFill>
                  </a:tcPr>
                </a:tc>
                <a:tc>
                  <a:txBody>
                    <a:bodyPr/>
                    <a:lstStyle/>
                    <a:p>
                      <a:pPr marL="0" indent="0">
                        <a:buNone/>
                      </a:pPr>
                      <a:endParaRPr lang="en-US" sz="1000" dirty="0">
                        <a:latin typeface="Trebuchet MS" charset="0"/>
                        <a:ea typeface="Trebuchet MS" charset="0"/>
                        <a:cs typeface="Trebuchet MS" charset="0"/>
                      </a:endParaRPr>
                    </a:p>
                  </a:txBody>
                  <a:tcPr marL="50800" marR="50800" marT="12700" marB="127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E0F0F0"/>
                    </a:solidFill>
                  </a:tcPr>
                </a:tc>
                <a:extLst>
                  <a:ext uri="{0D108BD9-81ED-4DB2-BD59-A6C34878D82A}">
                    <a16:rowId xmlns:a16="http://schemas.microsoft.com/office/drawing/2014/main" val="10010"/>
                  </a:ext>
                </a:extLst>
              </a:tr>
              <a:tr h="219456">
                <a:tc>
                  <a:txBody>
                    <a:bodyPr/>
                    <a:lstStyle/>
                    <a:p>
                      <a:pPr marL="0" indent="0">
                        <a:buNone/>
                      </a:pPr>
                      <a:r>
                        <a:rPr lang="en-US" sz="1000" dirty="0">
                          <a:solidFill>
                            <a:srgbClr val="28251D"/>
                          </a:solidFill>
                          <a:latin typeface="Calibri" pitchFamily="34" charset="0"/>
                          <a:ea typeface="Calibri" pitchFamily="34" charset="-122"/>
                          <a:cs typeface="Calibri" pitchFamily="34" charset="-120"/>
                        </a:rPr>
                        <a:t>  United States</a:t>
                      </a:r>
                      <a:endParaRPr lang="en-US" sz="1000" dirty="0">
                        <a:latin typeface="Calibri" charset="0"/>
                        <a:ea typeface="Calibri" charset="0"/>
                        <a:cs typeface="Calibri" charset="0"/>
                      </a:endParaRPr>
                    </a:p>
                  </a:txBody>
                  <a:tcPr marL="50800" marR="50800" marT="12700" marB="127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0EDE6"/>
                    </a:solidFill>
                  </a:tcPr>
                </a:tc>
                <a:tc>
                  <a:txBody>
                    <a:bodyPr/>
                    <a:lstStyle/>
                    <a:p>
                      <a:pPr marL="0" indent="0" algn="ctr">
                        <a:buNone/>
                      </a:pPr>
                      <a:r>
                        <a:rPr lang="en-US" sz="1000" dirty="0">
                          <a:solidFill>
                            <a:srgbClr val="28251D"/>
                          </a:solidFill>
                          <a:latin typeface="Calibri" pitchFamily="34" charset="0"/>
                          <a:ea typeface="Calibri" pitchFamily="34" charset="-122"/>
                          <a:cs typeface="Calibri" pitchFamily="34" charset="-120"/>
                        </a:rPr>
                        <a:t>3.2%</a:t>
                      </a:r>
                      <a:endParaRPr lang="en-US" sz="1000" dirty="0">
                        <a:latin typeface="Calibri" charset="0"/>
                        <a:ea typeface="Calibri" charset="0"/>
                        <a:cs typeface="Calibri" charset="0"/>
                      </a:endParaRPr>
                    </a:p>
                  </a:txBody>
                  <a:tcPr marL="50800" marR="50800" marT="12700" marB="127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0EDE6"/>
                    </a:solidFill>
                  </a:tcPr>
                </a:tc>
                <a:tc>
                  <a:txBody>
                    <a:bodyPr/>
                    <a:lstStyle/>
                    <a:p>
                      <a:pPr marL="0" indent="0" algn="ctr">
                        <a:buNone/>
                      </a:pPr>
                      <a:r>
                        <a:rPr lang="en-US" sz="1000" dirty="0">
                          <a:solidFill>
                            <a:srgbClr val="28251D"/>
                          </a:solidFill>
                          <a:latin typeface="Calibri" pitchFamily="34" charset="0"/>
                          <a:ea typeface="Calibri" pitchFamily="34" charset="-122"/>
                          <a:cs typeface="Calibri" pitchFamily="34" charset="-120"/>
                        </a:rPr>
                        <a:t>2.3%</a:t>
                      </a:r>
                      <a:endParaRPr lang="en-US" sz="1000" dirty="0">
                        <a:latin typeface="Calibri" charset="0"/>
                        <a:ea typeface="Calibri" charset="0"/>
                        <a:cs typeface="Calibri" charset="0"/>
                      </a:endParaRPr>
                    </a:p>
                  </a:txBody>
                  <a:tcPr marL="50800" marR="50800" marT="12700" marB="127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0EDE6"/>
                    </a:solidFill>
                  </a:tcPr>
                </a:tc>
                <a:extLst>
                  <a:ext uri="{0D108BD9-81ED-4DB2-BD59-A6C34878D82A}">
                    <a16:rowId xmlns:a16="http://schemas.microsoft.com/office/drawing/2014/main" val="10011"/>
                  </a:ext>
                </a:extLst>
              </a:tr>
              <a:tr h="201168">
                <a:tc>
                  <a:txBody>
                    <a:bodyPr/>
                    <a:lstStyle/>
                    <a:p>
                      <a:pPr marL="0" indent="0" algn="l">
                        <a:buNone/>
                      </a:pPr>
                      <a:r>
                        <a:rPr lang="en-US" sz="1000" b="1" dirty="0">
                          <a:solidFill>
                            <a:srgbClr val="01696F"/>
                          </a:solidFill>
                          <a:latin typeface="Trebuchet MS" pitchFamily="34" charset="0"/>
                          <a:ea typeface="Trebuchet MS" pitchFamily="34" charset="-122"/>
                          <a:cs typeface="Trebuchet MS" pitchFamily="34" charset="-120"/>
                        </a:rPr>
                        <a:t>  World Averages</a:t>
                      </a:r>
                      <a:endParaRPr lang="en-US" sz="1000" dirty="0">
                        <a:latin typeface="Trebuchet MS" charset="0"/>
                        <a:ea typeface="Trebuchet MS" charset="0"/>
                        <a:cs typeface="Trebuchet MS" charset="0"/>
                      </a:endParaRPr>
                    </a:p>
                  </a:txBody>
                  <a:tcPr marL="50800" marR="50800" marT="12700" marB="127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E0F0F0"/>
                    </a:solidFill>
                  </a:tcPr>
                </a:tc>
                <a:tc>
                  <a:txBody>
                    <a:bodyPr/>
                    <a:lstStyle/>
                    <a:p>
                      <a:pPr marL="0" indent="0">
                        <a:buNone/>
                      </a:pPr>
                      <a:endParaRPr lang="en-US" sz="1000" dirty="0">
                        <a:latin typeface="Trebuchet MS" charset="0"/>
                        <a:ea typeface="Trebuchet MS" charset="0"/>
                        <a:cs typeface="Trebuchet MS" charset="0"/>
                      </a:endParaRPr>
                    </a:p>
                  </a:txBody>
                  <a:tcPr marL="50800" marR="50800" marT="12700" marB="127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E0F0F0"/>
                    </a:solidFill>
                  </a:tcPr>
                </a:tc>
                <a:tc>
                  <a:txBody>
                    <a:bodyPr/>
                    <a:lstStyle/>
                    <a:p>
                      <a:pPr marL="0" indent="0">
                        <a:buNone/>
                      </a:pPr>
                      <a:endParaRPr lang="en-US" sz="1000" dirty="0">
                        <a:latin typeface="Trebuchet MS" charset="0"/>
                        <a:ea typeface="Trebuchet MS" charset="0"/>
                        <a:cs typeface="Trebuchet MS" charset="0"/>
                      </a:endParaRPr>
                    </a:p>
                  </a:txBody>
                  <a:tcPr marL="50800" marR="50800" marT="12700" marB="127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E0F0F0"/>
                    </a:solidFill>
                  </a:tcPr>
                </a:tc>
                <a:extLst>
                  <a:ext uri="{0D108BD9-81ED-4DB2-BD59-A6C34878D82A}">
                    <a16:rowId xmlns:a16="http://schemas.microsoft.com/office/drawing/2014/main" val="10012"/>
                  </a:ext>
                </a:extLst>
              </a:tr>
              <a:tr h="219456">
                <a:tc>
                  <a:txBody>
                    <a:bodyPr/>
                    <a:lstStyle/>
                    <a:p>
                      <a:pPr marL="0" indent="0">
                        <a:buNone/>
                      </a:pPr>
                      <a:r>
                        <a:rPr lang="en-US" sz="1000" dirty="0">
                          <a:solidFill>
                            <a:srgbClr val="28251D"/>
                          </a:solidFill>
                          <a:latin typeface="Calibri" pitchFamily="34" charset="0"/>
                          <a:ea typeface="Calibri" pitchFamily="34" charset="-122"/>
                          <a:cs typeface="Calibri" pitchFamily="34" charset="-120"/>
                        </a:rPr>
                        <a:t>  High income</a:t>
                      </a:r>
                      <a:endParaRPr lang="en-US" sz="1000" dirty="0">
                        <a:latin typeface="Calibri" charset="0"/>
                        <a:ea typeface="Calibri" charset="0"/>
                        <a:cs typeface="Calibri" charset="0"/>
                      </a:endParaRPr>
                    </a:p>
                  </a:txBody>
                  <a:tcPr marL="50800" marR="50800" marT="12700" marB="127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8251D"/>
                          </a:solidFill>
                          <a:latin typeface="Calibri" pitchFamily="34" charset="0"/>
                          <a:ea typeface="Calibri" pitchFamily="34" charset="-122"/>
                          <a:cs typeface="Calibri" pitchFamily="34" charset="-120"/>
                        </a:rPr>
                        <a:t>2.7%</a:t>
                      </a:r>
                      <a:endParaRPr lang="en-US" sz="1000" dirty="0">
                        <a:latin typeface="Calibri" charset="0"/>
                        <a:ea typeface="Calibri" charset="0"/>
                        <a:cs typeface="Calibri" charset="0"/>
                      </a:endParaRPr>
                    </a:p>
                  </a:txBody>
                  <a:tcPr marL="50800" marR="50800" marT="12700" marB="127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8251D"/>
                          </a:solidFill>
                          <a:latin typeface="Calibri" pitchFamily="34" charset="0"/>
                          <a:ea typeface="Calibri" pitchFamily="34" charset="-122"/>
                          <a:cs typeface="Calibri" pitchFamily="34" charset="-120"/>
                        </a:rPr>
                        <a:t>1.7%</a:t>
                      </a:r>
                      <a:endParaRPr lang="en-US" sz="1000" dirty="0">
                        <a:latin typeface="Calibri" charset="0"/>
                        <a:ea typeface="Calibri" charset="0"/>
                        <a:cs typeface="Calibri" charset="0"/>
                      </a:endParaRPr>
                    </a:p>
                  </a:txBody>
                  <a:tcPr marL="50800" marR="50800" marT="12700" marB="127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219456">
                <a:tc>
                  <a:txBody>
                    <a:bodyPr/>
                    <a:lstStyle/>
                    <a:p>
                      <a:pPr marL="0" indent="0">
                        <a:buNone/>
                      </a:pPr>
                      <a:r>
                        <a:rPr lang="en-US" sz="1000" dirty="0">
                          <a:solidFill>
                            <a:srgbClr val="28251D"/>
                          </a:solidFill>
                          <a:latin typeface="Calibri" pitchFamily="34" charset="0"/>
                          <a:ea typeface="Calibri" pitchFamily="34" charset="-122"/>
                          <a:cs typeface="Calibri" pitchFamily="34" charset="-120"/>
                        </a:rPr>
                        <a:t>  Middle income</a:t>
                      </a:r>
                      <a:endParaRPr lang="en-US" sz="1000" dirty="0">
                        <a:latin typeface="Calibri" charset="0"/>
                        <a:ea typeface="Calibri" charset="0"/>
                        <a:cs typeface="Calibri" charset="0"/>
                      </a:endParaRPr>
                    </a:p>
                  </a:txBody>
                  <a:tcPr marL="50800" marR="50800" marT="12700" marB="127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0EDE6"/>
                    </a:solidFill>
                  </a:tcPr>
                </a:tc>
                <a:tc>
                  <a:txBody>
                    <a:bodyPr/>
                    <a:lstStyle/>
                    <a:p>
                      <a:pPr marL="0" indent="0" algn="ctr">
                        <a:buNone/>
                      </a:pPr>
                      <a:r>
                        <a:rPr lang="en-US" sz="1000" dirty="0">
                          <a:solidFill>
                            <a:srgbClr val="28251D"/>
                          </a:solidFill>
                          <a:latin typeface="Calibri" pitchFamily="34" charset="0"/>
                          <a:ea typeface="Calibri" pitchFamily="34" charset="-122"/>
                          <a:cs typeface="Calibri" pitchFamily="34" charset="-120"/>
                        </a:rPr>
                        <a:t>4.7%</a:t>
                      </a:r>
                      <a:endParaRPr lang="en-US" sz="1000" dirty="0">
                        <a:latin typeface="Calibri" charset="0"/>
                        <a:ea typeface="Calibri" charset="0"/>
                        <a:cs typeface="Calibri" charset="0"/>
                      </a:endParaRPr>
                    </a:p>
                  </a:txBody>
                  <a:tcPr marL="50800" marR="50800" marT="12700" marB="127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0EDE6"/>
                    </a:solidFill>
                  </a:tcPr>
                </a:tc>
                <a:tc>
                  <a:txBody>
                    <a:bodyPr/>
                    <a:lstStyle/>
                    <a:p>
                      <a:pPr marL="0" indent="0" algn="ctr">
                        <a:buNone/>
                      </a:pPr>
                      <a:r>
                        <a:rPr lang="en-US" sz="1000" dirty="0">
                          <a:solidFill>
                            <a:srgbClr val="28251D"/>
                          </a:solidFill>
                          <a:latin typeface="Calibri" pitchFamily="34" charset="0"/>
                          <a:ea typeface="Calibri" pitchFamily="34" charset="-122"/>
                          <a:cs typeface="Calibri" pitchFamily="34" charset="-120"/>
                        </a:rPr>
                        <a:t>4.0%</a:t>
                      </a:r>
                      <a:endParaRPr lang="en-US" sz="1000" dirty="0">
                        <a:latin typeface="Calibri" charset="0"/>
                        <a:ea typeface="Calibri" charset="0"/>
                        <a:cs typeface="Calibri" charset="0"/>
                      </a:endParaRPr>
                    </a:p>
                  </a:txBody>
                  <a:tcPr marL="50800" marR="50800" marT="12700" marB="127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0EDE6"/>
                    </a:solidFill>
                  </a:tcPr>
                </a:tc>
                <a:extLst>
                  <a:ext uri="{0D108BD9-81ED-4DB2-BD59-A6C34878D82A}">
                    <a16:rowId xmlns:a16="http://schemas.microsoft.com/office/drawing/2014/main" val="10014"/>
                  </a:ext>
                </a:extLst>
              </a:tr>
              <a:tr h="219456">
                <a:tc>
                  <a:txBody>
                    <a:bodyPr/>
                    <a:lstStyle/>
                    <a:p>
                      <a:pPr marL="0" indent="0">
                        <a:buNone/>
                      </a:pPr>
                      <a:r>
                        <a:rPr lang="en-US" sz="1000" dirty="0">
                          <a:solidFill>
                            <a:srgbClr val="28251D"/>
                          </a:solidFill>
                          <a:latin typeface="Calibri" pitchFamily="34" charset="0"/>
                          <a:ea typeface="Calibri" pitchFamily="34" charset="-122"/>
                          <a:cs typeface="Calibri" pitchFamily="34" charset="-120"/>
                        </a:rPr>
                        <a:t>  Low income</a:t>
                      </a:r>
                      <a:endParaRPr lang="en-US" sz="1000" dirty="0">
                        <a:latin typeface="Calibri" charset="0"/>
                        <a:ea typeface="Calibri" charset="0"/>
                        <a:cs typeface="Calibri" charset="0"/>
                      </a:endParaRPr>
                    </a:p>
                  </a:txBody>
                  <a:tcPr marL="50800" marR="50800" marT="12700" marB="127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28251D"/>
                          </a:solidFill>
                          <a:latin typeface="Calibri" pitchFamily="34" charset="0"/>
                          <a:ea typeface="Calibri" pitchFamily="34" charset="-122"/>
                          <a:cs typeface="Calibri" pitchFamily="34" charset="-120"/>
                        </a:rPr>
                        <a:t>3.8%</a:t>
                      </a:r>
                      <a:endParaRPr lang="en-US" sz="1000" dirty="0">
                        <a:latin typeface="Calibri" charset="0"/>
                        <a:ea typeface="Calibri" charset="0"/>
                        <a:cs typeface="Calibri" charset="0"/>
                      </a:endParaRPr>
                    </a:p>
                  </a:txBody>
                  <a:tcPr marL="50800" marR="50800" marT="12700" marB="127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28251D"/>
                          </a:solidFill>
                          <a:latin typeface="Calibri" pitchFamily="34" charset="0"/>
                          <a:ea typeface="Calibri" pitchFamily="34" charset="-122"/>
                          <a:cs typeface="Calibri" pitchFamily="34" charset="-120"/>
                        </a:rPr>
                        <a:t>4.5%</a:t>
                      </a:r>
                      <a:endParaRPr lang="en-US" sz="1000" dirty="0">
                        <a:latin typeface="Calibri" charset="0"/>
                        <a:ea typeface="Calibri" charset="0"/>
                        <a:cs typeface="Calibri" charset="0"/>
                      </a:endParaRPr>
                    </a:p>
                  </a:txBody>
                  <a:tcPr marL="50800" marR="50800" marT="12700" marB="127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FFFFF"/>
                    </a:solidFill>
                  </a:tcPr>
                </a:tc>
                <a:extLst>
                  <a:ext uri="{0D108BD9-81ED-4DB2-BD59-A6C34878D82A}">
                    <a16:rowId xmlns:a16="http://schemas.microsoft.com/office/drawing/2014/main" val="10015"/>
                  </a:ext>
                </a:extLst>
              </a:tr>
            </a:tbl>
          </a:graphicData>
        </a:graphic>
      </p:graphicFrame>
      <p:sp>
        <p:nvSpPr>
          <p:cNvPr id="5" name="Text 2"/>
          <p:cNvSpPr/>
          <p:nvPr/>
        </p:nvSpPr>
        <p:spPr>
          <a:xfrm>
            <a:off x="1097280" y="4251960"/>
            <a:ext cx="6949440" cy="274320"/>
          </a:xfrm>
          <a:prstGeom prst="rect">
            <a:avLst/>
          </a:prstGeom>
          <a:noFill/>
          <a:ln/>
        </p:spPr>
        <p:txBody>
          <a:bodyPr wrap="square" lIns="0" tIns="0" rIns="0" bIns="0" rtlCol="0" anchor="ctr"/>
          <a:lstStyle/>
          <a:p>
            <a:pPr marL="0" indent="0">
              <a:buNone/>
            </a:pPr>
            <a:r>
              <a:rPr lang="en-US" sz="1100" b="1" i="1" dirty="0">
                <a:solidFill>
                  <a:srgbClr val="A84B2F"/>
                </a:solidFill>
                <a:latin typeface="Calibri" pitchFamily="34" charset="0"/>
                <a:ea typeface="Calibri" pitchFamily="34" charset="-122"/>
                <a:cs typeface="Calibri" pitchFamily="34" charset="-120"/>
              </a:rPr>
              <a:t>Key insight: Low-income &gt; Middle-income &gt; High-income growth rates — convergence in action</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A3D"/>
        </a:solidFill>
        <a:effectLst/>
      </p:bgPr>
    </p:bg>
    <p:spTree>
      <p:nvGrpSpPr>
        <p:cNvPr id="1" name=""/>
        <p:cNvGrpSpPr/>
        <p:nvPr/>
      </p:nvGrpSpPr>
      <p:grpSpPr>
        <a:xfrm>
          <a:off x="0" y="0"/>
          <a:ext cx="0" cy="0"/>
          <a:chOff x="0" y="0"/>
          <a:chExt cx="0" cy="0"/>
        </a:xfrm>
      </p:grpSpPr>
      <p:sp>
        <p:nvSpPr>
          <p:cNvPr id="2" name="Text 0"/>
          <p:cNvSpPr>
            <a:spLocks noGrp="1"/>
          </p:cNvSpPr>
          <p:nvPr>
            <p:ph type="title" idx="4294967295"/>
          </p:nvPr>
        </p:nvSpPr>
        <p:spPr>
          <a:xfrm>
            <a:off x="457200" y="309407"/>
            <a:ext cx="8229600" cy="54864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Key Takeaways</a:t>
            </a:r>
            <a:endParaRPr kumimoji="0" lang="en-US" sz="36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Text 2"/>
          <p:cNvSpPr/>
          <p:nvPr/>
        </p:nvSpPr>
        <p:spPr>
          <a:xfrm>
            <a:off x="457200" y="1097280"/>
            <a:ext cx="8229600" cy="2926080"/>
          </a:xfrm>
          <a:prstGeom prst="rect">
            <a:avLst/>
          </a:prstGeom>
          <a:noFill/>
          <a:ln/>
        </p:spPr>
        <p:txBody>
          <a:bodyPr wrap="square" lIns="0" tIns="0" rIns="0" bIns="0" rtlCol="0" anchor="t"/>
          <a:lstStyle/>
          <a:p>
            <a:pPr marL="0" indent="0">
              <a:spcAft>
                <a:spcPts val="1200"/>
              </a:spcAft>
              <a:buNone/>
            </a:pPr>
            <a:r>
              <a:rPr lang="en-US" sz="1500" b="1" dirty="0">
                <a:solidFill>
                  <a:srgbClr val="CDD5DF"/>
                </a:solidFill>
                <a:latin typeface="Calibri" pitchFamily="34" charset="0"/>
                <a:ea typeface="Calibri" pitchFamily="34" charset="-122"/>
                <a:cs typeface="Calibri" pitchFamily="34" charset="-120"/>
              </a:rPr>
              <a:t>1.  Modern economic growth began ~1800 — for most of history, living standards were stagnant</a:t>
            </a:r>
            <a:endParaRPr lang="en-US" sz="1500" b="1" dirty="0"/>
          </a:p>
          <a:p>
            <a:pPr marL="0" indent="0">
              <a:spcAft>
                <a:spcPts val="1200"/>
              </a:spcAft>
              <a:buNone/>
            </a:pPr>
            <a:r>
              <a:rPr lang="en-US" sz="1500" b="1" dirty="0">
                <a:solidFill>
                  <a:srgbClr val="CDD5DF"/>
                </a:solidFill>
                <a:latin typeface="Calibri" pitchFamily="34" charset="0"/>
                <a:ea typeface="Calibri" pitchFamily="34" charset="-122"/>
                <a:cs typeface="Calibri" pitchFamily="34" charset="-120"/>
              </a:rPr>
              <a:t>2.  Institutions (property rights, rule of law, economic freedom) are the foundation</a:t>
            </a:r>
            <a:endParaRPr lang="en-US" sz="1500" b="1" dirty="0"/>
          </a:p>
          <a:p>
            <a:pPr marL="0" indent="0">
              <a:spcAft>
                <a:spcPts val="1200"/>
              </a:spcAft>
              <a:buNone/>
            </a:pPr>
            <a:r>
              <a:rPr lang="en-US" sz="1500" b="1" dirty="0">
                <a:solidFill>
                  <a:srgbClr val="CDD5DF"/>
                </a:solidFill>
                <a:latin typeface="Calibri" pitchFamily="34" charset="0"/>
                <a:ea typeface="Calibri" pitchFamily="34" charset="-122"/>
                <a:cs typeface="Calibri" pitchFamily="34" charset="-120"/>
              </a:rPr>
              <a:t>3.  Growth comes from physical capital, human capital, technology, and trade — with technology as the most powerful driver</a:t>
            </a:r>
            <a:endParaRPr lang="en-US" sz="1500" b="1" dirty="0"/>
          </a:p>
          <a:p>
            <a:pPr marL="0" indent="0">
              <a:spcAft>
                <a:spcPts val="1200"/>
              </a:spcAft>
              <a:buNone/>
            </a:pPr>
            <a:r>
              <a:rPr lang="en-US" sz="1500" b="1" dirty="0">
                <a:solidFill>
                  <a:srgbClr val="CDD5DF"/>
                </a:solidFill>
                <a:latin typeface="Calibri" pitchFamily="34" charset="0"/>
                <a:ea typeface="Calibri" pitchFamily="34" charset="-122"/>
                <a:cs typeface="Calibri" pitchFamily="34" charset="-120"/>
              </a:rPr>
              <a:t>4.  Compounding makes small growth differences enormous over time (Rule of 70)</a:t>
            </a:r>
            <a:endParaRPr lang="en-US" sz="1500" b="1" dirty="0"/>
          </a:p>
          <a:p>
            <a:pPr marL="0" indent="0">
              <a:spcAft>
                <a:spcPts val="1200"/>
              </a:spcAft>
              <a:buNone/>
            </a:pPr>
            <a:r>
              <a:rPr lang="en-US" sz="1500" b="1" dirty="0">
                <a:solidFill>
                  <a:srgbClr val="CDD5DF"/>
                </a:solidFill>
                <a:latin typeface="Calibri" pitchFamily="34" charset="0"/>
                <a:ea typeface="Calibri" pitchFamily="34" charset="-122"/>
                <a:cs typeface="Calibri" pitchFamily="34" charset="-120"/>
              </a:rPr>
              <a:t>5.  Convergence is possible but not guaranteed — it requires the right institutional recipe</a:t>
            </a:r>
            <a:endParaRPr lang="en-US" sz="1500" b="1" dirty="0"/>
          </a:p>
        </p:txBody>
      </p:sp>
      <p:sp>
        <p:nvSpPr>
          <p:cNvPr id="5" name="Shape 3" descr="&quot;The consequences for human welfare... are simply staggering.&quot;&#10;"/>
          <p:cNvSpPr/>
          <p:nvPr/>
        </p:nvSpPr>
        <p:spPr>
          <a:xfrm>
            <a:off x="457200" y="4160520"/>
            <a:ext cx="8229600" cy="640080"/>
          </a:xfrm>
          <a:prstGeom prst="rect">
            <a:avLst/>
          </a:prstGeom>
          <a:solidFill>
            <a:srgbClr val="243448"/>
          </a:solidFill>
          <a:ln/>
        </p:spPr>
        <p:txBody>
          <a:bodyPr/>
          <a:lstStyle/>
          <a:p>
            <a:endParaRPr lang="en-US"/>
          </a:p>
        </p:txBody>
      </p:sp>
      <p:sp>
        <p:nvSpPr>
          <p:cNvPr id="6" name="Text 4"/>
          <p:cNvSpPr/>
          <p:nvPr/>
        </p:nvSpPr>
        <p:spPr>
          <a:xfrm>
            <a:off x="640080" y="4160520"/>
            <a:ext cx="6400800" cy="365760"/>
          </a:xfrm>
          <a:prstGeom prst="rect">
            <a:avLst/>
          </a:prstGeom>
          <a:noFill/>
          <a:ln/>
        </p:spPr>
        <p:txBody>
          <a:bodyPr wrap="square" lIns="0" tIns="0" rIns="0" bIns="0" rtlCol="0" anchor="ctr"/>
          <a:lstStyle/>
          <a:p>
            <a:pPr marL="0" indent="0">
              <a:buNone/>
            </a:pPr>
            <a:r>
              <a:rPr lang="en-US" sz="1400" i="1" dirty="0">
                <a:solidFill>
                  <a:srgbClr val="FFFFFF"/>
                </a:solidFill>
                <a:latin typeface="Calibri" pitchFamily="34" charset="0"/>
                <a:ea typeface="Calibri" pitchFamily="34" charset="-122"/>
                <a:cs typeface="Calibri" pitchFamily="34" charset="-120"/>
              </a:rPr>
              <a:t>"The consequences for human welfare... are simply staggering."</a:t>
            </a:r>
            <a:endParaRPr lang="en-US" sz="1400" dirty="0"/>
          </a:p>
        </p:txBody>
      </p:sp>
      <p:sp>
        <p:nvSpPr>
          <p:cNvPr id="7" name="Text 5"/>
          <p:cNvSpPr/>
          <p:nvPr/>
        </p:nvSpPr>
        <p:spPr>
          <a:xfrm>
            <a:off x="640080" y="4480560"/>
            <a:ext cx="6400800" cy="274320"/>
          </a:xfrm>
          <a:prstGeom prst="rect">
            <a:avLst/>
          </a:prstGeom>
          <a:noFill/>
          <a:ln/>
        </p:spPr>
        <p:txBody>
          <a:bodyPr wrap="square" lIns="0" tIns="0" rIns="0" bIns="0" rtlCol="0" anchor="ctr"/>
          <a:lstStyle/>
          <a:p>
            <a:pPr marL="0" indent="0">
              <a:buNone/>
            </a:pPr>
            <a:r>
              <a:rPr lang="en-US" sz="1100" dirty="0">
                <a:solidFill>
                  <a:schemeClr val="bg1"/>
                </a:solidFill>
                <a:latin typeface="Calibri" pitchFamily="34" charset="0"/>
                <a:ea typeface="Calibri" pitchFamily="34" charset="-122"/>
                <a:cs typeface="Calibri" pitchFamily="34" charset="-120"/>
              </a:rPr>
              <a:t>— Robert E. Lucas Jr.</a:t>
            </a:r>
            <a:endParaRPr lang="en-US" sz="1100" dirty="0">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2948</Words>
  <Application>Microsoft Office PowerPoint</Application>
  <PresentationFormat>On-screen Show (16:9)</PresentationFormat>
  <Paragraphs>175</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Trebuchet MS</vt:lpstr>
      <vt:lpstr>Office Theme</vt:lpstr>
      <vt:lpstr>Economic Growth</vt:lpstr>
      <vt:lpstr>The Great Enrichment: A Recent Revolution</vt:lpstr>
      <vt:lpstr>From Poverty to Prosperity: South Korea</vt:lpstr>
      <vt:lpstr>Institutions: The Soil Where Growth Takes Root</vt:lpstr>
      <vt:lpstr>Labor Productivity: The Engine of Growth</vt:lpstr>
      <vt:lpstr>The Four Ingredients of Economic Growth</vt:lpstr>
      <vt:lpstr>What Matters Most? Growth Accounting</vt:lpstr>
      <vt:lpstr>Why Even 1% Growth Matters</vt:lpstr>
      <vt:lpstr>Can Poor Countries Catch Up?</vt:lpstr>
      <vt:lpstr>The Scoreboard: Who's Growing Fastest?</vt:lpstr>
      <vt:lpstr>Key Takeaways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 Economic Growth</dc:title>
  <dc:subject>PptxGenJS Presentation</dc:subject>
  <dc:creator>Macroeconomics Course</dc:creator>
  <cp:lastModifiedBy>Scott T Lane</cp:lastModifiedBy>
  <cp:revision>2</cp:revision>
  <dcterms:created xsi:type="dcterms:W3CDTF">2026-03-26T14:51:28Z</dcterms:created>
  <dcterms:modified xsi:type="dcterms:W3CDTF">2026-03-30T12:58:57Z</dcterms:modified>
</cp:coreProperties>
</file>