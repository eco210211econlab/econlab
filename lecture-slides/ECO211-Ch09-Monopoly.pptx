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4" r:id="rId1"/>
  </p:sldMasterIdLst>
  <p:notesMasterIdLst>
    <p:notesMasterId r:id="rId16"/>
  </p:notesMasterIdLst>
  <p:sldIdLst>
    <p:sldId id="256" r:id="rId2"/>
    <p:sldId id="286" r:id="rId3"/>
    <p:sldId id="260" r:id="rId4"/>
    <p:sldId id="262" r:id="rId5"/>
    <p:sldId id="264" r:id="rId6"/>
    <p:sldId id="265" r:id="rId7"/>
    <p:sldId id="268" r:id="rId8"/>
    <p:sldId id="269" r:id="rId9"/>
    <p:sldId id="272" r:id="rId10"/>
    <p:sldId id="275" r:id="rId11"/>
    <p:sldId id="287" r:id="rId12"/>
    <p:sldId id="280" r:id="rId13"/>
    <p:sldId id="284" r:id="rId14"/>
    <p:sldId id="288"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9232B9-4AB1-4379-9452-150F5EC31206}" v="1" dt="2026-02-12T19:06:08.682"/>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97" autoAdjust="0"/>
    <p:restoredTop sz="76803" autoAdjust="0"/>
  </p:normalViewPr>
  <p:slideViewPr>
    <p:cSldViewPr snapToGrid="0">
      <p:cViewPr varScale="1">
        <p:scale>
          <a:sx n="79" d="100"/>
          <a:sy n="79" d="100"/>
        </p:scale>
        <p:origin x="1074" y="7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ott T Lane" userId="c97bbaa9-35da-4a3b-a646-d12e455ac46e" providerId="ADAL" clId="{4AC5D9BA-6D0A-4EE8-A8F8-9198125B3993}"/>
    <pc:docChg chg="modSld">
      <pc:chgData name="Scott T Lane" userId="c97bbaa9-35da-4a3b-a646-d12e455ac46e" providerId="ADAL" clId="{4AC5D9BA-6D0A-4EE8-A8F8-9198125B3993}" dt="2026-02-12T19:06:08.681" v="0"/>
      <pc:docMkLst>
        <pc:docMk/>
      </pc:docMkLst>
      <pc:sldChg chg="delSp modTransition modAnim">
        <pc:chgData name="Scott T Lane" userId="c97bbaa9-35da-4a3b-a646-d12e455ac46e" providerId="ADAL" clId="{4AC5D9BA-6D0A-4EE8-A8F8-9198125B3993}" dt="2026-02-12T19:06:08.681" v="0"/>
        <pc:sldMkLst>
          <pc:docMk/>
          <pc:sldMk cId="2946475127" sldId="256"/>
        </pc:sldMkLst>
        <pc:picChg chg="del">
          <ac:chgData name="Scott T Lane" userId="c97bbaa9-35da-4a3b-a646-d12e455ac46e" providerId="ADAL" clId="{4AC5D9BA-6D0A-4EE8-A8F8-9198125B3993}" dt="2026-02-12T19:06:08.681" v="0"/>
          <ac:picMkLst>
            <pc:docMk/>
            <pc:sldMk cId="2946475127" sldId="256"/>
            <ac:picMk id="7" creationId="{04B3D043-78F8-EFBE-F19E-2E9C2D3E325C}"/>
          </ac:picMkLst>
        </pc:picChg>
      </pc:sldChg>
      <pc:sldChg chg="delSp modTransition modAnim">
        <pc:chgData name="Scott T Lane" userId="c97bbaa9-35da-4a3b-a646-d12e455ac46e" providerId="ADAL" clId="{4AC5D9BA-6D0A-4EE8-A8F8-9198125B3993}" dt="2026-02-12T19:06:08.681" v="0"/>
        <pc:sldMkLst>
          <pc:docMk/>
          <pc:sldMk cId="1427618466" sldId="260"/>
        </pc:sldMkLst>
        <pc:picChg chg="del">
          <ac:chgData name="Scott T Lane" userId="c97bbaa9-35da-4a3b-a646-d12e455ac46e" providerId="ADAL" clId="{4AC5D9BA-6D0A-4EE8-A8F8-9198125B3993}" dt="2026-02-12T19:06:08.681" v="0"/>
          <ac:picMkLst>
            <pc:docMk/>
            <pc:sldMk cId="1427618466" sldId="260"/>
            <ac:picMk id="4" creationId="{EA3736D9-907F-10D1-256A-F4897DFC5A45}"/>
          </ac:picMkLst>
        </pc:picChg>
      </pc:sldChg>
      <pc:sldChg chg="delSp modTransition modAnim">
        <pc:chgData name="Scott T Lane" userId="c97bbaa9-35da-4a3b-a646-d12e455ac46e" providerId="ADAL" clId="{4AC5D9BA-6D0A-4EE8-A8F8-9198125B3993}" dt="2026-02-12T19:06:08.681" v="0"/>
        <pc:sldMkLst>
          <pc:docMk/>
          <pc:sldMk cId="716842868" sldId="262"/>
        </pc:sldMkLst>
        <pc:picChg chg="del">
          <ac:chgData name="Scott T Lane" userId="c97bbaa9-35da-4a3b-a646-d12e455ac46e" providerId="ADAL" clId="{4AC5D9BA-6D0A-4EE8-A8F8-9198125B3993}" dt="2026-02-12T19:06:08.681" v="0"/>
          <ac:picMkLst>
            <pc:docMk/>
            <pc:sldMk cId="716842868" sldId="262"/>
            <ac:picMk id="4" creationId="{2EF61566-3502-4EC3-D1D4-276B34570614}"/>
          </ac:picMkLst>
        </pc:picChg>
      </pc:sldChg>
      <pc:sldChg chg="delSp modTransition modAnim">
        <pc:chgData name="Scott T Lane" userId="c97bbaa9-35da-4a3b-a646-d12e455ac46e" providerId="ADAL" clId="{4AC5D9BA-6D0A-4EE8-A8F8-9198125B3993}" dt="2026-02-12T19:06:08.681" v="0"/>
        <pc:sldMkLst>
          <pc:docMk/>
          <pc:sldMk cId="3187651777" sldId="264"/>
        </pc:sldMkLst>
        <pc:picChg chg="del">
          <ac:chgData name="Scott T Lane" userId="c97bbaa9-35da-4a3b-a646-d12e455ac46e" providerId="ADAL" clId="{4AC5D9BA-6D0A-4EE8-A8F8-9198125B3993}" dt="2026-02-12T19:06:08.681" v="0"/>
          <ac:picMkLst>
            <pc:docMk/>
            <pc:sldMk cId="3187651777" sldId="264"/>
            <ac:picMk id="4" creationId="{A15D3C44-E27A-4AFF-75B4-AE4B83DD4F33}"/>
          </ac:picMkLst>
        </pc:picChg>
      </pc:sldChg>
      <pc:sldChg chg="delSp modTransition modAnim">
        <pc:chgData name="Scott T Lane" userId="c97bbaa9-35da-4a3b-a646-d12e455ac46e" providerId="ADAL" clId="{4AC5D9BA-6D0A-4EE8-A8F8-9198125B3993}" dt="2026-02-12T19:06:08.681" v="0"/>
        <pc:sldMkLst>
          <pc:docMk/>
          <pc:sldMk cId="4193713489" sldId="265"/>
        </pc:sldMkLst>
        <pc:picChg chg="del">
          <ac:chgData name="Scott T Lane" userId="c97bbaa9-35da-4a3b-a646-d12e455ac46e" providerId="ADAL" clId="{4AC5D9BA-6D0A-4EE8-A8F8-9198125B3993}" dt="2026-02-12T19:06:08.681" v="0"/>
          <ac:picMkLst>
            <pc:docMk/>
            <pc:sldMk cId="4193713489" sldId="265"/>
            <ac:picMk id="4" creationId="{B5F5781B-B56A-1236-E75A-5E50411C9DFE}"/>
          </ac:picMkLst>
        </pc:picChg>
      </pc:sldChg>
      <pc:sldChg chg="delSp modTransition modAnim">
        <pc:chgData name="Scott T Lane" userId="c97bbaa9-35da-4a3b-a646-d12e455ac46e" providerId="ADAL" clId="{4AC5D9BA-6D0A-4EE8-A8F8-9198125B3993}" dt="2026-02-12T19:06:08.681" v="0"/>
        <pc:sldMkLst>
          <pc:docMk/>
          <pc:sldMk cId="2507520138" sldId="268"/>
        </pc:sldMkLst>
        <pc:picChg chg="del">
          <ac:chgData name="Scott T Lane" userId="c97bbaa9-35da-4a3b-a646-d12e455ac46e" providerId="ADAL" clId="{4AC5D9BA-6D0A-4EE8-A8F8-9198125B3993}" dt="2026-02-12T19:06:08.681" v="0"/>
          <ac:picMkLst>
            <pc:docMk/>
            <pc:sldMk cId="2507520138" sldId="268"/>
            <ac:picMk id="4" creationId="{D35DBCCC-7DEA-5FDE-8875-7F4E9FF79588}"/>
          </ac:picMkLst>
        </pc:picChg>
      </pc:sldChg>
      <pc:sldChg chg="delSp modTransition modAnim">
        <pc:chgData name="Scott T Lane" userId="c97bbaa9-35da-4a3b-a646-d12e455ac46e" providerId="ADAL" clId="{4AC5D9BA-6D0A-4EE8-A8F8-9198125B3993}" dt="2026-02-12T19:06:08.681" v="0"/>
        <pc:sldMkLst>
          <pc:docMk/>
          <pc:sldMk cId="1202500965" sldId="269"/>
        </pc:sldMkLst>
        <pc:picChg chg="del">
          <ac:chgData name="Scott T Lane" userId="c97bbaa9-35da-4a3b-a646-d12e455ac46e" providerId="ADAL" clId="{4AC5D9BA-6D0A-4EE8-A8F8-9198125B3993}" dt="2026-02-12T19:06:08.681" v="0"/>
          <ac:picMkLst>
            <pc:docMk/>
            <pc:sldMk cId="1202500965" sldId="269"/>
            <ac:picMk id="5" creationId="{2C9621C8-2C06-A0D5-F65A-54F95F0A2991}"/>
          </ac:picMkLst>
        </pc:picChg>
      </pc:sldChg>
      <pc:sldChg chg="delSp modTransition modAnim">
        <pc:chgData name="Scott T Lane" userId="c97bbaa9-35da-4a3b-a646-d12e455ac46e" providerId="ADAL" clId="{4AC5D9BA-6D0A-4EE8-A8F8-9198125B3993}" dt="2026-02-12T19:06:08.681" v="0"/>
        <pc:sldMkLst>
          <pc:docMk/>
          <pc:sldMk cId="1767440335" sldId="272"/>
        </pc:sldMkLst>
        <pc:picChg chg="del">
          <ac:chgData name="Scott T Lane" userId="c97bbaa9-35da-4a3b-a646-d12e455ac46e" providerId="ADAL" clId="{4AC5D9BA-6D0A-4EE8-A8F8-9198125B3993}" dt="2026-02-12T19:06:08.681" v="0"/>
          <ac:picMkLst>
            <pc:docMk/>
            <pc:sldMk cId="1767440335" sldId="272"/>
            <ac:picMk id="5" creationId="{FC857F52-E04D-9AD2-9D02-B99E5A8C44B7}"/>
          </ac:picMkLst>
        </pc:picChg>
      </pc:sldChg>
      <pc:sldChg chg="delSp modTransition modAnim">
        <pc:chgData name="Scott T Lane" userId="c97bbaa9-35da-4a3b-a646-d12e455ac46e" providerId="ADAL" clId="{4AC5D9BA-6D0A-4EE8-A8F8-9198125B3993}" dt="2026-02-12T19:06:08.681" v="0"/>
        <pc:sldMkLst>
          <pc:docMk/>
          <pc:sldMk cId="4079590438" sldId="275"/>
        </pc:sldMkLst>
        <pc:picChg chg="del">
          <ac:chgData name="Scott T Lane" userId="c97bbaa9-35da-4a3b-a646-d12e455ac46e" providerId="ADAL" clId="{4AC5D9BA-6D0A-4EE8-A8F8-9198125B3993}" dt="2026-02-12T19:06:08.681" v="0"/>
          <ac:picMkLst>
            <pc:docMk/>
            <pc:sldMk cId="4079590438" sldId="275"/>
            <ac:picMk id="5" creationId="{578A6581-95AF-DF4F-EC09-1811BCD68002}"/>
          </ac:picMkLst>
        </pc:picChg>
      </pc:sldChg>
      <pc:sldChg chg="delSp modTransition modAnim">
        <pc:chgData name="Scott T Lane" userId="c97bbaa9-35da-4a3b-a646-d12e455ac46e" providerId="ADAL" clId="{4AC5D9BA-6D0A-4EE8-A8F8-9198125B3993}" dt="2026-02-12T19:06:08.681" v="0"/>
        <pc:sldMkLst>
          <pc:docMk/>
          <pc:sldMk cId="1434277323" sldId="280"/>
        </pc:sldMkLst>
        <pc:picChg chg="del">
          <ac:chgData name="Scott T Lane" userId="c97bbaa9-35da-4a3b-a646-d12e455ac46e" providerId="ADAL" clId="{4AC5D9BA-6D0A-4EE8-A8F8-9198125B3993}" dt="2026-02-12T19:06:08.681" v="0"/>
          <ac:picMkLst>
            <pc:docMk/>
            <pc:sldMk cId="1434277323" sldId="280"/>
            <ac:picMk id="5" creationId="{07A9C15D-6B40-3C6D-2771-40586E62942C}"/>
          </ac:picMkLst>
        </pc:picChg>
      </pc:sldChg>
      <pc:sldChg chg="delSp modTransition modAnim">
        <pc:chgData name="Scott T Lane" userId="c97bbaa9-35da-4a3b-a646-d12e455ac46e" providerId="ADAL" clId="{4AC5D9BA-6D0A-4EE8-A8F8-9198125B3993}" dt="2026-02-12T19:06:08.681" v="0"/>
        <pc:sldMkLst>
          <pc:docMk/>
          <pc:sldMk cId="366725065" sldId="284"/>
        </pc:sldMkLst>
        <pc:picChg chg="del">
          <ac:chgData name="Scott T Lane" userId="c97bbaa9-35da-4a3b-a646-d12e455ac46e" providerId="ADAL" clId="{4AC5D9BA-6D0A-4EE8-A8F8-9198125B3993}" dt="2026-02-12T19:06:08.681" v="0"/>
          <ac:picMkLst>
            <pc:docMk/>
            <pc:sldMk cId="366725065" sldId="284"/>
            <ac:picMk id="5" creationId="{9A78872D-6559-E5B9-E24B-C0B7940865FA}"/>
          </ac:picMkLst>
        </pc:picChg>
      </pc:sldChg>
      <pc:sldChg chg="delSp modTransition modAnim">
        <pc:chgData name="Scott T Lane" userId="c97bbaa9-35da-4a3b-a646-d12e455ac46e" providerId="ADAL" clId="{4AC5D9BA-6D0A-4EE8-A8F8-9198125B3993}" dt="2026-02-12T19:06:08.681" v="0"/>
        <pc:sldMkLst>
          <pc:docMk/>
          <pc:sldMk cId="1883458712" sldId="286"/>
        </pc:sldMkLst>
        <pc:picChg chg="del">
          <ac:chgData name="Scott T Lane" userId="c97bbaa9-35da-4a3b-a646-d12e455ac46e" providerId="ADAL" clId="{4AC5D9BA-6D0A-4EE8-A8F8-9198125B3993}" dt="2026-02-12T19:06:08.681" v="0"/>
          <ac:picMkLst>
            <pc:docMk/>
            <pc:sldMk cId="1883458712" sldId="286"/>
            <ac:picMk id="7" creationId="{61C8233B-AE91-07CA-3537-D76B5D870CA3}"/>
          </ac:picMkLst>
        </pc:picChg>
      </pc:sldChg>
      <pc:sldChg chg="delSp modTransition modAnim">
        <pc:chgData name="Scott T Lane" userId="c97bbaa9-35da-4a3b-a646-d12e455ac46e" providerId="ADAL" clId="{4AC5D9BA-6D0A-4EE8-A8F8-9198125B3993}" dt="2026-02-12T19:06:08.681" v="0"/>
        <pc:sldMkLst>
          <pc:docMk/>
          <pc:sldMk cId="2663150935" sldId="287"/>
        </pc:sldMkLst>
        <pc:picChg chg="del">
          <ac:chgData name="Scott T Lane" userId="c97bbaa9-35da-4a3b-a646-d12e455ac46e" providerId="ADAL" clId="{4AC5D9BA-6D0A-4EE8-A8F8-9198125B3993}" dt="2026-02-12T19:06:08.681" v="0"/>
          <ac:picMkLst>
            <pc:docMk/>
            <pc:sldMk cId="2663150935" sldId="287"/>
            <ac:picMk id="7" creationId="{32E2DBF6-5653-5A58-3F23-07027360A990}"/>
          </ac:picMkLst>
        </pc:picChg>
      </pc:sldChg>
      <pc:sldChg chg="delSp modTransition modAnim">
        <pc:chgData name="Scott T Lane" userId="c97bbaa9-35da-4a3b-a646-d12e455ac46e" providerId="ADAL" clId="{4AC5D9BA-6D0A-4EE8-A8F8-9198125B3993}" dt="2026-02-12T19:06:08.681" v="0"/>
        <pc:sldMkLst>
          <pc:docMk/>
          <pc:sldMk cId="2999991832" sldId="288"/>
        </pc:sldMkLst>
        <pc:picChg chg="del">
          <ac:chgData name="Scott T Lane" userId="c97bbaa9-35da-4a3b-a646-d12e455ac46e" providerId="ADAL" clId="{4AC5D9BA-6D0A-4EE8-A8F8-9198125B3993}" dt="2026-02-12T19:06:08.681" v="0"/>
          <ac:picMkLst>
            <pc:docMk/>
            <pc:sldMk cId="2999991832" sldId="288"/>
            <ac:picMk id="6" creationId="{DE17AE3F-266D-635B-55DC-16EBC904ECCF}"/>
          </ac:picMkLst>
        </pc:picChg>
      </pc:sldChg>
    </pc:docChg>
  </pc:docChgLst>
  <pc:docChgLst>
    <pc:chgData name="Scott T Lane" userId="c97bbaa9-35da-4a3b-a646-d12e455ac46e" providerId="ADAL" clId="{7E70BB95-7D27-52BD-BFCA-66981E18D4F3}"/>
    <pc:docChg chg="undo custSel addSld delSld modSld sldOrd modMainMaster">
      <pc:chgData name="Scott T Lane" userId="c97bbaa9-35da-4a3b-a646-d12e455ac46e" providerId="ADAL" clId="{7E70BB95-7D27-52BD-BFCA-66981E18D4F3}" dt="2026-02-08T16:34:43.236" v="413"/>
      <pc:docMkLst>
        <pc:docMk/>
      </pc:docMkLst>
      <pc:sldChg chg="addSp delSp modSp mod delDesignElem">
        <pc:chgData name="Scott T Lane" userId="c97bbaa9-35da-4a3b-a646-d12e455ac46e" providerId="ADAL" clId="{7E70BB95-7D27-52BD-BFCA-66981E18D4F3}" dt="2026-02-08T16:34:43.236" v="413"/>
        <pc:sldMkLst>
          <pc:docMk/>
          <pc:sldMk cId="2946475127" sldId="256"/>
        </pc:sldMkLst>
        <pc:spChg chg="mod">
          <ac:chgData name="Scott T Lane" userId="c97bbaa9-35da-4a3b-a646-d12e455ac46e" providerId="ADAL" clId="{7E70BB95-7D27-52BD-BFCA-66981E18D4F3}" dt="2026-02-03T15:17:05.840" v="25" actId="14100"/>
          <ac:spMkLst>
            <pc:docMk/>
            <pc:sldMk cId="2946475127" sldId="256"/>
            <ac:spMk id="2" creationId="{E63B7D4F-ED2B-026B-3DCC-FC25D75BF3F3}"/>
          </ac:spMkLst>
        </pc:spChg>
        <pc:spChg chg="mod">
          <ac:chgData name="Scott T Lane" userId="c97bbaa9-35da-4a3b-a646-d12e455ac46e" providerId="ADAL" clId="{7E70BB95-7D27-52BD-BFCA-66981E18D4F3}" dt="2026-02-03T15:17:51.808" v="34" actId="122"/>
          <ac:spMkLst>
            <pc:docMk/>
            <pc:sldMk cId="2946475127" sldId="256"/>
            <ac:spMk id="3" creationId="{046F5DC3-0C75-250B-266C-A3F19543BE11}"/>
          </ac:spMkLst>
        </pc:spChg>
      </pc:sldChg>
      <pc:sldChg chg="addSp modSp mod">
        <pc:chgData name="Scott T Lane" userId="c97bbaa9-35da-4a3b-a646-d12e455ac46e" providerId="ADAL" clId="{7E70BB95-7D27-52BD-BFCA-66981E18D4F3}" dt="2026-02-08T16:34:43.236" v="413"/>
        <pc:sldMkLst>
          <pc:docMk/>
          <pc:sldMk cId="1427618466" sldId="260"/>
        </pc:sldMkLst>
        <pc:spChg chg="mod">
          <ac:chgData name="Scott T Lane" userId="c97bbaa9-35da-4a3b-a646-d12e455ac46e" providerId="ADAL" clId="{7E70BB95-7D27-52BD-BFCA-66981E18D4F3}" dt="2026-02-07T19:13:49.419" v="80" actId="14100"/>
          <ac:spMkLst>
            <pc:docMk/>
            <pc:sldMk cId="1427618466" sldId="260"/>
            <ac:spMk id="6" creationId="{A2A2CB62-3615-598F-1322-5C9B4276B285}"/>
          </ac:spMkLst>
        </pc:spChg>
        <pc:spChg chg="mod">
          <ac:chgData name="Scott T Lane" userId="c97bbaa9-35da-4a3b-a646-d12e455ac46e" providerId="ADAL" clId="{7E70BB95-7D27-52BD-BFCA-66981E18D4F3}" dt="2026-02-07T19:14:54.361" v="105" actId="255"/>
          <ac:spMkLst>
            <pc:docMk/>
            <pc:sldMk cId="1427618466" sldId="260"/>
            <ac:spMk id="7" creationId="{48760DBD-AA3B-190C-AE35-1C6B082566EF}"/>
          </ac:spMkLst>
        </pc:spChg>
      </pc:sldChg>
      <pc:sldChg chg="addSp modSp mod">
        <pc:chgData name="Scott T Lane" userId="c97bbaa9-35da-4a3b-a646-d12e455ac46e" providerId="ADAL" clId="{7E70BB95-7D27-52BD-BFCA-66981E18D4F3}" dt="2026-02-08T16:34:43.236" v="413"/>
        <pc:sldMkLst>
          <pc:docMk/>
          <pc:sldMk cId="716842868" sldId="262"/>
        </pc:sldMkLst>
        <pc:spChg chg="mod">
          <ac:chgData name="Scott T Lane" userId="c97bbaa9-35da-4a3b-a646-d12e455ac46e" providerId="ADAL" clId="{7E70BB95-7D27-52BD-BFCA-66981E18D4F3}" dt="2026-02-07T19:53:54.706" v="411" actId="14100"/>
          <ac:spMkLst>
            <pc:docMk/>
            <pc:sldMk cId="716842868" sldId="262"/>
            <ac:spMk id="6" creationId="{A2A2CB62-3615-598F-1322-5C9B4276B285}"/>
          </ac:spMkLst>
        </pc:spChg>
        <pc:spChg chg="mod">
          <ac:chgData name="Scott T Lane" userId="c97bbaa9-35da-4a3b-a646-d12e455ac46e" providerId="ADAL" clId="{7E70BB95-7D27-52BD-BFCA-66981E18D4F3}" dt="2026-02-07T19:53:57.855" v="412" actId="14100"/>
          <ac:spMkLst>
            <pc:docMk/>
            <pc:sldMk cId="716842868" sldId="262"/>
            <ac:spMk id="7" creationId="{48760DBD-AA3B-190C-AE35-1C6B082566EF}"/>
          </ac:spMkLst>
        </pc:spChg>
      </pc:sldChg>
      <pc:sldChg chg="addSp delSp modSp mod">
        <pc:chgData name="Scott T Lane" userId="c97bbaa9-35da-4a3b-a646-d12e455ac46e" providerId="ADAL" clId="{7E70BB95-7D27-52BD-BFCA-66981E18D4F3}" dt="2026-02-08T16:34:43.236" v="413"/>
        <pc:sldMkLst>
          <pc:docMk/>
          <pc:sldMk cId="3187651777" sldId="264"/>
        </pc:sldMkLst>
        <pc:spChg chg="mod">
          <ac:chgData name="Scott T Lane" userId="c97bbaa9-35da-4a3b-a646-d12e455ac46e" providerId="ADAL" clId="{7E70BB95-7D27-52BD-BFCA-66981E18D4F3}" dt="2026-02-07T19:19:10.049" v="124" actId="14100"/>
          <ac:spMkLst>
            <pc:docMk/>
            <pc:sldMk cId="3187651777" sldId="264"/>
            <ac:spMk id="6" creationId="{A2A2CB62-3615-598F-1322-5C9B4276B285}"/>
          </ac:spMkLst>
        </pc:spChg>
        <pc:spChg chg="mod">
          <ac:chgData name="Scott T Lane" userId="c97bbaa9-35da-4a3b-a646-d12e455ac46e" providerId="ADAL" clId="{7E70BB95-7D27-52BD-BFCA-66981E18D4F3}" dt="2026-02-07T19:21:36.272" v="164" actId="27636"/>
          <ac:spMkLst>
            <pc:docMk/>
            <pc:sldMk cId="3187651777" sldId="264"/>
            <ac:spMk id="7" creationId="{48760DBD-AA3B-190C-AE35-1C6B082566EF}"/>
          </ac:spMkLst>
        </pc:spChg>
      </pc:sldChg>
      <pc:sldChg chg="addSp modSp mod">
        <pc:chgData name="Scott T Lane" userId="c97bbaa9-35da-4a3b-a646-d12e455ac46e" providerId="ADAL" clId="{7E70BB95-7D27-52BD-BFCA-66981E18D4F3}" dt="2026-02-08T16:34:43.236" v="413"/>
        <pc:sldMkLst>
          <pc:docMk/>
          <pc:sldMk cId="4193713489" sldId="265"/>
        </pc:sldMkLst>
        <pc:spChg chg="mod">
          <ac:chgData name="Scott T Lane" userId="c97bbaa9-35da-4a3b-a646-d12e455ac46e" providerId="ADAL" clId="{7E70BB95-7D27-52BD-BFCA-66981E18D4F3}" dt="2026-02-07T19:22:15.924" v="169" actId="14100"/>
          <ac:spMkLst>
            <pc:docMk/>
            <pc:sldMk cId="4193713489" sldId="265"/>
            <ac:spMk id="6" creationId="{A2A2CB62-3615-598F-1322-5C9B4276B285}"/>
          </ac:spMkLst>
        </pc:spChg>
        <pc:spChg chg="mod">
          <ac:chgData name="Scott T Lane" userId="c97bbaa9-35da-4a3b-a646-d12e455ac46e" providerId="ADAL" clId="{7E70BB95-7D27-52BD-BFCA-66981E18D4F3}" dt="2026-02-07T19:22:58.166" v="180" actId="20577"/>
          <ac:spMkLst>
            <pc:docMk/>
            <pc:sldMk cId="4193713489" sldId="265"/>
            <ac:spMk id="7" creationId="{48760DBD-AA3B-190C-AE35-1C6B082566EF}"/>
          </ac:spMkLst>
        </pc:spChg>
      </pc:sldChg>
      <pc:sldChg chg="addSp modSp mod ord">
        <pc:chgData name="Scott T Lane" userId="c97bbaa9-35da-4a3b-a646-d12e455ac46e" providerId="ADAL" clId="{7E70BB95-7D27-52BD-BFCA-66981E18D4F3}" dt="2026-02-08T16:34:43.236" v="413"/>
        <pc:sldMkLst>
          <pc:docMk/>
          <pc:sldMk cId="2507520138" sldId="268"/>
        </pc:sldMkLst>
        <pc:spChg chg="mod">
          <ac:chgData name="Scott T Lane" userId="c97bbaa9-35da-4a3b-a646-d12e455ac46e" providerId="ADAL" clId="{7E70BB95-7D27-52BD-BFCA-66981E18D4F3}" dt="2026-02-07T19:24:00.727" v="185" actId="14100"/>
          <ac:spMkLst>
            <pc:docMk/>
            <pc:sldMk cId="2507520138" sldId="268"/>
            <ac:spMk id="6" creationId="{A2A2CB62-3615-598F-1322-5C9B4276B285}"/>
          </ac:spMkLst>
        </pc:spChg>
        <pc:spChg chg="mod">
          <ac:chgData name="Scott T Lane" userId="c97bbaa9-35da-4a3b-a646-d12e455ac46e" providerId="ADAL" clId="{7E70BB95-7D27-52BD-BFCA-66981E18D4F3}" dt="2026-02-07T19:24:55.246" v="203" actId="27636"/>
          <ac:spMkLst>
            <pc:docMk/>
            <pc:sldMk cId="2507520138" sldId="268"/>
            <ac:spMk id="7" creationId="{48760DBD-AA3B-190C-AE35-1C6B082566EF}"/>
          </ac:spMkLst>
        </pc:spChg>
      </pc:sldChg>
      <pc:sldChg chg="addSp modSp mod">
        <pc:chgData name="Scott T Lane" userId="c97bbaa9-35da-4a3b-a646-d12e455ac46e" providerId="ADAL" clId="{7E70BB95-7D27-52BD-BFCA-66981E18D4F3}" dt="2026-02-08T16:34:43.236" v="413"/>
        <pc:sldMkLst>
          <pc:docMk/>
          <pc:sldMk cId="1202500965" sldId="269"/>
        </pc:sldMkLst>
        <pc:spChg chg="mod">
          <ac:chgData name="Scott T Lane" userId="c97bbaa9-35da-4a3b-a646-d12e455ac46e" providerId="ADAL" clId="{7E70BB95-7D27-52BD-BFCA-66981E18D4F3}" dt="2026-02-07T19:25:48.433" v="207" actId="255"/>
          <ac:spMkLst>
            <pc:docMk/>
            <pc:sldMk cId="1202500965" sldId="269"/>
            <ac:spMk id="6" creationId="{A2A2CB62-3615-598F-1322-5C9B4276B285}"/>
          </ac:spMkLst>
        </pc:spChg>
        <pc:spChg chg="mod">
          <ac:chgData name="Scott T Lane" userId="c97bbaa9-35da-4a3b-a646-d12e455ac46e" providerId="ADAL" clId="{7E70BB95-7D27-52BD-BFCA-66981E18D4F3}" dt="2026-02-07T19:28:13.696" v="230" actId="27636"/>
          <ac:spMkLst>
            <pc:docMk/>
            <pc:sldMk cId="1202500965" sldId="269"/>
            <ac:spMk id="7" creationId="{48760DBD-AA3B-190C-AE35-1C6B082566EF}"/>
          </ac:spMkLst>
        </pc:spChg>
        <pc:picChg chg="add mod">
          <ac:chgData name="Scott T Lane" userId="c97bbaa9-35da-4a3b-a646-d12e455ac46e" providerId="ADAL" clId="{7E70BB95-7D27-52BD-BFCA-66981E18D4F3}" dt="2026-02-07T19:31:16.505" v="262" actId="1076"/>
          <ac:picMkLst>
            <pc:docMk/>
            <pc:sldMk cId="1202500965" sldId="269"/>
            <ac:picMk id="2" creationId="{C09ADB6A-9E0D-D2AD-AD2F-97BA4E0327C0}"/>
          </ac:picMkLst>
        </pc:picChg>
      </pc:sldChg>
      <pc:sldChg chg="addSp modSp mod">
        <pc:chgData name="Scott T Lane" userId="c97bbaa9-35da-4a3b-a646-d12e455ac46e" providerId="ADAL" clId="{7E70BB95-7D27-52BD-BFCA-66981E18D4F3}" dt="2026-02-08T16:34:43.236" v="413"/>
        <pc:sldMkLst>
          <pc:docMk/>
          <pc:sldMk cId="1767440335" sldId="272"/>
        </pc:sldMkLst>
        <pc:spChg chg="mod">
          <ac:chgData name="Scott T Lane" userId="c97bbaa9-35da-4a3b-a646-d12e455ac46e" providerId="ADAL" clId="{7E70BB95-7D27-52BD-BFCA-66981E18D4F3}" dt="2026-02-07T19:29:09.318" v="235" actId="14100"/>
          <ac:spMkLst>
            <pc:docMk/>
            <pc:sldMk cId="1767440335" sldId="272"/>
            <ac:spMk id="6" creationId="{A2A2CB62-3615-598F-1322-5C9B4276B285}"/>
          </ac:spMkLst>
        </pc:spChg>
        <pc:spChg chg="mod">
          <ac:chgData name="Scott T Lane" userId="c97bbaa9-35da-4a3b-a646-d12e455ac46e" providerId="ADAL" clId="{7E70BB95-7D27-52BD-BFCA-66981E18D4F3}" dt="2026-02-07T19:30:55.345" v="258" actId="1076"/>
          <ac:spMkLst>
            <pc:docMk/>
            <pc:sldMk cId="1767440335" sldId="272"/>
            <ac:spMk id="7" creationId="{48760DBD-AA3B-190C-AE35-1C6B082566EF}"/>
          </ac:spMkLst>
        </pc:spChg>
        <pc:picChg chg="add mod">
          <ac:chgData name="Scott T Lane" userId="c97bbaa9-35da-4a3b-a646-d12e455ac46e" providerId="ADAL" clId="{7E70BB95-7D27-52BD-BFCA-66981E18D4F3}" dt="2026-02-07T19:30:58.570" v="259" actId="1076"/>
          <ac:picMkLst>
            <pc:docMk/>
            <pc:sldMk cId="1767440335" sldId="272"/>
            <ac:picMk id="2" creationId="{6CD9268B-E8FB-E997-39EF-41F194252D1A}"/>
          </ac:picMkLst>
        </pc:picChg>
      </pc:sldChg>
      <pc:sldChg chg="addSp modSp mod">
        <pc:chgData name="Scott T Lane" userId="c97bbaa9-35da-4a3b-a646-d12e455ac46e" providerId="ADAL" clId="{7E70BB95-7D27-52BD-BFCA-66981E18D4F3}" dt="2026-02-08T16:34:43.236" v="413"/>
        <pc:sldMkLst>
          <pc:docMk/>
          <pc:sldMk cId="4079590438" sldId="275"/>
        </pc:sldMkLst>
        <pc:spChg chg="mod">
          <ac:chgData name="Scott T Lane" userId="c97bbaa9-35da-4a3b-a646-d12e455ac46e" providerId="ADAL" clId="{7E70BB95-7D27-52BD-BFCA-66981E18D4F3}" dt="2026-02-07T19:35:22.978" v="268" actId="14100"/>
          <ac:spMkLst>
            <pc:docMk/>
            <pc:sldMk cId="4079590438" sldId="275"/>
            <ac:spMk id="6" creationId="{A2A2CB62-3615-598F-1322-5C9B4276B285}"/>
          </ac:spMkLst>
        </pc:spChg>
        <pc:spChg chg="mod">
          <ac:chgData name="Scott T Lane" userId="c97bbaa9-35da-4a3b-a646-d12e455ac46e" providerId="ADAL" clId="{7E70BB95-7D27-52BD-BFCA-66981E18D4F3}" dt="2026-02-07T19:37:04.371" v="286" actId="27636"/>
          <ac:spMkLst>
            <pc:docMk/>
            <pc:sldMk cId="4079590438" sldId="275"/>
            <ac:spMk id="7" creationId="{48760DBD-AA3B-190C-AE35-1C6B082566EF}"/>
          </ac:spMkLst>
        </pc:spChg>
        <pc:picChg chg="add mod">
          <ac:chgData name="Scott T Lane" userId="c97bbaa9-35da-4a3b-a646-d12e455ac46e" providerId="ADAL" clId="{7E70BB95-7D27-52BD-BFCA-66981E18D4F3}" dt="2026-02-07T19:37:18.618" v="292" actId="1076"/>
          <ac:picMkLst>
            <pc:docMk/>
            <pc:sldMk cId="4079590438" sldId="275"/>
            <ac:picMk id="2" creationId="{D1346F94-B544-3F73-88D2-056883E59F26}"/>
          </ac:picMkLst>
        </pc:picChg>
      </pc:sldChg>
      <pc:sldChg chg="addSp modSp mod ord">
        <pc:chgData name="Scott T Lane" userId="c97bbaa9-35da-4a3b-a646-d12e455ac46e" providerId="ADAL" clId="{7E70BB95-7D27-52BD-BFCA-66981E18D4F3}" dt="2026-02-08T16:34:43.236" v="413"/>
        <pc:sldMkLst>
          <pc:docMk/>
          <pc:sldMk cId="1434277323" sldId="280"/>
        </pc:sldMkLst>
        <pc:spChg chg="mod">
          <ac:chgData name="Scott T Lane" userId="c97bbaa9-35da-4a3b-a646-d12e455ac46e" providerId="ADAL" clId="{7E70BB95-7D27-52BD-BFCA-66981E18D4F3}" dt="2026-02-07T19:41:05.901" v="331" actId="27636"/>
          <ac:spMkLst>
            <pc:docMk/>
            <pc:sldMk cId="1434277323" sldId="280"/>
            <ac:spMk id="6" creationId="{A2A2CB62-3615-598F-1322-5C9B4276B285}"/>
          </ac:spMkLst>
        </pc:spChg>
        <pc:spChg chg="mod">
          <ac:chgData name="Scott T Lane" userId="c97bbaa9-35da-4a3b-a646-d12e455ac46e" providerId="ADAL" clId="{7E70BB95-7D27-52BD-BFCA-66981E18D4F3}" dt="2026-02-07T19:46:41.674" v="377" actId="14100"/>
          <ac:spMkLst>
            <pc:docMk/>
            <pc:sldMk cId="1434277323" sldId="280"/>
            <ac:spMk id="7" creationId="{48760DBD-AA3B-190C-AE35-1C6B082566EF}"/>
          </ac:spMkLst>
        </pc:spChg>
        <pc:picChg chg="add mod">
          <ac:chgData name="Scott T Lane" userId="c97bbaa9-35da-4a3b-a646-d12e455ac46e" providerId="ADAL" clId="{7E70BB95-7D27-52BD-BFCA-66981E18D4F3}" dt="2026-02-07T19:46:45.674" v="378" actId="1076"/>
          <ac:picMkLst>
            <pc:docMk/>
            <pc:sldMk cId="1434277323" sldId="280"/>
            <ac:picMk id="2" creationId="{A63C3A73-53B5-BA6D-C535-2FE68C6AF5BE}"/>
          </ac:picMkLst>
        </pc:picChg>
      </pc:sldChg>
      <pc:sldChg chg="addSp modSp mod">
        <pc:chgData name="Scott T Lane" userId="c97bbaa9-35da-4a3b-a646-d12e455ac46e" providerId="ADAL" clId="{7E70BB95-7D27-52BD-BFCA-66981E18D4F3}" dt="2026-02-08T16:34:43.236" v="413"/>
        <pc:sldMkLst>
          <pc:docMk/>
          <pc:sldMk cId="366725065" sldId="284"/>
        </pc:sldMkLst>
        <pc:spChg chg="mod">
          <ac:chgData name="Scott T Lane" userId="c97bbaa9-35da-4a3b-a646-d12e455ac46e" providerId="ADAL" clId="{7E70BB95-7D27-52BD-BFCA-66981E18D4F3}" dt="2026-02-07T19:48:00.069" v="390" actId="15"/>
          <ac:spMkLst>
            <pc:docMk/>
            <pc:sldMk cId="366725065" sldId="284"/>
            <ac:spMk id="7" creationId="{48760DBD-AA3B-190C-AE35-1C6B082566EF}"/>
          </ac:spMkLst>
        </pc:spChg>
      </pc:sldChg>
      <pc:sldChg chg="addSp modSp new mod">
        <pc:chgData name="Scott T Lane" userId="c97bbaa9-35da-4a3b-a646-d12e455ac46e" providerId="ADAL" clId="{7E70BB95-7D27-52BD-BFCA-66981E18D4F3}" dt="2026-02-08T16:34:43.236" v="413"/>
        <pc:sldMkLst>
          <pc:docMk/>
          <pc:sldMk cId="1883458712" sldId="286"/>
        </pc:sldMkLst>
        <pc:spChg chg="mod">
          <ac:chgData name="Scott T Lane" userId="c97bbaa9-35da-4a3b-a646-d12e455ac46e" providerId="ADAL" clId="{7E70BB95-7D27-52BD-BFCA-66981E18D4F3}" dt="2026-02-03T15:21:41.254" v="61" actId="1076"/>
          <ac:spMkLst>
            <pc:docMk/>
            <pc:sldMk cId="1883458712" sldId="286"/>
            <ac:spMk id="2" creationId="{D32E6D8D-6C78-07F4-8E78-295A09736571}"/>
          </ac:spMkLst>
        </pc:spChg>
        <pc:spChg chg="add mod">
          <ac:chgData name="Scott T Lane" userId="c97bbaa9-35da-4a3b-a646-d12e455ac46e" providerId="ADAL" clId="{7E70BB95-7D27-52BD-BFCA-66981E18D4F3}" dt="2026-02-03T15:23:20.650" v="73" actId="12"/>
          <ac:spMkLst>
            <pc:docMk/>
            <pc:sldMk cId="1883458712" sldId="286"/>
            <ac:spMk id="4" creationId="{DCCF588F-E9DE-D81B-0C12-6F1FD1ACA5DA}"/>
          </ac:spMkLst>
        </pc:spChg>
      </pc:sldChg>
      <pc:sldChg chg="addSp modSp new mod">
        <pc:chgData name="Scott T Lane" userId="c97bbaa9-35da-4a3b-a646-d12e455ac46e" providerId="ADAL" clId="{7E70BB95-7D27-52BD-BFCA-66981E18D4F3}" dt="2026-02-08T16:34:43.236" v="413"/>
        <pc:sldMkLst>
          <pc:docMk/>
          <pc:sldMk cId="2663150935" sldId="287"/>
        </pc:sldMkLst>
        <pc:spChg chg="mod">
          <ac:chgData name="Scott T Lane" userId="c97bbaa9-35da-4a3b-a646-d12e455ac46e" providerId="ADAL" clId="{7E70BB95-7D27-52BD-BFCA-66981E18D4F3}" dt="2026-02-07T19:39:36.874" v="306" actId="27636"/>
          <ac:spMkLst>
            <pc:docMk/>
            <pc:sldMk cId="2663150935" sldId="287"/>
            <ac:spMk id="2" creationId="{FA4D5287-78AA-DFAD-2324-596CE564A721}"/>
          </ac:spMkLst>
        </pc:spChg>
        <pc:spChg chg="mod">
          <ac:chgData name="Scott T Lane" userId="c97bbaa9-35da-4a3b-a646-d12e455ac46e" providerId="ADAL" clId="{7E70BB95-7D27-52BD-BFCA-66981E18D4F3}" dt="2026-02-07T19:45:05.020" v="363" actId="27636"/>
          <ac:spMkLst>
            <pc:docMk/>
            <pc:sldMk cId="2663150935" sldId="287"/>
            <ac:spMk id="3" creationId="{CFB357D7-DE48-857B-D433-B17CABA55D8E}"/>
          </ac:spMkLst>
        </pc:spChg>
        <pc:picChg chg="add mod">
          <ac:chgData name="Scott T Lane" userId="c97bbaa9-35da-4a3b-a646-d12e455ac46e" providerId="ADAL" clId="{7E70BB95-7D27-52BD-BFCA-66981E18D4F3}" dt="2026-02-07T19:45:11.654" v="366" actId="208"/>
          <ac:picMkLst>
            <pc:docMk/>
            <pc:sldMk cId="2663150935" sldId="287"/>
            <ac:picMk id="4" creationId="{1B7F7B8C-9FBD-84A7-48F3-A9060DEE5F42}"/>
          </ac:picMkLst>
        </pc:picChg>
      </pc:sldChg>
      <pc:sldChg chg="addSp modSp new mod">
        <pc:chgData name="Scott T Lane" userId="c97bbaa9-35da-4a3b-a646-d12e455ac46e" providerId="ADAL" clId="{7E70BB95-7D27-52BD-BFCA-66981E18D4F3}" dt="2026-02-08T16:34:43.236" v="413"/>
        <pc:sldMkLst>
          <pc:docMk/>
          <pc:sldMk cId="2999991832" sldId="288"/>
        </pc:sldMkLst>
        <pc:spChg chg="mod">
          <ac:chgData name="Scott T Lane" userId="c97bbaa9-35da-4a3b-a646-d12e455ac46e" providerId="ADAL" clId="{7E70BB95-7D27-52BD-BFCA-66981E18D4F3}" dt="2026-02-07T19:50:24.066" v="397" actId="1076"/>
          <ac:spMkLst>
            <pc:docMk/>
            <pc:sldMk cId="2999991832" sldId="288"/>
            <ac:spMk id="2" creationId="{C0CA83E0-2FF4-FDEF-008E-26876EF04C45}"/>
          </ac:spMkLst>
        </pc:spChg>
        <pc:spChg chg="mod">
          <ac:chgData name="Scott T Lane" userId="c97bbaa9-35da-4a3b-a646-d12e455ac46e" providerId="ADAL" clId="{7E70BB95-7D27-52BD-BFCA-66981E18D4F3}" dt="2026-02-07T19:51:01.233" v="410" actId="1076"/>
          <ac:spMkLst>
            <pc:docMk/>
            <pc:sldMk cId="2999991832" sldId="288"/>
            <ac:spMk id="3" creationId="{89911024-2F6A-697F-EF1D-1974D3C5DE7E}"/>
          </ac:spMkLst>
        </pc:spChg>
      </pc:sldChg>
      <pc:sldMasterChg chg="modSp">
        <pc:chgData name="Scott T Lane" userId="c97bbaa9-35da-4a3b-a646-d12e455ac46e" providerId="ADAL" clId="{7E70BB95-7D27-52BD-BFCA-66981E18D4F3}" dt="2026-02-07T19:11:45.609" v="74" actId="12"/>
        <pc:sldMasterMkLst>
          <pc:docMk/>
          <pc:sldMasterMk cId="3208363005" sldId="2147483704"/>
        </pc:sldMasterMkLst>
        <pc:spChg chg="mod">
          <ac:chgData name="Scott T Lane" userId="c97bbaa9-35da-4a3b-a646-d12e455ac46e" providerId="ADAL" clId="{7E70BB95-7D27-52BD-BFCA-66981E18D4F3}" dt="2026-02-07T19:11:45.609" v="74" actId="12"/>
          <ac:spMkLst>
            <pc:docMk/>
            <pc:sldMasterMk cId="3208363005" sldId="2147483704"/>
            <ac:spMk id="3" creationId="{00000000-0000-0000-0000-000000000000}"/>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B8F3A2-8E25-4A3A-A5C5-30CE7D552B9E}" type="datetimeFigureOut">
              <a:rPr lang="en-US" smtClean="0"/>
              <a:t>2/12/2026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E92C0B-33F8-41E1-8332-0E4CBB15B695}" type="slidenum">
              <a:rPr lang="en-US" smtClean="0"/>
              <a:t>‹#›</a:t>
            </a:fld>
            <a:endParaRPr lang="en-US"/>
          </a:p>
        </p:txBody>
      </p:sp>
    </p:spTree>
    <p:extLst>
      <p:ext uri="{BB962C8B-B14F-4D97-AF65-F5344CB8AC3E}">
        <p14:creationId xmlns:p14="http://schemas.microsoft.com/office/powerpoint/2010/main" val="181864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Welcome to Chapter 9 on Monopoly. In this chapter, we'll explore what happens when a single firm dominates an entire market. Unlike perfect competition where many firms compete on price, monopolies have significant market power. We'll examine how monopolies form, how they decide on pricing and output, and why economists consider them inefficient. Think of monopolies as the opposite extreme from perfect competition—instead of being price takers, monopolies are price makers.</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a:t>
            </a:fld>
            <a:endParaRPr lang="en-US"/>
          </a:p>
        </p:txBody>
      </p:sp>
    </p:spTree>
    <p:extLst>
      <p:ext uri="{BB962C8B-B14F-4D97-AF65-F5344CB8AC3E}">
        <p14:creationId xmlns:p14="http://schemas.microsoft.com/office/powerpoint/2010/main" val="15495195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monopoly exists when a single firm produces all or nearly all of the output in a market. The critical difference from perfect competition is that the monopolist's demand curve IS the market demand curve. This gives the firm market power—the ability to influence price by controlling quantity. However, even monopolies face constraints: they can't force consumers to buy. They must work within the limits of market demand. The U.S. Department of Justice often uses a practical definition: a firm with very high market share, even if not technically the only firm.</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2</a:t>
            </a:fld>
            <a:endParaRPr lang="en-US"/>
          </a:p>
        </p:txBody>
      </p:sp>
    </p:spTree>
    <p:extLst>
      <p:ext uri="{BB962C8B-B14F-4D97-AF65-F5344CB8AC3E}">
        <p14:creationId xmlns:p14="http://schemas.microsoft.com/office/powerpoint/2010/main" val="13864567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Barriers to entry explain why monopolies persist despite earning high profits that would normally attract competitors. Think of these barriers as the "moat" protecting a castle. Natural monopolies arise from cost structures. Resource control means owning something scarce (like DeBeers and diamonds, or ALCOA's historical bauxite control). Legal monopolies are government-sanctioned, like the USPS for first-class mail. Intellectual property protects innovation—patents last 20 years in the U.S. Finally, intimidation tactics like predatory pricing discourage entry, though they're illegal and hard to prove. These barriers aren't always permanent—technology and policy changes can erode them.</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3</a:t>
            </a:fld>
            <a:endParaRPr lang="en-US"/>
          </a:p>
        </p:txBody>
      </p:sp>
    </p:spTree>
    <p:extLst>
      <p:ext uri="{BB962C8B-B14F-4D97-AF65-F5344CB8AC3E}">
        <p14:creationId xmlns:p14="http://schemas.microsoft.com/office/powerpoint/2010/main" val="18535952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Natural monopolies emerge when it's most efficient for one firm to serve the entire market. The classic example is water utilities. Once you've invested billions in underground pipes, the marginal cost of serving one additional household is minimal. Building a competing pipe network would be enormously wasteful. This is why we don't have competing water companies digging up streets to lay duplicate infrastructure. Key insight: "natural" doesn't mean permanent. Technology can erode natural monopolies—mobile phones disrupted landline monopolies, and solar power plus batteries may reduce dependence on centralized electric grids. Natural monopolies are often privately owned but heavily regulated to prevent price gouging.</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4</a:t>
            </a:fld>
            <a:endParaRPr lang="en-US"/>
          </a:p>
        </p:txBody>
      </p:sp>
    </p:spTree>
    <p:extLst>
      <p:ext uri="{BB962C8B-B14F-4D97-AF65-F5344CB8AC3E}">
        <p14:creationId xmlns:p14="http://schemas.microsoft.com/office/powerpoint/2010/main" val="10093475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Legal monopolies exist when government creates barriers by law. Often these overlap with natural monopolies—it makes sense for government to grant exclusive rights when duplication is inefficient. Your local water and electric companies are typically both natural and legal monopolies. Historically, the U.S. had more legal monopolies: AT&amp;T was the only legal phone company for most of the 20th century, airlines faced route and price restrictions from the 1930s-1970s, and banks had interest rate caps. Deregulation began in the late 1970s as technology changed and markets proved capable of providing services. The AT&amp;T breakup in 1982 unleashed innovation—suddenly we got call waiting, caller ID, mobile phones, and phones in colors other than black! This shows that legal monopolies can stifle innovation.</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5</a:t>
            </a:fld>
            <a:endParaRPr lang="en-US"/>
          </a:p>
        </p:txBody>
      </p:sp>
    </p:spTree>
    <p:extLst>
      <p:ext uri="{BB962C8B-B14F-4D97-AF65-F5344CB8AC3E}">
        <p14:creationId xmlns:p14="http://schemas.microsoft.com/office/powerpoint/2010/main" val="32952300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Intellectual property law creates temporary legal monopolies to encourage innovation. Here's the problem: if a firm spends billions developing a cure for cancer, but competitors can immediately copy it and undercut prices (since they didn't bear R&amp;D costs), firms won't invest in research. The U.S. Constitution explicitly addresses this, granting Congress power "to promote the progress of science and useful arts" by protecting inventors. Patents give 20 years of exclusive rights—enough to recoup R&amp;D investments, but not forever. Copyrights last much longer because the social cost is lower. Trade secrets aren't time-limited but require keeping the formula actually secret. This creates a balance: temporary monopoly power to reward innovation, but eventual competition once protection expires. The pharmaceutical industry depends heavily on this system.</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6</a:t>
            </a:fld>
            <a:endParaRPr lang="en-US"/>
          </a:p>
        </p:txBody>
      </p:sp>
    </p:spTree>
    <p:extLst>
      <p:ext uri="{BB962C8B-B14F-4D97-AF65-F5344CB8AC3E}">
        <p14:creationId xmlns:p14="http://schemas.microsoft.com/office/powerpoint/2010/main" val="15968556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Predatory pricing is an intimidation strategy to deter competition. Here's the classic airline example: a large carrier dominates a route. A small startup enters the market. The incumbent immediately slashes prices to bone—below cost—making it impossible for the newcomer to profit. The startup fails. The incumbent then raises prices again. After repeating this once or twice, potential competitors decide not to even try. Small airlines have frequently accused larger carriers of this practice. It's illegal, but proving it requires showing the incumbent intended to drive out competition and then raise prices—a high bar legally. Large advertising budgets can serve a similar function: if launching a cola requires outspending Coca-Cola and Pepsi, few will try. Strong brand names create formidable barriers that are perfectly legal but economically similar to predatory pricing.</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7</a:t>
            </a:fld>
            <a:endParaRPr lang="en-US"/>
          </a:p>
        </p:txBody>
      </p:sp>
    </p:spTree>
    <p:extLst>
      <p:ext uri="{BB962C8B-B14F-4D97-AF65-F5344CB8AC3E}">
        <p14:creationId xmlns:p14="http://schemas.microsoft.com/office/powerpoint/2010/main" val="21422149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is the fundamental difference between perfect competition and monopoly. A perfectly competitive firm is a price taker—it faces a horizontal demand curve at the market price. It can sell 100 units or 1,000 units at exactly the same price. The monopolist faces the entire downward-sloping market demand curve. To sell more, it must lower price; to charge more, it must accept selling less. This creates the monopolist's central challenge: finding the profit-maximizing balance between price and quantity. The monopolist has market power but can't escape the law of demand. Setting price too high means few sales and low revenue. Setting price too low means high sales but low revenue per unit. Profit maximization requires finding the sweet spot.</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8</a:t>
            </a:fld>
            <a:endParaRPr lang="en-US"/>
          </a:p>
        </p:txBody>
      </p:sp>
    </p:spTree>
    <p:extLst>
      <p:ext uri="{BB962C8B-B14F-4D97-AF65-F5344CB8AC3E}">
        <p14:creationId xmlns:p14="http://schemas.microsoft.com/office/powerpoint/2010/main" val="6334138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examine profit maximization using our </a:t>
            </a:r>
            <a:r>
              <a:rPr lang="en-US" sz="1200" b="0" i="0" kern="1200" dirty="0" err="1">
                <a:solidFill>
                  <a:schemeClr val="tx1"/>
                </a:solidFill>
                <a:effectLst/>
                <a:latin typeface="+mn-lt"/>
                <a:ea typeface="+mn-ea"/>
                <a:cs typeface="+mn-cs"/>
              </a:rPr>
              <a:t>HealthPill</a:t>
            </a:r>
            <a:r>
              <a:rPr lang="en-US" sz="1200" b="0" i="0" kern="1200" dirty="0">
                <a:solidFill>
                  <a:schemeClr val="tx1"/>
                </a:solidFill>
                <a:effectLst/>
                <a:latin typeface="+mn-lt"/>
                <a:ea typeface="+mn-ea"/>
                <a:cs typeface="+mn-cs"/>
              </a:rPr>
              <a:t> monopoly example. Total cost behaves as expected—it rises as output increases, growing steeper due to diminishing returns. Total revenue is more interesting. At low output levels, revenue is low because quantity is small, even though price is high. At high output levels, revenue is also low because price has fallen so much. Total revenue has a hill shape—rising, peaking, then falling. The highest profit occurs where total revenue is farthest above total cost. Critically, this is NOT where revenue is maximized. Why? Because profits consider costs, not just revenue. The revenue-maximizing output would ignore rising costs. This graph shows the concept, but in practice, firms use a marginal approach because they rarely have complete information about their entire cost and revenue curves.</a:t>
            </a:r>
          </a:p>
          <a:p>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9</a:t>
            </a:fld>
            <a:endParaRPr lang="en-US"/>
          </a:p>
        </p:txBody>
      </p:sp>
    </p:spTree>
    <p:extLst>
      <p:ext uri="{BB962C8B-B14F-4D97-AF65-F5344CB8AC3E}">
        <p14:creationId xmlns:p14="http://schemas.microsoft.com/office/powerpoint/2010/main" val="31268097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 reality, monopolists don't have perfect information about their entire revenue and cost curves. But they do know from experience how small changes in output affect marginal revenue and marginal cost. This makes the marginal approach practical. The rule is simple: produce where MR equals MC. Why? If marginal revenue from one more unit exceeds its marginal cost, producing it adds to profit—do it. If marginal cost exceeds marginal revenue, producing it reduces profit—don't do it. The profit-maximizing output is exactly where these balance. Note the key difference from perfect competition: for perfect competitors, MR equals price. For monopolists, MR is less than price because selling more requires lowering price on ALL units sold, not just the additional unit. This is why the MR curve lies below the demand curve.</a:t>
            </a:r>
          </a:p>
          <a:p>
            <a:br>
              <a:rPr lang="en-US" dirty="0"/>
            </a:b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10</a:t>
            </a:fld>
            <a:endParaRPr lang="en-US"/>
          </a:p>
        </p:txBody>
      </p:sp>
    </p:spTree>
    <p:extLst>
      <p:ext uri="{BB962C8B-B14F-4D97-AF65-F5344CB8AC3E}">
        <p14:creationId xmlns:p14="http://schemas.microsoft.com/office/powerpoint/2010/main" val="11792072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is a crucial concept. Why is the monopolist's marginal revenue less than price? Consider what happens when you increase quantity by one unit. You move down the demand curve—slightly higher quantity, slightly lower price. But here's the key: the demand curve is conditional. You don't sell the first units at a high price and then later units at a lower price. You sell ALL units at the same price. So when you increase quantity by one unit, two things happen. First, you gain revenue from that additional unit at the new, lower price. Second, you lose revenue on all the previous units because they now sell for less instead of the higher price. The net effect—marginal revenue—is less than the price of that last unit. For a straight-line demand curve, MR falls twice as fast as demand and hits the horizontal axis halfway to where demand does. This relationship is mathematical and predictable.</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11</a:t>
            </a:fld>
            <a:endParaRPr lang="en-US"/>
          </a:p>
        </p:txBody>
      </p:sp>
    </p:spTree>
    <p:extLst>
      <p:ext uri="{BB962C8B-B14F-4D97-AF65-F5344CB8AC3E}">
        <p14:creationId xmlns:p14="http://schemas.microsoft.com/office/powerpoint/2010/main" val="19617846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monopolist follows a three-step process. Step one: Find where the MR and MC curves intersect—this is the profit-maximizing quantity. Step two: Draw a vertical line from that quantity up to the demand curve—this shows the maximum price consumers will pay for that quantity. Step three: Calculate profit. Total revenue is the big rectangle: price on vertical axis times quantity on horizontal axis. Total cost is the smaller rectangle: average cost times quantity. Profit is the difference—the darkly shaded box between them. If price exceeds average cost, the firm earns positive economic profit. In perfect competition, entry would erode these profits in the long run. But with barriers to entry, monopoly profits can persist year after year. This is one signal of monopoly power—sustained high profits doing the same thing without new competition.</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12</a:t>
            </a:fld>
            <a:endParaRPr lang="en-US"/>
          </a:p>
        </p:txBody>
      </p:sp>
    </p:spTree>
    <p:extLst>
      <p:ext uri="{BB962C8B-B14F-4D97-AF65-F5344CB8AC3E}">
        <p14:creationId xmlns:p14="http://schemas.microsoft.com/office/powerpoint/2010/main" val="21321503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Economists criticize monopolies not primarily because of high prices, but because of inefficiency. Allocative efficiency requires producing where price equals marginal cost—where the marginal benefit to society equals the marginal cost. Perfect competitors achieve this. Monopolists always produce where price exceeds marginal cost, meaning society values additional units more than they cost to produce, but the monopolist won't make them. Result: too little output at too high a price. But inefficiency runs deeper. Without competitive pressure, monopolies can become complacent. Nobel Prize winner John Hicks said, "The best of all monopoly profits is a quiet life"—a criticism, not a compliment. The AT&amp;T example is instructive. Before the 1982 breakup, phones barely changed. After deregulation, innovation exploded. Competition forced firms to please customers. Monopolies can just collect profits without innovating. This dynamic inefficiency may be more harmful than static pricing inefficiency.</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13</a:t>
            </a:fld>
            <a:endParaRPr lang="en-US"/>
          </a:p>
        </p:txBody>
      </p:sp>
    </p:spTree>
    <p:extLst>
      <p:ext uri="{BB962C8B-B14F-4D97-AF65-F5344CB8AC3E}">
        <p14:creationId xmlns:p14="http://schemas.microsoft.com/office/powerpoint/2010/main" val="23461505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summarize the key concepts. Monopolies form because barriers prevent competitors from entering, despite high profits. These barriers take five forms: natural monopolies from economies of scale, control of scarce resources, government-created legal monopolies, intellectual property protection, and intimidation tactics. Remember that natural monopolies aren't permanent—technology can erode them. Monopolists maximize profit by producing where MR equals MC, then charging whatever price the demand curve shows at that quantity. Unlike perfect competitors who are price takers, monopolists are price makers with market power. However, this power comes at a social cost: monopolies are allocatively inefficient, producing too little output at too high a price. Beyond static inefficiency, monopolies may also underinvest in innovation since they face no competitive pressure. Understanding monopoly helps us analyze real-world markets and evaluate public policy toward market power.</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14</a:t>
            </a:fld>
            <a:endParaRPr lang="en-US"/>
          </a:p>
        </p:txBody>
      </p:sp>
    </p:spTree>
    <p:extLst>
      <p:ext uri="{BB962C8B-B14F-4D97-AF65-F5344CB8AC3E}">
        <p14:creationId xmlns:p14="http://schemas.microsoft.com/office/powerpoint/2010/main" val="3502738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2/12/2026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78625922"/>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2/12/2026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05166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48A87A34-81AB-432B-8DAE-1953F412C126}" type="datetimeFigureOut">
              <a:rPr lang="en-US" smtClean="0"/>
              <a:t>2/12/2026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51170067"/>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48A87A34-81AB-432B-8DAE-1953F412C126}" type="datetimeFigureOut">
              <a:rPr lang="en-US" smtClean="0"/>
              <a:t>2/12/2026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8750078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8A87A34-81AB-432B-8DAE-1953F412C126}" type="datetimeFigureOut">
              <a:rPr lang="en-US" smtClean="0"/>
              <a:pPr/>
              <a:t>2/12/2026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73662204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2/12/2026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9432419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2/12/2026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8233636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48A87A34-81AB-432B-8DAE-1953F412C126}" type="datetimeFigureOut">
              <a:rPr lang="en-US" smtClean="0"/>
              <a:t>2/12/2026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4906811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48A87A34-81AB-432B-8DAE-1953F412C126}" type="datetimeFigureOut">
              <a:rPr lang="en-US" smtClean="0"/>
              <a:pPr/>
              <a:t>2/12/2026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1526199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7846895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8839061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433764"/>
            <a:ext cx="6675120" cy="513762"/>
          </a:xfrm>
        </p:spPr>
        <p:txBody>
          <a:bodyPr anchor="t">
            <a:normAutofit/>
          </a:bodyPr>
          <a:lstStyle>
            <a:lvl1pPr algn="l">
              <a:defRPr sz="2400"/>
            </a:lvl1pPr>
          </a:lstStyle>
          <a:p>
            <a:r>
              <a:rPr lang="en-US" dirty="0"/>
              <a:t>Click to edit Master title style</a:t>
            </a:r>
          </a:p>
        </p:txBody>
      </p:sp>
    </p:spTree>
    <p:extLst>
      <p:ext uri="{BB962C8B-B14F-4D97-AF65-F5344CB8AC3E}">
        <p14:creationId xmlns:p14="http://schemas.microsoft.com/office/powerpoint/2010/main" val="35539245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365126"/>
            <a:ext cx="10515600" cy="424583"/>
          </a:xfrm>
        </p:spPr>
        <p:txBody>
          <a:bodyPr>
            <a:noAutofit/>
          </a:bodyPr>
          <a:lstStyle>
            <a:lvl1pPr>
              <a:defRPr sz="2400" b="1"/>
            </a:lvl1pPr>
          </a:lstStyle>
          <a:p>
            <a:r>
              <a:rPr lang="en-US" dirty="0"/>
              <a:t>Title</a:t>
            </a:r>
          </a:p>
        </p:txBody>
      </p:sp>
      <p:sp>
        <p:nvSpPr>
          <p:cNvPr id="3" name="Content Placeholder 2"/>
          <p:cNvSpPr>
            <a:spLocks noGrp="1"/>
          </p:cNvSpPr>
          <p:nvPr>
            <p:ph idx="1"/>
          </p:nvPr>
        </p:nvSpPr>
        <p:spPr>
          <a:xfrm>
            <a:off x="838200" y="1201061"/>
            <a:ext cx="10515600" cy="379614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67216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48A87A34-81AB-432B-8DAE-1953F412C126}" type="datetimeFigureOut">
              <a:rPr lang="en-US" smtClean="0"/>
              <a:pPr/>
              <a:t>2/12/2026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208363005"/>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690" r:id="rId13"/>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tx1"/>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B7D4F-ED2B-026B-3DCC-FC25D75BF3F3}"/>
              </a:ext>
            </a:extLst>
          </p:cNvPr>
          <p:cNvSpPr>
            <a:spLocks noGrp="1"/>
          </p:cNvSpPr>
          <p:nvPr>
            <p:ph type="ctrTitle"/>
          </p:nvPr>
        </p:nvSpPr>
        <p:spPr>
          <a:xfrm>
            <a:off x="7537528" y="1032765"/>
            <a:ext cx="4308672" cy="1290022"/>
          </a:xfrm>
        </p:spPr>
        <p:txBody>
          <a:bodyPr anchor="b">
            <a:normAutofit/>
          </a:bodyPr>
          <a:lstStyle/>
          <a:p>
            <a:r>
              <a:rPr lang="en-US" sz="5400" dirty="0"/>
              <a:t>Chapter 9</a:t>
            </a:r>
          </a:p>
        </p:txBody>
      </p:sp>
      <p:sp>
        <p:nvSpPr>
          <p:cNvPr id="3" name="Subtitle 2">
            <a:extLst>
              <a:ext uri="{FF2B5EF4-FFF2-40B4-BE49-F238E27FC236}">
                <a16:creationId xmlns:a16="http://schemas.microsoft.com/office/drawing/2014/main" id="{046F5DC3-0C75-250B-266C-A3F19543BE11}"/>
              </a:ext>
            </a:extLst>
          </p:cNvPr>
          <p:cNvSpPr>
            <a:spLocks noGrp="1"/>
          </p:cNvSpPr>
          <p:nvPr>
            <p:ph type="subTitle" idx="4294967295"/>
          </p:nvPr>
        </p:nvSpPr>
        <p:spPr>
          <a:xfrm>
            <a:off x="7537725" y="2692346"/>
            <a:ext cx="4308475" cy="1171575"/>
          </a:xfrm>
        </p:spPr>
        <p:txBody>
          <a:bodyPr anchor="t">
            <a:normAutofit/>
          </a:bodyPr>
          <a:lstStyle/>
          <a:p>
            <a:pPr marL="0" indent="0" algn="ctr">
              <a:buNone/>
            </a:pPr>
            <a:r>
              <a:rPr lang="en-US" dirty="0"/>
              <a:t>Monopoly</a:t>
            </a:r>
          </a:p>
          <a:p>
            <a:pPr marL="0" indent="0" algn="ctr">
              <a:buNone/>
            </a:pPr>
            <a:r>
              <a:rPr lang="en-US" i="1" dirty="0"/>
              <a:t>“When One Firm Rules the Market”</a:t>
            </a:r>
          </a:p>
        </p:txBody>
      </p:sp>
      <p:pic>
        <p:nvPicPr>
          <p:cNvPr id="4" name="Picture 3" descr="Colored pencils inside a pencil holder which is on top of a wood table">
            <a:extLst>
              <a:ext uri="{FF2B5EF4-FFF2-40B4-BE49-F238E27FC236}">
                <a16:creationId xmlns:a16="http://schemas.microsoft.com/office/drawing/2014/main" id="{77531D5D-61A1-09F3-9506-55CD6D1C52C3}"/>
              </a:ext>
            </a:extLst>
          </p:cNvPr>
          <p:cNvPicPr>
            <a:picLocks noChangeAspect="1"/>
          </p:cNvPicPr>
          <p:nvPr/>
        </p:nvPicPr>
        <p:blipFill>
          <a:blip r:embed="rId3"/>
          <a:srcRect l="32539" r="-1" b="-1"/>
          <a:stretch/>
        </p:blipFill>
        <p:spPr>
          <a:xfrm>
            <a:off x="20" y="10"/>
            <a:ext cx="6931132" cy="6857990"/>
          </a:xfrm>
          <a:prstGeom prst="rect">
            <a:avLst/>
          </a:prstGeom>
        </p:spPr>
      </p:pic>
    </p:spTree>
    <p:extLst>
      <p:ext uri="{BB962C8B-B14F-4D97-AF65-F5344CB8AC3E}">
        <p14:creationId xmlns:p14="http://schemas.microsoft.com/office/powerpoint/2010/main" val="2946475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E6D8D-6C78-07F4-8E78-295A09736571}"/>
              </a:ext>
            </a:extLst>
          </p:cNvPr>
          <p:cNvSpPr>
            <a:spLocks noGrp="1"/>
          </p:cNvSpPr>
          <p:nvPr>
            <p:ph type="ctrTitle"/>
          </p:nvPr>
        </p:nvSpPr>
        <p:spPr>
          <a:xfrm>
            <a:off x="2758440" y="473520"/>
            <a:ext cx="6675120" cy="652914"/>
          </a:xfrm>
        </p:spPr>
        <p:txBody>
          <a:bodyPr>
            <a:noAutofit/>
          </a:bodyPr>
          <a:lstStyle/>
          <a:p>
            <a:pPr algn="ctr"/>
            <a:r>
              <a:rPr lang="en-US" sz="2800" dirty="0"/>
              <a:t>What is a Monopoly</a:t>
            </a:r>
          </a:p>
        </p:txBody>
      </p:sp>
      <p:sp>
        <p:nvSpPr>
          <p:cNvPr id="4" name="TextBox 3">
            <a:extLst>
              <a:ext uri="{FF2B5EF4-FFF2-40B4-BE49-F238E27FC236}">
                <a16:creationId xmlns:a16="http://schemas.microsoft.com/office/drawing/2014/main" id="{DCCF588F-E9DE-D81B-0C12-6F1FD1ACA5DA}"/>
              </a:ext>
            </a:extLst>
          </p:cNvPr>
          <p:cNvSpPr txBox="1"/>
          <p:nvPr/>
        </p:nvSpPr>
        <p:spPr>
          <a:xfrm>
            <a:off x="1765520" y="1905506"/>
            <a:ext cx="8660960" cy="3046988"/>
          </a:xfrm>
          <a:prstGeom prst="rect">
            <a:avLst/>
          </a:prstGeom>
          <a:noFill/>
          <a:ln>
            <a:solidFill>
              <a:schemeClr val="tx1"/>
            </a:solidFill>
          </a:ln>
        </p:spPr>
        <p:txBody>
          <a:bodyPr wrap="square">
            <a:spAutoFit/>
          </a:bodyPr>
          <a:lstStyle/>
          <a:p>
            <a:pPr algn="l">
              <a:buNone/>
            </a:pPr>
            <a:r>
              <a:rPr lang="en-US" sz="2400" b="0" i="0" dirty="0">
                <a:effectLst/>
                <a:latin typeface="Calibri" panose="020F0502020204030204" pitchFamily="34" charset="0"/>
                <a:cs typeface="Calibri" panose="020F0502020204030204" pitchFamily="34" charset="0"/>
              </a:rPr>
              <a:t>Content:</a:t>
            </a:r>
          </a:p>
          <a:p>
            <a:pPr marL="800100" lvl="1" indent="-342900">
              <a:buFont typeface="Arial" panose="020B0604020202020204" pitchFamily="34" charset="0"/>
              <a:buChar char="•"/>
            </a:pPr>
            <a:r>
              <a:rPr lang="en-US" sz="2400" b="0" i="0" dirty="0">
                <a:effectLst/>
                <a:latin typeface="Calibri" panose="020F0502020204030204" pitchFamily="34" charset="0"/>
                <a:cs typeface="Calibri" panose="020F0502020204030204" pitchFamily="34" charset="0"/>
              </a:rPr>
              <a:t>Monopoly: One firm produces all market output</a:t>
            </a:r>
          </a:p>
          <a:p>
            <a:pPr marL="800100" lvl="1" indent="-342900">
              <a:buFont typeface="Arial" panose="020B0604020202020204" pitchFamily="34" charset="0"/>
              <a:buChar char="•"/>
            </a:pPr>
            <a:r>
              <a:rPr lang="en-US" sz="2400" b="0" i="0" dirty="0">
                <a:effectLst/>
                <a:latin typeface="Calibri" panose="020F0502020204030204" pitchFamily="34" charset="0"/>
                <a:cs typeface="Calibri" panose="020F0502020204030204" pitchFamily="34" charset="0"/>
              </a:rPr>
              <a:t>Key characteristic: The firm IS the market</a:t>
            </a:r>
          </a:p>
          <a:p>
            <a:pPr marL="800100" lvl="1" indent="-342900">
              <a:buFont typeface="Arial" panose="020B0604020202020204" pitchFamily="34" charset="0"/>
              <a:buChar char="•"/>
            </a:pPr>
            <a:r>
              <a:rPr lang="en-US" sz="2400" b="0" i="0" dirty="0">
                <a:effectLst/>
                <a:latin typeface="Calibri" panose="020F0502020204030204" pitchFamily="34" charset="0"/>
                <a:cs typeface="Calibri" panose="020F0502020204030204" pitchFamily="34" charset="0"/>
              </a:rPr>
              <a:t>Market power: Can influence price (not a price taker)</a:t>
            </a:r>
          </a:p>
          <a:p>
            <a:pPr algn="l">
              <a:buNone/>
            </a:pPr>
            <a:endParaRPr lang="en-US" sz="2400" b="0" i="0" dirty="0">
              <a:effectLst/>
              <a:latin typeface="Calibri" panose="020F0502020204030204" pitchFamily="34" charset="0"/>
              <a:cs typeface="Calibri" panose="020F0502020204030204" pitchFamily="34" charset="0"/>
            </a:endParaRPr>
          </a:p>
          <a:p>
            <a:pPr algn="l">
              <a:buNone/>
            </a:pPr>
            <a:r>
              <a:rPr lang="en-US" sz="2400" b="0" i="0" dirty="0">
                <a:effectLst/>
                <a:latin typeface="Calibri" panose="020F0502020204030204" pitchFamily="34" charset="0"/>
                <a:cs typeface="Calibri" panose="020F0502020204030204" pitchFamily="34" charset="0"/>
              </a:rPr>
              <a:t>Analogy: Think of a monopoly like being the only restaurant in a small airport terminal—you set the menu prices because travelers have no alternatives.</a:t>
            </a:r>
          </a:p>
        </p:txBody>
      </p:sp>
    </p:spTree>
    <p:extLst>
      <p:ext uri="{BB962C8B-B14F-4D97-AF65-F5344CB8AC3E}">
        <p14:creationId xmlns:p14="http://schemas.microsoft.com/office/powerpoint/2010/main" val="18834587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A2CB62-3615-598F-1322-5C9B4276B285}"/>
              </a:ext>
            </a:extLst>
          </p:cNvPr>
          <p:cNvSpPr>
            <a:spLocks noGrp="1"/>
          </p:cNvSpPr>
          <p:nvPr>
            <p:ph type="title"/>
          </p:nvPr>
        </p:nvSpPr>
        <p:spPr>
          <a:xfrm>
            <a:off x="677944" y="365126"/>
            <a:ext cx="10515600" cy="946839"/>
          </a:xfrm>
        </p:spPr>
        <p:txBody>
          <a:bodyPr>
            <a:noAutofit/>
          </a:bodyPr>
          <a:lstStyle/>
          <a:p>
            <a:r>
              <a:rPr lang="en-US" dirty="0"/>
              <a:t>Barriers to Entry—The Moat Around the Castle</a:t>
            </a:r>
          </a:p>
        </p:txBody>
      </p:sp>
      <p:sp>
        <p:nvSpPr>
          <p:cNvPr id="7" name="Content Placeholder 6">
            <a:extLst>
              <a:ext uri="{FF2B5EF4-FFF2-40B4-BE49-F238E27FC236}">
                <a16:creationId xmlns:a16="http://schemas.microsoft.com/office/drawing/2014/main" id="{48760DBD-AA3B-190C-AE35-1C6B082566EF}"/>
              </a:ext>
            </a:extLst>
          </p:cNvPr>
          <p:cNvSpPr>
            <a:spLocks noGrp="1"/>
          </p:cNvSpPr>
          <p:nvPr>
            <p:ph idx="1"/>
          </p:nvPr>
        </p:nvSpPr>
        <p:spPr>
          <a:xfrm>
            <a:off x="954157" y="1577009"/>
            <a:ext cx="10031895" cy="5022574"/>
          </a:xfrm>
          <a:ln>
            <a:solidFill>
              <a:schemeClr val="tx1"/>
            </a:solidFill>
          </a:ln>
        </p:spPr>
        <p:txBody>
          <a:bodyPr>
            <a:normAutofit/>
          </a:bodyPr>
          <a:lstStyle/>
          <a:p>
            <a:pPr marL="0" indent="0">
              <a:buNone/>
            </a:pPr>
            <a:r>
              <a:rPr lang="en-US" sz="2000" dirty="0">
                <a:latin typeface="Calibri" panose="020F0502020204030204" pitchFamily="34" charset="0"/>
                <a:cs typeface="Calibri" panose="020F0502020204030204" pitchFamily="34" charset="0"/>
              </a:rPr>
              <a:t>Barriers to entry: Legal, technological, or market forces that prevent competition</a:t>
            </a:r>
          </a:p>
          <a:p>
            <a:pPr marL="0" indent="0">
              <a:buNone/>
            </a:pPr>
            <a:endParaRPr lang="en-US" sz="2000" dirty="0">
              <a:latin typeface="Calibri" panose="020F0502020204030204" pitchFamily="34" charset="0"/>
              <a:cs typeface="Calibri" panose="020F0502020204030204" pitchFamily="34" charset="0"/>
            </a:endParaRPr>
          </a:p>
          <a:p>
            <a:r>
              <a:rPr lang="en-US" sz="2000" dirty="0">
                <a:latin typeface="Calibri" panose="020F0502020204030204" pitchFamily="34" charset="0"/>
                <a:cs typeface="Calibri" panose="020F0502020204030204" pitchFamily="34" charset="0"/>
              </a:rPr>
              <a:t>Five Types:</a:t>
            </a:r>
          </a:p>
          <a:p>
            <a:pPr marL="571500" lvl="1" indent="-342900">
              <a:buFont typeface="+mj-lt"/>
              <a:buAutoNum type="arabicPeriod"/>
            </a:pPr>
            <a:r>
              <a:rPr lang="en-US" sz="2000" dirty="0">
                <a:latin typeface="Calibri" panose="020F0502020204030204" pitchFamily="34" charset="0"/>
                <a:cs typeface="Calibri" panose="020F0502020204030204" pitchFamily="34" charset="0"/>
              </a:rPr>
              <a:t>Natural monopoly (economies of scale)</a:t>
            </a:r>
          </a:p>
          <a:p>
            <a:pPr marL="571500" lvl="1" indent="-342900">
              <a:buFont typeface="+mj-lt"/>
              <a:buAutoNum type="arabicPeriod"/>
            </a:pPr>
            <a:r>
              <a:rPr lang="en-US" sz="2000" dirty="0">
                <a:latin typeface="Calibri" panose="020F0502020204030204" pitchFamily="34" charset="0"/>
                <a:cs typeface="Calibri" panose="020F0502020204030204" pitchFamily="34" charset="0"/>
              </a:rPr>
              <a:t>Control of physical resources</a:t>
            </a:r>
          </a:p>
          <a:p>
            <a:pPr marL="571500" lvl="1" indent="-342900">
              <a:buFont typeface="+mj-lt"/>
              <a:buAutoNum type="arabicPeriod"/>
            </a:pPr>
            <a:r>
              <a:rPr lang="en-US" sz="2000" dirty="0">
                <a:latin typeface="Calibri" panose="020F0502020204030204" pitchFamily="34" charset="0"/>
                <a:cs typeface="Calibri" panose="020F0502020204030204" pitchFamily="34" charset="0"/>
              </a:rPr>
              <a:t>Legal monopoly (government-created)</a:t>
            </a:r>
          </a:p>
          <a:p>
            <a:pPr marL="571500" lvl="1" indent="-342900">
              <a:buFont typeface="+mj-lt"/>
              <a:buAutoNum type="arabicPeriod"/>
            </a:pPr>
            <a:r>
              <a:rPr lang="en-US" sz="2000" dirty="0">
                <a:latin typeface="Calibri" panose="020F0502020204030204" pitchFamily="34" charset="0"/>
                <a:cs typeface="Calibri" panose="020F0502020204030204" pitchFamily="34" charset="0"/>
              </a:rPr>
              <a:t>Intellectual property (patents, copyrights)</a:t>
            </a:r>
          </a:p>
          <a:p>
            <a:pPr marL="571500" lvl="1" indent="-342900">
              <a:buFont typeface="+mj-lt"/>
              <a:buAutoNum type="arabicPeriod"/>
            </a:pPr>
            <a:r>
              <a:rPr lang="en-US" sz="2000" dirty="0">
                <a:latin typeface="Calibri" panose="020F0502020204030204" pitchFamily="34" charset="0"/>
                <a:cs typeface="Calibri" panose="020F0502020204030204" pitchFamily="34" charset="0"/>
              </a:rPr>
              <a:t>Intimidation (predatory pricing)</a:t>
            </a:r>
          </a:p>
          <a:p>
            <a:endParaRPr lang="en-US" sz="2000" dirty="0">
              <a:latin typeface="Calibri" panose="020F0502020204030204" pitchFamily="34" charset="0"/>
              <a:cs typeface="Calibri" panose="020F0502020204030204" pitchFamily="34" charset="0"/>
            </a:endParaRPr>
          </a:p>
          <a:p>
            <a:r>
              <a:rPr lang="en-US" sz="2000" dirty="0">
                <a:latin typeface="Calibri" panose="020F0502020204030204" pitchFamily="34" charset="0"/>
                <a:cs typeface="Calibri" panose="020F0502020204030204" pitchFamily="34" charset="0"/>
              </a:rPr>
              <a:t>Analogy: Barriers to entry are like a medieval castle's moat—they keep competitors from storming your market.</a:t>
            </a:r>
          </a:p>
          <a:p>
            <a:endParaRPr lang="en-US" dirty="0"/>
          </a:p>
        </p:txBody>
      </p:sp>
    </p:spTree>
    <p:extLst>
      <p:ext uri="{BB962C8B-B14F-4D97-AF65-F5344CB8AC3E}">
        <p14:creationId xmlns:p14="http://schemas.microsoft.com/office/powerpoint/2010/main" val="1427618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A2CB62-3615-598F-1322-5C9B4276B285}"/>
              </a:ext>
            </a:extLst>
          </p:cNvPr>
          <p:cNvSpPr>
            <a:spLocks noGrp="1"/>
          </p:cNvSpPr>
          <p:nvPr>
            <p:ph type="title"/>
          </p:nvPr>
        </p:nvSpPr>
        <p:spPr>
          <a:xfrm>
            <a:off x="696798" y="365125"/>
            <a:ext cx="10515600" cy="835935"/>
          </a:xfrm>
        </p:spPr>
        <p:txBody>
          <a:bodyPr>
            <a:noAutofit/>
          </a:bodyPr>
          <a:lstStyle/>
          <a:p>
            <a:r>
              <a:rPr lang="en-US" dirty="0"/>
              <a:t>Natural Monopoly—Why Duplication Doesn't Make Sense</a:t>
            </a:r>
          </a:p>
        </p:txBody>
      </p:sp>
      <p:sp>
        <p:nvSpPr>
          <p:cNvPr id="7" name="Content Placeholder 6">
            <a:extLst>
              <a:ext uri="{FF2B5EF4-FFF2-40B4-BE49-F238E27FC236}">
                <a16:creationId xmlns:a16="http://schemas.microsoft.com/office/drawing/2014/main" id="{48760DBD-AA3B-190C-AE35-1C6B082566EF}"/>
              </a:ext>
            </a:extLst>
          </p:cNvPr>
          <p:cNvSpPr>
            <a:spLocks noGrp="1"/>
          </p:cNvSpPr>
          <p:nvPr>
            <p:ph idx="1"/>
          </p:nvPr>
        </p:nvSpPr>
        <p:spPr>
          <a:xfrm>
            <a:off x="838200" y="1325217"/>
            <a:ext cx="10515600" cy="5358387"/>
          </a:xfrm>
          <a:ln>
            <a:solidFill>
              <a:schemeClr val="tx1"/>
            </a:solidFill>
          </a:ln>
        </p:spPr>
        <p:txBody>
          <a:bodyPr>
            <a:normAutofit/>
          </a:bodyPr>
          <a:lstStyle/>
          <a:p>
            <a:pPr marL="0" indent="0">
              <a:buNone/>
            </a:pPr>
            <a:r>
              <a:rPr lang="en-US" sz="2400" dirty="0">
                <a:latin typeface="Calibri" panose="020F0502020204030204" pitchFamily="34" charset="0"/>
                <a:cs typeface="Calibri" panose="020F0502020204030204" pitchFamily="34" charset="0"/>
              </a:rPr>
              <a:t>Natural monopoly: Economies of scale make one provider most efficient</a:t>
            </a:r>
          </a:p>
          <a:p>
            <a:pPr marL="0" indent="0">
              <a:buNone/>
            </a:pPr>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Characteristics:</a:t>
            </a:r>
          </a:p>
          <a:p>
            <a:pPr lvl="1"/>
            <a:r>
              <a:rPr lang="en-US" sz="2400" dirty="0">
                <a:latin typeface="Calibri" panose="020F0502020204030204" pitchFamily="34" charset="0"/>
                <a:cs typeface="Calibri" panose="020F0502020204030204" pitchFamily="34" charset="0"/>
              </a:rPr>
              <a:t>High fixed costs (infrastructure: pipes, wires, rails)</a:t>
            </a:r>
          </a:p>
          <a:p>
            <a:pPr lvl="1"/>
            <a:r>
              <a:rPr lang="en-US" sz="2400" dirty="0">
                <a:latin typeface="Calibri" panose="020F0502020204030204" pitchFamily="34" charset="0"/>
                <a:cs typeface="Calibri" panose="020F0502020204030204" pitchFamily="34" charset="0"/>
              </a:rPr>
              <a:t>Low marginal costs (serving one more customer is cheap)</a:t>
            </a:r>
          </a:p>
          <a:p>
            <a:pPr lvl="1"/>
            <a:r>
              <a:rPr lang="en-US" sz="2400" dirty="0">
                <a:latin typeface="Calibri" panose="020F0502020204030204" pitchFamily="34" charset="0"/>
                <a:cs typeface="Calibri" panose="020F0502020204030204" pitchFamily="34" charset="0"/>
              </a:rPr>
              <a:t>Inefficient to duplicate systems</a:t>
            </a:r>
          </a:p>
          <a:p>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Examples: Water utilities, electric grids, natural gas delivery</a:t>
            </a:r>
          </a:p>
          <a:p>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Analogy: Building a second water pipe system in your city is like building a second interstate highway system parallel to I-95—massively wasteful.</a:t>
            </a:r>
          </a:p>
          <a:p>
            <a:pPr marL="228600" lvl="1" indent="0">
              <a:buNone/>
            </a:pPr>
            <a:endParaRPr lang="en-US" dirty="0"/>
          </a:p>
          <a:p>
            <a:pPr marL="265176" lvl="1" indent="0">
              <a:buNone/>
            </a:pPr>
            <a:endParaRPr lang="en-US" dirty="0"/>
          </a:p>
        </p:txBody>
      </p:sp>
    </p:spTree>
    <p:extLst>
      <p:ext uri="{BB962C8B-B14F-4D97-AF65-F5344CB8AC3E}">
        <p14:creationId xmlns:p14="http://schemas.microsoft.com/office/powerpoint/2010/main" val="716842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A2CB62-3615-598F-1322-5C9B4276B285}"/>
              </a:ext>
            </a:extLst>
          </p:cNvPr>
          <p:cNvSpPr>
            <a:spLocks noGrp="1"/>
          </p:cNvSpPr>
          <p:nvPr>
            <p:ph type="title"/>
          </p:nvPr>
        </p:nvSpPr>
        <p:spPr>
          <a:xfrm>
            <a:off x="630811" y="365126"/>
            <a:ext cx="10515600" cy="685536"/>
          </a:xfrm>
        </p:spPr>
        <p:txBody>
          <a:bodyPr>
            <a:noAutofit/>
          </a:bodyPr>
          <a:lstStyle/>
          <a:p>
            <a:r>
              <a:rPr lang="en-US" dirty="0"/>
              <a:t>Legal Monopoly—Government Protection</a:t>
            </a:r>
          </a:p>
        </p:txBody>
      </p:sp>
      <p:sp>
        <p:nvSpPr>
          <p:cNvPr id="7" name="Content Placeholder 6">
            <a:extLst>
              <a:ext uri="{FF2B5EF4-FFF2-40B4-BE49-F238E27FC236}">
                <a16:creationId xmlns:a16="http://schemas.microsoft.com/office/drawing/2014/main" id="{48760DBD-AA3B-190C-AE35-1C6B082566EF}"/>
              </a:ext>
            </a:extLst>
          </p:cNvPr>
          <p:cNvSpPr>
            <a:spLocks noGrp="1"/>
          </p:cNvSpPr>
          <p:nvPr>
            <p:ph idx="1"/>
          </p:nvPr>
        </p:nvSpPr>
        <p:spPr>
          <a:xfrm>
            <a:off x="630811" y="1201062"/>
            <a:ext cx="10515600" cy="5291812"/>
          </a:xfrm>
          <a:ln>
            <a:solidFill>
              <a:schemeClr val="tx1"/>
            </a:solidFill>
          </a:ln>
        </p:spPr>
        <p:txBody>
          <a:bodyPr>
            <a:normAutofit fontScale="47500" lnSpcReduction="20000"/>
          </a:bodyPr>
          <a:lstStyle/>
          <a:p>
            <a:pPr marL="0" indent="0">
              <a:buNone/>
            </a:pPr>
            <a:r>
              <a:rPr lang="en-US" sz="5100" dirty="0">
                <a:latin typeface="Calibri" panose="020F0502020204030204" pitchFamily="34" charset="0"/>
                <a:cs typeface="Calibri" panose="020F0502020204030204" pitchFamily="34" charset="0"/>
              </a:rPr>
              <a:t>Legal monopoly: Government prohibits or limits competition</a:t>
            </a:r>
          </a:p>
          <a:p>
            <a:r>
              <a:rPr lang="en-US" sz="5100" dirty="0">
                <a:latin typeface="Calibri" panose="020F0502020204030204" pitchFamily="34" charset="0"/>
                <a:cs typeface="Calibri" panose="020F0502020204030204" pitchFamily="34" charset="0"/>
              </a:rPr>
              <a:t>Can overlap with natural monopoly</a:t>
            </a:r>
          </a:p>
          <a:p>
            <a:r>
              <a:rPr lang="en-US" sz="5100" dirty="0">
                <a:latin typeface="Calibri" panose="020F0502020204030204" pitchFamily="34" charset="0"/>
                <a:cs typeface="Calibri" panose="020F0502020204030204" pitchFamily="34" charset="0"/>
              </a:rPr>
              <a:t>Example: City water utility</a:t>
            </a:r>
          </a:p>
          <a:p>
            <a:pPr lvl="1"/>
            <a:r>
              <a:rPr lang="en-US" sz="5100" dirty="0">
                <a:latin typeface="Calibri" panose="020F0502020204030204" pitchFamily="34" charset="0"/>
                <a:cs typeface="Calibri" panose="020F0502020204030204" pitchFamily="34" charset="0"/>
              </a:rPr>
              <a:t>Natural monopoly (duplicating pipes is wasteful)</a:t>
            </a:r>
          </a:p>
          <a:p>
            <a:pPr lvl="1"/>
            <a:r>
              <a:rPr lang="en-US" sz="5100" dirty="0">
                <a:latin typeface="Calibri" panose="020F0502020204030204" pitchFamily="34" charset="0"/>
                <a:cs typeface="Calibri" panose="020F0502020204030204" pitchFamily="34" charset="0"/>
              </a:rPr>
              <a:t>Legal monopoly (city grants exclusive franchise)</a:t>
            </a:r>
          </a:p>
          <a:p>
            <a:r>
              <a:rPr lang="en-US" sz="5100" dirty="0">
                <a:latin typeface="Calibri" panose="020F0502020204030204" pitchFamily="34" charset="0"/>
                <a:cs typeface="Calibri" panose="020F0502020204030204" pitchFamily="34" charset="0"/>
              </a:rPr>
              <a:t>Why? Utilities are socially beneficial; government ensures access and regulates prices</a:t>
            </a:r>
          </a:p>
          <a:p>
            <a:pPr marL="0" indent="0">
              <a:buNone/>
            </a:pPr>
            <a:endParaRPr lang="en-US" sz="1600" dirty="0"/>
          </a:p>
          <a:p>
            <a:pPr marL="0" indent="0">
              <a:buNone/>
            </a:pPr>
            <a:endParaRPr lang="en-US" sz="1600" dirty="0"/>
          </a:p>
          <a:p>
            <a:pPr>
              <a:buNone/>
            </a:pPr>
            <a:r>
              <a:rPr lang="en-US" sz="4400" b="1" dirty="0">
                <a:latin typeface="Calibri" panose="020F0502020204030204" pitchFamily="34" charset="0"/>
                <a:cs typeface="Calibri" panose="020F0502020204030204" pitchFamily="34" charset="0"/>
              </a:rPr>
              <a:t>🚨 Caveat: Legal ≠ Permanent Protection</a:t>
            </a:r>
          </a:p>
          <a:p>
            <a:r>
              <a:rPr lang="en-US" sz="4400" dirty="0">
                <a:latin typeface="Calibri" panose="020F0502020204030204" pitchFamily="34" charset="0"/>
                <a:cs typeface="Calibri" panose="020F0502020204030204" pitchFamily="34" charset="0"/>
              </a:rPr>
              <a:t>A </a:t>
            </a:r>
            <a:r>
              <a:rPr lang="en-US" sz="4400" b="1" dirty="0">
                <a:latin typeface="Calibri" panose="020F0502020204030204" pitchFamily="34" charset="0"/>
                <a:cs typeface="Calibri" panose="020F0502020204030204" pitchFamily="34" charset="0"/>
              </a:rPr>
              <a:t>natural monopoly</a:t>
            </a:r>
            <a:r>
              <a:rPr lang="en-US" sz="4400" dirty="0">
                <a:latin typeface="Calibri" panose="020F0502020204030204" pitchFamily="34" charset="0"/>
                <a:cs typeface="Calibri" panose="020F0502020204030204" pitchFamily="34" charset="0"/>
              </a:rPr>
              <a:t> can lose its </a:t>
            </a:r>
            <a:r>
              <a:rPr lang="en-US" sz="4400" b="1" dirty="0">
                <a:latin typeface="Calibri" panose="020F0502020204030204" pitchFamily="34" charset="0"/>
                <a:cs typeface="Calibri" panose="020F0502020204030204" pitchFamily="34" charset="0"/>
              </a:rPr>
              <a:t>legal monopoly</a:t>
            </a:r>
            <a:r>
              <a:rPr lang="en-US" sz="4400" dirty="0">
                <a:latin typeface="Calibri" panose="020F0502020204030204" pitchFamily="34" charset="0"/>
                <a:cs typeface="Calibri" panose="020F0502020204030204" pitchFamily="34" charset="0"/>
              </a:rPr>
              <a:t> if laws change:</a:t>
            </a:r>
          </a:p>
          <a:p>
            <a:pPr marL="742950" lvl="1" indent="-285750"/>
            <a:r>
              <a:rPr lang="en-US" sz="4400" dirty="0">
                <a:latin typeface="Calibri" panose="020F0502020204030204" pitchFamily="34" charset="0"/>
                <a:cs typeface="Calibri" panose="020F0502020204030204" pitchFamily="34" charset="0"/>
              </a:rPr>
              <a:t>Telecom deregulation in the 1990s ended AT&amp;T’s legal monopoly.</a:t>
            </a:r>
          </a:p>
          <a:p>
            <a:pPr marL="742950" lvl="1" indent="-285750"/>
            <a:r>
              <a:rPr lang="en-US" sz="4400" dirty="0">
                <a:latin typeface="Calibri" panose="020F0502020204030204" pitchFamily="34" charset="0"/>
                <a:cs typeface="Calibri" panose="020F0502020204030204" pitchFamily="34" charset="0"/>
              </a:rPr>
              <a:t>Some electric utilities now face competition in generation but not distribution.</a:t>
            </a:r>
          </a:p>
          <a:p>
            <a:pPr marL="0" indent="0">
              <a:buNone/>
            </a:pPr>
            <a:br>
              <a:rPr lang="en-US" sz="1600" dirty="0"/>
            </a:br>
            <a:endParaRPr lang="en-US" sz="1600" dirty="0"/>
          </a:p>
          <a:p>
            <a:endParaRPr lang="en-US" dirty="0"/>
          </a:p>
        </p:txBody>
      </p:sp>
    </p:spTree>
    <p:extLst>
      <p:ext uri="{BB962C8B-B14F-4D97-AF65-F5344CB8AC3E}">
        <p14:creationId xmlns:p14="http://schemas.microsoft.com/office/powerpoint/2010/main" val="3187651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A2CB62-3615-598F-1322-5C9B4276B285}"/>
              </a:ext>
            </a:extLst>
          </p:cNvPr>
          <p:cNvSpPr>
            <a:spLocks noGrp="1"/>
          </p:cNvSpPr>
          <p:nvPr>
            <p:ph type="title"/>
          </p:nvPr>
        </p:nvSpPr>
        <p:spPr>
          <a:xfrm>
            <a:off x="696798" y="365126"/>
            <a:ext cx="10515600" cy="708300"/>
          </a:xfrm>
        </p:spPr>
        <p:txBody>
          <a:bodyPr>
            <a:noAutofit/>
          </a:bodyPr>
          <a:lstStyle/>
          <a:p>
            <a:r>
              <a:rPr lang="en-US" dirty="0"/>
              <a:t>Intellectual Property—Rewarding Innovation</a:t>
            </a:r>
          </a:p>
        </p:txBody>
      </p:sp>
      <p:sp>
        <p:nvSpPr>
          <p:cNvPr id="7" name="Content Placeholder 6">
            <a:extLst>
              <a:ext uri="{FF2B5EF4-FFF2-40B4-BE49-F238E27FC236}">
                <a16:creationId xmlns:a16="http://schemas.microsoft.com/office/drawing/2014/main" id="{48760DBD-AA3B-190C-AE35-1C6B082566EF}"/>
              </a:ext>
            </a:extLst>
          </p:cNvPr>
          <p:cNvSpPr>
            <a:spLocks noGrp="1"/>
          </p:cNvSpPr>
          <p:nvPr>
            <p:ph idx="1"/>
          </p:nvPr>
        </p:nvSpPr>
        <p:spPr>
          <a:xfrm>
            <a:off x="696798" y="1257622"/>
            <a:ext cx="10515600" cy="4931143"/>
          </a:xfrm>
        </p:spPr>
        <p:txBody>
          <a:bodyPr>
            <a:normAutofit/>
          </a:bodyPr>
          <a:lstStyle/>
          <a:p>
            <a:pPr marL="0" indent="0">
              <a:buNone/>
            </a:pPr>
            <a:r>
              <a:rPr lang="en-US" sz="2400" dirty="0">
                <a:latin typeface="Calibri" panose="020F0502020204030204" pitchFamily="34" charset="0"/>
                <a:cs typeface="Calibri" panose="020F0502020204030204" pitchFamily="34" charset="0"/>
              </a:rPr>
              <a:t>The innovation problem: Without protection, competitors copy inventions without R&amp;D costs</a:t>
            </a:r>
          </a:p>
          <a:p>
            <a:r>
              <a:rPr lang="en-US" sz="2400" dirty="0">
                <a:latin typeface="Calibri" panose="020F0502020204030204" pitchFamily="34" charset="0"/>
                <a:cs typeface="Calibri" panose="020F0502020204030204" pitchFamily="34" charset="0"/>
              </a:rPr>
              <a:t>Solutions:</a:t>
            </a:r>
          </a:p>
          <a:p>
            <a:pPr lvl="1"/>
            <a:r>
              <a:rPr lang="en-US" sz="2400" dirty="0">
                <a:latin typeface="Calibri" panose="020F0502020204030204" pitchFamily="34" charset="0"/>
                <a:cs typeface="Calibri" panose="020F0502020204030204" pitchFamily="34" charset="0"/>
              </a:rPr>
              <a:t>Patents: 20-year exclusive rights on inventions</a:t>
            </a:r>
          </a:p>
          <a:p>
            <a:pPr lvl="1"/>
            <a:r>
              <a:rPr lang="en-US" sz="2400" dirty="0">
                <a:latin typeface="Calibri" panose="020F0502020204030204" pitchFamily="34" charset="0"/>
                <a:cs typeface="Calibri" panose="020F0502020204030204" pitchFamily="34" charset="0"/>
              </a:rPr>
              <a:t>Copyrights: Life of author + 70 years for creative works</a:t>
            </a:r>
          </a:p>
          <a:p>
            <a:pPr lvl="1"/>
            <a:r>
              <a:rPr lang="en-US" sz="2400" dirty="0">
                <a:latin typeface="Calibri" panose="020F0502020204030204" pitchFamily="34" charset="0"/>
                <a:cs typeface="Calibri" panose="020F0502020204030204" pitchFamily="34" charset="0"/>
              </a:rPr>
              <a:t>Trademarks: Renewable protection for brand symbols</a:t>
            </a:r>
          </a:p>
          <a:p>
            <a:pPr lvl="1"/>
            <a:r>
              <a:rPr lang="en-US" sz="2400" dirty="0">
                <a:latin typeface="Calibri" panose="020F0502020204030204" pitchFamily="34" charset="0"/>
                <a:cs typeface="Calibri" panose="020F0502020204030204" pitchFamily="34" charset="0"/>
              </a:rPr>
              <a:t>Trade secrets: Protected formulas (e.g., Coca-Cola)</a:t>
            </a:r>
          </a:p>
          <a:p>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Analogy: Patents are like a 20-year head start in a race—you get to profit from your innovation before competitors can join.</a:t>
            </a:r>
          </a:p>
          <a:p>
            <a:endParaRPr lang="en-US" dirty="0"/>
          </a:p>
        </p:txBody>
      </p:sp>
    </p:spTree>
    <p:extLst>
      <p:ext uri="{BB962C8B-B14F-4D97-AF65-F5344CB8AC3E}">
        <p14:creationId xmlns:p14="http://schemas.microsoft.com/office/powerpoint/2010/main" val="4193713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A2CB62-3615-598F-1322-5C9B4276B285}"/>
              </a:ext>
            </a:extLst>
          </p:cNvPr>
          <p:cNvSpPr>
            <a:spLocks noGrp="1"/>
          </p:cNvSpPr>
          <p:nvPr>
            <p:ph type="title"/>
          </p:nvPr>
        </p:nvSpPr>
        <p:spPr>
          <a:xfrm>
            <a:off x="659091" y="374553"/>
            <a:ext cx="10515600" cy="738630"/>
          </a:xfrm>
        </p:spPr>
        <p:txBody>
          <a:bodyPr>
            <a:noAutofit/>
          </a:bodyPr>
          <a:lstStyle/>
          <a:p>
            <a:r>
              <a:rPr lang="en-US" dirty="0"/>
              <a:t>Predatory Pricing—The Monopolist's Threat</a:t>
            </a:r>
          </a:p>
        </p:txBody>
      </p:sp>
      <p:sp>
        <p:nvSpPr>
          <p:cNvPr id="7" name="Content Placeholder 6">
            <a:extLst>
              <a:ext uri="{FF2B5EF4-FFF2-40B4-BE49-F238E27FC236}">
                <a16:creationId xmlns:a16="http://schemas.microsoft.com/office/drawing/2014/main" id="{48760DBD-AA3B-190C-AE35-1C6B082566EF}"/>
              </a:ext>
            </a:extLst>
          </p:cNvPr>
          <p:cNvSpPr>
            <a:spLocks noGrp="1"/>
          </p:cNvSpPr>
          <p:nvPr>
            <p:ph idx="1"/>
          </p:nvPr>
        </p:nvSpPr>
        <p:spPr>
          <a:xfrm>
            <a:off x="659091" y="1267049"/>
            <a:ext cx="10515600" cy="5216398"/>
          </a:xfrm>
          <a:ln>
            <a:solidFill>
              <a:schemeClr val="tx1"/>
            </a:solidFill>
          </a:ln>
        </p:spPr>
        <p:txBody>
          <a:bodyPr>
            <a:normAutofit lnSpcReduction="10000"/>
          </a:bodyPr>
          <a:lstStyle/>
          <a:p>
            <a:pPr marL="0" indent="0">
              <a:buNone/>
            </a:pPr>
            <a:r>
              <a:rPr lang="en-US" sz="2000" dirty="0">
                <a:latin typeface="Calibri" panose="020F0502020204030204" pitchFamily="34" charset="0"/>
                <a:cs typeface="Calibri" panose="020F0502020204030204" pitchFamily="34" charset="0"/>
              </a:rPr>
              <a:t>Predatory pricing: Using threat of sharp price cuts to discourage competition</a:t>
            </a:r>
          </a:p>
          <a:p>
            <a:pPr marL="0" indent="0">
              <a:buNone/>
            </a:pPr>
            <a:endParaRPr lang="en-US" sz="2000" dirty="0">
              <a:latin typeface="Calibri" panose="020F0502020204030204" pitchFamily="34" charset="0"/>
              <a:cs typeface="Calibri" panose="020F0502020204030204" pitchFamily="34" charset="0"/>
            </a:endParaRPr>
          </a:p>
          <a:p>
            <a:r>
              <a:rPr lang="en-US" sz="2000" dirty="0">
                <a:latin typeface="Calibri" panose="020F0502020204030204" pitchFamily="34" charset="0"/>
                <a:cs typeface="Calibri" panose="020F0502020204030204" pitchFamily="34" charset="0"/>
              </a:rPr>
              <a:t>The strategy:</a:t>
            </a:r>
          </a:p>
          <a:p>
            <a:pPr marL="571500" lvl="1" indent="-342900">
              <a:buFont typeface="+mj-lt"/>
              <a:buAutoNum type="arabicPeriod"/>
            </a:pPr>
            <a:r>
              <a:rPr lang="en-US" sz="2000" dirty="0">
                <a:latin typeface="Calibri" panose="020F0502020204030204" pitchFamily="34" charset="0"/>
                <a:cs typeface="Calibri" panose="020F0502020204030204" pitchFamily="34" charset="0"/>
              </a:rPr>
              <a:t>New competitor enters market</a:t>
            </a:r>
          </a:p>
          <a:p>
            <a:pPr marL="571500" lvl="1" indent="-342900">
              <a:buFont typeface="+mj-lt"/>
              <a:buAutoNum type="arabicPeriod"/>
            </a:pPr>
            <a:r>
              <a:rPr lang="en-US" sz="2000" dirty="0">
                <a:latin typeface="Calibri" panose="020F0502020204030204" pitchFamily="34" charset="0"/>
                <a:cs typeface="Calibri" panose="020F0502020204030204" pitchFamily="34" charset="0"/>
              </a:rPr>
              <a:t>Incumbent slashes prices below cost</a:t>
            </a:r>
          </a:p>
          <a:p>
            <a:pPr marL="571500" lvl="1" indent="-342900">
              <a:buFont typeface="+mj-lt"/>
              <a:buAutoNum type="arabicPeriod"/>
            </a:pPr>
            <a:r>
              <a:rPr lang="en-US" sz="2000" dirty="0">
                <a:latin typeface="Calibri" panose="020F0502020204030204" pitchFamily="34" charset="0"/>
                <a:cs typeface="Calibri" panose="020F0502020204030204" pitchFamily="34" charset="0"/>
              </a:rPr>
              <a:t>New entrant can't survive, exits market</a:t>
            </a:r>
          </a:p>
          <a:p>
            <a:pPr marL="571500" lvl="1" indent="-342900">
              <a:buFont typeface="+mj-lt"/>
              <a:buAutoNum type="arabicPeriod"/>
            </a:pPr>
            <a:r>
              <a:rPr lang="en-US" sz="2000" dirty="0">
                <a:latin typeface="Calibri" panose="020F0502020204030204" pitchFamily="34" charset="0"/>
                <a:cs typeface="Calibri" panose="020F0502020204030204" pitchFamily="34" charset="0"/>
              </a:rPr>
              <a:t>Incumbent raises prices again</a:t>
            </a:r>
          </a:p>
          <a:p>
            <a:pPr marL="571500" lvl="1" indent="-342900">
              <a:buFont typeface="+mj-lt"/>
              <a:buAutoNum type="arabicPeriod"/>
            </a:pPr>
            <a:r>
              <a:rPr lang="en-US" sz="2000" dirty="0">
                <a:latin typeface="Calibri" panose="020F0502020204030204" pitchFamily="34" charset="0"/>
                <a:cs typeface="Calibri" panose="020F0502020204030204" pitchFamily="34" charset="0"/>
              </a:rPr>
              <a:t>Potential entrants see the pattern and stay away</a:t>
            </a:r>
          </a:p>
          <a:p>
            <a:endParaRPr lang="en-US" sz="2000" dirty="0">
              <a:latin typeface="Calibri" panose="020F0502020204030204" pitchFamily="34" charset="0"/>
              <a:cs typeface="Calibri" panose="020F0502020204030204" pitchFamily="34" charset="0"/>
            </a:endParaRPr>
          </a:p>
          <a:p>
            <a:r>
              <a:rPr lang="en-US" sz="2000" dirty="0">
                <a:latin typeface="Calibri" panose="020F0502020204030204" pitchFamily="34" charset="0"/>
                <a:cs typeface="Calibri" panose="020F0502020204030204" pitchFamily="34" charset="0"/>
              </a:rPr>
              <a:t>Status: Illegal under U.S. antitrust law, but difficult to prove</a:t>
            </a:r>
          </a:p>
          <a:p>
            <a:endParaRPr lang="en-US" sz="2000" dirty="0">
              <a:latin typeface="Calibri" panose="020F0502020204030204" pitchFamily="34" charset="0"/>
              <a:cs typeface="Calibri" panose="020F0502020204030204" pitchFamily="34" charset="0"/>
            </a:endParaRPr>
          </a:p>
          <a:p>
            <a:r>
              <a:rPr lang="en-US" sz="2000" dirty="0">
                <a:latin typeface="Calibri" panose="020F0502020204030204" pitchFamily="34" charset="0"/>
                <a:cs typeface="Calibri" panose="020F0502020204030204" pitchFamily="34" charset="0"/>
              </a:rPr>
              <a:t>Analogy: Like a schoolyard bully who beats up anyone who tries to sit at their lunch table—eventually nobody even tries.</a:t>
            </a:r>
          </a:p>
          <a:p>
            <a:endParaRPr lang="en-US" dirty="0"/>
          </a:p>
        </p:txBody>
      </p:sp>
    </p:spTree>
    <p:extLst>
      <p:ext uri="{BB962C8B-B14F-4D97-AF65-F5344CB8AC3E}">
        <p14:creationId xmlns:p14="http://schemas.microsoft.com/office/powerpoint/2010/main" val="2507520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A2CB62-3615-598F-1322-5C9B4276B285}"/>
              </a:ext>
            </a:extLst>
          </p:cNvPr>
          <p:cNvSpPr>
            <a:spLocks noGrp="1"/>
          </p:cNvSpPr>
          <p:nvPr>
            <p:ph type="title"/>
          </p:nvPr>
        </p:nvSpPr>
        <p:spPr>
          <a:xfrm>
            <a:off x="649664" y="374553"/>
            <a:ext cx="10515600" cy="937412"/>
          </a:xfrm>
        </p:spPr>
        <p:txBody>
          <a:bodyPr>
            <a:noAutofit/>
          </a:bodyPr>
          <a:lstStyle/>
          <a:p>
            <a:r>
              <a:rPr lang="en-US" dirty="0"/>
              <a:t>Monopolist's Demand Curve vs. Perfect Competition</a:t>
            </a:r>
          </a:p>
        </p:txBody>
      </p:sp>
      <p:sp>
        <p:nvSpPr>
          <p:cNvPr id="7" name="Content Placeholder 6">
            <a:extLst>
              <a:ext uri="{FF2B5EF4-FFF2-40B4-BE49-F238E27FC236}">
                <a16:creationId xmlns:a16="http://schemas.microsoft.com/office/drawing/2014/main" id="{48760DBD-AA3B-190C-AE35-1C6B082566EF}"/>
              </a:ext>
            </a:extLst>
          </p:cNvPr>
          <p:cNvSpPr>
            <a:spLocks noGrp="1"/>
          </p:cNvSpPr>
          <p:nvPr>
            <p:ph idx="1"/>
          </p:nvPr>
        </p:nvSpPr>
        <p:spPr>
          <a:xfrm>
            <a:off x="848139" y="1444487"/>
            <a:ext cx="6400800" cy="5038959"/>
          </a:xfrm>
          <a:ln>
            <a:solidFill>
              <a:schemeClr val="tx1"/>
            </a:solidFill>
          </a:ln>
        </p:spPr>
        <p:txBody>
          <a:bodyPr>
            <a:normAutofit lnSpcReduction="10000"/>
          </a:bodyPr>
          <a:lstStyle/>
          <a:p>
            <a:pPr marL="0" indent="0">
              <a:buNone/>
            </a:pPr>
            <a:r>
              <a:rPr lang="en-US" sz="2000" dirty="0">
                <a:latin typeface="Calibri" panose="020F0502020204030204" pitchFamily="34" charset="0"/>
                <a:cs typeface="Calibri" panose="020F0502020204030204" pitchFamily="34" charset="0"/>
              </a:rPr>
              <a:t>Perfect competition: Demand curve is horizontal (price taker)</a:t>
            </a:r>
          </a:p>
          <a:p>
            <a:pPr lvl="1"/>
            <a:r>
              <a:rPr lang="en-US" sz="2000" dirty="0">
                <a:latin typeface="Calibri" panose="020F0502020204030204" pitchFamily="34" charset="0"/>
                <a:cs typeface="Calibri" panose="020F0502020204030204" pitchFamily="34" charset="0"/>
              </a:rPr>
              <a:t>Can sell any quantity at market price</a:t>
            </a:r>
          </a:p>
          <a:p>
            <a:endParaRPr lang="en-US" sz="2000" dirty="0">
              <a:latin typeface="Calibri" panose="020F0502020204030204" pitchFamily="34" charset="0"/>
              <a:cs typeface="Calibri" panose="020F0502020204030204" pitchFamily="34" charset="0"/>
            </a:endParaRPr>
          </a:p>
          <a:p>
            <a:r>
              <a:rPr lang="en-US" sz="2000" dirty="0">
                <a:latin typeface="Calibri" panose="020F0502020204030204" pitchFamily="34" charset="0"/>
                <a:cs typeface="Calibri" panose="020F0502020204030204" pitchFamily="34" charset="0"/>
              </a:rPr>
              <a:t>Monopoly: Demand curve slopes downward (price maker)</a:t>
            </a:r>
          </a:p>
          <a:p>
            <a:pPr lvl="1"/>
            <a:r>
              <a:rPr lang="en-US" sz="2000" dirty="0">
                <a:latin typeface="Calibri" panose="020F0502020204030204" pitchFamily="34" charset="0"/>
                <a:cs typeface="Calibri" panose="020F0502020204030204" pitchFamily="34" charset="0"/>
              </a:rPr>
              <a:t>Higher quantity requires lower price</a:t>
            </a:r>
          </a:p>
          <a:p>
            <a:pPr lvl="1"/>
            <a:r>
              <a:rPr lang="en-US" sz="2000" dirty="0">
                <a:latin typeface="Calibri" panose="020F0502020204030204" pitchFamily="34" charset="0"/>
                <a:cs typeface="Calibri" panose="020F0502020204030204" pitchFamily="34" charset="0"/>
              </a:rPr>
              <a:t>Lower quantity allows higher price</a:t>
            </a:r>
          </a:p>
          <a:p>
            <a:pPr lvl="1"/>
            <a:r>
              <a:rPr lang="en-US" sz="2000" dirty="0">
                <a:latin typeface="Calibri" panose="020F0502020204030204" pitchFamily="34" charset="0"/>
                <a:cs typeface="Calibri" panose="020F0502020204030204" pitchFamily="34" charset="0"/>
              </a:rPr>
              <a:t>Trade-off: Price vs. quantity</a:t>
            </a:r>
          </a:p>
          <a:p>
            <a:endParaRPr lang="en-US" sz="2000" dirty="0">
              <a:latin typeface="Calibri" panose="020F0502020204030204" pitchFamily="34" charset="0"/>
              <a:cs typeface="Calibri" panose="020F0502020204030204" pitchFamily="34" charset="0"/>
            </a:endParaRPr>
          </a:p>
          <a:p>
            <a:r>
              <a:rPr lang="en-US" sz="2000" dirty="0">
                <a:latin typeface="Calibri" panose="020F0502020204030204" pitchFamily="34" charset="0"/>
                <a:cs typeface="Calibri" panose="020F0502020204030204" pitchFamily="34" charset="0"/>
              </a:rPr>
              <a:t>Analogy: Perfect competitor is like a farmer at a farmers market (take the going rate for tomatoes). Monopolist is like the only pharmacy in town (you choose whether to sell more at lower prices or less at higher prices).</a:t>
            </a:r>
          </a:p>
          <a:p>
            <a:endParaRPr lang="en-US" dirty="0"/>
          </a:p>
        </p:txBody>
      </p:sp>
      <p:pic>
        <p:nvPicPr>
          <p:cNvPr id="2" name="Picture 1" descr="The left graph shows perceived demand for a perfect competitor as a straight, horizontal line. The right graph shows perceived demand for a monopolist as a downward-sloping curve.">
            <a:extLst>
              <a:ext uri="{FF2B5EF4-FFF2-40B4-BE49-F238E27FC236}">
                <a16:creationId xmlns:a16="http://schemas.microsoft.com/office/drawing/2014/main" id="{C09ADB6A-9E0D-D2AD-AD2F-97BA4E0327C0}"/>
              </a:ext>
            </a:extLst>
          </p:cNvPr>
          <p:cNvPicPr>
            <a:picLocks noChangeAspect="1"/>
          </p:cNvPicPr>
          <p:nvPr/>
        </p:nvPicPr>
        <p:blipFill>
          <a:blip r:embed="rId3"/>
          <a:stretch>
            <a:fillRect/>
          </a:stretch>
        </p:blipFill>
        <p:spPr>
          <a:xfrm>
            <a:off x="7367147" y="1444487"/>
            <a:ext cx="4202002" cy="1664639"/>
          </a:xfrm>
          <a:prstGeom prst="rect">
            <a:avLst/>
          </a:prstGeom>
          <a:ln>
            <a:solidFill>
              <a:schemeClr val="tx1"/>
            </a:solidFill>
          </a:ln>
        </p:spPr>
      </p:pic>
    </p:spTree>
    <p:extLst>
      <p:ext uri="{BB962C8B-B14F-4D97-AF65-F5344CB8AC3E}">
        <p14:creationId xmlns:p14="http://schemas.microsoft.com/office/powerpoint/2010/main" val="1202500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A2CB62-3615-598F-1322-5C9B4276B285}"/>
              </a:ext>
            </a:extLst>
          </p:cNvPr>
          <p:cNvSpPr>
            <a:spLocks noGrp="1"/>
          </p:cNvSpPr>
          <p:nvPr>
            <p:ph type="title"/>
          </p:nvPr>
        </p:nvSpPr>
        <p:spPr>
          <a:xfrm>
            <a:off x="696798" y="365126"/>
            <a:ext cx="10515600" cy="933587"/>
          </a:xfrm>
        </p:spPr>
        <p:txBody>
          <a:bodyPr>
            <a:noAutofit/>
          </a:bodyPr>
          <a:lstStyle/>
          <a:p>
            <a:r>
              <a:rPr lang="en-US" dirty="0"/>
              <a:t>Total Revenue and Total Cost—Finding Maximum Profit</a:t>
            </a:r>
          </a:p>
        </p:txBody>
      </p:sp>
      <p:sp>
        <p:nvSpPr>
          <p:cNvPr id="7" name="Content Placeholder 6">
            <a:extLst>
              <a:ext uri="{FF2B5EF4-FFF2-40B4-BE49-F238E27FC236}">
                <a16:creationId xmlns:a16="http://schemas.microsoft.com/office/drawing/2014/main" id="{48760DBD-AA3B-190C-AE35-1C6B082566EF}"/>
              </a:ext>
            </a:extLst>
          </p:cNvPr>
          <p:cNvSpPr>
            <a:spLocks noGrp="1"/>
          </p:cNvSpPr>
          <p:nvPr>
            <p:ph idx="1"/>
          </p:nvPr>
        </p:nvSpPr>
        <p:spPr>
          <a:xfrm>
            <a:off x="696798" y="1444489"/>
            <a:ext cx="5605670" cy="4943060"/>
          </a:xfrm>
          <a:ln>
            <a:solidFill>
              <a:schemeClr val="tx1"/>
            </a:solidFill>
          </a:ln>
        </p:spPr>
        <p:txBody>
          <a:bodyPr>
            <a:normAutofit fontScale="92500" lnSpcReduction="10000"/>
          </a:bodyPr>
          <a:lstStyle/>
          <a:p>
            <a:r>
              <a:rPr lang="en-US" sz="2400" dirty="0">
                <a:latin typeface="Calibri" panose="020F0502020204030204" pitchFamily="34" charset="0"/>
                <a:cs typeface="Calibri" panose="020F0502020204030204" pitchFamily="34" charset="0"/>
              </a:rPr>
              <a:t>Key insight: Maximum profit occurs where total revenue exceeds total cost by the greatest amount</a:t>
            </a:r>
          </a:p>
          <a:p>
            <a:r>
              <a:rPr lang="en-US" sz="2400" dirty="0" err="1">
                <a:latin typeface="Calibri" panose="020F0502020204030204" pitchFamily="34" charset="0"/>
                <a:cs typeface="Calibri" panose="020F0502020204030204" pitchFamily="34" charset="0"/>
              </a:rPr>
              <a:t>HealthPill</a:t>
            </a:r>
            <a:r>
              <a:rPr lang="en-US" sz="2400" dirty="0">
                <a:latin typeface="Calibri" panose="020F0502020204030204" pitchFamily="34" charset="0"/>
                <a:cs typeface="Calibri" panose="020F0502020204030204" pitchFamily="34" charset="0"/>
              </a:rPr>
              <a:t> Monopoly example:</a:t>
            </a:r>
          </a:p>
          <a:p>
            <a:pPr lvl="1"/>
            <a:r>
              <a:rPr lang="en-US" sz="2400" dirty="0">
                <a:latin typeface="Calibri" panose="020F0502020204030204" pitchFamily="34" charset="0"/>
                <a:cs typeface="Calibri" panose="020F0502020204030204" pitchFamily="34" charset="0"/>
              </a:rPr>
              <a:t>Total revenue: rises, peaks, then falls (hill-shaped)</a:t>
            </a:r>
          </a:p>
          <a:p>
            <a:pPr lvl="1"/>
            <a:r>
              <a:rPr lang="en-US" sz="2400" dirty="0">
                <a:latin typeface="Calibri" panose="020F0502020204030204" pitchFamily="34" charset="0"/>
                <a:cs typeface="Calibri" panose="020F0502020204030204" pitchFamily="34" charset="0"/>
              </a:rPr>
              <a:t>Total cost: steadily rises (upward-sloping)</a:t>
            </a:r>
          </a:p>
          <a:p>
            <a:pPr lvl="1"/>
            <a:r>
              <a:rPr lang="en-US" sz="2400" dirty="0">
                <a:latin typeface="Calibri" panose="020F0502020204030204" pitchFamily="34" charset="0"/>
                <a:cs typeface="Calibri" panose="020F0502020204030204" pitchFamily="34" charset="0"/>
              </a:rPr>
              <a:t>Maximum profit: where vertical distance is greatest</a:t>
            </a:r>
          </a:p>
          <a:p>
            <a:r>
              <a:rPr lang="en-US" sz="2400" dirty="0">
                <a:latin typeface="Calibri" panose="020F0502020204030204" pitchFamily="34" charset="0"/>
                <a:cs typeface="Calibri" panose="020F0502020204030204" pitchFamily="34" charset="0"/>
              </a:rPr>
              <a:t>Why TR has hill shape:</a:t>
            </a:r>
          </a:p>
          <a:p>
            <a:pPr lvl="1"/>
            <a:r>
              <a:rPr lang="en-US" sz="2400" dirty="0">
                <a:latin typeface="Calibri" panose="020F0502020204030204" pitchFamily="34" charset="0"/>
                <a:cs typeface="Calibri" panose="020F0502020204030204" pitchFamily="34" charset="0"/>
              </a:rPr>
              <a:t>Low output → low revenue (small quantity)</a:t>
            </a:r>
          </a:p>
          <a:p>
            <a:pPr lvl="1"/>
            <a:r>
              <a:rPr lang="en-US" sz="2400" dirty="0">
                <a:latin typeface="Calibri" panose="020F0502020204030204" pitchFamily="34" charset="0"/>
                <a:cs typeface="Calibri" panose="020F0502020204030204" pitchFamily="34" charset="0"/>
              </a:rPr>
              <a:t>High output → low revenue (low price)</a:t>
            </a:r>
          </a:p>
          <a:p>
            <a:endParaRPr lang="en-US" dirty="0"/>
          </a:p>
        </p:txBody>
      </p:sp>
      <p:pic>
        <p:nvPicPr>
          <p:cNvPr id="2" name="Picture 1" descr="The graph shows total cost as an upward-sloping line and total revenue as a curve that rises then falls. The two curves intersect at two different points.">
            <a:extLst>
              <a:ext uri="{FF2B5EF4-FFF2-40B4-BE49-F238E27FC236}">
                <a16:creationId xmlns:a16="http://schemas.microsoft.com/office/drawing/2014/main" id="{6CD9268B-E8FB-E997-39EF-41F194252D1A}"/>
              </a:ext>
            </a:extLst>
          </p:cNvPr>
          <p:cNvPicPr>
            <a:picLocks noChangeAspect="1"/>
          </p:cNvPicPr>
          <p:nvPr/>
        </p:nvPicPr>
        <p:blipFill>
          <a:blip r:embed="rId3"/>
          <a:stretch>
            <a:fillRect/>
          </a:stretch>
        </p:blipFill>
        <p:spPr>
          <a:xfrm>
            <a:off x="6362615" y="1444490"/>
            <a:ext cx="5132587" cy="2650434"/>
          </a:xfrm>
          <a:prstGeom prst="rect">
            <a:avLst/>
          </a:prstGeom>
          <a:ln>
            <a:solidFill>
              <a:schemeClr val="tx1"/>
            </a:solidFill>
          </a:ln>
        </p:spPr>
      </p:pic>
    </p:spTree>
    <p:extLst>
      <p:ext uri="{BB962C8B-B14F-4D97-AF65-F5344CB8AC3E}">
        <p14:creationId xmlns:p14="http://schemas.microsoft.com/office/powerpoint/2010/main" val="17674403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A2CB62-3615-598F-1322-5C9B4276B285}"/>
              </a:ext>
            </a:extLst>
          </p:cNvPr>
          <p:cNvSpPr>
            <a:spLocks noGrp="1"/>
          </p:cNvSpPr>
          <p:nvPr>
            <p:ph type="title"/>
          </p:nvPr>
        </p:nvSpPr>
        <p:spPr>
          <a:xfrm>
            <a:off x="677945" y="365125"/>
            <a:ext cx="10515600" cy="1052857"/>
          </a:xfrm>
        </p:spPr>
        <p:txBody>
          <a:bodyPr>
            <a:noAutofit/>
          </a:bodyPr>
          <a:lstStyle/>
          <a:p>
            <a:r>
              <a:rPr lang="en-US" dirty="0"/>
              <a:t>Marginal Revenue and Marginal Cost—The Practical Approach</a:t>
            </a:r>
          </a:p>
        </p:txBody>
      </p:sp>
      <p:sp>
        <p:nvSpPr>
          <p:cNvPr id="7" name="Content Placeholder 6">
            <a:extLst>
              <a:ext uri="{FF2B5EF4-FFF2-40B4-BE49-F238E27FC236}">
                <a16:creationId xmlns:a16="http://schemas.microsoft.com/office/drawing/2014/main" id="{48760DBD-AA3B-190C-AE35-1C6B082566EF}"/>
              </a:ext>
            </a:extLst>
          </p:cNvPr>
          <p:cNvSpPr>
            <a:spLocks noGrp="1"/>
          </p:cNvSpPr>
          <p:nvPr>
            <p:ph idx="1"/>
          </p:nvPr>
        </p:nvSpPr>
        <p:spPr>
          <a:xfrm>
            <a:off x="677945" y="1723644"/>
            <a:ext cx="5418055" cy="4902443"/>
          </a:xfrm>
          <a:ln>
            <a:solidFill>
              <a:schemeClr val="tx1"/>
            </a:solidFill>
          </a:ln>
        </p:spPr>
        <p:txBody>
          <a:bodyPr>
            <a:normAutofit lnSpcReduction="10000"/>
          </a:bodyPr>
          <a:lstStyle/>
          <a:p>
            <a:pPr marL="0" indent="0">
              <a:buNone/>
            </a:pPr>
            <a:r>
              <a:rPr lang="en-US" dirty="0"/>
              <a:t>MR = MC rule: Produce where marginal revenue equals marginal cost</a:t>
            </a:r>
          </a:p>
          <a:p>
            <a:pPr marL="0" indent="0">
              <a:buNone/>
            </a:pPr>
            <a:endParaRPr lang="en-US" dirty="0"/>
          </a:p>
          <a:p>
            <a:r>
              <a:rPr lang="en-US" dirty="0"/>
              <a:t>Why this works:</a:t>
            </a:r>
          </a:p>
          <a:p>
            <a:pPr lvl="1"/>
            <a:r>
              <a:rPr lang="en-US" dirty="0"/>
              <a:t>If MR &gt; MC → produce more (adding to profit)</a:t>
            </a:r>
          </a:p>
          <a:p>
            <a:pPr lvl="1"/>
            <a:r>
              <a:rPr lang="en-US" dirty="0"/>
              <a:t>If MR = MC → at maximum profit</a:t>
            </a:r>
          </a:p>
          <a:p>
            <a:pPr lvl="1"/>
            <a:r>
              <a:rPr lang="en-US" dirty="0"/>
              <a:t>If MR &lt; MC → produce less (losing money on marginal units)</a:t>
            </a:r>
          </a:p>
          <a:p>
            <a:endParaRPr lang="en-US" dirty="0"/>
          </a:p>
          <a:p>
            <a:r>
              <a:rPr lang="en-US" dirty="0"/>
              <a:t>Monopolist's MR curve: Always below demand curve</a:t>
            </a:r>
          </a:p>
          <a:p>
            <a:endParaRPr lang="en-US" dirty="0"/>
          </a:p>
          <a:p>
            <a:r>
              <a:rPr lang="en-US" dirty="0"/>
              <a:t>Analogy: Like climbing a hill in fog—you keep going up (MR &gt; MC) until the ground levels out (MR = MC). Going further would mean going downhill (MR &lt; MC).</a:t>
            </a:r>
          </a:p>
          <a:p>
            <a:endParaRPr lang="en-US" dirty="0"/>
          </a:p>
        </p:txBody>
      </p:sp>
      <p:pic>
        <p:nvPicPr>
          <p:cNvPr id="2" name="Picture 1" descr="The graph shows marginal cost as an upward-sloping curve and marginal revenue as a downward-sloping line. Where the two lines intersect is where maximum profit is possible.">
            <a:extLst>
              <a:ext uri="{FF2B5EF4-FFF2-40B4-BE49-F238E27FC236}">
                <a16:creationId xmlns:a16="http://schemas.microsoft.com/office/drawing/2014/main" id="{D1346F94-B544-3F73-88D2-056883E59F26}"/>
              </a:ext>
            </a:extLst>
          </p:cNvPr>
          <p:cNvPicPr>
            <a:picLocks noChangeAspect="1"/>
          </p:cNvPicPr>
          <p:nvPr/>
        </p:nvPicPr>
        <p:blipFill>
          <a:blip r:embed="rId3"/>
          <a:stretch>
            <a:fillRect/>
          </a:stretch>
        </p:blipFill>
        <p:spPr>
          <a:xfrm>
            <a:off x="6256174" y="1723644"/>
            <a:ext cx="5474427" cy="2496025"/>
          </a:xfrm>
          <a:prstGeom prst="rect">
            <a:avLst/>
          </a:prstGeom>
          <a:ln>
            <a:solidFill>
              <a:schemeClr val="tx1"/>
            </a:solidFill>
          </a:ln>
        </p:spPr>
      </p:pic>
    </p:spTree>
    <p:extLst>
      <p:ext uri="{BB962C8B-B14F-4D97-AF65-F5344CB8AC3E}">
        <p14:creationId xmlns:p14="http://schemas.microsoft.com/office/powerpoint/2010/main" val="4079590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D5287-78AA-DFAD-2324-596CE564A721}"/>
              </a:ext>
            </a:extLst>
          </p:cNvPr>
          <p:cNvSpPr>
            <a:spLocks noGrp="1"/>
          </p:cNvSpPr>
          <p:nvPr>
            <p:ph type="title"/>
          </p:nvPr>
        </p:nvSpPr>
        <p:spPr>
          <a:xfrm>
            <a:off x="954157" y="302084"/>
            <a:ext cx="9899373" cy="815889"/>
          </a:xfrm>
        </p:spPr>
        <p:txBody>
          <a:bodyPr>
            <a:normAutofit/>
          </a:bodyPr>
          <a:lstStyle/>
          <a:p>
            <a:r>
              <a:rPr lang="en-US" dirty="0"/>
              <a:t>Why Marginal Revenue Lies Below Demand</a:t>
            </a:r>
          </a:p>
        </p:txBody>
      </p:sp>
      <p:sp>
        <p:nvSpPr>
          <p:cNvPr id="3" name="Content Placeholder 2">
            <a:extLst>
              <a:ext uri="{FF2B5EF4-FFF2-40B4-BE49-F238E27FC236}">
                <a16:creationId xmlns:a16="http://schemas.microsoft.com/office/drawing/2014/main" id="{CFB357D7-DE48-857B-D433-B17CABA55D8E}"/>
              </a:ext>
            </a:extLst>
          </p:cNvPr>
          <p:cNvSpPr>
            <a:spLocks noGrp="1"/>
          </p:cNvSpPr>
          <p:nvPr>
            <p:ph idx="1"/>
          </p:nvPr>
        </p:nvSpPr>
        <p:spPr>
          <a:xfrm>
            <a:off x="954157" y="1418843"/>
            <a:ext cx="5433391" cy="4624147"/>
          </a:xfrm>
          <a:ln>
            <a:solidFill>
              <a:schemeClr val="tx1"/>
            </a:solidFill>
          </a:ln>
        </p:spPr>
        <p:txBody>
          <a:bodyPr>
            <a:normAutofit fontScale="85000" lnSpcReduction="20000"/>
          </a:bodyPr>
          <a:lstStyle/>
          <a:p>
            <a:pPr marL="0" indent="0">
              <a:buNone/>
            </a:pPr>
            <a:r>
              <a:rPr lang="en-US" sz="2400" dirty="0">
                <a:latin typeface="Calibri" panose="020F0502020204030204" pitchFamily="34" charset="0"/>
                <a:cs typeface="Calibri" panose="020F0502020204030204" pitchFamily="34" charset="0"/>
              </a:rPr>
              <a:t>Two opposing effects when monopolist sells one more unit:</a:t>
            </a:r>
          </a:p>
          <a:p>
            <a:pPr marL="571500" lvl="1" indent="-342900">
              <a:buFont typeface="+mj-lt"/>
              <a:buAutoNum type="arabicPeriod"/>
            </a:pPr>
            <a:r>
              <a:rPr lang="en-US" sz="2400" dirty="0">
                <a:latin typeface="Calibri" panose="020F0502020204030204" pitchFamily="34" charset="0"/>
                <a:cs typeface="Calibri" panose="020F0502020204030204" pitchFamily="34" charset="0"/>
              </a:rPr>
              <a:t>Gain: Revenue from selling the additional unit at new (lower) price</a:t>
            </a:r>
          </a:p>
          <a:p>
            <a:pPr marL="571500" lvl="1" indent="-342900">
              <a:buFont typeface="+mj-lt"/>
              <a:buAutoNum type="arabicPeriod"/>
            </a:pPr>
            <a:r>
              <a:rPr lang="en-US" sz="2400" dirty="0">
                <a:latin typeface="Calibri" panose="020F0502020204030204" pitchFamily="34" charset="0"/>
                <a:cs typeface="Calibri" panose="020F0502020204030204" pitchFamily="34" charset="0"/>
              </a:rPr>
              <a:t>Loss: Revenue lost because ALL previous units now sell at lower price</a:t>
            </a:r>
          </a:p>
          <a:p>
            <a:r>
              <a:rPr lang="en-US" sz="2400" dirty="0">
                <a:latin typeface="Calibri" panose="020F0502020204030204" pitchFamily="34" charset="0"/>
                <a:cs typeface="Calibri" panose="020F0502020204030204" pitchFamily="34" charset="0"/>
              </a:rPr>
              <a:t>Result: MR &lt; Price</a:t>
            </a:r>
          </a:p>
          <a:p>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Mathematical pattern (straight-line demand):</a:t>
            </a:r>
          </a:p>
          <a:p>
            <a:pPr lvl="1"/>
            <a:r>
              <a:rPr lang="en-US" sz="2400" dirty="0">
                <a:latin typeface="Calibri" panose="020F0502020204030204" pitchFamily="34" charset="0"/>
                <a:cs typeface="Calibri" panose="020F0502020204030204" pitchFamily="34" charset="0"/>
              </a:rPr>
              <a:t>MR and demand share same vertical intercept</a:t>
            </a:r>
          </a:p>
          <a:p>
            <a:pPr lvl="1"/>
            <a:r>
              <a:rPr lang="en-US" sz="2400" dirty="0">
                <a:latin typeface="Calibri" panose="020F0502020204030204" pitchFamily="34" charset="0"/>
                <a:cs typeface="Calibri" panose="020F0502020204030204" pitchFamily="34" charset="0"/>
              </a:rPr>
              <a:t>MR falls twice as fast as demand</a:t>
            </a:r>
          </a:p>
          <a:p>
            <a:pPr lvl="1"/>
            <a:r>
              <a:rPr lang="en-US" sz="2400" dirty="0">
                <a:latin typeface="Calibri" panose="020F0502020204030204" pitchFamily="34" charset="0"/>
                <a:cs typeface="Calibri" panose="020F0502020204030204" pitchFamily="34" charset="0"/>
              </a:rPr>
              <a:t>MR's horizontal intercept is halfway to demand's</a:t>
            </a:r>
          </a:p>
          <a:p>
            <a:endParaRPr lang="en-US" dirty="0"/>
          </a:p>
        </p:txBody>
      </p:sp>
      <p:pic>
        <p:nvPicPr>
          <p:cNvPr id="4" name="Picture 3" descr="The graph shows that the market demand curve is conditional, so the marginal revenue curve for a monopolist lies beneath the demand curve.">
            <a:extLst>
              <a:ext uri="{FF2B5EF4-FFF2-40B4-BE49-F238E27FC236}">
                <a16:creationId xmlns:a16="http://schemas.microsoft.com/office/drawing/2014/main" id="{1B7F7B8C-9FBD-84A7-48F3-A9060DEE5F42}"/>
              </a:ext>
            </a:extLst>
          </p:cNvPr>
          <p:cNvPicPr>
            <a:picLocks noChangeAspect="1"/>
          </p:cNvPicPr>
          <p:nvPr/>
        </p:nvPicPr>
        <p:blipFill>
          <a:blip r:embed="rId3"/>
          <a:stretch>
            <a:fillRect/>
          </a:stretch>
        </p:blipFill>
        <p:spPr>
          <a:xfrm>
            <a:off x="6504746" y="1418843"/>
            <a:ext cx="4933950" cy="3590397"/>
          </a:xfrm>
          <a:prstGeom prst="rect">
            <a:avLst/>
          </a:prstGeom>
          <a:ln>
            <a:solidFill>
              <a:schemeClr val="tx1"/>
            </a:solidFill>
          </a:ln>
        </p:spPr>
      </p:pic>
    </p:spTree>
    <p:extLst>
      <p:ext uri="{BB962C8B-B14F-4D97-AF65-F5344CB8AC3E}">
        <p14:creationId xmlns:p14="http://schemas.microsoft.com/office/powerpoint/2010/main" val="26631509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A2CB62-3615-598F-1322-5C9B4276B285}"/>
              </a:ext>
            </a:extLst>
          </p:cNvPr>
          <p:cNvSpPr>
            <a:spLocks noGrp="1"/>
          </p:cNvSpPr>
          <p:nvPr>
            <p:ph type="title"/>
          </p:nvPr>
        </p:nvSpPr>
        <p:spPr>
          <a:xfrm>
            <a:off x="715652" y="365126"/>
            <a:ext cx="10515600" cy="752847"/>
          </a:xfrm>
        </p:spPr>
        <p:txBody>
          <a:bodyPr>
            <a:normAutofit/>
          </a:bodyPr>
          <a:lstStyle/>
          <a:p>
            <a:r>
              <a:rPr lang="en-US" dirty="0"/>
              <a:t>Three Steps to Profit Maximization</a:t>
            </a:r>
          </a:p>
        </p:txBody>
      </p:sp>
      <p:sp>
        <p:nvSpPr>
          <p:cNvPr id="7" name="Content Placeholder 6">
            <a:extLst>
              <a:ext uri="{FF2B5EF4-FFF2-40B4-BE49-F238E27FC236}">
                <a16:creationId xmlns:a16="http://schemas.microsoft.com/office/drawing/2014/main" id="{48760DBD-AA3B-190C-AE35-1C6B082566EF}"/>
              </a:ext>
            </a:extLst>
          </p:cNvPr>
          <p:cNvSpPr>
            <a:spLocks noGrp="1"/>
          </p:cNvSpPr>
          <p:nvPr>
            <p:ph idx="1"/>
          </p:nvPr>
        </p:nvSpPr>
        <p:spPr>
          <a:xfrm>
            <a:off x="715653" y="1286322"/>
            <a:ext cx="5870678" cy="4186826"/>
          </a:xfrm>
          <a:ln>
            <a:solidFill>
              <a:schemeClr val="tx1"/>
            </a:solidFill>
          </a:ln>
        </p:spPr>
        <p:txBody>
          <a:bodyPr>
            <a:normAutofit/>
          </a:bodyPr>
          <a:lstStyle/>
          <a:p>
            <a:r>
              <a:rPr lang="en-US" sz="2400" dirty="0">
                <a:latin typeface="Calibri" panose="020F0502020204030204" pitchFamily="34" charset="0"/>
                <a:cs typeface="Calibri" panose="020F0502020204030204" pitchFamily="34" charset="0"/>
              </a:rPr>
              <a:t>Step 1: Find quantity where MR = MC</a:t>
            </a:r>
          </a:p>
          <a:p>
            <a:r>
              <a:rPr lang="en-US" sz="2400" dirty="0">
                <a:latin typeface="Calibri" panose="020F0502020204030204" pitchFamily="34" charset="0"/>
                <a:cs typeface="Calibri" panose="020F0502020204030204" pitchFamily="34" charset="0"/>
              </a:rPr>
              <a:t>Step 2: Go up to demand curve to find price consumers will pay at that quantity</a:t>
            </a:r>
          </a:p>
          <a:p>
            <a:r>
              <a:rPr lang="en-US" sz="2400" dirty="0">
                <a:latin typeface="Calibri" panose="020F0502020204030204" pitchFamily="34" charset="0"/>
                <a:cs typeface="Calibri" panose="020F0502020204030204" pitchFamily="34" charset="0"/>
              </a:rPr>
              <a:t>Step 3: Calculate profit</a:t>
            </a:r>
          </a:p>
          <a:p>
            <a:pPr lvl="1"/>
            <a:r>
              <a:rPr lang="en-US" sz="2400" dirty="0">
                <a:latin typeface="Calibri" panose="020F0502020204030204" pitchFamily="34" charset="0"/>
                <a:cs typeface="Calibri" panose="020F0502020204030204" pitchFamily="34" charset="0"/>
              </a:rPr>
              <a:t>Total Revenue = Price × Quantity</a:t>
            </a:r>
          </a:p>
          <a:p>
            <a:pPr lvl="1"/>
            <a:r>
              <a:rPr lang="en-US" sz="2400" dirty="0">
                <a:latin typeface="Calibri" panose="020F0502020204030204" pitchFamily="34" charset="0"/>
                <a:cs typeface="Calibri" panose="020F0502020204030204" pitchFamily="34" charset="0"/>
              </a:rPr>
              <a:t>Total Cost = Average Cost × Quantity</a:t>
            </a:r>
          </a:p>
          <a:p>
            <a:pPr lvl="1"/>
            <a:r>
              <a:rPr lang="en-US" sz="2400" dirty="0">
                <a:latin typeface="Calibri" panose="020F0502020204030204" pitchFamily="34" charset="0"/>
                <a:cs typeface="Calibri" panose="020F0502020204030204" pitchFamily="34" charset="0"/>
              </a:rPr>
              <a:t>Profit = TR - TC</a:t>
            </a:r>
          </a:p>
        </p:txBody>
      </p:sp>
      <p:pic>
        <p:nvPicPr>
          <p:cNvPr id="2" name="Picture 1" descr="The graph shows monopoly profits as the area between the demand curve and the average cost curve at the monopolist’s level of output.">
            <a:extLst>
              <a:ext uri="{FF2B5EF4-FFF2-40B4-BE49-F238E27FC236}">
                <a16:creationId xmlns:a16="http://schemas.microsoft.com/office/drawing/2014/main" id="{A63C3A73-53B5-BA6D-C535-2FE68C6AF5BE}"/>
              </a:ext>
            </a:extLst>
          </p:cNvPr>
          <p:cNvPicPr>
            <a:picLocks noChangeAspect="1"/>
          </p:cNvPicPr>
          <p:nvPr/>
        </p:nvPicPr>
        <p:blipFill>
          <a:blip r:embed="rId3"/>
          <a:stretch>
            <a:fillRect/>
          </a:stretch>
        </p:blipFill>
        <p:spPr>
          <a:xfrm>
            <a:off x="6824870" y="1286322"/>
            <a:ext cx="4943094" cy="3106577"/>
          </a:xfrm>
          <a:prstGeom prst="rect">
            <a:avLst/>
          </a:prstGeom>
          <a:ln>
            <a:solidFill>
              <a:schemeClr val="tx1"/>
            </a:solidFill>
          </a:ln>
        </p:spPr>
      </p:pic>
    </p:spTree>
    <p:extLst>
      <p:ext uri="{BB962C8B-B14F-4D97-AF65-F5344CB8AC3E}">
        <p14:creationId xmlns:p14="http://schemas.microsoft.com/office/powerpoint/2010/main" val="14342773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A2CB62-3615-598F-1322-5C9B4276B285}"/>
              </a:ext>
            </a:extLst>
          </p:cNvPr>
          <p:cNvSpPr>
            <a:spLocks noGrp="1"/>
          </p:cNvSpPr>
          <p:nvPr>
            <p:ph type="title"/>
          </p:nvPr>
        </p:nvSpPr>
        <p:spPr>
          <a:xfrm>
            <a:off x="649663" y="346273"/>
            <a:ext cx="10515600" cy="424583"/>
          </a:xfrm>
        </p:spPr>
        <p:txBody>
          <a:bodyPr>
            <a:normAutofit fontScale="90000"/>
          </a:bodyPr>
          <a:lstStyle/>
          <a:p>
            <a:r>
              <a:rPr lang="en-US" dirty="0"/>
              <a:t>The Inefficiency of Monopoly</a:t>
            </a:r>
          </a:p>
        </p:txBody>
      </p:sp>
      <p:sp>
        <p:nvSpPr>
          <p:cNvPr id="7" name="Content Placeholder 6">
            <a:extLst>
              <a:ext uri="{FF2B5EF4-FFF2-40B4-BE49-F238E27FC236}">
                <a16:creationId xmlns:a16="http://schemas.microsoft.com/office/drawing/2014/main" id="{48760DBD-AA3B-190C-AE35-1C6B082566EF}"/>
              </a:ext>
            </a:extLst>
          </p:cNvPr>
          <p:cNvSpPr>
            <a:spLocks noGrp="1"/>
          </p:cNvSpPr>
          <p:nvPr>
            <p:ph idx="1"/>
          </p:nvPr>
        </p:nvSpPr>
        <p:spPr>
          <a:xfrm>
            <a:off x="838199" y="1201061"/>
            <a:ext cx="5032514" cy="5310666"/>
          </a:xfrm>
        </p:spPr>
        <p:txBody>
          <a:bodyPr>
            <a:normAutofit/>
          </a:bodyPr>
          <a:lstStyle/>
          <a:p>
            <a:pPr marL="0" indent="0">
              <a:buNone/>
            </a:pPr>
            <a:r>
              <a:rPr lang="en-US" sz="2000" dirty="0">
                <a:latin typeface="Calibri" panose="020F0502020204030204" pitchFamily="34" charset="0"/>
                <a:cs typeface="Calibri" panose="020F0502020204030204" pitchFamily="34" charset="0"/>
              </a:rPr>
              <a:t>Monopolies are neither productively nor allocatively efficient</a:t>
            </a:r>
          </a:p>
          <a:p>
            <a:pPr marL="0" indent="0">
              <a:buNone/>
            </a:pPr>
            <a:r>
              <a:rPr lang="en-US" sz="2000" dirty="0">
                <a:latin typeface="Calibri" panose="020F0502020204030204" pitchFamily="34" charset="0"/>
                <a:cs typeface="Calibri" panose="020F0502020204030204" pitchFamily="34" charset="0"/>
              </a:rPr>
              <a:t>Compared to perfect competition:</a:t>
            </a:r>
          </a:p>
          <a:p>
            <a:pPr lvl="1"/>
            <a:r>
              <a:rPr lang="en-US" sz="1800" dirty="0">
                <a:latin typeface="Calibri" panose="020F0502020204030204" pitchFamily="34" charset="0"/>
                <a:cs typeface="Calibri" panose="020F0502020204030204" pitchFamily="34" charset="0"/>
              </a:rPr>
              <a:t>Produce LESS output</a:t>
            </a:r>
          </a:p>
          <a:p>
            <a:pPr lvl="1"/>
            <a:r>
              <a:rPr lang="en-US" sz="1800" dirty="0">
                <a:latin typeface="Calibri" panose="020F0502020204030204" pitchFamily="34" charset="0"/>
                <a:cs typeface="Calibri" panose="020F0502020204030204" pitchFamily="34" charset="0"/>
              </a:rPr>
              <a:t>Charge HIGHER prices</a:t>
            </a:r>
          </a:p>
          <a:p>
            <a:pPr lvl="1"/>
            <a:r>
              <a:rPr lang="en-US" sz="1800" dirty="0">
                <a:latin typeface="Calibri" panose="020F0502020204030204" pitchFamily="34" charset="0"/>
                <a:cs typeface="Calibri" panose="020F0502020204030204" pitchFamily="34" charset="0"/>
              </a:rPr>
              <a:t>P &gt; MC (allocative inefficiency)</a:t>
            </a:r>
          </a:p>
          <a:p>
            <a:r>
              <a:rPr lang="en-US" sz="2000" dirty="0">
                <a:latin typeface="Calibri" panose="020F0502020204030204" pitchFamily="34" charset="0"/>
                <a:cs typeface="Calibri" panose="020F0502020204030204" pitchFamily="34" charset="0"/>
              </a:rPr>
              <a:t>Broader concern: Less incentive to innovate—"The best of all monopoly profits is a quiet life" (John Hicks)</a:t>
            </a:r>
          </a:p>
          <a:p>
            <a:r>
              <a:rPr lang="en-US" sz="2000" dirty="0">
                <a:latin typeface="Calibri" panose="020F0502020204030204" pitchFamily="34" charset="0"/>
                <a:cs typeface="Calibri" panose="020F0502020204030204" pitchFamily="34" charset="0"/>
              </a:rPr>
              <a:t>Example: Pre-1982 AT&amp;T: any color phone you want, as long as it's black. Post-breakup: explosion of innovation (call waiting, caller ID, mobile phones, voicemail, varied pricing)</a:t>
            </a:r>
          </a:p>
          <a:p>
            <a:endParaRPr lang="en-US" dirty="0"/>
          </a:p>
        </p:txBody>
      </p:sp>
      <p:pic>
        <p:nvPicPr>
          <p:cNvPr id="2" name="Picture 1" descr="A diagram of monopolist cost and efficiency&#10;&#10;">
            <a:extLst>
              <a:ext uri="{FF2B5EF4-FFF2-40B4-BE49-F238E27FC236}">
                <a16:creationId xmlns:a16="http://schemas.microsoft.com/office/drawing/2014/main" id="{30D654A2-A152-2ED1-03FC-D1AAF7EC385C}"/>
              </a:ext>
            </a:extLst>
          </p:cNvPr>
          <p:cNvPicPr>
            <a:picLocks noChangeAspect="1"/>
          </p:cNvPicPr>
          <p:nvPr/>
        </p:nvPicPr>
        <p:blipFill>
          <a:blip r:embed="rId3"/>
          <a:stretch>
            <a:fillRect/>
          </a:stretch>
        </p:blipFill>
        <p:spPr>
          <a:xfrm>
            <a:off x="6096000" y="1201061"/>
            <a:ext cx="5548902" cy="5310666"/>
          </a:xfrm>
          <a:prstGeom prst="rect">
            <a:avLst/>
          </a:prstGeom>
          <a:ln>
            <a:solidFill>
              <a:schemeClr val="tx1"/>
            </a:solidFill>
          </a:ln>
        </p:spPr>
      </p:pic>
    </p:spTree>
    <p:extLst>
      <p:ext uri="{BB962C8B-B14F-4D97-AF65-F5344CB8AC3E}">
        <p14:creationId xmlns:p14="http://schemas.microsoft.com/office/powerpoint/2010/main" val="3667250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A83E0-2FF4-FDEF-008E-26876EF04C45}"/>
              </a:ext>
            </a:extLst>
          </p:cNvPr>
          <p:cNvSpPr>
            <a:spLocks noGrp="1"/>
          </p:cNvSpPr>
          <p:nvPr>
            <p:ph type="title"/>
          </p:nvPr>
        </p:nvSpPr>
        <p:spPr>
          <a:xfrm>
            <a:off x="2231136" y="328587"/>
            <a:ext cx="7729728" cy="1188720"/>
          </a:xfrm>
        </p:spPr>
        <p:txBody>
          <a:bodyPr/>
          <a:lstStyle/>
          <a:p>
            <a:r>
              <a:rPr lang="en-US" dirty="0"/>
              <a:t>Summary—Key Takeaways</a:t>
            </a:r>
          </a:p>
        </p:txBody>
      </p:sp>
      <p:sp>
        <p:nvSpPr>
          <p:cNvPr id="3" name="Content Placeholder 2">
            <a:extLst>
              <a:ext uri="{FF2B5EF4-FFF2-40B4-BE49-F238E27FC236}">
                <a16:creationId xmlns:a16="http://schemas.microsoft.com/office/drawing/2014/main" id="{89911024-2F6A-697F-EF1D-1974D3C5DE7E}"/>
              </a:ext>
            </a:extLst>
          </p:cNvPr>
          <p:cNvSpPr>
            <a:spLocks noGrp="1"/>
          </p:cNvSpPr>
          <p:nvPr>
            <p:ph idx="1"/>
          </p:nvPr>
        </p:nvSpPr>
        <p:spPr>
          <a:xfrm>
            <a:off x="1610139" y="1855305"/>
            <a:ext cx="8971721" cy="4253948"/>
          </a:xfrm>
          <a:ln>
            <a:solidFill>
              <a:schemeClr val="tx1"/>
            </a:solidFill>
          </a:ln>
        </p:spPr>
        <p:txBody>
          <a:bodyPr>
            <a:normAutofit/>
          </a:bodyPr>
          <a:lstStyle/>
          <a:p>
            <a:pPr marL="457200" indent="-457200">
              <a:buFont typeface="+mj-lt"/>
              <a:buAutoNum type="arabicPeriod"/>
            </a:pPr>
            <a:r>
              <a:rPr lang="en-US" sz="2400" dirty="0">
                <a:latin typeface="Calibri" panose="020F0502020204030204" pitchFamily="34" charset="0"/>
                <a:cs typeface="Calibri" panose="020F0502020204030204" pitchFamily="34" charset="0"/>
              </a:rPr>
              <a:t>Monopolies exist due to barriers to entry (natural, legal, resources, IP, intimidation)</a:t>
            </a:r>
          </a:p>
          <a:p>
            <a:pPr marL="457200" indent="-457200">
              <a:buFont typeface="+mj-lt"/>
              <a:buAutoNum type="arabicPeriod"/>
            </a:pPr>
            <a:r>
              <a:rPr lang="en-US" sz="2400" dirty="0">
                <a:latin typeface="Calibri" panose="020F0502020204030204" pitchFamily="34" charset="0"/>
                <a:cs typeface="Calibri" panose="020F0502020204030204" pitchFamily="34" charset="0"/>
              </a:rPr>
              <a:t>Natural ≠ permanent—technology erodes monopolies</a:t>
            </a:r>
          </a:p>
          <a:p>
            <a:pPr marL="457200" indent="-457200">
              <a:buFont typeface="+mj-lt"/>
              <a:buAutoNum type="arabicPeriod"/>
            </a:pPr>
            <a:r>
              <a:rPr lang="en-US" sz="2400" dirty="0">
                <a:latin typeface="Calibri" panose="020F0502020204030204" pitchFamily="34" charset="0"/>
                <a:cs typeface="Calibri" panose="020F0502020204030204" pitchFamily="34" charset="0"/>
              </a:rPr>
              <a:t>Profit maximization: MR = MC (produce where marginal revenue equals marginal cost)</a:t>
            </a:r>
          </a:p>
          <a:p>
            <a:pPr marL="457200" indent="-457200">
              <a:buFont typeface="+mj-lt"/>
              <a:buAutoNum type="arabicPeriod"/>
            </a:pPr>
            <a:r>
              <a:rPr lang="en-US" sz="2400" dirty="0">
                <a:latin typeface="Calibri" panose="020F0502020204030204" pitchFamily="34" charset="0"/>
                <a:cs typeface="Calibri" panose="020F0502020204030204" pitchFamily="34" charset="0"/>
              </a:rPr>
              <a:t>Price setting: Go to demand curve after finding quantity</a:t>
            </a:r>
          </a:p>
          <a:p>
            <a:pPr marL="457200" indent="-457200">
              <a:buFont typeface="+mj-lt"/>
              <a:buAutoNum type="arabicPeriod"/>
            </a:pPr>
            <a:r>
              <a:rPr lang="en-US" sz="2400" dirty="0">
                <a:latin typeface="Calibri" panose="020F0502020204030204" pitchFamily="34" charset="0"/>
                <a:cs typeface="Calibri" panose="020F0502020204030204" pitchFamily="34" charset="0"/>
              </a:rPr>
              <a:t>Inefficiency: Monopolies produce too little at too high a price</a:t>
            </a:r>
          </a:p>
          <a:p>
            <a:pPr marL="457200" indent="-457200">
              <a:buFont typeface="+mj-lt"/>
              <a:buAutoNum type="arabicPeriod"/>
            </a:pPr>
            <a:r>
              <a:rPr lang="en-US" sz="2400" dirty="0">
                <a:latin typeface="Calibri" panose="020F0502020204030204" pitchFamily="34" charset="0"/>
                <a:cs typeface="Calibri" panose="020F0502020204030204" pitchFamily="34" charset="0"/>
              </a:rPr>
              <a:t>Dynamic harm: Less innovation without competitive pressure</a:t>
            </a:r>
          </a:p>
          <a:p>
            <a:endParaRPr lang="en-US" dirty="0"/>
          </a:p>
        </p:txBody>
      </p:sp>
    </p:spTree>
    <p:extLst>
      <p:ext uri="{BB962C8B-B14F-4D97-AF65-F5344CB8AC3E}">
        <p14:creationId xmlns:p14="http://schemas.microsoft.com/office/powerpoint/2010/main" val="2999991832"/>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913</TotalTime>
  <Words>3071</Words>
  <Application>Microsoft Office PowerPoint</Application>
  <PresentationFormat>Widescreen</PresentationFormat>
  <Paragraphs>160</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Arial</vt:lpstr>
      <vt:lpstr>Calibri</vt:lpstr>
      <vt:lpstr>Gill Sans MT</vt:lpstr>
      <vt:lpstr>Parcel</vt:lpstr>
      <vt:lpstr>Chapter 9</vt:lpstr>
      <vt:lpstr>What is a Monopoly</vt:lpstr>
      <vt:lpstr>Barriers to Entry—The Moat Around the Castle</vt:lpstr>
      <vt:lpstr>Natural Monopoly—Why Duplication Doesn't Make Sense</vt:lpstr>
      <vt:lpstr>Legal Monopoly—Government Protection</vt:lpstr>
      <vt:lpstr>Intellectual Property—Rewarding Innovation</vt:lpstr>
      <vt:lpstr>Predatory Pricing—The Monopolist's Threat</vt:lpstr>
      <vt:lpstr>Monopolist's Demand Curve vs. Perfect Competition</vt:lpstr>
      <vt:lpstr>Total Revenue and Total Cost—Finding Maximum Profit</vt:lpstr>
      <vt:lpstr>Marginal Revenue and Marginal Cost—The Practical Approach</vt:lpstr>
      <vt:lpstr>Why Marginal Revenue Lies Below Demand</vt:lpstr>
      <vt:lpstr>Three Steps to Profit Maximization</vt:lpstr>
      <vt:lpstr>The Inefficiency of Monopoly</vt:lpstr>
      <vt:lpstr>Summary—Key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Scott T Lane</dc:creator>
  <cp:lastModifiedBy>Scott T Lane</cp:lastModifiedBy>
  <cp:revision>1</cp:revision>
  <dcterms:created xsi:type="dcterms:W3CDTF">2025-05-05T14:11:37Z</dcterms:created>
  <dcterms:modified xsi:type="dcterms:W3CDTF">2026-02-12T19:06:13Z</dcterms:modified>
</cp:coreProperties>
</file>