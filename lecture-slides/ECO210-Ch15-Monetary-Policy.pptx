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29" autoAdjust="0"/>
    <p:restoredTop sz="96652" autoAdjust="0"/>
  </p:normalViewPr>
  <p:slideViewPr>
    <p:cSldViewPr snapToGrid="0" snapToObjects="1">
      <p:cViewPr varScale="1">
        <p:scale>
          <a:sx n="164" d="100"/>
          <a:sy n="164" d="100"/>
        </p:scale>
        <p:origin x="144" y="1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ott T Lane" userId="c97bbaa9-35da-4a3b-a646-d12e455ac46e" providerId="ADAL" clId="{08B31AA0-EB2A-4A90-AFB4-ED3765FBE1AB}"/>
    <pc:docChg chg="modSld">
      <pc:chgData name="Scott T Lane" userId="c97bbaa9-35da-4a3b-a646-d12e455ac46e" providerId="ADAL" clId="{08B31AA0-EB2A-4A90-AFB4-ED3765FBE1AB}" dt="2026-04-22T16:25:08.127" v="1" actId="1038"/>
      <pc:docMkLst>
        <pc:docMk/>
      </pc:docMkLst>
      <pc:sldChg chg="modSp mod">
        <pc:chgData name="Scott T Lane" userId="c97bbaa9-35da-4a3b-a646-d12e455ac46e" providerId="ADAL" clId="{08B31AA0-EB2A-4A90-AFB4-ED3765FBE1AB}" dt="2026-04-22T16:25:08.127" v="1" actId="1038"/>
        <pc:sldMkLst>
          <pc:docMk/>
          <pc:sldMk cId="0" sldId="257"/>
        </pc:sldMkLst>
        <pc:spChg chg="mod">
          <ac:chgData name="Scott T Lane" userId="c97bbaa9-35da-4a3b-a646-d12e455ac46e" providerId="ADAL" clId="{08B31AA0-EB2A-4A90-AFB4-ED3765FBE1AB}" dt="2026-04-22T16:25:08.127" v="1" actId="1038"/>
          <ac:spMkLst>
            <pc:docMk/>
            <pc:sldMk cId="0" sldId="257"/>
            <ac:spMk id="2" creationId="{00000000-0000-0000-0000-000000000000}"/>
          </ac:spMkLst>
        </pc:spChg>
      </pc:sldChg>
    </pc:docChg>
  </pc:docChgLst>
  <pc:docChgLst>
    <pc:chgData name="Scott T Lane" userId="c97bbaa9-35da-4a3b-a646-d12e455ac46e" providerId="ADAL" clId="{7E70BB95-7D27-52BD-BFCA-66981E18D4F3}"/>
    <pc:docChg chg="modSld">
      <pc:chgData name="Scott T Lane" userId="c97bbaa9-35da-4a3b-a646-d12e455ac46e" providerId="ADAL" clId="{7E70BB95-7D27-52BD-BFCA-66981E18D4F3}" dt="2026-04-20T19:17:32.915" v="181" actId="207"/>
      <pc:docMkLst>
        <pc:docMk/>
      </pc:docMkLst>
      <pc:sldChg chg="modSp mod">
        <pc:chgData name="Scott T Lane" userId="c97bbaa9-35da-4a3b-a646-d12e455ac46e" providerId="ADAL" clId="{7E70BB95-7D27-52BD-BFCA-66981E18D4F3}" dt="2026-04-20T19:09:46.443" v="155" actId="33553"/>
        <pc:sldMkLst>
          <pc:docMk/>
          <pc:sldMk cId="0" sldId="256"/>
        </pc:sldMkLst>
        <pc:spChg chg="mod">
          <ac:chgData name="Scott T Lane" userId="c97bbaa9-35da-4a3b-a646-d12e455ac46e" providerId="ADAL" clId="{7E70BB95-7D27-52BD-BFCA-66981E18D4F3}" dt="2026-04-20T19:09:38.065" v="0" actId="962"/>
          <ac:spMkLst>
            <pc:docMk/>
            <pc:sldMk cId="0" sldId="256"/>
            <ac:spMk id="2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069" v="1" actId="962"/>
          <ac:spMkLst>
            <pc:docMk/>
            <pc:sldMk cId="0" sldId="256"/>
            <ac:spMk id="3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070" v="2" actId="962"/>
          <ac:spMkLst>
            <pc:docMk/>
            <pc:sldMk cId="0" sldId="256"/>
            <ac:spMk id="4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46.443" v="155" actId="33553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Scott T Lane" userId="c97bbaa9-35da-4a3b-a646-d12e455ac46e" providerId="ADAL" clId="{7E70BB95-7D27-52BD-BFCA-66981E18D4F3}" dt="2026-04-20T19:09:50.588" v="156" actId="33553"/>
        <pc:sldMkLst>
          <pc:docMk/>
          <pc:sldMk cId="0" sldId="257"/>
        </pc:sldMkLst>
        <pc:spChg chg="mod">
          <ac:chgData name="Scott T Lane" userId="c97bbaa9-35da-4a3b-a646-d12e455ac46e" providerId="ADAL" clId="{7E70BB95-7D27-52BD-BFCA-66981E18D4F3}" dt="2026-04-20T19:09:38.075" v="3" actId="962"/>
          <ac:spMkLst>
            <pc:docMk/>
            <pc:sldMk cId="0" sldId="257"/>
            <ac:spMk id="2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076" v="4" actId="962"/>
          <ac:spMkLst>
            <pc:docMk/>
            <pc:sldMk cId="0" sldId="257"/>
            <ac:spMk id="3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50.588" v="156" actId="33553"/>
          <ac:spMkLst>
            <pc:docMk/>
            <pc:sldMk cId="0" sldId="257"/>
            <ac:spMk id="4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077" v="5" actId="962"/>
          <ac:spMkLst>
            <pc:docMk/>
            <pc:sldMk cId="0" sldId="257"/>
            <ac:spMk id="5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078" v="6" actId="962"/>
          <ac:spMkLst>
            <pc:docMk/>
            <pc:sldMk cId="0" sldId="257"/>
            <ac:spMk id="7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079" v="7" actId="962"/>
          <ac:spMkLst>
            <pc:docMk/>
            <pc:sldMk cId="0" sldId="257"/>
            <ac:spMk id="9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081" v="8" actId="962"/>
          <ac:spMkLst>
            <pc:docMk/>
            <pc:sldMk cId="0" sldId="257"/>
            <ac:spMk id="11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082" v="9" actId="962"/>
          <ac:spMkLst>
            <pc:docMk/>
            <pc:sldMk cId="0" sldId="257"/>
            <ac:spMk id="13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083" v="10" actId="962"/>
          <ac:spMkLst>
            <pc:docMk/>
            <pc:sldMk cId="0" sldId="257"/>
            <ac:spMk id="16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084" v="11" actId="962"/>
          <ac:spMkLst>
            <pc:docMk/>
            <pc:sldMk cId="0" sldId="257"/>
            <ac:spMk id="18" creationId="{00000000-0000-0000-0000-000000000000}"/>
          </ac:spMkLst>
        </pc:spChg>
      </pc:sldChg>
      <pc:sldChg chg="modSp mod">
        <pc:chgData name="Scott T Lane" userId="c97bbaa9-35da-4a3b-a646-d12e455ac46e" providerId="ADAL" clId="{7E70BB95-7D27-52BD-BFCA-66981E18D4F3}" dt="2026-04-20T19:15:42.758" v="171" actId="207"/>
        <pc:sldMkLst>
          <pc:docMk/>
          <pc:sldMk cId="0" sldId="258"/>
        </pc:sldMkLst>
        <pc:spChg chg="mod">
          <ac:chgData name="Scott T Lane" userId="c97bbaa9-35da-4a3b-a646-d12e455ac46e" providerId="ADAL" clId="{7E70BB95-7D27-52BD-BFCA-66981E18D4F3}" dt="2026-04-20T19:09:38.088" v="12" actId="962"/>
          <ac:spMkLst>
            <pc:docMk/>
            <pc:sldMk cId="0" sldId="258"/>
            <ac:spMk id="2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089" v="13" actId="962"/>
          <ac:spMkLst>
            <pc:docMk/>
            <pc:sldMk cId="0" sldId="258"/>
            <ac:spMk id="3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52.280" v="157" actId="33553"/>
          <ac:spMkLst>
            <pc:docMk/>
            <pc:sldMk cId="0" sldId="258"/>
            <ac:spMk id="4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091" v="14" actId="962"/>
          <ac:spMkLst>
            <pc:docMk/>
            <pc:sldMk cId="0" sldId="258"/>
            <ac:spMk id="6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092" v="15" actId="962"/>
          <ac:spMkLst>
            <pc:docMk/>
            <pc:sldMk cId="0" sldId="258"/>
            <ac:spMk id="8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093" v="16" actId="962"/>
          <ac:spMkLst>
            <pc:docMk/>
            <pc:sldMk cId="0" sldId="258"/>
            <ac:spMk id="10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094" v="17" actId="962"/>
          <ac:spMkLst>
            <pc:docMk/>
            <pc:sldMk cId="0" sldId="258"/>
            <ac:spMk id="12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095" v="18" actId="962"/>
          <ac:spMkLst>
            <pc:docMk/>
            <pc:sldMk cId="0" sldId="258"/>
            <ac:spMk id="14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15:42.758" v="171" actId="20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098" v="20" actId="962"/>
          <ac:spMkLst>
            <pc:docMk/>
            <pc:sldMk cId="0" sldId="258"/>
            <ac:spMk id="18" creationId="{00000000-0000-0000-0000-000000000000}"/>
          </ac:spMkLst>
        </pc:spChg>
      </pc:sldChg>
      <pc:sldChg chg="modSp mod">
        <pc:chgData name="Scott T Lane" userId="c97bbaa9-35da-4a3b-a646-d12e455ac46e" providerId="ADAL" clId="{7E70BB95-7D27-52BD-BFCA-66981E18D4F3}" dt="2026-04-20T19:16:35.074" v="175" actId="207"/>
        <pc:sldMkLst>
          <pc:docMk/>
          <pc:sldMk cId="0" sldId="259"/>
        </pc:sldMkLst>
        <pc:spChg chg="mod">
          <ac:chgData name="Scott T Lane" userId="c97bbaa9-35da-4a3b-a646-d12e455ac46e" providerId="ADAL" clId="{7E70BB95-7D27-52BD-BFCA-66981E18D4F3}" dt="2026-04-20T19:09:38.103" v="21" actId="962"/>
          <ac:spMkLst>
            <pc:docMk/>
            <pc:sldMk cId="0" sldId="259"/>
            <ac:spMk id="2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04" v="22" actId="962"/>
          <ac:spMkLst>
            <pc:docMk/>
            <pc:sldMk cId="0" sldId="259"/>
            <ac:spMk id="3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54.039" v="158" actId="33553"/>
          <ac:spMkLst>
            <pc:docMk/>
            <pc:sldMk cId="0" sldId="259"/>
            <ac:spMk id="4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05" v="23" actId="962"/>
          <ac:spMkLst>
            <pc:docMk/>
            <pc:sldMk cId="0" sldId="259"/>
            <ac:spMk id="5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06" v="24" actId="962"/>
          <ac:spMkLst>
            <pc:docMk/>
            <pc:sldMk cId="0" sldId="259"/>
            <ac:spMk id="7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07" v="25" actId="962"/>
          <ac:spMkLst>
            <pc:docMk/>
            <pc:sldMk cId="0" sldId="259"/>
            <ac:spMk id="10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09" v="26" actId="962"/>
          <ac:spMkLst>
            <pc:docMk/>
            <pc:sldMk cId="0" sldId="259"/>
            <ac:spMk id="12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16:30.478" v="174" actId="20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11" v="28" actId="962"/>
          <ac:spMkLst>
            <pc:docMk/>
            <pc:sldMk cId="0" sldId="259"/>
            <ac:spMk id="17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16:14.132" v="172" actId="20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12" v="29" actId="962"/>
          <ac:spMkLst>
            <pc:docMk/>
            <pc:sldMk cId="0" sldId="259"/>
            <ac:spMk id="20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13" v="30" actId="962"/>
          <ac:spMkLst>
            <pc:docMk/>
            <pc:sldMk cId="0" sldId="259"/>
            <ac:spMk id="22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15" v="31" actId="962"/>
          <ac:spMkLst>
            <pc:docMk/>
            <pc:sldMk cId="0" sldId="259"/>
            <ac:spMk id="25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16" v="32" actId="962"/>
          <ac:spMkLst>
            <pc:docMk/>
            <pc:sldMk cId="0" sldId="259"/>
            <ac:spMk id="27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16:35.074" v="175" actId="207"/>
          <ac:spMkLst>
            <pc:docMk/>
            <pc:sldMk cId="0" sldId="259"/>
            <ac:spMk id="30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18" v="34" actId="962"/>
          <ac:spMkLst>
            <pc:docMk/>
            <pc:sldMk cId="0" sldId="259"/>
            <ac:spMk id="32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16:25.645" v="173" actId="207"/>
          <ac:spMkLst>
            <pc:docMk/>
            <pc:sldMk cId="0" sldId="259"/>
            <ac:spMk id="33" creationId="{00000000-0000-0000-0000-000000000000}"/>
          </ac:spMkLst>
        </pc:spChg>
      </pc:sldChg>
      <pc:sldChg chg="modSp mod">
        <pc:chgData name="Scott T Lane" userId="c97bbaa9-35da-4a3b-a646-d12e455ac46e" providerId="ADAL" clId="{7E70BB95-7D27-52BD-BFCA-66981E18D4F3}" dt="2026-04-20T19:16:49.962" v="176" actId="207"/>
        <pc:sldMkLst>
          <pc:docMk/>
          <pc:sldMk cId="0" sldId="260"/>
        </pc:sldMkLst>
        <pc:spChg chg="mod">
          <ac:chgData name="Scott T Lane" userId="c97bbaa9-35da-4a3b-a646-d12e455ac46e" providerId="ADAL" clId="{7E70BB95-7D27-52BD-BFCA-66981E18D4F3}" dt="2026-04-20T19:09:38.123" v="35" actId="962"/>
          <ac:spMkLst>
            <pc:docMk/>
            <pc:sldMk cId="0" sldId="260"/>
            <ac:spMk id="2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24" v="36" actId="962"/>
          <ac:spMkLst>
            <pc:docMk/>
            <pc:sldMk cId="0" sldId="260"/>
            <ac:spMk id="3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55.391" v="159" actId="33553"/>
          <ac:spMkLst>
            <pc:docMk/>
            <pc:sldMk cId="0" sldId="260"/>
            <ac:spMk id="4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25" v="37" actId="962"/>
          <ac:spMkLst>
            <pc:docMk/>
            <pc:sldMk cId="0" sldId="260"/>
            <ac:spMk id="6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27" v="38" actId="962"/>
          <ac:spMkLst>
            <pc:docMk/>
            <pc:sldMk cId="0" sldId="260"/>
            <ac:spMk id="8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28" v="39" actId="962"/>
          <ac:spMkLst>
            <pc:docMk/>
            <pc:sldMk cId="0" sldId="260"/>
            <ac:spMk id="10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29" v="40" actId="962"/>
          <ac:spMkLst>
            <pc:docMk/>
            <pc:sldMk cId="0" sldId="260"/>
            <ac:spMk id="12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16:49.962" v="176" actId="20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31" v="42" actId="962"/>
          <ac:spMkLst>
            <pc:docMk/>
            <pc:sldMk cId="0" sldId="260"/>
            <ac:spMk id="16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33" v="43" actId="962"/>
          <ac:spMkLst>
            <pc:docMk/>
            <pc:sldMk cId="0" sldId="260"/>
            <ac:spMk id="19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34" v="44" actId="962"/>
          <ac:spMkLst>
            <pc:docMk/>
            <pc:sldMk cId="0" sldId="260"/>
            <ac:spMk id="22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35" v="45" actId="962"/>
          <ac:spMkLst>
            <pc:docMk/>
            <pc:sldMk cId="0" sldId="260"/>
            <ac:spMk id="25" creationId="{00000000-0000-0000-0000-000000000000}"/>
          </ac:spMkLst>
        </pc:spChg>
      </pc:sldChg>
      <pc:sldChg chg="modSp mod">
        <pc:chgData name="Scott T Lane" userId="c97bbaa9-35da-4a3b-a646-d12e455ac46e" providerId="ADAL" clId="{7E70BB95-7D27-52BD-BFCA-66981E18D4F3}" dt="2026-04-20T19:09:56.815" v="160" actId="33553"/>
        <pc:sldMkLst>
          <pc:docMk/>
          <pc:sldMk cId="0" sldId="261"/>
        </pc:sldMkLst>
        <pc:spChg chg="mod">
          <ac:chgData name="Scott T Lane" userId="c97bbaa9-35da-4a3b-a646-d12e455ac46e" providerId="ADAL" clId="{7E70BB95-7D27-52BD-BFCA-66981E18D4F3}" dt="2026-04-20T19:09:38.137" v="46" actId="962"/>
          <ac:spMkLst>
            <pc:docMk/>
            <pc:sldMk cId="0" sldId="261"/>
            <ac:spMk id="2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38" v="47" actId="962"/>
          <ac:spMkLst>
            <pc:docMk/>
            <pc:sldMk cId="0" sldId="261"/>
            <ac:spMk id="3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56.815" v="160" actId="33553"/>
          <ac:spMkLst>
            <pc:docMk/>
            <pc:sldMk cId="0" sldId="261"/>
            <ac:spMk id="4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39" v="48" actId="962"/>
          <ac:spMkLst>
            <pc:docMk/>
            <pc:sldMk cId="0" sldId="261"/>
            <ac:spMk id="6" creationId="{00000000-0000-0000-0000-000000000000}"/>
          </ac:spMkLst>
        </pc:spChg>
      </pc:sldChg>
      <pc:sldChg chg="modSp mod">
        <pc:chgData name="Scott T Lane" userId="c97bbaa9-35da-4a3b-a646-d12e455ac46e" providerId="ADAL" clId="{7E70BB95-7D27-52BD-BFCA-66981E18D4F3}" dt="2026-04-20T19:09:57.770" v="161" actId="33553"/>
        <pc:sldMkLst>
          <pc:docMk/>
          <pc:sldMk cId="0" sldId="262"/>
        </pc:sldMkLst>
        <pc:spChg chg="mod">
          <ac:chgData name="Scott T Lane" userId="c97bbaa9-35da-4a3b-a646-d12e455ac46e" providerId="ADAL" clId="{7E70BB95-7D27-52BD-BFCA-66981E18D4F3}" dt="2026-04-20T19:09:38.143" v="49" actId="962"/>
          <ac:spMkLst>
            <pc:docMk/>
            <pc:sldMk cId="0" sldId="262"/>
            <ac:spMk id="2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44" v="50" actId="962"/>
          <ac:spMkLst>
            <pc:docMk/>
            <pc:sldMk cId="0" sldId="262"/>
            <ac:spMk id="3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57.770" v="161" actId="33553"/>
          <ac:spMkLst>
            <pc:docMk/>
            <pc:sldMk cId="0" sldId="262"/>
            <ac:spMk id="4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45" v="51" actId="962"/>
          <ac:spMkLst>
            <pc:docMk/>
            <pc:sldMk cId="0" sldId="262"/>
            <ac:spMk id="7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46" v="52" actId="962"/>
          <ac:spMkLst>
            <pc:docMk/>
            <pc:sldMk cId="0" sldId="262"/>
            <ac:spMk id="9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47" v="53" actId="962"/>
          <ac:spMkLst>
            <pc:docMk/>
            <pc:sldMk cId="0" sldId="262"/>
            <ac:spMk id="11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48" v="54" actId="962"/>
          <ac:spMkLst>
            <pc:docMk/>
            <pc:sldMk cId="0" sldId="262"/>
            <ac:spMk id="13" creationId="{00000000-0000-0000-0000-000000000000}"/>
          </ac:spMkLst>
        </pc:spChg>
      </pc:sldChg>
      <pc:sldChg chg="modSp mod">
        <pc:chgData name="Scott T Lane" userId="c97bbaa9-35da-4a3b-a646-d12e455ac46e" providerId="ADAL" clId="{7E70BB95-7D27-52BD-BFCA-66981E18D4F3}" dt="2026-04-20T19:17:04.810" v="178" actId="207"/>
        <pc:sldMkLst>
          <pc:docMk/>
          <pc:sldMk cId="0" sldId="263"/>
        </pc:sldMkLst>
        <pc:spChg chg="mod">
          <ac:chgData name="Scott T Lane" userId="c97bbaa9-35da-4a3b-a646-d12e455ac46e" providerId="ADAL" clId="{7E70BB95-7D27-52BD-BFCA-66981E18D4F3}" dt="2026-04-20T19:09:38.152" v="55" actId="962"/>
          <ac:spMkLst>
            <pc:docMk/>
            <pc:sldMk cId="0" sldId="263"/>
            <ac:spMk id="2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53" v="56" actId="962"/>
          <ac:spMkLst>
            <pc:docMk/>
            <pc:sldMk cId="0" sldId="263"/>
            <ac:spMk id="3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13:02.097" v="166" actId="33553"/>
          <ac:spMkLst>
            <pc:docMk/>
            <pc:sldMk cId="0" sldId="263"/>
            <ac:spMk id="4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54" v="57" actId="962"/>
          <ac:spMkLst>
            <pc:docMk/>
            <pc:sldMk cId="0" sldId="263"/>
            <ac:spMk id="6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55" v="58" actId="962"/>
          <ac:spMkLst>
            <pc:docMk/>
            <pc:sldMk cId="0" sldId="263"/>
            <ac:spMk id="7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57" v="59" actId="962"/>
          <ac:spMkLst>
            <pc:docMk/>
            <pc:sldMk cId="0" sldId="263"/>
            <ac:spMk id="11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58" v="60" actId="962"/>
          <ac:spMkLst>
            <pc:docMk/>
            <pc:sldMk cId="0" sldId="263"/>
            <ac:spMk id="12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59" v="61" actId="962"/>
          <ac:spMkLst>
            <pc:docMk/>
            <pc:sldMk cId="0" sldId="263"/>
            <ac:spMk id="16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16:58.913" v="177" actId="207"/>
          <ac:spMkLst>
            <pc:docMk/>
            <pc:sldMk cId="0" sldId="263"/>
            <ac:spMk id="17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17:04.810" v="178" actId="20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62" v="63" actId="962"/>
          <ac:spMkLst>
            <pc:docMk/>
            <pc:sldMk cId="0" sldId="263"/>
            <ac:spMk id="21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13:02.097" v="166" actId="33553"/>
          <ac:spMkLst>
            <pc:docMk/>
            <pc:sldMk cId="0" sldId="263"/>
            <ac:spMk id="22" creationId="{00000000-0000-0000-0000-000000000000}"/>
          </ac:spMkLst>
        </pc:spChg>
      </pc:sldChg>
      <pc:sldChg chg="modSp mod">
        <pc:chgData name="Scott T Lane" userId="c97bbaa9-35da-4a3b-a646-d12e455ac46e" providerId="ADAL" clId="{7E70BB95-7D27-52BD-BFCA-66981E18D4F3}" dt="2026-04-20T19:12:24.131" v="163" actId="33553"/>
        <pc:sldMkLst>
          <pc:docMk/>
          <pc:sldMk cId="0" sldId="264"/>
        </pc:sldMkLst>
        <pc:spChg chg="mod">
          <ac:chgData name="Scott T Lane" userId="c97bbaa9-35da-4a3b-a646-d12e455ac46e" providerId="ADAL" clId="{7E70BB95-7D27-52BD-BFCA-66981E18D4F3}" dt="2026-04-20T19:09:38.164" v="64" actId="962"/>
          <ac:spMkLst>
            <pc:docMk/>
            <pc:sldMk cId="0" sldId="264"/>
            <ac:spMk id="2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65" v="65" actId="962"/>
          <ac:spMkLst>
            <pc:docMk/>
            <pc:sldMk cId="0" sldId="264"/>
            <ac:spMk id="3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12:24.131" v="163" actId="33553"/>
          <ac:spMkLst>
            <pc:docMk/>
            <pc:sldMk cId="0" sldId="264"/>
            <ac:spMk id="4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66" v="66" actId="962"/>
          <ac:spMkLst>
            <pc:docMk/>
            <pc:sldMk cId="0" sldId="264"/>
            <ac:spMk id="6" creationId="{00000000-0000-0000-0000-000000000000}"/>
          </ac:spMkLst>
        </pc:spChg>
      </pc:sldChg>
      <pc:sldChg chg="modSp mod">
        <pc:chgData name="Scott T Lane" userId="c97bbaa9-35da-4a3b-a646-d12e455ac46e" providerId="ADAL" clId="{7E70BB95-7D27-52BD-BFCA-66981E18D4F3}" dt="2026-04-20T19:17:24.631" v="180" actId="207"/>
        <pc:sldMkLst>
          <pc:docMk/>
          <pc:sldMk cId="0" sldId="265"/>
        </pc:sldMkLst>
        <pc:spChg chg="mod">
          <ac:chgData name="Scott T Lane" userId="c97bbaa9-35da-4a3b-a646-d12e455ac46e" providerId="ADAL" clId="{7E70BB95-7D27-52BD-BFCA-66981E18D4F3}" dt="2026-04-20T19:09:38.170" v="67" actId="962"/>
          <ac:spMkLst>
            <pc:docMk/>
            <pc:sldMk cId="0" sldId="265"/>
            <ac:spMk id="2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72" v="68" actId="962"/>
          <ac:spMkLst>
            <pc:docMk/>
            <pc:sldMk cId="0" sldId="265"/>
            <ac:spMk id="3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12:26.517" v="164" actId="33553"/>
          <ac:spMkLst>
            <pc:docMk/>
            <pc:sldMk cId="0" sldId="265"/>
            <ac:spMk id="4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73" v="69" actId="962"/>
          <ac:spMkLst>
            <pc:docMk/>
            <pc:sldMk cId="0" sldId="265"/>
            <ac:spMk id="6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74" v="70" actId="962"/>
          <ac:spMkLst>
            <pc:docMk/>
            <pc:sldMk cId="0" sldId="265"/>
            <ac:spMk id="7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75" v="71" actId="962"/>
          <ac:spMkLst>
            <pc:docMk/>
            <pc:sldMk cId="0" sldId="265"/>
            <ac:spMk id="13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76" v="72" actId="962"/>
          <ac:spMkLst>
            <pc:docMk/>
            <pc:sldMk cId="0" sldId="265"/>
            <ac:spMk id="14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78" v="73" actId="962"/>
          <ac:spMkLst>
            <pc:docMk/>
            <pc:sldMk cId="0" sldId="265"/>
            <ac:spMk id="20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17:13.714" v="179" actId="207"/>
          <ac:spMkLst>
            <pc:docMk/>
            <pc:sldMk cId="0" sldId="265"/>
            <ac:spMk id="21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17:24.631" v="180" actId="207"/>
          <ac:spMkLst>
            <pc:docMk/>
            <pc:sldMk cId="0" sldId="265"/>
            <ac:spMk id="23" creationId="{00000000-0000-0000-0000-000000000000}"/>
          </ac:spMkLst>
        </pc:spChg>
      </pc:sldChg>
      <pc:sldChg chg="modSp mod">
        <pc:chgData name="Scott T Lane" userId="c97bbaa9-35da-4a3b-a646-d12e455ac46e" providerId="ADAL" clId="{7E70BB95-7D27-52BD-BFCA-66981E18D4F3}" dt="2026-04-20T19:12:29.020" v="165" actId="33553"/>
        <pc:sldMkLst>
          <pc:docMk/>
          <pc:sldMk cId="0" sldId="266"/>
        </pc:sldMkLst>
        <pc:spChg chg="mod">
          <ac:chgData name="Scott T Lane" userId="c97bbaa9-35da-4a3b-a646-d12e455ac46e" providerId="ADAL" clId="{7E70BB95-7D27-52BD-BFCA-66981E18D4F3}" dt="2026-04-20T19:09:38.184" v="75" actId="962"/>
          <ac:spMkLst>
            <pc:docMk/>
            <pc:sldMk cId="0" sldId="266"/>
            <ac:spMk id="2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85" v="76" actId="962"/>
          <ac:spMkLst>
            <pc:docMk/>
            <pc:sldMk cId="0" sldId="266"/>
            <ac:spMk id="3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12:29.020" v="165" actId="33553"/>
          <ac:spMkLst>
            <pc:docMk/>
            <pc:sldMk cId="0" sldId="266"/>
            <ac:spMk id="4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86" v="77" actId="962"/>
          <ac:spMkLst>
            <pc:docMk/>
            <pc:sldMk cId="0" sldId="266"/>
            <ac:spMk id="5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88" v="78" actId="962"/>
          <ac:spMkLst>
            <pc:docMk/>
            <pc:sldMk cId="0" sldId="266"/>
            <ac:spMk id="7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89" v="79" actId="962"/>
          <ac:spMkLst>
            <pc:docMk/>
            <pc:sldMk cId="0" sldId="266"/>
            <ac:spMk id="9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90" v="80" actId="962"/>
          <ac:spMkLst>
            <pc:docMk/>
            <pc:sldMk cId="0" sldId="266"/>
            <ac:spMk id="12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91" v="81" actId="962"/>
          <ac:spMkLst>
            <pc:docMk/>
            <pc:sldMk cId="0" sldId="266"/>
            <ac:spMk id="14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92" v="82" actId="962"/>
          <ac:spMkLst>
            <pc:docMk/>
            <pc:sldMk cId="0" sldId="266"/>
            <ac:spMk id="16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94" v="83" actId="962"/>
          <ac:spMkLst>
            <pc:docMk/>
            <pc:sldMk cId="0" sldId="266"/>
            <ac:spMk id="19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95" v="84" actId="962"/>
          <ac:spMkLst>
            <pc:docMk/>
            <pc:sldMk cId="0" sldId="266"/>
            <ac:spMk id="21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96" v="85" actId="962"/>
          <ac:spMkLst>
            <pc:docMk/>
            <pc:sldMk cId="0" sldId="266"/>
            <ac:spMk id="23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97" v="86" actId="962"/>
          <ac:spMkLst>
            <pc:docMk/>
            <pc:sldMk cId="0" sldId="266"/>
            <ac:spMk id="25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199" v="87" actId="962"/>
          <ac:spMkLst>
            <pc:docMk/>
            <pc:sldMk cId="0" sldId="266"/>
            <ac:spMk id="27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00" v="88" actId="962"/>
          <ac:spMkLst>
            <pc:docMk/>
            <pc:sldMk cId="0" sldId="266"/>
            <ac:spMk id="29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01" v="89" actId="962"/>
          <ac:spMkLst>
            <pc:docMk/>
            <pc:sldMk cId="0" sldId="266"/>
            <ac:spMk id="31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02" v="90" actId="962"/>
          <ac:spMkLst>
            <pc:docMk/>
            <pc:sldMk cId="0" sldId="266"/>
            <ac:spMk id="33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04" v="91" actId="962"/>
          <ac:spMkLst>
            <pc:docMk/>
            <pc:sldMk cId="0" sldId="266"/>
            <ac:spMk id="36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05" v="92" actId="962"/>
          <ac:spMkLst>
            <pc:docMk/>
            <pc:sldMk cId="0" sldId="266"/>
            <ac:spMk id="38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06" v="93" actId="962"/>
          <ac:spMkLst>
            <pc:docMk/>
            <pc:sldMk cId="0" sldId="266"/>
            <ac:spMk id="40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07" v="94" actId="962"/>
          <ac:spMkLst>
            <pc:docMk/>
            <pc:sldMk cId="0" sldId="266"/>
            <ac:spMk id="43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08" v="95" actId="962"/>
          <ac:spMkLst>
            <pc:docMk/>
            <pc:sldMk cId="0" sldId="266"/>
            <ac:spMk id="45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09" v="96" actId="962"/>
          <ac:spMkLst>
            <pc:docMk/>
            <pc:sldMk cId="0" sldId="266"/>
            <ac:spMk id="47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11" v="97" actId="962"/>
          <ac:spMkLst>
            <pc:docMk/>
            <pc:sldMk cId="0" sldId="266"/>
            <ac:spMk id="49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12" v="98" actId="962"/>
          <ac:spMkLst>
            <pc:docMk/>
            <pc:sldMk cId="0" sldId="266"/>
            <ac:spMk id="51" creationId="{00000000-0000-0000-0000-000000000000}"/>
          </ac:spMkLst>
        </pc:spChg>
      </pc:sldChg>
      <pc:sldChg chg="modSp mod">
        <pc:chgData name="Scott T Lane" userId="c97bbaa9-35da-4a3b-a646-d12e455ac46e" providerId="ADAL" clId="{7E70BB95-7D27-52BD-BFCA-66981E18D4F3}" dt="2026-04-20T19:17:32.915" v="181" actId="207"/>
        <pc:sldMkLst>
          <pc:docMk/>
          <pc:sldMk cId="0" sldId="267"/>
        </pc:sldMkLst>
        <pc:spChg chg="mod">
          <ac:chgData name="Scott T Lane" userId="c97bbaa9-35da-4a3b-a646-d12e455ac46e" providerId="ADAL" clId="{7E70BB95-7D27-52BD-BFCA-66981E18D4F3}" dt="2026-04-20T19:09:38.217" v="99" actId="962"/>
          <ac:spMkLst>
            <pc:docMk/>
            <pc:sldMk cId="0" sldId="267"/>
            <ac:spMk id="2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18" v="100" actId="962"/>
          <ac:spMkLst>
            <pc:docMk/>
            <pc:sldMk cId="0" sldId="267"/>
            <ac:spMk id="3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13:07.582" v="167" actId="33553"/>
          <ac:spMkLst>
            <pc:docMk/>
            <pc:sldMk cId="0" sldId="267"/>
            <ac:spMk id="4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19" v="101" actId="962"/>
          <ac:spMkLst>
            <pc:docMk/>
            <pc:sldMk cId="0" sldId="267"/>
            <ac:spMk id="6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20" v="102" actId="962"/>
          <ac:spMkLst>
            <pc:docMk/>
            <pc:sldMk cId="0" sldId="267"/>
            <ac:spMk id="8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22" v="103" actId="962"/>
          <ac:spMkLst>
            <pc:docMk/>
            <pc:sldMk cId="0" sldId="267"/>
            <ac:spMk id="10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23" v="104" actId="962"/>
          <ac:spMkLst>
            <pc:docMk/>
            <pc:sldMk cId="0" sldId="267"/>
            <ac:spMk id="12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24" v="105" actId="962"/>
          <ac:spMkLst>
            <pc:docMk/>
            <pc:sldMk cId="0" sldId="267"/>
            <ac:spMk id="14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17:32.915" v="181" actId="207"/>
          <ac:spMkLst>
            <pc:docMk/>
            <pc:sldMk cId="0" sldId="267"/>
            <ac:spMk id="16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27" v="107" actId="962"/>
          <ac:spMkLst>
            <pc:docMk/>
            <pc:sldMk cId="0" sldId="267"/>
            <ac:spMk id="18" creationId="{00000000-0000-0000-0000-000000000000}"/>
          </ac:spMkLst>
        </pc:spChg>
      </pc:sldChg>
      <pc:sldChg chg="modSp mod">
        <pc:chgData name="Scott T Lane" userId="c97bbaa9-35da-4a3b-a646-d12e455ac46e" providerId="ADAL" clId="{7E70BB95-7D27-52BD-BFCA-66981E18D4F3}" dt="2026-04-20T19:13:09.405" v="168" actId="33553"/>
        <pc:sldMkLst>
          <pc:docMk/>
          <pc:sldMk cId="0" sldId="268"/>
        </pc:sldMkLst>
        <pc:spChg chg="mod">
          <ac:chgData name="Scott T Lane" userId="c97bbaa9-35da-4a3b-a646-d12e455ac46e" providerId="ADAL" clId="{7E70BB95-7D27-52BD-BFCA-66981E18D4F3}" dt="2026-04-20T19:09:38.232" v="108" actId="962"/>
          <ac:spMkLst>
            <pc:docMk/>
            <pc:sldMk cId="0" sldId="268"/>
            <ac:spMk id="2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34" v="109" actId="962"/>
          <ac:spMkLst>
            <pc:docMk/>
            <pc:sldMk cId="0" sldId="268"/>
            <ac:spMk id="3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13:09.405" v="168" actId="33553"/>
          <ac:spMkLst>
            <pc:docMk/>
            <pc:sldMk cId="0" sldId="268"/>
            <ac:spMk id="4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35" v="110" actId="962"/>
          <ac:spMkLst>
            <pc:docMk/>
            <pc:sldMk cId="0" sldId="268"/>
            <ac:spMk id="5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36" v="111" actId="962"/>
          <ac:spMkLst>
            <pc:docMk/>
            <pc:sldMk cId="0" sldId="268"/>
            <ac:spMk id="7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37" v="112" actId="962"/>
          <ac:spMkLst>
            <pc:docMk/>
            <pc:sldMk cId="0" sldId="268"/>
            <ac:spMk id="9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38" v="113" actId="962"/>
          <ac:spMkLst>
            <pc:docMk/>
            <pc:sldMk cId="0" sldId="268"/>
            <ac:spMk id="11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40" v="114" actId="962"/>
          <ac:spMkLst>
            <pc:docMk/>
            <pc:sldMk cId="0" sldId="268"/>
            <ac:spMk id="13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41" v="115" actId="962"/>
          <ac:spMkLst>
            <pc:docMk/>
            <pc:sldMk cId="0" sldId="268"/>
            <ac:spMk id="15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42" v="116" actId="962"/>
          <ac:spMkLst>
            <pc:docMk/>
            <pc:sldMk cId="0" sldId="268"/>
            <ac:spMk id="17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43" v="117" actId="962"/>
          <ac:spMkLst>
            <pc:docMk/>
            <pc:sldMk cId="0" sldId="268"/>
            <ac:spMk id="19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44" v="118" actId="962"/>
          <ac:spMkLst>
            <pc:docMk/>
            <pc:sldMk cId="0" sldId="268"/>
            <ac:spMk id="21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46" v="119" actId="962"/>
          <ac:spMkLst>
            <pc:docMk/>
            <pc:sldMk cId="0" sldId="268"/>
            <ac:spMk id="23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47" v="120" actId="962"/>
          <ac:spMkLst>
            <pc:docMk/>
            <pc:sldMk cId="0" sldId="268"/>
            <ac:spMk id="25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48" v="121" actId="962"/>
          <ac:spMkLst>
            <pc:docMk/>
            <pc:sldMk cId="0" sldId="268"/>
            <ac:spMk id="27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49" v="122" actId="962"/>
          <ac:spMkLst>
            <pc:docMk/>
            <pc:sldMk cId="0" sldId="268"/>
            <ac:spMk id="29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50" v="123" actId="962"/>
          <ac:spMkLst>
            <pc:docMk/>
            <pc:sldMk cId="0" sldId="268"/>
            <ac:spMk id="31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52" v="124" actId="962"/>
          <ac:spMkLst>
            <pc:docMk/>
            <pc:sldMk cId="0" sldId="268"/>
            <ac:spMk id="33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53" v="125" actId="962"/>
          <ac:spMkLst>
            <pc:docMk/>
            <pc:sldMk cId="0" sldId="268"/>
            <ac:spMk id="35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54" v="126" actId="962"/>
          <ac:spMkLst>
            <pc:docMk/>
            <pc:sldMk cId="0" sldId="268"/>
            <ac:spMk id="37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55" v="127" actId="962"/>
          <ac:spMkLst>
            <pc:docMk/>
            <pc:sldMk cId="0" sldId="268"/>
            <ac:spMk id="39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56" v="128" actId="962"/>
          <ac:spMkLst>
            <pc:docMk/>
            <pc:sldMk cId="0" sldId="268"/>
            <ac:spMk id="41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58" v="129" actId="962"/>
          <ac:spMkLst>
            <pc:docMk/>
            <pc:sldMk cId="0" sldId="268"/>
            <ac:spMk id="43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59" v="130" actId="962"/>
          <ac:spMkLst>
            <pc:docMk/>
            <pc:sldMk cId="0" sldId="268"/>
            <ac:spMk id="45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60" v="131" actId="962"/>
          <ac:spMkLst>
            <pc:docMk/>
            <pc:sldMk cId="0" sldId="268"/>
            <ac:spMk id="47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61" v="132" actId="962"/>
          <ac:spMkLst>
            <pc:docMk/>
            <pc:sldMk cId="0" sldId="268"/>
            <ac:spMk id="49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62" v="133" actId="962"/>
          <ac:spMkLst>
            <pc:docMk/>
            <pc:sldMk cId="0" sldId="268"/>
            <ac:spMk id="51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64" v="134" actId="962"/>
          <ac:spMkLst>
            <pc:docMk/>
            <pc:sldMk cId="0" sldId="268"/>
            <ac:spMk id="53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65" v="135" actId="962"/>
          <ac:spMkLst>
            <pc:docMk/>
            <pc:sldMk cId="0" sldId="268"/>
            <ac:spMk id="55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66" v="136" actId="962"/>
          <ac:spMkLst>
            <pc:docMk/>
            <pc:sldMk cId="0" sldId="268"/>
            <ac:spMk id="57" creationId="{00000000-0000-0000-0000-000000000000}"/>
          </ac:spMkLst>
        </pc:spChg>
      </pc:sldChg>
      <pc:sldChg chg="modSp mod">
        <pc:chgData name="Scott T Lane" userId="c97bbaa9-35da-4a3b-a646-d12e455ac46e" providerId="ADAL" clId="{7E70BB95-7D27-52BD-BFCA-66981E18D4F3}" dt="2026-04-20T19:13:11.228" v="169" actId="33553"/>
        <pc:sldMkLst>
          <pc:docMk/>
          <pc:sldMk cId="0" sldId="269"/>
        </pc:sldMkLst>
        <pc:spChg chg="mod">
          <ac:chgData name="Scott T Lane" userId="c97bbaa9-35da-4a3b-a646-d12e455ac46e" providerId="ADAL" clId="{7E70BB95-7D27-52BD-BFCA-66981E18D4F3}" dt="2026-04-20T19:09:38.271" v="137" actId="962"/>
          <ac:spMkLst>
            <pc:docMk/>
            <pc:sldMk cId="0" sldId="269"/>
            <ac:spMk id="2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72" v="138" actId="962"/>
          <ac:spMkLst>
            <pc:docMk/>
            <pc:sldMk cId="0" sldId="269"/>
            <ac:spMk id="3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13:11.228" v="169" actId="33553"/>
          <ac:spMkLst>
            <pc:docMk/>
            <pc:sldMk cId="0" sldId="269"/>
            <ac:spMk id="4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73" v="139" actId="962"/>
          <ac:spMkLst>
            <pc:docMk/>
            <pc:sldMk cId="0" sldId="269"/>
            <ac:spMk id="6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74" v="140" actId="962"/>
          <ac:spMkLst>
            <pc:docMk/>
            <pc:sldMk cId="0" sldId="269"/>
            <ac:spMk id="7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76" v="141" actId="962"/>
          <ac:spMkLst>
            <pc:docMk/>
            <pc:sldMk cId="0" sldId="269"/>
            <ac:spMk id="8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77" v="142" actId="962"/>
          <ac:spMkLst>
            <pc:docMk/>
            <pc:sldMk cId="0" sldId="269"/>
            <ac:spMk id="10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78" v="143" actId="962"/>
          <ac:spMkLst>
            <pc:docMk/>
            <pc:sldMk cId="0" sldId="269"/>
            <ac:spMk id="12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79" v="144" actId="962"/>
          <ac:spMkLst>
            <pc:docMk/>
            <pc:sldMk cId="0" sldId="269"/>
            <ac:spMk id="14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80" v="145" actId="962"/>
          <ac:spMkLst>
            <pc:docMk/>
            <pc:sldMk cId="0" sldId="269"/>
            <ac:spMk id="16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82" v="146" actId="962"/>
          <ac:spMkLst>
            <pc:docMk/>
            <pc:sldMk cId="0" sldId="269"/>
            <ac:spMk id="18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83" v="147" actId="962"/>
          <ac:spMkLst>
            <pc:docMk/>
            <pc:sldMk cId="0" sldId="269"/>
            <ac:spMk id="20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84" v="148" actId="962"/>
          <ac:spMkLst>
            <pc:docMk/>
            <pc:sldMk cId="0" sldId="269"/>
            <ac:spMk id="22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85" v="149" actId="962"/>
          <ac:spMkLst>
            <pc:docMk/>
            <pc:sldMk cId="0" sldId="269"/>
            <ac:spMk id="24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86" v="150" actId="962"/>
          <ac:spMkLst>
            <pc:docMk/>
            <pc:sldMk cId="0" sldId="269"/>
            <ac:spMk id="26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88" v="151" actId="962"/>
          <ac:spMkLst>
            <pc:docMk/>
            <pc:sldMk cId="0" sldId="269"/>
            <ac:spMk id="28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89" v="152" actId="962"/>
          <ac:spMkLst>
            <pc:docMk/>
            <pc:sldMk cId="0" sldId="269"/>
            <ac:spMk id="30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90" v="153" actId="962"/>
          <ac:spMkLst>
            <pc:docMk/>
            <pc:sldMk cId="0" sldId="269"/>
            <ac:spMk id="32" creationId="{00000000-0000-0000-0000-000000000000}"/>
          </ac:spMkLst>
        </pc:spChg>
        <pc:spChg chg="mod">
          <ac:chgData name="Scott T Lane" userId="c97bbaa9-35da-4a3b-a646-d12e455ac46e" providerId="ADAL" clId="{7E70BB95-7D27-52BD-BFCA-66981E18D4F3}" dt="2026-04-20T19:09:38.291" v="154" actId="962"/>
          <ac:spMkLst>
            <pc:docMk/>
            <pc:sldMk cId="0" sldId="269"/>
            <ac:spMk id="3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292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Chapter 15. This chapter explains how the Federal Reserve was created, how it regulates banks, and how its monetary policy tools pursue the Dual Mandate — maximum employment and price stability.
By the end, students should be able to read a Fed news release and trace exactly what is happening 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Fed's independence is by design. Politicians face election pressure to stimulate; the Fed can raise rates even when politically unpopular because governors serve staggered 14-year terms.
Fact check: Verify current Fed Chair when delivering.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12-district structure was a 1913 political compromise — Southern and Western legislators didn't want all power in New York. The NY Fed (District 2) is most influential: its president always votes on the FOMC, and its trading desk executes all open market operations.
Charlotte note: Richmond Fed supervision decisions directly affect the largest employers in Charlotte's metro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contrast: The European Central Bank (ECB) has a SINGLE mandate — price stability only. The Fed's dual mandate means it must weigh unemployment alongside inflation.
Role 6 was the founding purpose of the Fed in 1913, born from the Panic of 1907 when J.P. Morgan personally organized a private bank bailout. Congress decided the country needed a permanent institution for that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2008 crisis was largely a capital requirements failure — banks held toxic MBS rated AAA, with equity cushions too thin to absorb losses. Dodd-Frank and Basel III dramatically raised requirements afterward.
Discussion: Why did 2008 happen despite regulation? Regulatory gaps (off-balance-sheet vehicles), perverse rating agency incentives, and regulatory capture.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Bank run = coordination failure / self-fulfilling prophecy. FDIC insurance breaks the cycle — no reason to panic if your deposit is guaranteed regardless of what others do.
SVB detail: Long-duration Treasuries lost market value as rates rose 2022–23. Tech startup depositors (many above $250k FDIC limit) communicated via Slack. A prominent VC firm tweeted 'withdraw now' on March 9, 2023; $42B fled in one day.
Lender of last resort analogy: like a hospital ER — prevents death, not illness. Key: the Fed lends only to solvent-but-illiquid banks, not insolvent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trade-offs — expansionary risks inflation; contractionary risks unemployment. The Fed judges which threat is more dangerous at any given moment.
Real example: The Fed's 2022–23 rate-hiking cycle (fastest since the 1980s) was contractionary policy responding to post-pandemic inflation above 8%. The soft landing outcome — taming inflation without recession — was relatively rare and instructive.
Classical liberal perspective: Many favor rules-based policy (Taylor Rule) over pure discretion to reduce uncertainty.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each meeting, the FOMC releases a carefully worded statement. Quarterly it publishes the 'dot plot' — each member's anonymous forecast for the future funds rate. Financial markets analyze every word.
Forward guidance — signaling future intentions — is itself a policy tool. It influences long-term rates through expectations without moving the rate today.
Fun fact: The FOMC statement goes through dozens of drafts reviewed by lawyers, economists, and communications staff before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Pre-2008: scarce reserves → Fed controls quantity to move the price (rate).
Post-2008: abundant reserves → FFR collapses to zero without IORB. The Fed sets the price directly; banks arbitrage the market into line.
Analogy: Pre-2008 = a plumber controlling water flow by adjusting the pipe valve (quantity). Post-2008 = a thermostat — just set the temperature (rate) and the system self-adjusts.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Short-term rates: money market supply and demand. Long-term rates: loanable funds market.
OMO analogy: Think of the Fed as a giant Venmo user. When it buys bonds, it Venmos reserves into the banking system; when it sells, it Venmos them back out.
Key chain: Buy bonds → more reserves → banks lend more → money supply rises → interest rates fall.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Primary exam summary for pre-2008. Students should trace: Conditions → Policy type → Tool actions → Money supply → Interest rate → Spending → AD → GDP/inflation outcome.
Expansionary chain: buy bonds / ↓ rates → ↑ money → ↓ interest rates → ↑ spending → ↑ GDP.
Contractionary chain: sell bonds / ↑ rates → ↓ money → ↑ rates → ↓ spending → ↓ inflation.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shift: pre-2008 = control quantity to move price. Post-2008 = set price directly.
IORB as a floor: A bank earning 5% risk-free at the Fed will never lend in the fed funds market below 5%.
ON RRP for non-banks: money market funds can't earn IORB (only member banks can), so ON RRP serves as their floor.
Together: IORB floor + Discount Rate ceiling = a corridor that keeps FFR reliably in its target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Arbitrage is the self-correcting mechanism. The Fed sets IORB; profit-seeking banks equilibrate the market within hours.
ATM analogy: Two ATMs side by side. ATM A: 2.0%. ATM B (the Fed): 2.5%. Every rational bank uses ATM B — until competition for ATM B deposits drives ATM A's rate up to match. That's IORB arbitrage.
The IORB floor and Discount Rate ceiling create a corridor. Any FFR deviation triggers immediate profit-seeking behavior that corrects it — usually within the same trading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ties the whole chapter together. Post-2008 transmission is functionally identical to pre-2008 at the macro level. What changed is the implementation — not the economics.
Exam strategy: For any monetary policy question:
1. What is the headline condition? (recession or inflation)
2. What type of policy? (expansionary or contractionary)
3. What tool actions follow?
The rest of the chain — rates → spending → AD → GDP/inflation — is always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>
            <a:spLocks noGrp="1"/>
          </p:cNvSpPr>
          <p:nvPr>
            <p:ph type="title" idx="4294967295"/>
          </p:nvPr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15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Monetary Policy and Bank Regulation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5786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A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Federal Reserve  ·  Monetary Policy Tools  ·  Bank Regulation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24" y="5824"/>
            <a:ext cx="9144000" cy="5143500"/>
          </a:xfrm>
          <a:prstGeom prst="rect">
            <a:avLst/>
          </a:prstGeom>
          <a:solidFill>
            <a:srgbClr val="F7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>
            <a:spLocks noGrp="1"/>
          </p:cNvSpPr>
          <p:nvPr>
            <p:ph type="title" idx="4294967295"/>
          </p:nvPr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Federal Reserve ("the Fed")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786384"/>
            <a:ext cx="146304" cy="146304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4709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bank: </a:t>
            </a: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 that conducts monetary policy and ensures the financial system runs smoothly.</a:t>
            </a:r>
            <a:endParaRPr lang="en-US" sz="13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1481328"/>
            <a:ext cx="146304" cy="146304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" y="1408176"/>
            <a:ext cx="4709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1913 </a:t>
            </a: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 be the lender of last resort after repeated bank panics.</a:t>
            </a:r>
            <a:endParaRPr lang="en-US" sz="13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2176272"/>
            <a:ext cx="146304" cy="146304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" y="2103120"/>
            <a:ext cx="4709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for banks &amp; government </a:t>
            </a: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private citizens have no accounts at the Fed.</a:t>
            </a:r>
            <a:endParaRPr lang="en-US" sz="13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2871216"/>
            <a:ext cx="146304" cy="146304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2064" y="2798064"/>
            <a:ext cx="4709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Semi-decentralized: </a:t>
            </a: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7-member Board of Governors (DC) + 12 regional Federal Reserve Banks.</a:t>
            </a:r>
            <a:endParaRPr lang="en-US" sz="13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3566160"/>
            <a:ext cx="146304" cy="146304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2064" y="3493008"/>
            <a:ext cx="4709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Operationally independent </a:t>
            </a: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President and Congress day-to-day.</a:t>
            </a:r>
            <a:endParaRPr lang="en-US" sz="1300" dirty="0"/>
          </a:p>
        </p:txBody>
      </p:sp>
      <p:pic>
        <p:nvPicPr>
          <p:cNvPr id="15" name="Image 0" descr="Org chart: Congress gives Dual Mandate to Board of Governors; Board oversees FOMC (monetary policy) and 12 Regional Banks; tools and commercial banks at bottom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713232"/>
            <a:ext cx="3383280" cy="2011680"/>
          </a:xfrm>
          <a:prstGeom prst="rect">
            <a:avLst/>
          </a:prstGeom>
        </p:spPr>
      </p:pic>
      <p:sp>
        <p:nvSpPr>
          <p:cNvPr id="16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2120" y="2798064"/>
            <a:ext cx="3383280" cy="329184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623560" y="279806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Analogy: The Banker's Banker</a:t>
            </a:r>
            <a:endParaRPr lang="en-US" sz="1050" dirty="0"/>
          </a:p>
        </p:txBody>
      </p:sp>
      <p:sp>
        <p:nvSpPr>
          <p:cNvPr id="18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2120" y="3127248"/>
            <a:ext cx="3383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623560" y="3182112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 your bank holds your deposits and lends to you, the Fed holds bank reserves and lends to banks in emergencies — shaping every interest rate you pay.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Designated driver analogy: the Fed stays sober (disciplined) when everyone else wants to party.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>
            <a:spLocks noGrp="1"/>
          </p:cNvSpPr>
          <p:nvPr>
            <p:ph type="title" idx="4294967295"/>
          </p:nvPr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Twelve Federal Reserve Districts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Fed is a network — 12 regional banks carry policy out across the country.</a:t>
            </a:r>
            <a:endParaRPr lang="en-US" sz="13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1060704"/>
            <a:ext cx="4846320" cy="4224528"/>
          </a:xfrm>
          <a:prstGeom prst="rect">
            <a:avLst/>
          </a:prstGeom>
          <a:solidFill>
            <a:srgbClr val="1B2A4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16152"/>
            <a:ext cx="45720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Federal Reserve District Map]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www.federalreserve.gov/aboutthefed/federal-reserve-system.htm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1–12 with headquarters: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Boston · 2 New York · 3 Philadelphia · 4 Cleveland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Richmond · 6 Atlanta · 7 Chicago · 8 St. Louis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Minneapolis · 10 Kansas City · 11 Dallas · 12 San Francisco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Alaska &amp; Hawaii → District 12 (San Francisco)</a:t>
            </a:r>
            <a:endParaRPr lang="en-US" sz="11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93792" y="1060704"/>
            <a:ext cx="3657600" cy="329184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85232" y="106070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District Bank...</a:t>
            </a:r>
            <a:endParaRPr lang="en-US" sz="105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93792" y="1389888"/>
            <a:ext cx="3657600" cy="996696"/>
          </a:xfrm>
          <a:prstGeom prst="rect">
            <a:avLst/>
          </a:prstGeom>
          <a:solidFill>
            <a:srgbClr val="FFFFFF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85232" y="1444752"/>
            <a:ext cx="347472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Supervises commercial banks locally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Gathers regional economic data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Contributes presidents to the FOMC</a:t>
            </a:r>
            <a:endParaRPr lang="en-US" sz="105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93792" y="2459736"/>
            <a:ext cx="3657600" cy="32918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85232" y="245973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Charlotte → District 5 (Richmond)</a:t>
            </a:r>
            <a:endParaRPr lang="en-US" sz="105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93792" y="2788920"/>
            <a:ext cx="3657600" cy="996696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85232" y="2843784"/>
            <a:ext cx="347472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Richmond Fed covers VA, MD, NC, SC, WV. Charlotte is the 2nd-largest U.S. banking center — home to Bank of America HQ and Wells Fargo's East Coast hub.</a:t>
            </a:r>
            <a:endParaRPr lang="en-US" sz="105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93792" y="3858768"/>
            <a:ext cx="3657600" cy="329184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85232" y="385876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Franchise Analogy</a:t>
            </a:r>
            <a:endParaRPr lang="en-US" sz="1050" dirty="0"/>
          </a:p>
        </p:txBody>
      </p:sp>
      <p:sp>
        <p:nvSpPr>
          <p:cNvPr id="18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93792" y="4187952"/>
            <a:ext cx="3657600" cy="9966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95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85232" y="4242816"/>
            <a:ext cx="347472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HQ sets policy; 12 regional branches execute it. Profits return to the U.S. Treasury (~$80B/year in normal times).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>
            <a:spLocks noGrp="1"/>
          </p:cNvSpPr>
          <p:nvPr>
            <p:ph type="title" idx="4294967295"/>
          </p:nvPr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the Fed Do? Six Roles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713232"/>
            <a:ext cx="320040" cy="190195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13232"/>
            <a:ext cx="320040" cy="1901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" y="713232"/>
            <a:ext cx="24231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4944" y="804672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Monetary Policy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94944" y="1152144"/>
            <a:ext cx="22311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Mandate: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2% inflation target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 employment (3.5–4.5% unemployment)</a:t>
            </a:r>
            <a:endParaRPr lang="en-US" sz="11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713232"/>
            <a:ext cx="320040" cy="190195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46120" y="713232"/>
            <a:ext cx="320040" cy="1901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66160" y="713232"/>
            <a:ext cx="24231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66744" y="804672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Stability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66744" y="1152144"/>
            <a:ext cx="22311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systemic risk; prevent crises from cascading through the financial system.</a:t>
            </a:r>
            <a:endParaRPr lang="en-US" sz="1100" dirty="0"/>
          </a:p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713232"/>
            <a:ext cx="320040" cy="1901952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713232"/>
            <a:ext cx="320040" cy="1901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37960" y="713232"/>
            <a:ext cx="24231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95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38544" y="804672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Banking Services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38544" y="1152144"/>
            <a:ext cx="22311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 to commercial banks and to the federal government; runs payment systems.</a:t>
            </a:r>
            <a:endParaRPr lang="en-US" sz="1100" dirty="0"/>
          </a:p>
        </p:txBody>
      </p:sp>
      <p:sp>
        <p:nvSpPr>
          <p:cNvPr id="20" name="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2724912"/>
            <a:ext cx="320040" cy="190195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2724912"/>
            <a:ext cx="320040" cy="1901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900" dirty="0"/>
          </a:p>
        </p:txBody>
      </p:sp>
      <p:sp>
        <p:nvSpPr>
          <p:cNvPr id="22" name="Shap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" y="2724912"/>
            <a:ext cx="24231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4944" y="2816352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Bank Supervision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94944" y="3163824"/>
            <a:ext cx="22311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balance sheets; enforce capital and reserve requirements.</a:t>
            </a:r>
            <a:endParaRPr lang="en-US" sz="1100" dirty="0"/>
          </a:p>
        </p:txBody>
      </p:sp>
      <p:sp>
        <p:nvSpPr>
          <p:cNvPr id="25" name="Shap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2724912"/>
            <a:ext cx="320040" cy="190195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46120" y="2724912"/>
            <a:ext cx="320040" cy="1901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900" dirty="0"/>
          </a:p>
        </p:txBody>
      </p:sp>
      <p:sp>
        <p:nvSpPr>
          <p:cNvPr id="27" name="Shap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66160" y="2724912"/>
            <a:ext cx="24231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66744" y="2816352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Consumer Protection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66744" y="3163824"/>
            <a:ext cx="22311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fair lending laws; community development and outreach programs.</a:t>
            </a:r>
            <a:endParaRPr lang="en-US" sz="1100" dirty="0"/>
          </a:p>
        </p:txBody>
      </p:sp>
      <p:sp>
        <p:nvSpPr>
          <p:cNvPr id="30" name="Shape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2724912"/>
            <a:ext cx="320040" cy="1901952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17920" y="2724912"/>
            <a:ext cx="320040" cy="1901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900" dirty="0"/>
          </a:p>
        </p:txBody>
      </p:sp>
      <p:sp>
        <p:nvSpPr>
          <p:cNvPr id="32" name="Shape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37960" y="2724912"/>
            <a:ext cx="24231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95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38544" y="2816352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Lender of Last Resort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638544" y="3163824"/>
            <a:ext cx="22311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loans to solvent-but-illiquid banks during a financial crisis.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1 and 6 are the focus of this chapter: Monetary Policy and Lender of Last Resort.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>
            <a:spLocks noGrp="1"/>
          </p:cNvSpPr>
          <p:nvPr>
            <p:ph type="title" idx="4294967295"/>
          </p:nvPr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Bank Regulation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Goal: Keep banks solvent by constraining excessive risk-taking.</a:t>
            </a:r>
            <a:endParaRPr lang="en-US" sz="13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1060704"/>
            <a:ext cx="2697480" cy="329184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6070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Reserve Requirements</a:t>
            </a:r>
            <a:endParaRPr lang="en-US" sz="105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1389888"/>
            <a:ext cx="269748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444752"/>
            <a:ext cx="251460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% of deposits kept on hand.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rate: 0%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(suspended March 2020 — effectively inactive).</a:t>
            </a:r>
            <a:endParaRPr lang="en-US" sz="11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54680" y="1060704"/>
            <a:ext cx="2697480" cy="32918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46120" y="106070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Capital Requirements</a:t>
            </a:r>
            <a:endParaRPr lang="en-US" sz="105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54680" y="1389888"/>
            <a:ext cx="269748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46120" y="1444752"/>
            <a:ext cx="251460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equity as % of assets — the bank's loss cushion before depositors are harmed.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like a mortgage down payment.</a:t>
            </a:r>
            <a:endParaRPr lang="en-US" sz="110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1060704"/>
            <a:ext cx="2697480" cy="329184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106070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Investment Restrictions</a:t>
            </a:r>
            <a:endParaRPr lang="en-US" sz="105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1389888"/>
            <a:ext cx="269748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C895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1444752"/>
            <a:ext cx="251460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on risky assets — banks can't speculate freely with depositor funds.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by Dodd-Frank (2010).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318211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Enforces This?</a:t>
            </a:r>
            <a:endParaRPr lang="en-US" sz="1200" dirty="0"/>
          </a:p>
        </p:txBody>
      </p:sp>
      <p:sp>
        <p:nvSpPr>
          <p:cNvPr id="19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3511296"/>
            <a:ext cx="269748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3566160"/>
            <a:ext cx="247802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OCC (Office of the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Comptroller of Currency)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4059936"/>
            <a:ext cx="24780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U.S. Treasury;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6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national banks</a:t>
            </a:r>
            <a:endParaRPr lang="en-US" sz="1050" dirty="0"/>
          </a:p>
        </p:txBody>
      </p:sp>
      <p:sp>
        <p:nvSpPr>
          <p:cNvPr id="22" name="Shap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54680" y="3511296"/>
            <a:ext cx="269748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64408" y="3566160"/>
            <a:ext cx="247802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NCUA (Nat'l Credit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Union Administration)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64408" y="4059936"/>
            <a:ext cx="24780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Regulates federally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6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chartered credit unions</a:t>
            </a:r>
            <a:endParaRPr lang="en-US" sz="1050" dirty="0"/>
          </a:p>
        </p:txBody>
      </p:sp>
      <p:sp>
        <p:nvSpPr>
          <p:cNvPr id="25" name="Shap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3511296"/>
            <a:ext cx="269748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44768" y="3566160"/>
            <a:ext cx="247802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Federal Reserve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44768" y="4059936"/>
            <a:ext cx="24780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bank holding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6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&amp; state members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74320" y="475488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analogy: A down payment means you have skin in the game — making you more careful about risk.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>
            <a:spLocks noGrp="1"/>
          </p:cNvSpPr>
          <p:nvPr>
            <p:ph type="title" idx="4294967295"/>
          </p:nvPr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Deposit Insurance and Lender of Last Resort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" name="Image 0" descr="Two-panel diagram. Left — The Problem: a bank run self-fulfilling cycle (rumor → panic withdrawals → bank fails). Right — Two Solutions: (1) FDIC deposit insurance protecting up to $250,000 per depositor, removing panic motive; (2) Fed as Lender of Last Resort providing emergency loans to stop system-wide panic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13232"/>
            <a:ext cx="8595360" cy="3566160"/>
          </a:xfrm>
          <a:prstGeom prst="rect">
            <a:avLst/>
          </a:prstGeom>
        </p:spPr>
      </p:pic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4334256"/>
            <a:ext cx="8595360" cy="420624"/>
          </a:xfrm>
          <a:prstGeom prst="rect">
            <a:avLst/>
          </a:prstGeom>
          <a:solidFill>
            <a:srgbClr val="FFFFFF"/>
          </a:solidFill>
          <a:ln w="1397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02336" y="4361688"/>
            <a:ext cx="8339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SVB (March 2023): $42B withdrawn in one day. With $209B in assets, SVB collapsed in 36 hours — the 2nd-largest U.S. bank failure. FDIC covers up to $250,000 per depositor per bank.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>
            <a:spLocks noGrp="1"/>
          </p:cNvSpPr>
          <p:nvPr>
            <p:ph type="title" idx="4294967295"/>
          </p:nvPr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Purpose of Monetary Policy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" name="Image 0" descr="Balance scale: left pan = Maximum Employment (3.5–4.5% unemployment, green); right pan = Price Stability (2% inflation target, red); fulcrum = THE FED. Expansionary policy fights recession; contractionary policy fights inflation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13232"/>
            <a:ext cx="4206240" cy="2606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392424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6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Thermostat analogy: the Fed turns up the heat (↓ rates) in a recession and cools things down (↑ rates) during inflation. Every adjustment has trade-offs — there is no perfect setting.</a:t>
            </a:r>
            <a:endParaRPr lang="en-US" sz="1150" dirty="0"/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713232"/>
            <a:ext cx="4251960" cy="34747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18304" y="713232"/>
            <a:ext cx="4050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EXPANSIONARY  —  Fight Recession</a:t>
            </a:r>
            <a:endParaRPr lang="en-US" sz="1150" dirty="0"/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1060704"/>
            <a:ext cx="4251960" cy="1984248"/>
          </a:xfrm>
          <a:prstGeom prst="rect">
            <a:avLst/>
          </a:prstGeom>
          <a:solidFill>
            <a:srgbClr val="FFFFFF"/>
          </a:solidFill>
          <a:ln w="1651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727448" y="1152144"/>
            <a:ext cx="4050792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Interest rates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↑ Borrowing  →  ↑ C + I Spending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↑ Aggregate Demand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↑ Real GDP,  ↓ Unemployment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may ↑ Inflation</a:t>
            </a:r>
            <a:endParaRPr lang="en-US" sz="1250" dirty="0"/>
          </a:p>
        </p:txBody>
      </p:sp>
      <p:sp>
        <p:nvSpPr>
          <p:cNvPr id="11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2834640"/>
            <a:ext cx="4251960" cy="347472"/>
          </a:xfrm>
          <a:prstGeom prst="rect">
            <a:avLst/>
          </a:prstGeom>
          <a:solidFill>
            <a:srgbClr val="A135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18304" y="2834640"/>
            <a:ext cx="4050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CONTRACTIONARY  —  Fight Inflation</a:t>
            </a:r>
            <a:endParaRPr lang="en-US" sz="1150" dirty="0"/>
          </a:p>
        </p:txBody>
      </p:sp>
      <p:sp>
        <p:nvSpPr>
          <p:cNvPr id="13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3182112"/>
            <a:ext cx="4251960" cy="1691640"/>
          </a:xfrm>
          <a:prstGeom prst="rect">
            <a:avLst/>
          </a:prstGeom>
          <a:solidFill>
            <a:srgbClr val="FFFFFF"/>
          </a:solidFill>
          <a:ln w="16510">
            <a:solidFill>
              <a:srgbClr val="A13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27448" y="3264408"/>
            <a:ext cx="405079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Interest rates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↓ Borrowing  →  ↓ C + I Spending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↓ Aggregate Demand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↓ Price level,  ↓ Real GDP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may ↑ Unemployment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>
            <a:spLocks noGrp="1"/>
          </p:cNvSpPr>
          <p:nvPr>
            <p:ph type="title" idx="4294967295"/>
          </p:nvPr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Federal Open Market Committee (FOMC)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FOMC sets monetary policy — specifically the federal funds rate target range.</a:t>
            </a:r>
            <a:endParaRPr lang="en-US" sz="13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1060704"/>
            <a:ext cx="2743200" cy="2743200"/>
          </a:xfrm>
          <a:prstGeom prst="rect">
            <a:avLst/>
          </a:prstGeom>
          <a:solidFill>
            <a:srgbClr val="FFFFFF"/>
          </a:solidFill>
          <a:ln w="1651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1060704"/>
            <a:ext cx="2743200" cy="32918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06070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FOMC Members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426464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65760" y="2322576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Board Governors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All 12 Regional Bank Presidents</a:t>
            </a:r>
            <a:endParaRPr lang="en-US" sz="125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1060704"/>
            <a:ext cx="2743200" cy="2743200"/>
          </a:xfrm>
          <a:prstGeom prst="rect">
            <a:avLst/>
          </a:prstGeom>
          <a:solidFill>
            <a:srgbClr val="FFFFFF"/>
          </a:solidFill>
          <a:ln w="1651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1060704"/>
            <a:ext cx="2743200" cy="329184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7560" y="106070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Votes Each Meeting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1426464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3337560" y="2322576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Governors (always)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NY Fed President (always)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 others rotate annually</a:t>
            </a:r>
            <a:endParaRPr lang="en-US" sz="125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1060704"/>
            <a:ext cx="2743200" cy="2743200"/>
          </a:xfrm>
          <a:prstGeom prst="rect">
            <a:avLst/>
          </a:prstGeom>
          <a:solidFill>
            <a:srgbClr val="FFFFFF"/>
          </a:solidFill>
          <a:ln w="16510">
            <a:solidFill>
              <a:srgbClr val="C895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1060704"/>
            <a:ext cx="2743200" cy="329184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09360" y="106070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Meetings Per Year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1426464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5200" b="1" dirty="0">
                <a:solidFill>
                  <a:sysClr val="windowText" lastClr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5200" dirty="0">
              <a:solidFill>
                <a:sysClr val="windowText" lastClr="00000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09360" y="2322576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~6–7 weeks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Washington, D.C.</a:t>
            </a:r>
            <a:endParaRPr lang="en-US" sz="1250" dirty="0"/>
          </a:p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3931920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>
            <a:spLocks/>
          </p:cNvSpPr>
          <p:nvPr/>
        </p:nvSpPr>
        <p:spPr>
          <a:xfrm>
            <a:off x="402336" y="3950208"/>
            <a:ext cx="8339328" cy="457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2825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does NY always vote? The NY Fed executes all open market operations — its president can never sit out monetary policy decisions.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>
            <a:spLocks noGrp="1"/>
          </p:cNvSpPr>
          <p:nvPr>
            <p:ph type="title" idx="4294967295"/>
          </p:nvPr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Monetary Policy Tools: Two Eras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" name="Image 0" descr="Side-by-side panel. Left — Pre-2008 Limited Reserves: tools are (1) Open Market Operations (buy/sell Treasury bonds to add/remove reserves), (2) Discount Rate (interest charged when banks borrow from Fed), (3) Reserve Requirement (percent held in vault). Right — Post-2008 Ample Reserves: tools are (1) IORB — interest Fed pays banks on reserves (primary), (2) ON RRP Rate — rate non-banks earn lending to Fed overnight, (3) Discount Rate and OMO — still used but secondary. Key shift: Fed now administers rates directly rather than controlling money supply quantity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13232"/>
            <a:ext cx="8595360" cy="3474720"/>
          </a:xfrm>
          <a:prstGeom prst="rect">
            <a:avLst/>
          </a:prstGeom>
        </p:spPr>
      </p:pic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4261104"/>
            <a:ext cx="8595360" cy="621792"/>
          </a:xfrm>
          <a:prstGeom prst="rect">
            <a:avLst/>
          </a:prstGeom>
          <a:solidFill>
            <a:srgbClr val="FFFFFF"/>
          </a:solidFill>
          <a:ln w="1397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02336" y="4288536"/>
            <a:ext cx="8339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 turning point: Crisis response flooded banks with reserves (QE). With abundant reserves, quantity-based tools lost traction — the Fed shifted to directly administering interest rates. Same macro destination; different plumbing.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>
            <a:spLocks noGrp="1"/>
          </p:cNvSpPr>
          <p:nvPr>
            <p:ph type="title" idx="4294967295"/>
          </p:nvPr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Pre-2008 Tools: How They Work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of "Limited Reserves" — Fed controls the quantity of reserves to move interest rates.</a:t>
            </a:r>
            <a:endParaRPr lang="en-US" sz="125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1060704"/>
            <a:ext cx="8595360" cy="1207008"/>
          </a:xfrm>
          <a:prstGeom prst="rect">
            <a:avLst/>
          </a:prstGeom>
          <a:solidFill>
            <a:srgbClr val="FFFFFF"/>
          </a:solidFill>
          <a:ln w="1397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1060704"/>
            <a:ext cx="301752" cy="120700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060704"/>
            <a:ext cx="301752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1247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Market Operations (OMO)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426464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Expansionary: Fed BUYS bonds → injects reserves → ↑ money supply → ↓ rates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426464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Contractionary: Fed SELLS bonds → drains reserves → ↓ money supply → ↑ rates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0116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pre-2008 tool. Conducted daily by the NY Fed trading desk.</a:t>
            </a:r>
            <a:endParaRPr lang="en-US" sz="95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2322576"/>
            <a:ext cx="8595360" cy="1207008"/>
          </a:xfrm>
          <a:prstGeom prst="rect">
            <a:avLst/>
          </a:prstGeom>
          <a:solidFill>
            <a:srgbClr val="FFFFFF"/>
          </a:solidFill>
          <a:ln w="1397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2322576"/>
            <a:ext cx="301752" cy="1207008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2322576"/>
            <a:ext cx="301752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23865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Discount Rate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2688336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Expansionary: Fed LOWERS rate → banks borrow cheaply from Fed → ↑ reserves → ↓ rates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688336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Contractionary: Fed RAISES rate → banks borrow less from Fed → ↓ reserves → ↑ rates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27355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charged at the Fed's discount window. Also signals Fed intent.</a:t>
            </a:r>
            <a:endParaRPr lang="en-US" sz="950" dirty="0"/>
          </a:p>
        </p:txBody>
      </p:sp>
      <p:sp>
        <p:nvSpPr>
          <p:cNvPr id="20" name="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3584448"/>
            <a:ext cx="8595360" cy="1207008"/>
          </a:xfrm>
          <a:prstGeom prst="rect">
            <a:avLst/>
          </a:prstGeom>
          <a:solidFill>
            <a:srgbClr val="FFFFFF"/>
          </a:solidFill>
          <a:ln w="13970">
            <a:solidFill>
              <a:srgbClr val="C895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3584448"/>
            <a:ext cx="301752" cy="1207008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3584448"/>
            <a:ext cx="301752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36484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Reserve Requirement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95020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Expansionary: Fed LOWERS req't → banks lend more → ↑ money multiplier → ↓ rates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395020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Contractionary: Fed RAISES req't → banks lend less → ↓ multiplier → ↑ rates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53542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0% (suspended March 2020). Effectively inactive in today's system.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>
            <a:spLocks noGrp="1"/>
          </p:cNvSpPr>
          <p:nvPr>
            <p:ph type="title" idx="4294967295"/>
          </p:nvPr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Pre-2008 Policy: Summary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713232"/>
            <a:ext cx="4206240" cy="34747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Headline: Economy Weakening</a:t>
            </a:r>
            <a:endParaRPr lang="en-US" sz="12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1060704"/>
            <a:ext cx="4206240" cy="237744"/>
          </a:xfrm>
          <a:prstGeom prst="rect">
            <a:avLst/>
          </a:prstGeom>
          <a:solidFill>
            <a:srgbClr val="E0D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06070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Employment  |  Inflation near or below 2%</a:t>
            </a:r>
            <a:endParaRPr lang="en-US" sz="105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1298448"/>
            <a:ext cx="4206240" cy="292608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29844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Expansionary Policy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162763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</a:t>
            </a:r>
            <a:endParaRPr lang="en-US" sz="11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" y="1920240"/>
            <a:ext cx="128016" cy="16459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5216" y="1847088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OMO: Buy Treasury bonds</a:t>
            </a:r>
            <a:endParaRPr lang="en-US" sz="115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" y="2267712"/>
            <a:ext cx="128016" cy="16459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5216" y="2194560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the Discount Rate</a:t>
            </a:r>
            <a:endParaRPr lang="en-US" sz="115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" y="2615184"/>
            <a:ext cx="128016" cy="16459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85216" y="2542032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Reserve Requirement (rarely)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" y="292608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100" dirty="0"/>
          </a:p>
        </p:txBody>
      </p:sp>
      <p:sp>
        <p:nvSpPr>
          <p:cNvPr id="19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" y="3218688"/>
            <a:ext cx="128016" cy="16459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5216" y="3145536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Money Supply</a:t>
            </a:r>
            <a:endParaRPr lang="en-US" sz="1150" dirty="0"/>
          </a:p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" y="3566160"/>
            <a:ext cx="128016" cy="16459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5216" y="3493008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Interest Rates</a:t>
            </a:r>
            <a:endParaRPr lang="en-US" sz="1150" dirty="0"/>
          </a:p>
        </p:txBody>
      </p:sp>
      <p:sp>
        <p:nvSpPr>
          <p:cNvPr id="23" name="Shap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" y="3913632"/>
            <a:ext cx="128016" cy="16459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5216" y="3840480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 + I → ↑ Aggregate Demand</a:t>
            </a:r>
            <a:endParaRPr lang="en-US" sz="1150" dirty="0"/>
          </a:p>
        </p:txBody>
      </p:sp>
      <p:sp>
        <p:nvSpPr>
          <p:cNvPr id="25" name="Shap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" y="4261104"/>
            <a:ext cx="128016" cy="16459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5216" y="4187952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Real GDP,  ↓ Unemployment</a:t>
            </a:r>
            <a:endParaRPr lang="en-US" sz="1150" dirty="0"/>
          </a:p>
        </p:txBody>
      </p:sp>
      <p:sp>
        <p:nvSpPr>
          <p:cNvPr id="27" name="Shap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" y="4608576"/>
            <a:ext cx="128016" cy="164592"/>
          </a:xfrm>
          <a:prstGeom prst="rect">
            <a:avLst/>
          </a:prstGeom>
          <a:solidFill>
            <a:srgbClr val="AAA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85216" y="4535424"/>
            <a:ext cx="3803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possible ↑ Inflation</a:t>
            </a:r>
            <a:endParaRPr lang="en-US" sz="1100" dirty="0"/>
          </a:p>
        </p:txBody>
      </p:sp>
      <p:sp>
        <p:nvSpPr>
          <p:cNvPr id="29" name="Shap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713232"/>
            <a:ext cx="4206240" cy="34747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0600" y="7132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Headline: Inflation Rising Above 2%</a:t>
            </a:r>
            <a:endParaRPr lang="en-US" sz="1200" dirty="0"/>
          </a:p>
        </p:txBody>
      </p:sp>
      <p:sp>
        <p:nvSpPr>
          <p:cNvPr id="31" name="Shape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060704"/>
            <a:ext cx="4206240" cy="237744"/>
          </a:xfrm>
          <a:prstGeom prst="rect">
            <a:avLst/>
          </a:prstGeom>
          <a:solidFill>
            <a:srgbClr val="E0D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0600" y="106070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above target  |  Unemployment very low</a:t>
            </a:r>
            <a:endParaRPr lang="en-US" sz="1050" dirty="0"/>
          </a:p>
        </p:txBody>
      </p:sp>
      <p:sp>
        <p:nvSpPr>
          <p:cNvPr id="33" name="Shape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298448"/>
            <a:ext cx="4206240" cy="292608"/>
          </a:xfrm>
          <a:prstGeom prst="rect">
            <a:avLst/>
          </a:prstGeom>
          <a:solidFill>
            <a:srgbClr val="A135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00600" y="129844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Contractionary Policy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00600" y="162763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</a:t>
            </a:r>
            <a:endParaRPr lang="en-US" sz="1100" dirty="0"/>
          </a:p>
        </p:txBody>
      </p:sp>
      <p:sp>
        <p:nvSpPr>
          <p:cNvPr id="36" name="Shape 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00600" y="1920240"/>
            <a:ext cx="128016" cy="164592"/>
          </a:xfrm>
          <a:prstGeom prst="rect">
            <a:avLst/>
          </a:prstGeom>
          <a:solidFill>
            <a:srgbClr val="A135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0056" y="1847088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OMO: Sell Treasury bonds</a:t>
            </a:r>
            <a:endParaRPr lang="en-US" sz="1150" dirty="0"/>
          </a:p>
        </p:txBody>
      </p:sp>
      <p:sp>
        <p:nvSpPr>
          <p:cNvPr id="38" name="Shape 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00600" y="2267712"/>
            <a:ext cx="128016" cy="164592"/>
          </a:xfrm>
          <a:prstGeom prst="rect">
            <a:avLst/>
          </a:prstGeom>
          <a:solidFill>
            <a:srgbClr val="A135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20056" y="2194560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the Discount Rate</a:t>
            </a:r>
            <a:endParaRPr lang="en-US" sz="1150" dirty="0"/>
          </a:p>
        </p:txBody>
      </p:sp>
      <p:sp>
        <p:nvSpPr>
          <p:cNvPr id="40" name="Shape 3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00600" y="2615184"/>
            <a:ext cx="128016" cy="164592"/>
          </a:xfrm>
          <a:prstGeom prst="rect">
            <a:avLst/>
          </a:prstGeom>
          <a:solidFill>
            <a:srgbClr val="A135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20056" y="2542032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Reserve Requirement (rarely)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800600" y="292608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100" dirty="0"/>
          </a:p>
        </p:txBody>
      </p:sp>
      <p:sp>
        <p:nvSpPr>
          <p:cNvPr id="43" name="Shape 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00600" y="3218688"/>
            <a:ext cx="128016" cy="164592"/>
          </a:xfrm>
          <a:prstGeom prst="rect">
            <a:avLst/>
          </a:prstGeom>
          <a:solidFill>
            <a:srgbClr val="A135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20056" y="3145536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Money Supply</a:t>
            </a:r>
            <a:endParaRPr lang="en-US" sz="1150" dirty="0"/>
          </a:p>
        </p:txBody>
      </p:sp>
      <p:sp>
        <p:nvSpPr>
          <p:cNvPr id="45" name="Shape 4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00600" y="3566160"/>
            <a:ext cx="128016" cy="164592"/>
          </a:xfrm>
          <a:prstGeom prst="rect">
            <a:avLst/>
          </a:prstGeom>
          <a:solidFill>
            <a:srgbClr val="A135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20056" y="3493008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Interest Rates</a:t>
            </a:r>
            <a:endParaRPr lang="en-US" sz="1150" dirty="0"/>
          </a:p>
        </p:txBody>
      </p:sp>
      <p:sp>
        <p:nvSpPr>
          <p:cNvPr id="47" name="Shape 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00600" y="3913632"/>
            <a:ext cx="128016" cy="164592"/>
          </a:xfrm>
          <a:prstGeom prst="rect">
            <a:avLst/>
          </a:prstGeom>
          <a:solidFill>
            <a:srgbClr val="A135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020056" y="3840480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C + I → ↓ Aggregate Demand</a:t>
            </a:r>
            <a:endParaRPr lang="en-US" sz="1150" dirty="0"/>
          </a:p>
        </p:txBody>
      </p:sp>
      <p:sp>
        <p:nvSpPr>
          <p:cNvPr id="49" name="Shape 4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00600" y="4261104"/>
            <a:ext cx="128016" cy="164592"/>
          </a:xfrm>
          <a:prstGeom prst="rect">
            <a:avLst/>
          </a:prstGeom>
          <a:solidFill>
            <a:srgbClr val="A135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020056" y="4187952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Price Level,  ↓ Real GDP</a:t>
            </a:r>
            <a:endParaRPr lang="en-US" sz="1150" dirty="0"/>
          </a:p>
        </p:txBody>
      </p:sp>
      <p:sp>
        <p:nvSpPr>
          <p:cNvPr id="51" name="Shape 4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00600" y="4608576"/>
            <a:ext cx="128016" cy="164592"/>
          </a:xfrm>
          <a:prstGeom prst="rect">
            <a:avLst/>
          </a:prstGeom>
          <a:solidFill>
            <a:srgbClr val="AAA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020056" y="4535424"/>
            <a:ext cx="3803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possible ↑ Unemployment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>
            <a:spLocks noGrp="1"/>
          </p:cNvSpPr>
          <p:nvPr>
            <p:ph type="title" idx="4294967295"/>
          </p:nvPr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Post-2008 Era: "Ample Reserves" — How It Works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FOMC sets a target range for the Federal Funds Rate (FFR) — e.g., 4.25%–4.50%.</a:t>
            </a:r>
            <a:endParaRPr lang="en-US" sz="13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1033272"/>
            <a:ext cx="8595360" cy="402336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2336" y="1033272"/>
            <a:ext cx="8339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Funds Rate (FFR): the rate banks charge each other for overnight reserve loans — all broader market rates (mortgages, auto loans, business loans) follow it.</a:t>
            </a:r>
            <a:endParaRPr lang="en-US" sz="12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1545336"/>
            <a:ext cx="2651760" cy="329184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5453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IORB  (Primary Tool)</a:t>
            </a:r>
            <a:endParaRPr lang="en-US" sz="105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1874520"/>
            <a:ext cx="265176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929384"/>
            <a:ext cx="246888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on Reserve Balances — what the Fed pays banks that park reserves at the Fed overnight.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Fed ↑ IORB → banks prefer Fed deposit → ↑ demand in fed funds market → ↑ FFR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Fed ↓ IORB → banks prefer lending out → ↑ supply in market → ↓ FFR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arbitrage (next slide).</a:t>
            </a:r>
            <a:endParaRPr lang="en-US" sz="11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54680" y="1545336"/>
            <a:ext cx="2651760" cy="32918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46120" y="15453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ON RRP Rate  (Secondary Floor)</a:t>
            </a:r>
            <a:endParaRPr lang="en-US" sz="105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54680" y="1874520"/>
            <a:ext cx="265176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46120" y="1929384"/>
            <a:ext cx="246888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 Reverse Repo Rate — what the Fed pays non-bank institutions (money market funds) that lend to the Fed overnight.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a floor for the FFR: no institution lends in the market at below what the Fed pays.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IORB to hold FFR in its target band.</a:t>
            </a:r>
            <a:endParaRPr lang="en-US" sz="11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1545336"/>
            <a:ext cx="2651760" cy="329184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15453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Discount Rate &amp; OMO</a:t>
            </a:r>
            <a:endParaRPr lang="en-US" sz="1050" dirty="0"/>
          </a:p>
        </p:txBody>
      </p:sp>
      <p:sp>
        <p:nvSpPr>
          <p:cNvPr id="18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1874520"/>
            <a:ext cx="265176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95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0" y="1929384"/>
            <a:ext cx="246888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mechanics as pre-2008.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Rate: now mainly a ceiling and signaling tool.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OMO / QE / QT: adjusts total reserve volume — no longer the primary rate-setting tool.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>
            <a:spLocks noGrp="1"/>
          </p:cNvSpPr>
          <p:nvPr>
            <p:ph type="title" idx="4294967295"/>
          </p:nvPr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IORB Controls the FFR: Arbitrage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713232"/>
            <a:ext cx="8595360" cy="420624"/>
          </a:xfrm>
          <a:prstGeom prst="rect">
            <a:avLst/>
          </a:prstGeom>
          <a:solidFill>
            <a:srgbClr val="BCE2E7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02336" y="713232"/>
            <a:ext cx="8339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Arbitrage: profiting from a price difference between two markets — until competition eliminates the gap.</a:t>
            </a:r>
            <a:endParaRPr lang="en-US" sz="125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1207008"/>
            <a:ext cx="4224528" cy="329184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207008"/>
            <a:ext cx="4041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 A: Raise IORB → Raise FFR</a:t>
            </a:r>
            <a:endParaRPr lang="en-US" sz="115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" y="1627632"/>
            <a:ext cx="237744" cy="237744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6276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1554480"/>
            <a:ext cx="3730752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86384" y="1572768"/>
            <a:ext cx="3602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raises IORB: 2.0% → 2.5%</a:t>
            </a:r>
            <a:endParaRPr lang="en-US" sz="115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" y="2176272"/>
            <a:ext cx="237744" cy="237744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1762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103120"/>
            <a:ext cx="3730752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86384" y="2121408"/>
            <a:ext cx="3602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borrow in fed funds market at 2.0%, deposit at Fed at 2.5% = 50 bps profit</a:t>
            </a:r>
            <a:endParaRPr lang="en-US" sz="1150" dirty="0"/>
          </a:p>
        </p:txBody>
      </p:sp>
      <p:sp>
        <p:nvSpPr>
          <p:cNvPr id="17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" y="2724912"/>
            <a:ext cx="237744" cy="237744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272491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651760"/>
            <a:ext cx="3730752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6384" y="2670048"/>
            <a:ext cx="3602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borrow more in the fed funds market</a:t>
            </a:r>
            <a:endParaRPr lang="en-US" sz="1150" dirty="0"/>
          </a:p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" y="3273552"/>
            <a:ext cx="237744" cy="237744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2735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50" dirty="0"/>
          </a:p>
        </p:txBody>
      </p:sp>
      <p:sp>
        <p:nvSpPr>
          <p:cNvPr id="23" name="Shap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3200400"/>
            <a:ext cx="3730752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6384" y="3218688"/>
            <a:ext cx="3602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banks copy the trade → demand for reserves surges</a:t>
            </a:r>
            <a:endParaRPr lang="en-US" sz="1150" dirty="0"/>
          </a:p>
        </p:txBody>
      </p:sp>
      <p:sp>
        <p:nvSpPr>
          <p:cNvPr id="25" name="Shap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" y="3822192"/>
            <a:ext cx="237744" cy="237744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382219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50" dirty="0"/>
          </a:p>
        </p:txBody>
      </p:sp>
      <p:sp>
        <p:nvSpPr>
          <p:cNvPr id="27" name="Shap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3749040"/>
            <a:ext cx="3730752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6384" y="3767328"/>
            <a:ext cx="3602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drives the FFR up toward 2.5%</a:t>
            </a:r>
            <a:endParaRPr lang="en-US" sz="1150" dirty="0"/>
          </a:p>
        </p:txBody>
      </p:sp>
      <p:sp>
        <p:nvSpPr>
          <p:cNvPr id="29" name="Shap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" y="4370832"/>
            <a:ext cx="237744" cy="237744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43708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050" dirty="0"/>
          </a:p>
        </p:txBody>
      </p:sp>
      <p:sp>
        <p:nvSpPr>
          <p:cNvPr id="31" name="Shape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4297680"/>
            <a:ext cx="3730752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86384" y="4315968"/>
            <a:ext cx="3602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disappears.  FFR ≈ IORB  ✓</a:t>
            </a:r>
            <a:endParaRPr lang="en-US" sz="1150" dirty="0"/>
          </a:p>
        </p:txBody>
      </p:sp>
      <p:sp>
        <p:nvSpPr>
          <p:cNvPr id="33" name="Shape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4880" y="1207008"/>
            <a:ext cx="4224528" cy="32918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1207008"/>
            <a:ext cx="4041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 B: Lower IORB → Lower FFR</a:t>
            </a:r>
            <a:endParaRPr lang="en-US" sz="1150" dirty="0"/>
          </a:p>
        </p:txBody>
      </p:sp>
      <p:sp>
        <p:nvSpPr>
          <p:cNvPr id="35" name="Shape 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46320" y="1627632"/>
            <a:ext cx="237744" cy="23774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46320" y="16276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50" dirty="0"/>
          </a:p>
        </p:txBody>
      </p:sp>
      <p:sp>
        <p:nvSpPr>
          <p:cNvPr id="37" name="Shape 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57216" y="1554480"/>
            <a:ext cx="3730752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266944" y="1572768"/>
            <a:ext cx="3602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lowers IORB: 2.5% → 2.0%</a:t>
            </a:r>
            <a:endParaRPr lang="en-US" sz="1150" dirty="0"/>
          </a:p>
        </p:txBody>
      </p:sp>
      <p:sp>
        <p:nvSpPr>
          <p:cNvPr id="39" name="Shape 3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46320" y="2176272"/>
            <a:ext cx="237744" cy="23774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46320" y="21762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50" dirty="0"/>
          </a:p>
        </p:txBody>
      </p:sp>
      <p:sp>
        <p:nvSpPr>
          <p:cNvPr id="41" name="Shape 3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57216" y="2103120"/>
            <a:ext cx="3730752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266944" y="2121408"/>
            <a:ext cx="3602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lend in fed funds market at 2.5% vs. depositing at Fed at 2.0%</a:t>
            </a:r>
            <a:endParaRPr lang="en-US" sz="1150" dirty="0"/>
          </a:p>
        </p:txBody>
      </p:sp>
      <p:sp>
        <p:nvSpPr>
          <p:cNvPr id="43" name="Shape 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46320" y="2724912"/>
            <a:ext cx="237744" cy="23774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46320" y="272491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50" dirty="0"/>
          </a:p>
        </p:txBody>
      </p:sp>
      <p:sp>
        <p:nvSpPr>
          <p:cNvPr id="45" name="Shape 4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57216" y="2651760"/>
            <a:ext cx="3730752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266944" y="2670048"/>
            <a:ext cx="3602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withdraw reserves from Fed, lend into the market</a:t>
            </a:r>
            <a:endParaRPr lang="en-US" sz="1150" dirty="0"/>
          </a:p>
        </p:txBody>
      </p:sp>
      <p:sp>
        <p:nvSpPr>
          <p:cNvPr id="47" name="Shape 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46320" y="3273552"/>
            <a:ext cx="237744" cy="23774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46320" y="32735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50" dirty="0"/>
          </a:p>
        </p:txBody>
      </p:sp>
      <p:sp>
        <p:nvSpPr>
          <p:cNvPr id="49" name="Shape 4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57216" y="3200400"/>
            <a:ext cx="3730752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266944" y="3218688"/>
            <a:ext cx="3602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banks copy the trade → supply of reserves surges</a:t>
            </a:r>
            <a:endParaRPr lang="en-US" sz="1150" dirty="0"/>
          </a:p>
        </p:txBody>
      </p:sp>
      <p:sp>
        <p:nvSpPr>
          <p:cNvPr id="51" name="Shape 4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46320" y="3822192"/>
            <a:ext cx="237744" cy="23774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846320" y="382219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50" dirty="0"/>
          </a:p>
        </p:txBody>
      </p:sp>
      <p:sp>
        <p:nvSpPr>
          <p:cNvPr id="53" name="Shape 5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57216" y="3749040"/>
            <a:ext cx="3730752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266944" y="3767328"/>
            <a:ext cx="3602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drives the FFR down toward 2.0%</a:t>
            </a:r>
            <a:endParaRPr lang="en-US" sz="1150" dirty="0"/>
          </a:p>
        </p:txBody>
      </p:sp>
      <p:sp>
        <p:nvSpPr>
          <p:cNvPr id="55" name="Shape 5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46320" y="4370832"/>
            <a:ext cx="237744" cy="23774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846320" y="43708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050" dirty="0"/>
          </a:p>
        </p:txBody>
      </p:sp>
      <p:sp>
        <p:nvSpPr>
          <p:cNvPr id="57" name="Shape 5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57216" y="4297680"/>
            <a:ext cx="3730752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266944" y="4315968"/>
            <a:ext cx="3602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disappears.  FFR ≈ IORB  ✓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>
            <a:spLocks noGrp="1"/>
          </p:cNvSpPr>
          <p:nvPr>
            <p:ph type="title" idx="4294967295"/>
          </p:nvPr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Post-2008 Policy: The Full Transmission Chain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" name="Image 0" descr="Two transmission chains side by side. Left (Expansionary, teal): Fed lowers FFR target → banks borrow cheaply → lending increases → C+I spending rises → AD rises, GDP rises, unemployment falls. Right (Contractionary, gold-red): Fed raises FFR target → banks borrow expensively → lending decreases → C+I spending falls → AD falls, inflation falls, GDP slow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13232"/>
            <a:ext cx="8595360" cy="2560320"/>
          </a:xfrm>
          <a:prstGeom prst="rect">
            <a:avLst/>
          </a:prstGeom>
        </p:spPr>
      </p:pic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3346704"/>
            <a:ext cx="1051560" cy="274320"/>
          </a:xfrm>
          <a:prstGeom prst="rect">
            <a:avLst/>
          </a:prstGeom>
          <a:solidFill>
            <a:srgbClr val="1B2A4A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" y="3346704"/>
            <a:ext cx="941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62456" y="3346704"/>
            <a:ext cx="1463040" cy="274320"/>
          </a:xfrm>
          <a:prstGeom prst="rect">
            <a:avLst/>
          </a:prstGeom>
          <a:solidFill>
            <a:srgbClr val="1B2A4A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417320" y="3346704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FOMC Action</a:t>
            </a:r>
            <a:endParaRPr lang="en-US" sz="1050" dirty="0"/>
          </a:p>
        </p:txBody>
      </p:sp>
      <p:sp>
        <p:nvSpPr>
          <p:cNvPr id="10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2072" y="3346704"/>
            <a:ext cx="1645920" cy="274320"/>
          </a:xfrm>
          <a:prstGeom prst="rect">
            <a:avLst/>
          </a:prstGeom>
          <a:solidFill>
            <a:srgbClr val="1B2A4A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916936" y="3346704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Administered Rates</a:t>
            </a:r>
            <a:endParaRPr lang="en-US" sz="1050" dirty="0"/>
          </a:p>
        </p:txBody>
      </p:sp>
      <p:sp>
        <p:nvSpPr>
          <p:cNvPr id="12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4568" y="3346704"/>
            <a:ext cx="1554480" cy="274320"/>
          </a:xfrm>
          <a:prstGeom prst="rect">
            <a:avLst/>
          </a:prstGeom>
          <a:solidFill>
            <a:srgbClr val="1B2A4A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99432" y="3346704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Rates</a:t>
            </a:r>
            <a:endParaRPr lang="en-US" sz="1050" dirty="0"/>
          </a:p>
        </p:txBody>
      </p:sp>
      <p:sp>
        <p:nvSpPr>
          <p:cNvPr id="14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35624" y="3346704"/>
            <a:ext cx="2011680" cy="274320"/>
          </a:xfrm>
          <a:prstGeom prst="rect">
            <a:avLst/>
          </a:prstGeom>
          <a:solidFill>
            <a:srgbClr val="1B2A4A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190488" y="3346704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Economic Effect</a:t>
            </a:r>
            <a:endParaRPr lang="en-US" sz="1050" dirty="0"/>
          </a:p>
        </p:txBody>
      </p:sp>
      <p:sp>
        <p:nvSpPr>
          <p:cNvPr id="16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3621024"/>
            <a:ext cx="1051560" cy="310896"/>
          </a:xfrm>
          <a:prstGeom prst="rect">
            <a:avLst/>
          </a:prstGeom>
          <a:solidFill>
            <a:srgbClr val="01696F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29184" y="3621024"/>
            <a:ext cx="941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Recession</a:t>
            </a:r>
            <a:endParaRPr lang="en-US" sz="1100" dirty="0"/>
          </a:p>
        </p:txBody>
      </p:sp>
      <p:sp>
        <p:nvSpPr>
          <p:cNvPr id="18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62456" y="3621024"/>
            <a:ext cx="14630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417320" y="3621024"/>
            <a:ext cx="1353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FFR Target</a:t>
            </a:r>
            <a:endParaRPr lang="en-US" sz="1100" dirty="0"/>
          </a:p>
        </p:txBody>
      </p:sp>
      <p:sp>
        <p:nvSpPr>
          <p:cNvPr id="20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2072" y="3621024"/>
            <a:ext cx="1645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916936" y="3621024"/>
            <a:ext cx="15361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IORB, ↓ ON RRP</a:t>
            </a:r>
            <a:endParaRPr lang="en-US" sz="1100" dirty="0"/>
          </a:p>
        </p:txBody>
      </p:sp>
      <p:sp>
        <p:nvSpPr>
          <p:cNvPr id="22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4568" y="3621024"/>
            <a:ext cx="1554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599432" y="3621024"/>
            <a:ext cx="1444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All lending rates</a:t>
            </a:r>
            <a:endParaRPr lang="en-US" sz="1100" dirty="0"/>
          </a:p>
        </p:txBody>
      </p:sp>
      <p:sp>
        <p:nvSpPr>
          <p:cNvPr id="24" name="Shap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35624" y="3621024"/>
            <a:ext cx="2011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190488" y="3621024"/>
            <a:ext cx="1901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GDP,  ↓ Unemployment</a:t>
            </a:r>
            <a:endParaRPr lang="en-US" sz="1100" dirty="0"/>
          </a:p>
        </p:txBody>
      </p:sp>
      <p:sp>
        <p:nvSpPr>
          <p:cNvPr id="26" name="Shap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3941064"/>
            <a:ext cx="1051560" cy="310896"/>
          </a:xfrm>
          <a:prstGeom prst="rect">
            <a:avLst/>
          </a:prstGeom>
          <a:solidFill>
            <a:srgbClr val="A13544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29184" y="3941064"/>
            <a:ext cx="941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Inflation</a:t>
            </a:r>
            <a:endParaRPr lang="en-US" sz="1100" dirty="0"/>
          </a:p>
        </p:txBody>
      </p:sp>
      <p:sp>
        <p:nvSpPr>
          <p:cNvPr id="28" name="Shap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62456" y="3941064"/>
            <a:ext cx="14630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417320" y="3941064"/>
            <a:ext cx="1353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FFR Target</a:t>
            </a:r>
            <a:endParaRPr lang="en-US" sz="1100" dirty="0"/>
          </a:p>
        </p:txBody>
      </p:sp>
      <p:sp>
        <p:nvSpPr>
          <p:cNvPr id="30" name="Shap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2072" y="3941064"/>
            <a:ext cx="1645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2916936" y="3941064"/>
            <a:ext cx="15361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IORB, ↑ ON RRP</a:t>
            </a:r>
            <a:endParaRPr lang="en-US" sz="1100" dirty="0"/>
          </a:p>
        </p:txBody>
      </p:sp>
      <p:sp>
        <p:nvSpPr>
          <p:cNvPr id="32" name="Shape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4568" y="3941064"/>
            <a:ext cx="1554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599432" y="3941064"/>
            <a:ext cx="1444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All lending rates</a:t>
            </a:r>
            <a:endParaRPr lang="en-US" sz="1100" dirty="0"/>
          </a:p>
        </p:txBody>
      </p:sp>
      <p:sp>
        <p:nvSpPr>
          <p:cNvPr id="34" name="Shape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35624" y="3941064"/>
            <a:ext cx="2011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190488" y="3941064"/>
            <a:ext cx="1901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Inflation,  ↓ AD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274320" y="4352544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macro destination as pre-2008: lower rates stimulate, higher rates cool. What changed is the plumbing — administered rates replace quantity control.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2834</Words>
  <Application>Microsoft Office PowerPoint</Application>
  <PresentationFormat>On-screen Show (16:9)</PresentationFormat>
  <Paragraphs>256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Trebuchet MS</vt:lpstr>
      <vt:lpstr>Office Theme</vt:lpstr>
      <vt:lpstr>Chapter 15</vt:lpstr>
      <vt:lpstr>The Federal Reserve ("the Fed")</vt:lpstr>
      <vt:lpstr>The Twelve Federal Reserve Districts</vt:lpstr>
      <vt:lpstr>What Does the Fed Do? Six Roles</vt:lpstr>
      <vt:lpstr>Bank Regulation</vt:lpstr>
      <vt:lpstr>Deposit Insurance and Lender of Last Resort</vt:lpstr>
      <vt:lpstr>The Purpose of Monetary Policy</vt:lpstr>
      <vt:lpstr>Federal Open Market Committee (FOMC)</vt:lpstr>
      <vt:lpstr>Monetary Policy Tools: Two Eras</vt:lpstr>
      <vt:lpstr>Pre-2008 Tools: How They Work</vt:lpstr>
      <vt:lpstr>Pre-2008 Policy: Summary</vt:lpstr>
      <vt:lpstr>Post-2008 Era: "Ample Reserves" — How It Works</vt:lpstr>
      <vt:lpstr>How IORB Controls the FFR: Arbitrage</vt:lpstr>
      <vt:lpstr>Post-2008 Policy: The Full Transmission Chain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Scott T Lane</cp:lastModifiedBy>
  <cp:revision>1</cp:revision>
  <dcterms:created xsi:type="dcterms:W3CDTF">2026-04-10T18:53:26Z</dcterms:created>
  <dcterms:modified xsi:type="dcterms:W3CDTF">2026-04-22T16:25:16Z</dcterms:modified>
</cp:coreProperties>
</file>