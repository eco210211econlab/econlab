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1" r:id="rId1"/>
  </p:sldMasterIdLst>
  <p:notesMasterIdLst>
    <p:notesMasterId r:id="rId21"/>
  </p:notesMasterIdLst>
  <p:sldIdLst>
    <p:sldId id="256" r:id="rId2"/>
    <p:sldId id="259" r:id="rId3"/>
    <p:sldId id="261" r:id="rId4"/>
    <p:sldId id="262" r:id="rId5"/>
    <p:sldId id="281" r:id="rId6"/>
    <p:sldId id="263" r:id="rId7"/>
    <p:sldId id="266" r:id="rId8"/>
    <p:sldId id="268" r:id="rId9"/>
    <p:sldId id="271" r:id="rId10"/>
    <p:sldId id="272" r:id="rId11"/>
    <p:sldId id="279" r:id="rId12"/>
    <p:sldId id="273" r:id="rId13"/>
    <p:sldId id="274" r:id="rId14"/>
    <p:sldId id="275" r:id="rId15"/>
    <p:sldId id="282" r:id="rId16"/>
    <p:sldId id="276" r:id="rId17"/>
    <p:sldId id="280" r:id="rId18"/>
    <p:sldId id="283" r:id="rId19"/>
    <p:sldId id="28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7" autoAdjust="0"/>
    <p:restoredTop sz="62449" autoAdjust="0"/>
  </p:normalViewPr>
  <p:slideViewPr>
    <p:cSldViewPr snapToGrid="0">
      <p:cViewPr varScale="1">
        <p:scale>
          <a:sx n="57" d="100"/>
          <a:sy n="57" d="100"/>
        </p:scale>
        <p:origin x="1267"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T Lane" userId="c97bbaa9-35da-4a3b-a646-d12e455ac46e" providerId="ADAL" clId="{2FF3E2E3-7818-4E76-9C63-7C10A568D9B9}"/>
    <pc:docChg chg="custSel modSld">
      <pc:chgData name="Scott T Lane" userId="c97bbaa9-35da-4a3b-a646-d12e455ac46e" providerId="ADAL" clId="{2FF3E2E3-7818-4E76-9C63-7C10A568D9B9}" dt="2026-04-21T12:10:24.684" v="150" actId="20577"/>
      <pc:docMkLst>
        <pc:docMk/>
      </pc:docMkLst>
      <pc:sldChg chg="modSp mod">
        <pc:chgData name="Scott T Lane" userId="c97bbaa9-35da-4a3b-a646-d12e455ac46e" providerId="ADAL" clId="{2FF3E2E3-7818-4E76-9C63-7C10A568D9B9}" dt="2026-04-21T12:10:24.684" v="150" actId="20577"/>
        <pc:sldMkLst>
          <pc:docMk/>
          <pc:sldMk cId="4066267760" sldId="268"/>
        </pc:sldMkLst>
        <pc:spChg chg="mod">
          <ac:chgData name="Scott T Lane" userId="c97bbaa9-35da-4a3b-a646-d12e455ac46e" providerId="ADAL" clId="{2FF3E2E3-7818-4E76-9C63-7C10A568D9B9}" dt="2026-04-21T12:10:24.684" v="150" actId="20577"/>
          <ac:spMkLst>
            <pc:docMk/>
            <pc:sldMk cId="4066267760" sldId="268"/>
            <ac:spMk id="7" creationId="{17F2976C-6994-6205-4081-3B31193427F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8F3A2-8E25-4A3A-A5C5-30CE7D552B9E}"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92C0B-33F8-41E1-8332-0E4CBB15B695}" type="slidenum">
              <a:rPr lang="en-US" smtClean="0"/>
              <a:t>‹#›</a:t>
            </a:fld>
            <a:endParaRPr lang="en-US"/>
          </a:p>
        </p:txBody>
      </p:sp>
    </p:spTree>
    <p:extLst>
      <p:ext uri="{BB962C8B-B14F-4D97-AF65-F5344CB8AC3E}">
        <p14:creationId xmlns:p14="http://schemas.microsoft.com/office/powerpoint/2010/main" val="18186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Chapter 10, where we explore the two market structures that exist between perfect competition and monopoly. These "imperfectly competitive" markets represent the vast majority of businesses you encounter daily—from your local restaurants to smartphone manufacturers. Understanding these structures helps explain why firms advertise, why prices differ across similar products, and why some industries have only a few dominant players.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a:t>
            </a:fld>
            <a:endParaRPr lang="en-US"/>
          </a:p>
        </p:txBody>
      </p:sp>
    </p:spTree>
    <p:extLst>
      <p:ext uri="{BB962C8B-B14F-4D97-AF65-F5344CB8AC3E}">
        <p14:creationId xmlns:p14="http://schemas.microsoft.com/office/powerpoint/2010/main" val="3068824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start with a real case. Between 1997 and 2004, executives from Procter &amp; Gamble, Henkel, Unilever, and Colgate-Palmolive met secretly around Paris—not in boardrooms, but in small, out-of-the-way cafés. Their goal was to stamp out competition and set prices, essentially creating a monopoly. Similarly, five Midwestern ice makers conspired to divide up the bagged ice market. Both groups faced the same dilemma: they could earn higher profits by cooperating like a monopoly, but each firm was also tempted to cheat for individual gain. This tension between cooperation and competition defines oligopolistic behavior. We'll return to this case, but it illustrates why understanding these market structures matters—they're everywhere, and the stakes are high.</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2</a:t>
            </a:fld>
            <a:endParaRPr lang="en-US"/>
          </a:p>
        </p:txBody>
      </p:sp>
    </p:spTree>
    <p:extLst>
      <p:ext uri="{BB962C8B-B14F-4D97-AF65-F5344CB8AC3E}">
        <p14:creationId xmlns:p14="http://schemas.microsoft.com/office/powerpoint/2010/main" val="476138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Think of market structures on a spectrum. At one extreme is perfect competition—many firms selling identical products with zero pricing power. At the other extreme is monopoly—one firm with complete pricing control. But where do most real businesses operate? In the middle. Monopolistic competition describes restaurants, clothing stores, coffee shops—places with many competitors but differentiated products. Oligopoly describes industries with a few dominant firms: airlines, smartphones, soft drinks. These structures are neither perfectly competitive nor monopolistic, which creates unique strategic challenges and opportunities.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3</a:t>
            </a:fld>
            <a:endParaRPr lang="en-US"/>
          </a:p>
        </p:txBody>
      </p:sp>
    </p:spTree>
    <p:extLst>
      <p:ext uri="{BB962C8B-B14F-4D97-AF65-F5344CB8AC3E}">
        <p14:creationId xmlns:p14="http://schemas.microsoft.com/office/powerpoint/2010/main" val="5685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Monopolistic competition combines elements of both monopoly and competition—hence the name. There are many firms, like in perfect competition, but each sells a product that's distinctive in some way. Consider restaurants: there are over 600,000 in the United States. Each restaurant differentiates itself through cuisine, atmosphere, location, or service quality. This differentiation gives each firm a "mini-monopoly" over its particular style, allowing some pricing power. But they still face intense competition from other restaurants offering different experiences. The Mall of America example from your textbook is perfect: 24 stores selling women's ready-to-wear clothing, each competing yet each offering something different.</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4</a:t>
            </a:fld>
            <a:endParaRPr lang="en-US"/>
          </a:p>
        </p:txBody>
      </p:sp>
    </p:spTree>
    <p:extLst>
      <p:ext uri="{BB962C8B-B14F-4D97-AF65-F5344CB8AC3E}">
        <p14:creationId xmlns:p14="http://schemas.microsoft.com/office/powerpoint/2010/main" val="842772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1D6EB-E760-C910-9A02-FBCF887ABC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4CA98B-5350-FB5F-9069-1F00E1E41A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3E3CC2-E19E-0BBA-F140-99D0B6DB74F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Firms differentiate products in four key ways. Physical differentiation includes actual features—think of "non-stick," "freezer-to-microwave," or "extra spicy." Location matters: a gas station at a busy intersection sells more simply due to traffic. Intangible aspects include reputation, guarantees, or services like free delivery. Finally, perceived differentiation exists in buyers' minds—many people couldn't tell ketchup brands apart blindfolded, but advertising creates strong preferences. The golf ball example is fascinating: over 1,800 balls from 100+ companies meet strict USGA standards, making them remarkably similar. Yet manufacturers spend millions convincing golfers that their choice matters enormously. For average golfers who lose balls in the woods, they're nearly indistinguishable—but differentiation drives sales.</a:t>
            </a:r>
            <a:endParaRPr lang="en-US" dirty="0"/>
          </a:p>
        </p:txBody>
      </p:sp>
      <p:sp>
        <p:nvSpPr>
          <p:cNvPr id="4" name="Slide Number Placeholder 3">
            <a:extLst>
              <a:ext uri="{FF2B5EF4-FFF2-40B4-BE49-F238E27FC236}">
                <a16:creationId xmlns:a16="http://schemas.microsoft.com/office/drawing/2014/main" id="{A67A8FC6-3755-5607-856A-F54528E54CB0}"/>
              </a:ext>
            </a:extLst>
          </p:cNvPr>
          <p:cNvSpPr>
            <a:spLocks noGrp="1"/>
          </p:cNvSpPr>
          <p:nvPr>
            <p:ph type="sldNum" sz="quarter" idx="5"/>
          </p:nvPr>
        </p:nvSpPr>
        <p:spPr/>
        <p:txBody>
          <a:bodyPr/>
          <a:lstStyle/>
          <a:p>
            <a:fld id="{98E92C0B-33F8-41E1-8332-0E4CBB15B695}" type="slidenum">
              <a:rPr lang="en-US" smtClean="0"/>
              <a:t>5</a:t>
            </a:fld>
            <a:endParaRPr lang="en-US"/>
          </a:p>
        </p:txBody>
      </p:sp>
    </p:spTree>
    <p:extLst>
      <p:ext uri="{BB962C8B-B14F-4D97-AF65-F5344CB8AC3E}">
        <p14:creationId xmlns:p14="http://schemas.microsoft.com/office/powerpoint/2010/main" val="3350857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Understanding demand curves reveals market power. A perfectly competitive firm faces a flat, perfectly elastic demand curve—if it raises price even slightly, it loses all customers to identical competitors. A monopolist faces the entire market demand curve—it can raise prices, though it will sell less. A monopolistically competitive firm falls in between: it faces a downward-sloping demand curve, but more elastic than a monopolist's. Why? Substitutes exist. If your local coffee shop raises prices, some customers will stop buying coffee, but others will switch to a nearby café. The monopolistic competitor loses customers to substitutes, while a monopoly raises prices knowing consumers have no close alternatives. This difference in demand elasticity fundamentally shapes pricing strategy.</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6</a:t>
            </a:fld>
            <a:endParaRPr lang="en-US"/>
          </a:p>
        </p:txBody>
      </p:sp>
    </p:spTree>
    <p:extLst>
      <p:ext uri="{BB962C8B-B14F-4D97-AF65-F5344CB8AC3E}">
        <p14:creationId xmlns:p14="http://schemas.microsoft.com/office/powerpoint/2010/main" val="1524658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Monopolistic competitors maximize profit using the same two-step process as monopolists. First, find where marginal revenue equals marginal cost—that's your profit-maximizing quantity. Second, look up to your demand curve to find the highest price customers will pay for that quantity. The textbook's "Authentic Chinese Pizza" example illustrates this: at quantity 40, MR equals MC. Moving up to the demand curve, they can charge $16. With average cost of $14.50, they earn $60 profit. But here's the crucial difference from monopoly: these profits attract entry. Unlike monopolists protected by barriers, monopolistic competitors face new entrants who see those profits and want in. As competitors enter, your demand curve shifts left, reducing quantity and price until profits disappear.</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7</a:t>
            </a:fld>
            <a:endParaRPr lang="en-US"/>
          </a:p>
        </p:txBody>
      </p:sp>
    </p:spTree>
    <p:extLst>
      <p:ext uri="{BB962C8B-B14F-4D97-AF65-F5344CB8AC3E}">
        <p14:creationId xmlns:p14="http://schemas.microsoft.com/office/powerpoint/2010/main" val="3761441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long-run equilibrium in monopolistic competition looks different from perfect competition. When firms earn economic profits, competitors enter, shifting each firm's demand left until profits vanish. When firms suffer losses, some exit, shifting remaining firms' demand right until losses disappear. The endpoint: price equals average cost, meaning zero economic profit. But notice two inefficiencies. First, productive inefficiency: firms don't produce at the minimum of their average cost curve—they operate on the downward-sloping portion, meaning higher costs per unit than possible. Second, allocative inefficiency: price exceeds marginal cost, meaning consumers value additional units more than they cost to produce, but firms don't make them. However, we get benefits too: product variety, innovation, competition on quality and service. Most people prefer living in a world with diverse restaurants, clothing styles, and experiences rather than perfect competition's uniformity.</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8</a:t>
            </a:fld>
            <a:endParaRPr lang="en-US"/>
          </a:p>
        </p:txBody>
      </p:sp>
    </p:spTree>
    <p:extLst>
      <p:ext uri="{BB962C8B-B14F-4D97-AF65-F5344CB8AC3E}">
        <p14:creationId xmlns:p14="http://schemas.microsoft.com/office/powerpoint/2010/main" val="4099963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we shift to oligopoly, where a small number of large firms dominate an industry. Commercial aircraft is the textbook example: Boeing and Airbus each produce about 50% of large commercial aircraft worldwide. The U.S. soft drink industry is another: Coca-Cola and Pepsi dominate. What makes oligopoly unique is mutual interdependence—each firm's decisions on output, pricing, and advertising depend on rivals' decisions. This creates a chess-like strategic environment. Oligopolies arise from barriers to entry combined with economies of scale. The market might be large enough for two or three efficient firms, but not more. Smaller firms have higher average costs and can't compete; larger firms would produce more than they could profitably sell. This combination of scale economies and market size creates the barrier.</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10</a:t>
            </a:fld>
            <a:endParaRPr lang="en-US"/>
          </a:p>
        </p:txBody>
      </p:sp>
    </p:spTree>
    <p:extLst>
      <p:ext uri="{BB962C8B-B14F-4D97-AF65-F5344CB8AC3E}">
        <p14:creationId xmlns:p14="http://schemas.microsoft.com/office/powerpoint/2010/main" val="2168184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Oligopolists face a fundamental dilemma. If they cooperate—restricting output and raising prices—they can act like a monopoly and earn high profits. But if they compete aggressively—expanding output and cutting prices—they drive profits down toward zero, like perfect competitors. Adam Smith observed in 1776: "People of the same trade seldom meet together, even for merriment and diversion, but the conversation ends in a conspiracy against the public, or in some contrivance to raise prices." The textbook describes oligopolists as "cats in a bag"—they can either scratch each other to pieces through competition or cuddle up comfortably through collusion. The challenge: even when cooperation benefits the group, each individual firm is tempted to cheat by producing slightly more to capture extra profits.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12</a:t>
            </a:fld>
            <a:endParaRPr lang="en-US"/>
          </a:p>
        </p:txBody>
      </p:sp>
    </p:spTree>
    <p:extLst>
      <p:ext uri="{BB962C8B-B14F-4D97-AF65-F5344CB8AC3E}">
        <p14:creationId xmlns:p14="http://schemas.microsoft.com/office/powerpoint/2010/main" val="4058796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 understand oligopoly behavior, economists use game theory—the mathematics of strategic decision-making. The prisoner's dilemma illustrates the problem perfectly. Two suspects are arrested and interrogated separately. If both stay silent, weak evidence means only 2 years each. If both confess, they each get 5 years. But if one confesses while the other stays silent, the confessor gets only 1 year while the silent partner gets 8 years. Here's the dilemma: from Prisoner A's perspective, confessing is best regardless of B's choice. If B confesses, A should confess too (5 years vs. 8 years). If B stays silent, A should still confess (1 year vs. 2 years). Confessing is the dominant strategy. But when both follow this logic and confess, they each get 5 years—worse than if both had cooperated by staying silent for only 2 years each. Cooperation yields better outcomes, but individual incentives drive non-cooperation.</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13</a:t>
            </a:fld>
            <a:endParaRPr lang="en-US"/>
          </a:p>
        </p:txBody>
      </p:sp>
    </p:spTree>
    <p:extLst>
      <p:ext uri="{BB962C8B-B14F-4D97-AF65-F5344CB8AC3E}">
        <p14:creationId xmlns:p14="http://schemas.microsoft.com/office/powerpoint/2010/main" val="29765363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apply the prisoner's dilemma to oligopoly. Imagine two firms forming a duopoly. If both restrict output, they act like a monopoly and each earns $1,000 profit. But each faces temptation. If Firm A thinks B will restrict output, A can expand output and earn $1,500 while B earns only $200. If A thinks B will expand output, A should expand too—earning $400 is better than the $200 from restricting output while B expands. The dominant strategy is to expand output regardless of what the rival does. The result: both expand, both earn only $400—worse than the $1,000 each could have earned through cooperation. This explains why cartels are unstable even when illegal. The Lysine cartel from your textbook collapsed because individual firms were tempted to cheat for extra profits.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14</a:t>
            </a:fld>
            <a:endParaRPr lang="en-US"/>
          </a:p>
        </p:txBody>
      </p:sp>
    </p:spTree>
    <p:extLst>
      <p:ext uri="{BB962C8B-B14F-4D97-AF65-F5344CB8AC3E}">
        <p14:creationId xmlns:p14="http://schemas.microsoft.com/office/powerpoint/2010/main" val="2154884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lysine cartel provides a perfect real-world example. Lysine is an amino acid used in animal feed—a $600 million industry. In the early 1990s, major producers including Archer Daniels Midland met in hotel conference rooms to decide how much each would sell and what they'd charge. The FBI learned of the meetings and wiretapped them. In one recording, ADM's corn processing president said to competitors: "You are my friend. I </a:t>
            </a:r>
            <a:r>
              <a:rPr lang="en-US" sz="1200" b="0" i="0" kern="1200" dirty="0" err="1">
                <a:solidFill>
                  <a:schemeClr val="tx1"/>
                </a:solidFill>
                <a:effectLst/>
                <a:latin typeface="+mn-lt"/>
                <a:ea typeface="+mn-ea"/>
                <a:cs typeface="+mn-cs"/>
              </a:rPr>
              <a:t>wanna</a:t>
            </a:r>
            <a:r>
              <a:rPr lang="en-US" sz="1200" b="0" i="0" kern="1200" dirty="0">
                <a:solidFill>
                  <a:schemeClr val="tx1"/>
                </a:solidFill>
                <a:effectLst/>
                <a:latin typeface="+mn-lt"/>
                <a:ea typeface="+mn-ea"/>
                <a:cs typeface="+mn-cs"/>
              </a:rPr>
              <a:t> be closer to you than I am to any customer. Cause you can make us money." ADM's slogan, which "penetrated the whole company," was: "Our competitors are our friends. Our customers are the enemy." That could be the motto of cartels everywhere. During the cartel, lysine prices doubled. But the cartel was unstable—firms were tempted to cheat. When confronted with FBI tapes, ADM pled guilty and paid a $100 million fine. Executives were imprisoned. This illustrates both the temptation to collude and why cartels are difficult to maintain.</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15</a:t>
            </a:fld>
            <a:endParaRPr lang="en-US"/>
          </a:p>
        </p:txBody>
      </p:sp>
    </p:spTree>
    <p:extLst>
      <p:ext uri="{BB962C8B-B14F-4D97-AF65-F5344CB8AC3E}">
        <p14:creationId xmlns:p14="http://schemas.microsoft.com/office/powerpoint/2010/main" val="31845375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Since explicit cartels are illegal, oligopolists develop tacit ways to encourage cooperation. The kinked demand curve model shows how. Imagine an oligopolist agrees to produce 10,000 units at $500. Other firms can discipline this behavior through a simple strategy: match all price cuts but not price increases. If the firm expands output to 11,000 and cuts price to $300, rivals immediately cut their prices too, so the firm gains few extra sales. But if the firm raises price to $550, rivals don't follow, so the firm loses substantial sales as customers switch to cheaper competitors. This creates a "kink" in the demand curve at the agreed price. Neither raising nor lowering price is attractive, so firms stick to the agreement without any written contract. It's like Mutually Assured Destruction during the Cold War—cooperation emerges from the threat of retaliation, not from trust.</a:t>
            </a:r>
          </a:p>
          <a:p>
            <a:br>
              <a:rPr lang="en-US" dirty="0"/>
            </a:b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16</a:t>
            </a:fld>
            <a:endParaRPr lang="en-US"/>
          </a:p>
        </p:txBody>
      </p:sp>
    </p:spTree>
    <p:extLst>
      <p:ext uri="{BB962C8B-B14F-4D97-AF65-F5344CB8AC3E}">
        <p14:creationId xmlns:p14="http://schemas.microsoft.com/office/powerpoint/2010/main" val="306052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consolidate what we've learned by comparing all four market structures. Perfect competition features many firms selling identical products with no barriers to entry and zero market power—firms are price takers. Monopolistic competition has many firms selling differentiated products with low entry barriers and some market power, but entry drives long-run profits to zero. Oligopoly involves few firms with high entry barriers, moderate to high market power depending on whether they compete or collude, and potential for sustained profits. Monopoly features a single firm with very high barriers, maximum market power, and potential for sustained profits. Only perfect competition achieves both productive efficiency (producing at minimum average cost) and allocative efficiency (price equals marginal cost). The other structures sacrifice efficiency for various reasons—but they also provide benefits like variety, innovation, and in oligopoly's case, economies of scale.</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17</a:t>
            </a:fld>
            <a:endParaRPr lang="en-US"/>
          </a:p>
        </p:txBody>
      </p:sp>
    </p:spTree>
    <p:extLst>
      <p:ext uri="{BB962C8B-B14F-4D97-AF65-F5344CB8AC3E}">
        <p14:creationId xmlns:p14="http://schemas.microsoft.com/office/powerpoint/2010/main" val="1319640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Public policy toward imperfect competition must balance competing considerations. Monopolistic competition provides powerful incentives for innovation as firms seek short-run profits, and entry ensures long-run competitive discipline. But firms may engage in excessive advertising and marketing—is society better off with dozens of athletic shoe brands, or would we be fine with fewer options at lower prices? Oligopolies can benefit consumers through economies of scale and lower average costs, but they can also collude to raise prices and restrict output. The policy task is to encourage beneficial innovation and scale economies while discouraging anti-competitive collusion. This requires careful enforcement of antitrust laws—agencies like the Justice Department and Federal Trade Commission must find hard evidence of collusion while allowing legitimate business practices. It's a delicate balance requiring ongoing judgment calls.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18</a:t>
            </a:fld>
            <a:endParaRPr lang="en-US"/>
          </a:p>
        </p:txBody>
      </p:sp>
    </p:spTree>
    <p:extLst>
      <p:ext uri="{BB962C8B-B14F-4D97-AF65-F5344CB8AC3E}">
        <p14:creationId xmlns:p14="http://schemas.microsoft.com/office/powerpoint/2010/main" val="24101223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recap the key points. Monopolistic competition describes markets with many firms selling differentiated products. Easy entry means firms can't sustain economic profits long-term, but differentiation provides some short-run market power. While monopolistic competition doesn't achieve perfect efficiency, it delivers product variety and innovation that most consumers value. Oligopoly describes markets with few dominant firms facing strategic interdependence. They're caught between cooperating for higher profits and competing for market share. High barriers allow sustained profits, but whether oligopoly benefits or harms consumers depends on whether firms compete or collude. Together, these structures describe most markets you encounter—from restaurants and retail to airlines and smartphones. Understanding them helps explain pricing strategies, advertising decisions, and why some industries have many players while others have only a few. As a classical liberal, I'd note that these market structures can generate prosperity when entry is relatively free and collusion is prevented, but require vigilant antitrust enforcement to protect consumers from anti-competitive behavior.</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19</a:t>
            </a:fld>
            <a:endParaRPr lang="en-US"/>
          </a:p>
        </p:txBody>
      </p:sp>
    </p:spTree>
    <p:extLst>
      <p:ext uri="{BB962C8B-B14F-4D97-AF65-F5344CB8AC3E}">
        <p14:creationId xmlns:p14="http://schemas.microsoft.com/office/powerpoint/2010/main" val="1402934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9232977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370810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211835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35821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8A87A34-81AB-432B-8DAE-1953F412C126}" type="datetimeFigureOut">
              <a:rPr lang="en-US" smtClean="0"/>
              <a:pPr/>
              <a:t>4/21/2026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9318437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9966577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0763179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6898778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48A87A34-81AB-432B-8DAE-1953F412C126}" type="datetimeFigureOut">
              <a:rPr lang="en-US" smtClean="0"/>
              <a:pPr/>
              <a:t>4/21/2026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6208820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6644105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1979920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433764"/>
            <a:ext cx="6675120" cy="513762"/>
          </a:xfrm>
        </p:spPr>
        <p:txBody>
          <a:bodyPr anchor="t">
            <a:normAutofit/>
          </a:bodyPr>
          <a:lstStyle>
            <a:lvl1pPr algn="l">
              <a:defRPr sz="2400"/>
            </a:lvl1pPr>
          </a:lstStyle>
          <a:p>
            <a:r>
              <a:rPr lang="en-US" dirty="0"/>
              <a:t>Click to edit Master title style</a:t>
            </a:r>
          </a:p>
        </p:txBody>
      </p:sp>
    </p:spTree>
    <p:extLst>
      <p:ext uri="{BB962C8B-B14F-4D97-AF65-F5344CB8AC3E}">
        <p14:creationId xmlns:p14="http://schemas.microsoft.com/office/powerpoint/2010/main" val="16359476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6"/>
            <a:ext cx="10515600" cy="424583"/>
          </a:xfrm>
        </p:spPr>
        <p:txBody>
          <a:bodyPr>
            <a:normAutofit/>
          </a:bodyPr>
          <a:lstStyle>
            <a:lvl1pPr>
              <a:defRPr sz="2800" b="1"/>
            </a:lvl1pPr>
          </a:lstStyle>
          <a:p>
            <a:r>
              <a:rPr lang="en-US" dirty="0"/>
              <a:t>Title</a:t>
            </a:r>
          </a:p>
        </p:txBody>
      </p:sp>
      <p:sp>
        <p:nvSpPr>
          <p:cNvPr id="3" name="Content Placeholder 2"/>
          <p:cNvSpPr>
            <a:spLocks noGrp="1"/>
          </p:cNvSpPr>
          <p:nvPr>
            <p:ph idx="1"/>
          </p:nvPr>
        </p:nvSpPr>
        <p:spPr>
          <a:xfrm>
            <a:off x="838200" y="955964"/>
            <a:ext cx="10515600" cy="3796145"/>
          </a:xfrm>
        </p:spPr>
        <p:txBody>
          <a:bodyPr/>
          <a:lstStyle>
            <a:lvl1pPr>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838200" y="6356350"/>
            <a:ext cx="9428018" cy="365125"/>
          </a:xfrm>
        </p:spPr>
        <p:txBody>
          <a:bodyPr/>
          <a:lstStyle/>
          <a:p>
            <a:endParaRPr lang="en-US"/>
          </a:p>
        </p:txBody>
      </p:sp>
      <p:sp>
        <p:nvSpPr>
          <p:cNvPr id="7" name="Content Placeholder 2"/>
          <p:cNvSpPr>
            <a:spLocks noGrp="1"/>
          </p:cNvSpPr>
          <p:nvPr>
            <p:ph idx="13" hasCustomPrompt="1"/>
          </p:nvPr>
        </p:nvSpPr>
        <p:spPr>
          <a:xfrm>
            <a:off x="838200" y="4918364"/>
            <a:ext cx="10515600" cy="1271731"/>
          </a:xfrm>
        </p:spPr>
        <p:txBody>
          <a:bodyPr>
            <a:normAutofit/>
          </a:bodyPr>
          <a:lstStyle>
            <a:lvl1pPr marL="0" indent="0">
              <a:buNone/>
              <a:defRPr sz="1600"/>
            </a:lvl1pPr>
          </a:lstStyle>
          <a:p>
            <a:pPr lvl="0"/>
            <a:r>
              <a:rPr lang="en-US" dirty="0"/>
              <a:t>Caption</a:t>
            </a:r>
          </a:p>
        </p:txBody>
      </p:sp>
    </p:spTree>
    <p:extLst>
      <p:ext uri="{BB962C8B-B14F-4D97-AF65-F5344CB8AC3E}">
        <p14:creationId xmlns:p14="http://schemas.microsoft.com/office/powerpoint/2010/main" val="1163768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48A87A34-81AB-432B-8DAE-1953F412C126}" type="datetimeFigureOut">
              <a:rPr lang="en-US" smtClean="0"/>
              <a:pPr/>
              <a:t>4/21/2026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90434237"/>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tx1"/>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7D4F-ED2B-026B-3DCC-FC25D75BF3F3}"/>
              </a:ext>
            </a:extLst>
          </p:cNvPr>
          <p:cNvSpPr>
            <a:spLocks noGrp="1"/>
          </p:cNvSpPr>
          <p:nvPr>
            <p:ph type="ctrTitle"/>
          </p:nvPr>
        </p:nvSpPr>
        <p:spPr>
          <a:xfrm>
            <a:off x="7535756" y="1127214"/>
            <a:ext cx="4308672" cy="827809"/>
          </a:xfrm>
        </p:spPr>
        <p:txBody>
          <a:bodyPr anchor="b">
            <a:noAutofit/>
          </a:bodyPr>
          <a:lstStyle/>
          <a:p>
            <a:r>
              <a:rPr lang="en-US" sz="4800" dirty="0"/>
              <a:t>Chapter 10</a:t>
            </a:r>
          </a:p>
        </p:txBody>
      </p:sp>
      <p:sp>
        <p:nvSpPr>
          <p:cNvPr id="3" name="Subtitle 2">
            <a:extLst>
              <a:ext uri="{FF2B5EF4-FFF2-40B4-BE49-F238E27FC236}">
                <a16:creationId xmlns:a16="http://schemas.microsoft.com/office/drawing/2014/main" id="{046F5DC3-0C75-250B-266C-A3F19543BE11}"/>
              </a:ext>
            </a:extLst>
          </p:cNvPr>
          <p:cNvSpPr>
            <a:spLocks noGrp="1"/>
          </p:cNvSpPr>
          <p:nvPr>
            <p:ph type="subTitle" idx="4294967295"/>
          </p:nvPr>
        </p:nvSpPr>
        <p:spPr>
          <a:xfrm>
            <a:off x="7641787" y="2271932"/>
            <a:ext cx="4202641" cy="1333116"/>
          </a:xfrm>
        </p:spPr>
        <p:txBody>
          <a:bodyPr anchor="t">
            <a:normAutofit fontScale="47500" lnSpcReduction="20000"/>
          </a:bodyPr>
          <a:lstStyle/>
          <a:p>
            <a:pPr marL="0" indent="0">
              <a:buNone/>
            </a:pPr>
            <a:r>
              <a:rPr lang="en-US" sz="4000" dirty="0"/>
              <a:t>Monopolistic Competition and Oligopoly</a:t>
            </a:r>
          </a:p>
          <a:p>
            <a:pPr marL="0" indent="0">
              <a:buNone/>
            </a:pPr>
            <a:endParaRPr lang="en-US" dirty="0"/>
          </a:p>
          <a:p>
            <a:pPr marL="0" indent="0">
              <a:buNone/>
            </a:pPr>
            <a:r>
              <a:rPr lang="en-US" sz="2900" i="1" dirty="0"/>
              <a:t>“The Middle Ground Between Perfect Competition and Monopoly”</a:t>
            </a:r>
          </a:p>
        </p:txBody>
      </p:sp>
      <p:pic>
        <p:nvPicPr>
          <p:cNvPr id="4" name="Picture 3" descr="Colored pencils inside a pencil holder which is on top of a wood table">
            <a:extLst>
              <a:ext uri="{FF2B5EF4-FFF2-40B4-BE49-F238E27FC236}">
                <a16:creationId xmlns:a16="http://schemas.microsoft.com/office/drawing/2014/main" id="{77531D5D-61A1-09F3-9506-55CD6D1C52C3}"/>
              </a:ext>
            </a:extLst>
          </p:cNvPr>
          <p:cNvPicPr>
            <a:picLocks noChangeAspect="1"/>
          </p:cNvPicPr>
          <p:nvPr/>
        </p:nvPicPr>
        <p:blipFill>
          <a:blip r:embed="rId3"/>
          <a:srcRect l="32539" r="-1" b="-1"/>
          <a:stretch/>
        </p:blipFill>
        <p:spPr>
          <a:xfrm>
            <a:off x="20" y="10"/>
            <a:ext cx="6931132" cy="6857990"/>
          </a:xfrm>
          <a:prstGeom prst="rect">
            <a:avLst/>
          </a:prstGeom>
        </p:spPr>
      </p:pic>
    </p:spTree>
    <p:extLst>
      <p:ext uri="{BB962C8B-B14F-4D97-AF65-F5344CB8AC3E}">
        <p14:creationId xmlns:p14="http://schemas.microsoft.com/office/powerpoint/2010/main" val="2946475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3BC781F-B4EF-C254-89BE-CD9BD96906DF}"/>
              </a:ext>
            </a:extLst>
          </p:cNvPr>
          <p:cNvSpPr>
            <a:spLocks noGrp="1"/>
          </p:cNvSpPr>
          <p:nvPr>
            <p:ph type="title"/>
          </p:nvPr>
        </p:nvSpPr>
        <p:spPr>
          <a:xfrm>
            <a:off x="611957" y="365126"/>
            <a:ext cx="10515600" cy="964910"/>
          </a:xfrm>
        </p:spPr>
        <p:txBody>
          <a:bodyPr>
            <a:noAutofit/>
          </a:bodyPr>
          <a:lstStyle/>
          <a:p>
            <a:r>
              <a:rPr lang="en-US" b="0" dirty="0"/>
              <a:t>The Soap Opera: When Competitors Meet in Secret</a:t>
            </a:r>
          </a:p>
        </p:txBody>
      </p:sp>
      <p:sp>
        <p:nvSpPr>
          <p:cNvPr id="8" name="Content Placeholder 7">
            <a:extLst>
              <a:ext uri="{FF2B5EF4-FFF2-40B4-BE49-F238E27FC236}">
                <a16:creationId xmlns:a16="http://schemas.microsoft.com/office/drawing/2014/main" id="{ECD46D72-81FF-78C3-B964-89A8D13E6749}"/>
              </a:ext>
            </a:extLst>
          </p:cNvPr>
          <p:cNvSpPr>
            <a:spLocks noGrp="1"/>
          </p:cNvSpPr>
          <p:nvPr>
            <p:ph idx="1"/>
          </p:nvPr>
        </p:nvSpPr>
        <p:spPr>
          <a:xfrm>
            <a:off x="611957" y="1649870"/>
            <a:ext cx="10515600" cy="4418421"/>
          </a:xfrm>
        </p:spPr>
        <p:txBody>
          <a:bodyPr/>
          <a:lstStyle/>
          <a:p>
            <a:r>
              <a:rPr lang="en-US" sz="2400" dirty="0">
                <a:latin typeface="Calibri" panose="020F0502020204030204" pitchFamily="34" charset="0"/>
                <a:cs typeface="Calibri" panose="020F0502020204030204" pitchFamily="34" charset="0"/>
              </a:rPr>
              <a:t>French Detergent Makers (1997-2004):</a:t>
            </a:r>
          </a:p>
          <a:p>
            <a:pPr lvl="1"/>
            <a:r>
              <a:rPr lang="en-US" sz="2400" dirty="0">
                <a:latin typeface="Calibri" panose="020F0502020204030204" pitchFamily="34" charset="0"/>
                <a:cs typeface="Calibri" panose="020F0502020204030204" pitchFamily="34" charset="0"/>
              </a:rPr>
              <a:t>4 firms controlled 90% of market</a:t>
            </a:r>
          </a:p>
          <a:p>
            <a:pPr lvl="1"/>
            <a:r>
              <a:rPr lang="en-US" sz="2400" dirty="0">
                <a:latin typeface="Calibri" panose="020F0502020204030204" pitchFamily="34" charset="0"/>
                <a:cs typeface="Calibri" panose="020F0502020204030204" pitchFamily="34" charset="0"/>
              </a:rPr>
              <a:t>Secret meetings in Parisian cafés</a:t>
            </a:r>
          </a:p>
          <a:p>
            <a:pPr lvl="1"/>
            <a:r>
              <a:rPr lang="en-US" sz="2400" dirty="0">
                <a:latin typeface="Calibri" panose="020F0502020204030204" pitchFamily="34" charset="0"/>
                <a:cs typeface="Calibri" panose="020F0502020204030204" pitchFamily="34" charset="0"/>
              </a:rPr>
              <a:t>Goal: Eliminate competition, fix prices</a:t>
            </a:r>
          </a:p>
          <a:p>
            <a:pPr lvl="1"/>
            <a:r>
              <a:rPr lang="en-US" sz="2400" dirty="0">
                <a:latin typeface="Calibri" panose="020F0502020204030204" pitchFamily="34" charset="0"/>
                <a:cs typeface="Calibri" panose="020F0502020204030204" pitchFamily="34" charset="0"/>
              </a:rPr>
              <a:t>Result: €361 million in fines</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Key Question: Why would competitors risk illegal collusion?</a:t>
            </a:r>
          </a:p>
          <a:p>
            <a:endParaRPr lang="en-US" dirty="0"/>
          </a:p>
        </p:txBody>
      </p:sp>
      <p:pic>
        <p:nvPicPr>
          <p:cNvPr id="2" name="Shape 56" descr="Image shows detergents on a store shelf.">
            <a:extLst>
              <a:ext uri="{FF2B5EF4-FFF2-40B4-BE49-F238E27FC236}">
                <a16:creationId xmlns:a16="http://schemas.microsoft.com/office/drawing/2014/main" id="{E2F11DA5-678F-A935-9F01-9D5F7B7FB9E6}"/>
              </a:ext>
            </a:extLst>
          </p:cNvPr>
          <p:cNvPicPr preferRelativeResize="0">
            <a:picLocks/>
          </p:cNvPicPr>
          <p:nvPr/>
        </p:nvPicPr>
        <p:blipFill rotWithShape="1">
          <a:blip r:embed="rId3">
            <a:alphaModFix/>
          </a:blip>
          <a:srcRect/>
          <a:stretch/>
        </p:blipFill>
        <p:spPr>
          <a:xfrm>
            <a:off x="6526696" y="1500241"/>
            <a:ext cx="4600861" cy="2905505"/>
          </a:xfrm>
          <a:prstGeom prst="rect">
            <a:avLst/>
          </a:prstGeom>
          <a:noFill/>
          <a:ln>
            <a:noFill/>
          </a:ln>
        </p:spPr>
      </p:pic>
    </p:spTree>
    <p:extLst>
      <p:ext uri="{BB962C8B-B14F-4D97-AF65-F5344CB8AC3E}">
        <p14:creationId xmlns:p14="http://schemas.microsoft.com/office/powerpoint/2010/main" val="3928894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3BC781F-B4EF-C254-89BE-CD9BD96906DF}"/>
              </a:ext>
            </a:extLst>
          </p:cNvPr>
          <p:cNvSpPr>
            <a:spLocks noGrp="1"/>
          </p:cNvSpPr>
          <p:nvPr>
            <p:ph type="title"/>
          </p:nvPr>
        </p:nvSpPr>
        <p:spPr>
          <a:xfrm>
            <a:off x="583677" y="365126"/>
            <a:ext cx="10515600" cy="715529"/>
          </a:xfrm>
        </p:spPr>
        <p:txBody>
          <a:bodyPr>
            <a:noAutofit/>
          </a:bodyPr>
          <a:lstStyle/>
          <a:p>
            <a:r>
              <a:rPr lang="en-US" b="0" dirty="0"/>
              <a:t>Market Structure Spectrum</a:t>
            </a:r>
          </a:p>
        </p:txBody>
      </p:sp>
      <p:graphicFrame>
        <p:nvGraphicFramePr>
          <p:cNvPr id="2" name="Table 1">
            <a:extLst>
              <a:ext uri="{FF2B5EF4-FFF2-40B4-BE49-F238E27FC236}">
                <a16:creationId xmlns:a16="http://schemas.microsoft.com/office/drawing/2014/main" id="{822858E3-1D5C-C7A0-17F9-3742E928EA01}"/>
              </a:ext>
            </a:extLst>
          </p:cNvPr>
          <p:cNvGraphicFramePr>
            <a:graphicFrameLocks noGrp="1"/>
          </p:cNvGraphicFramePr>
          <p:nvPr>
            <p:extLst>
              <p:ext uri="{D42A27DB-BD31-4B8C-83A1-F6EECF244321}">
                <p14:modId xmlns:p14="http://schemas.microsoft.com/office/powerpoint/2010/main" val="4130922597"/>
              </p:ext>
            </p:extLst>
          </p:nvPr>
        </p:nvGraphicFramePr>
        <p:xfrm>
          <a:off x="2667000" y="4189412"/>
          <a:ext cx="6858000" cy="2255520"/>
        </p:xfrm>
        <a:graphic>
          <a:graphicData uri="http://schemas.openxmlformats.org/drawingml/2006/table">
            <a:tbl>
              <a:tblPr firstRow="1"/>
              <a:tblGrid>
                <a:gridCol w="1714500">
                  <a:extLst>
                    <a:ext uri="{9D8B030D-6E8A-4147-A177-3AD203B41FA5}">
                      <a16:colId xmlns:a16="http://schemas.microsoft.com/office/drawing/2014/main" val="1837809735"/>
                    </a:ext>
                  </a:extLst>
                </a:gridCol>
                <a:gridCol w="1714500">
                  <a:extLst>
                    <a:ext uri="{9D8B030D-6E8A-4147-A177-3AD203B41FA5}">
                      <a16:colId xmlns:a16="http://schemas.microsoft.com/office/drawing/2014/main" val="1264022749"/>
                    </a:ext>
                  </a:extLst>
                </a:gridCol>
                <a:gridCol w="1714500">
                  <a:extLst>
                    <a:ext uri="{9D8B030D-6E8A-4147-A177-3AD203B41FA5}">
                      <a16:colId xmlns:a16="http://schemas.microsoft.com/office/drawing/2014/main" val="2721952925"/>
                    </a:ext>
                  </a:extLst>
                </a:gridCol>
                <a:gridCol w="1714500">
                  <a:extLst>
                    <a:ext uri="{9D8B030D-6E8A-4147-A177-3AD203B41FA5}">
                      <a16:colId xmlns:a16="http://schemas.microsoft.com/office/drawing/2014/main" val="176160693"/>
                    </a:ext>
                  </a:extLst>
                </a:gridCol>
              </a:tblGrid>
              <a:tr h="0">
                <a:tc>
                  <a:txBody>
                    <a:bodyPr/>
                    <a:lstStyle/>
                    <a:p>
                      <a:pPr algn="ctr" fontAlgn="t" latinLnBrk="0">
                        <a:buNone/>
                      </a:pPr>
                      <a:r>
                        <a:rPr lang="en-US" b="1" dirty="0">
                          <a:effectLst/>
                        </a:rPr>
                        <a:t>Perfect Competition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t" latinLnBrk="0">
                        <a:buNone/>
                      </a:pPr>
                      <a:r>
                        <a:rPr lang="en-US" b="1" dirty="0">
                          <a:effectLst/>
                        </a:rPr>
                        <a:t>Monopolistic Competition</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t" latinLnBrk="0">
                        <a:buNone/>
                      </a:pPr>
                      <a:r>
                        <a:rPr lang="en-US" b="1" dirty="0">
                          <a:effectLst/>
                        </a:rPr>
                        <a:t>Oligopoly</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t" latinLnBrk="0">
                        <a:buNone/>
                      </a:pPr>
                      <a:r>
                        <a:rPr lang="en-US" b="1" dirty="0">
                          <a:effectLst/>
                        </a:rPr>
                        <a:t>Monopoly</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1485880638"/>
                  </a:ext>
                </a:extLst>
              </a:tr>
              <a:tr h="0">
                <a:tc>
                  <a:txBody>
                    <a:bodyPr/>
                    <a:lstStyle/>
                    <a:p>
                      <a:pPr algn="ctr" fontAlgn="base" latinLnBrk="0">
                        <a:buNone/>
                      </a:pPr>
                      <a:r>
                        <a:rPr lang="en-US">
                          <a:effectLst/>
                        </a:rPr>
                        <a:t>Many identical sellers</a:t>
                      </a:r>
                    </a:p>
                  </a:txBody>
                  <a:tcPr marL="76200" marR="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latinLnBrk="0">
                        <a:buNone/>
                      </a:pPr>
                      <a:r>
                        <a:rPr lang="en-US" b="0">
                          <a:effectLst/>
                        </a:rPr>
                        <a:t>Many differentiated sellers</a:t>
                      </a:r>
                      <a:endParaRPr lang="en-US">
                        <a:effectLst/>
                      </a:endParaRPr>
                    </a:p>
                  </a:txBody>
                  <a:tcPr marL="76200" marR="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latinLnBrk="0">
                        <a:buNone/>
                      </a:pPr>
                      <a:r>
                        <a:rPr lang="en-US" b="0" dirty="0">
                          <a:effectLst/>
                        </a:rPr>
                        <a:t>Few large sellers</a:t>
                      </a:r>
                      <a:endParaRPr lang="en-US" dirty="0">
                        <a:effectLst/>
                      </a:endParaRPr>
                    </a:p>
                  </a:txBody>
                  <a:tcPr marL="76200" marR="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latinLnBrk="0">
                        <a:buNone/>
                      </a:pPr>
                      <a:r>
                        <a:rPr lang="en-US" dirty="0">
                          <a:effectLst/>
                        </a:rPr>
                        <a:t>Single seller</a:t>
                      </a:r>
                    </a:p>
                  </a:txBody>
                  <a:tcPr marL="76200" marR="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1535376"/>
                  </a:ext>
                </a:extLst>
              </a:tr>
              <a:tr h="0">
                <a:tc>
                  <a:txBody>
                    <a:bodyPr/>
                    <a:lstStyle/>
                    <a:p>
                      <a:pPr algn="ctr" fontAlgn="base" latinLnBrk="0">
                        <a:buNone/>
                      </a:pPr>
                      <a:r>
                        <a:rPr lang="en-US">
                          <a:effectLst/>
                        </a:rPr>
                        <a:t>Zero market power</a:t>
                      </a:r>
                    </a:p>
                  </a:txBody>
                  <a:tcPr marL="76200" marR="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latinLnBrk="0">
                        <a:buNone/>
                      </a:pPr>
                      <a:r>
                        <a:rPr lang="en-US" b="0">
                          <a:effectLst/>
                        </a:rPr>
                        <a:t>Some market power</a:t>
                      </a:r>
                      <a:endParaRPr lang="en-US">
                        <a:effectLst/>
                      </a:endParaRPr>
                    </a:p>
                  </a:txBody>
                  <a:tcPr marL="76200" marR="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latinLnBrk="0">
                        <a:buNone/>
                      </a:pPr>
                      <a:r>
                        <a:rPr lang="en-US" b="0">
                          <a:effectLst/>
                        </a:rPr>
                        <a:t>Significant market power</a:t>
                      </a:r>
                      <a:endParaRPr lang="en-US">
                        <a:effectLst/>
                      </a:endParaRPr>
                    </a:p>
                  </a:txBody>
                  <a:tcPr marL="76200" marR="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latinLnBrk="0">
                        <a:buNone/>
                      </a:pPr>
                      <a:r>
                        <a:rPr lang="en-US" dirty="0">
                          <a:effectLst/>
                        </a:rPr>
                        <a:t>Maximum market power</a:t>
                      </a:r>
                    </a:p>
                  </a:txBody>
                  <a:tcPr marL="76200" marR="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1599410"/>
                  </a:ext>
                </a:extLst>
              </a:tr>
            </a:tbl>
          </a:graphicData>
        </a:graphic>
      </p:graphicFrame>
      <p:sp>
        <p:nvSpPr>
          <p:cNvPr id="4" name="TextBox 3">
            <a:extLst>
              <a:ext uri="{FF2B5EF4-FFF2-40B4-BE49-F238E27FC236}">
                <a16:creationId xmlns:a16="http://schemas.microsoft.com/office/drawing/2014/main" id="{35973CA2-6CDB-ABAA-BE98-B270EA6CFBFA}"/>
              </a:ext>
            </a:extLst>
          </p:cNvPr>
          <p:cNvSpPr txBox="1"/>
          <p:nvPr/>
        </p:nvSpPr>
        <p:spPr>
          <a:xfrm>
            <a:off x="585463" y="1540828"/>
            <a:ext cx="10513814" cy="1569660"/>
          </a:xfrm>
          <a:prstGeom prst="rect">
            <a:avLst/>
          </a:prstGeom>
          <a:noFill/>
          <a:ln>
            <a:solidFill>
              <a:schemeClr val="tx1"/>
            </a:solidFill>
          </a:ln>
        </p:spPr>
        <p:txBody>
          <a:bodyPr wrap="square">
            <a:spAutoFit/>
          </a:bodyPr>
          <a:lstStyle/>
          <a:p>
            <a:pPr algn="l">
              <a:buNone/>
            </a:pPr>
            <a:r>
              <a:rPr lang="en-US" sz="2400" b="0" i="0" dirty="0">
                <a:effectLst/>
                <a:latin typeface="Calibri" panose="020F0502020204030204" pitchFamily="34" charset="0"/>
                <a:cs typeface="Calibri" panose="020F0502020204030204" pitchFamily="34" charset="0"/>
              </a:rPr>
              <a:t>Where Do Most Real-World Firms Compete?</a:t>
            </a:r>
          </a:p>
          <a:p>
            <a:pPr algn="l">
              <a:buNone/>
            </a:pPr>
            <a:endParaRPr lang="en-US" sz="2400" dirty="0">
              <a:latin typeface="Calibri" panose="020F0502020204030204" pitchFamily="34" charset="0"/>
              <a:cs typeface="Calibri" panose="020F0502020204030204" pitchFamily="34" charset="0"/>
            </a:endParaRPr>
          </a:p>
          <a:p>
            <a:pPr marL="800100" lvl="1" indent="-342900">
              <a:buFont typeface="Arial" panose="020B0604020202020204" pitchFamily="34" charset="0"/>
              <a:buChar char="•"/>
            </a:pPr>
            <a:r>
              <a:rPr lang="en-US" sz="2400" b="0" i="0" dirty="0">
                <a:effectLst/>
                <a:latin typeface="Calibri" panose="020F0502020204030204" pitchFamily="34" charset="0"/>
                <a:cs typeface="Calibri" panose="020F0502020204030204" pitchFamily="34" charset="0"/>
              </a:rPr>
              <a:t>Most retail markets = Monopolistic Competition</a:t>
            </a:r>
          </a:p>
          <a:p>
            <a:pPr marL="800100" lvl="1" indent="-342900">
              <a:buFont typeface="Arial" panose="020B0604020202020204" pitchFamily="34" charset="0"/>
              <a:buChar char="•"/>
            </a:pPr>
            <a:r>
              <a:rPr lang="en-US" sz="2400" b="0" i="0" dirty="0">
                <a:effectLst/>
                <a:latin typeface="Calibri" panose="020F0502020204030204" pitchFamily="34" charset="0"/>
                <a:cs typeface="Calibri" panose="020F0502020204030204" pitchFamily="34" charset="0"/>
              </a:rPr>
              <a:t>Most manufacturing/tech = Oligopoly</a:t>
            </a:r>
          </a:p>
        </p:txBody>
      </p:sp>
    </p:spTree>
    <p:extLst>
      <p:ext uri="{BB962C8B-B14F-4D97-AF65-F5344CB8AC3E}">
        <p14:creationId xmlns:p14="http://schemas.microsoft.com/office/powerpoint/2010/main" val="3295964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3BC781F-B4EF-C254-89BE-CD9BD96906DF}"/>
              </a:ext>
            </a:extLst>
          </p:cNvPr>
          <p:cNvSpPr>
            <a:spLocks noGrp="1"/>
          </p:cNvSpPr>
          <p:nvPr>
            <p:ph type="title"/>
          </p:nvPr>
        </p:nvSpPr>
        <p:spPr>
          <a:xfrm>
            <a:off x="725079" y="365126"/>
            <a:ext cx="10515600" cy="865158"/>
          </a:xfrm>
        </p:spPr>
        <p:txBody>
          <a:bodyPr>
            <a:normAutofit/>
          </a:bodyPr>
          <a:lstStyle/>
          <a:p>
            <a:r>
              <a:rPr lang="en-US" b="0" dirty="0"/>
              <a:t>Monopolistic Competition Defined</a:t>
            </a:r>
          </a:p>
        </p:txBody>
      </p:sp>
      <p:sp>
        <p:nvSpPr>
          <p:cNvPr id="7" name="Content Placeholder 6">
            <a:extLst>
              <a:ext uri="{FF2B5EF4-FFF2-40B4-BE49-F238E27FC236}">
                <a16:creationId xmlns:a16="http://schemas.microsoft.com/office/drawing/2014/main" id="{17F2976C-6994-6205-4081-3B31193427F8}"/>
              </a:ext>
            </a:extLst>
          </p:cNvPr>
          <p:cNvSpPr>
            <a:spLocks noGrp="1"/>
          </p:cNvSpPr>
          <p:nvPr>
            <p:ph idx="1"/>
          </p:nvPr>
        </p:nvSpPr>
        <p:spPr>
          <a:xfrm>
            <a:off x="725079" y="1988628"/>
            <a:ext cx="10515600" cy="4212667"/>
          </a:xfrm>
          <a:ln>
            <a:solidFill>
              <a:schemeClr val="tx1"/>
            </a:solidFill>
          </a:ln>
        </p:spPr>
        <p:txBody>
          <a:bodyPr>
            <a:normAutofit/>
          </a:bodyPr>
          <a:lstStyle/>
          <a:p>
            <a:r>
              <a:rPr lang="en-US" sz="2400" dirty="0">
                <a:latin typeface="Calibri" panose="020F0502020204030204" pitchFamily="34" charset="0"/>
                <a:cs typeface="Calibri" panose="020F0502020204030204" pitchFamily="34" charset="0"/>
              </a:rPr>
              <a:t>Key Characteristics:</a:t>
            </a:r>
          </a:p>
          <a:p>
            <a:pPr lvl="1"/>
            <a:r>
              <a:rPr lang="en-US" sz="2400" dirty="0">
                <a:latin typeface="Calibri" panose="020F0502020204030204" pitchFamily="34" charset="0"/>
                <a:cs typeface="Calibri" panose="020F0502020204030204" pitchFamily="34" charset="0"/>
              </a:rPr>
              <a:t>Many competing firms (low concentration)</a:t>
            </a:r>
          </a:p>
          <a:p>
            <a:pPr lvl="1"/>
            <a:r>
              <a:rPr lang="en-US" sz="2400" dirty="0">
                <a:latin typeface="Calibri" panose="020F0502020204030204" pitchFamily="34" charset="0"/>
                <a:cs typeface="Calibri" panose="020F0502020204030204" pitchFamily="34" charset="0"/>
              </a:rPr>
              <a:t>Differentiated products (perceived uniqueness)</a:t>
            </a:r>
          </a:p>
          <a:p>
            <a:pPr lvl="1"/>
            <a:r>
              <a:rPr lang="en-US" sz="2400" dirty="0">
                <a:latin typeface="Calibri" panose="020F0502020204030204" pitchFamily="34" charset="0"/>
                <a:cs typeface="Calibri" panose="020F0502020204030204" pitchFamily="34" charset="0"/>
              </a:rPr>
              <a:t>Easy entry/exit (low barriers)</a:t>
            </a:r>
          </a:p>
          <a:p>
            <a:pPr lvl="1"/>
            <a:r>
              <a:rPr lang="en-US" sz="2400" dirty="0">
                <a:latin typeface="Calibri" panose="020F0502020204030204" pitchFamily="34" charset="0"/>
                <a:cs typeface="Calibri" panose="020F0502020204030204" pitchFamily="34" charset="0"/>
              </a:rPr>
              <a:t>Some pricing power (downward-sloping demand)</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Analogy: Like a neighborhood with many coffee shops—each has unique atmosphere, quality, location, but all sell coffee and compete for customers.</a:t>
            </a:r>
          </a:p>
          <a:p>
            <a:endParaRPr lang="en-US" dirty="0"/>
          </a:p>
        </p:txBody>
      </p:sp>
    </p:spTree>
    <p:extLst>
      <p:ext uri="{BB962C8B-B14F-4D97-AF65-F5344CB8AC3E}">
        <p14:creationId xmlns:p14="http://schemas.microsoft.com/office/powerpoint/2010/main" val="1155494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C6695-AAC2-B099-04BD-2A74AC2F1BD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9A29CBA-7123-CF61-D691-B22DB69A326C}"/>
              </a:ext>
            </a:extLst>
          </p:cNvPr>
          <p:cNvSpPr>
            <a:spLocks noGrp="1"/>
          </p:cNvSpPr>
          <p:nvPr>
            <p:ph type="title"/>
          </p:nvPr>
        </p:nvSpPr>
        <p:spPr>
          <a:xfrm>
            <a:off x="725079" y="365126"/>
            <a:ext cx="10515600" cy="865158"/>
          </a:xfrm>
        </p:spPr>
        <p:txBody>
          <a:bodyPr>
            <a:normAutofit/>
          </a:bodyPr>
          <a:lstStyle/>
          <a:p>
            <a:r>
              <a:rPr lang="en-US" b="0" dirty="0"/>
              <a:t>Product Differentiation Strategies</a:t>
            </a:r>
          </a:p>
        </p:txBody>
      </p:sp>
      <p:sp>
        <p:nvSpPr>
          <p:cNvPr id="7" name="Content Placeholder 6">
            <a:extLst>
              <a:ext uri="{FF2B5EF4-FFF2-40B4-BE49-F238E27FC236}">
                <a16:creationId xmlns:a16="http://schemas.microsoft.com/office/drawing/2014/main" id="{C62A1BEF-4BDB-C7DE-1948-25B65FFE58BC}"/>
              </a:ext>
            </a:extLst>
          </p:cNvPr>
          <p:cNvSpPr>
            <a:spLocks noGrp="1"/>
          </p:cNvSpPr>
          <p:nvPr>
            <p:ph idx="1"/>
          </p:nvPr>
        </p:nvSpPr>
        <p:spPr>
          <a:xfrm>
            <a:off x="725079" y="1988628"/>
            <a:ext cx="10515600" cy="4212667"/>
          </a:xfrm>
          <a:ln>
            <a:solidFill>
              <a:schemeClr val="tx1"/>
            </a:solidFill>
          </a:ln>
        </p:spPr>
        <p:txBody>
          <a:bodyPr>
            <a:normAutofit/>
          </a:bodyPr>
          <a:lstStyle/>
          <a:p>
            <a:r>
              <a:rPr lang="en-US" sz="2400" dirty="0">
                <a:latin typeface="Calibri" panose="020F0502020204030204" pitchFamily="34" charset="0"/>
                <a:cs typeface="Calibri" panose="020F0502020204030204" pitchFamily="34" charset="0"/>
              </a:rPr>
              <a:t>Four Differentiation Methods:</a:t>
            </a:r>
          </a:p>
          <a:p>
            <a:pPr lvl="1"/>
            <a:r>
              <a:rPr lang="en-US" sz="2200" dirty="0">
                <a:latin typeface="Calibri" panose="020F0502020204030204" pitchFamily="34" charset="0"/>
                <a:cs typeface="Calibri" panose="020F0502020204030204" pitchFamily="34" charset="0"/>
              </a:rPr>
              <a:t>Physical: Features (unbreakable, extra spicy, redesigned)</a:t>
            </a:r>
          </a:p>
          <a:p>
            <a:pPr lvl="1"/>
            <a:r>
              <a:rPr lang="en-US" sz="2200" dirty="0">
                <a:latin typeface="Calibri" panose="020F0502020204030204" pitchFamily="34" charset="0"/>
                <a:cs typeface="Calibri" panose="020F0502020204030204" pitchFamily="34" charset="0"/>
              </a:rPr>
              <a:t>Location: Convenience (busy intersection, near factory)</a:t>
            </a:r>
          </a:p>
          <a:p>
            <a:pPr lvl="1"/>
            <a:r>
              <a:rPr lang="en-US" sz="2200" dirty="0">
                <a:latin typeface="Calibri" panose="020F0502020204030204" pitchFamily="34" charset="0"/>
                <a:cs typeface="Calibri" panose="020F0502020204030204" pitchFamily="34" charset="0"/>
              </a:rPr>
              <a:t>Intangible: Service (guarantees, free delivery, financing)</a:t>
            </a:r>
          </a:p>
          <a:p>
            <a:pPr lvl="1"/>
            <a:r>
              <a:rPr lang="en-US" sz="2200" dirty="0">
                <a:latin typeface="Calibri" panose="020F0502020204030204" pitchFamily="34" charset="0"/>
                <a:cs typeface="Calibri" panose="020F0502020204030204" pitchFamily="34" charset="0"/>
              </a:rPr>
              <a:t>Perception: Branding (advertising creates preferences)</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Example: Golf balls—1,800 meet USGA standards, yet companies spend $500M/year convincing you they're different.</a:t>
            </a:r>
          </a:p>
          <a:p>
            <a:endParaRPr lang="en-US" dirty="0"/>
          </a:p>
        </p:txBody>
      </p:sp>
    </p:spTree>
    <p:extLst>
      <p:ext uri="{BB962C8B-B14F-4D97-AF65-F5344CB8AC3E}">
        <p14:creationId xmlns:p14="http://schemas.microsoft.com/office/powerpoint/2010/main" val="2286858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3BC781F-B4EF-C254-89BE-CD9BD96906DF}"/>
              </a:ext>
            </a:extLst>
          </p:cNvPr>
          <p:cNvSpPr>
            <a:spLocks noGrp="1"/>
          </p:cNvSpPr>
          <p:nvPr>
            <p:ph type="title"/>
          </p:nvPr>
        </p:nvSpPr>
        <p:spPr>
          <a:xfrm>
            <a:off x="725079" y="365124"/>
            <a:ext cx="10515600" cy="792229"/>
          </a:xfrm>
        </p:spPr>
        <p:txBody>
          <a:bodyPr>
            <a:noAutofit/>
          </a:bodyPr>
          <a:lstStyle/>
          <a:p>
            <a:r>
              <a:rPr lang="en-US" b="0" dirty="0"/>
              <a:t>Demand Curves Compared</a:t>
            </a:r>
          </a:p>
        </p:txBody>
      </p:sp>
      <p:pic>
        <p:nvPicPr>
          <p:cNvPr id="5" name="Picture 4" descr="The three graphs show (a) a horizontal straight line to represent a perfectly competitive firm; (b) a downward sloping curve to represent a monopoly; and (c) a gradually downward sloping, highly elastic curve to represent a monopolistically competitive firm.">
            <a:extLst>
              <a:ext uri="{FF2B5EF4-FFF2-40B4-BE49-F238E27FC236}">
                <a16:creationId xmlns:a16="http://schemas.microsoft.com/office/drawing/2014/main" id="{8FEEA7EF-AC55-EDFC-F303-4D6EF051A274}"/>
              </a:ext>
            </a:extLst>
          </p:cNvPr>
          <p:cNvPicPr>
            <a:picLocks noChangeAspect="1"/>
          </p:cNvPicPr>
          <p:nvPr/>
        </p:nvPicPr>
        <p:blipFill>
          <a:blip r:embed="rId3"/>
          <a:stretch>
            <a:fillRect/>
          </a:stretch>
        </p:blipFill>
        <p:spPr>
          <a:xfrm>
            <a:off x="2162185" y="1307457"/>
            <a:ext cx="7799378" cy="2765779"/>
          </a:xfrm>
          <a:prstGeom prst="rect">
            <a:avLst/>
          </a:prstGeom>
          <a:ln>
            <a:solidFill>
              <a:schemeClr val="tx1"/>
            </a:solidFill>
          </a:ln>
        </p:spPr>
      </p:pic>
      <p:graphicFrame>
        <p:nvGraphicFramePr>
          <p:cNvPr id="8" name="Content Placeholder 7">
            <a:extLst>
              <a:ext uri="{FF2B5EF4-FFF2-40B4-BE49-F238E27FC236}">
                <a16:creationId xmlns:a16="http://schemas.microsoft.com/office/drawing/2014/main" id="{54C34418-CFDC-7D35-316E-B5F55E41CD86}"/>
              </a:ext>
            </a:extLst>
          </p:cNvPr>
          <p:cNvGraphicFramePr>
            <a:graphicFrameLocks noGrp="1"/>
          </p:cNvGraphicFramePr>
          <p:nvPr>
            <p:ph idx="1"/>
            <p:extLst>
              <p:ext uri="{D42A27DB-BD31-4B8C-83A1-F6EECF244321}">
                <p14:modId xmlns:p14="http://schemas.microsoft.com/office/powerpoint/2010/main" val="492281497"/>
              </p:ext>
            </p:extLst>
          </p:nvPr>
        </p:nvGraphicFramePr>
        <p:xfrm>
          <a:off x="2230437" y="4239967"/>
          <a:ext cx="7731126" cy="2529840"/>
        </p:xfrm>
        <a:graphic>
          <a:graphicData uri="http://schemas.openxmlformats.org/drawingml/2006/table">
            <a:tbl>
              <a:tblPr firstRow="1"/>
              <a:tblGrid>
                <a:gridCol w="2577042">
                  <a:extLst>
                    <a:ext uri="{9D8B030D-6E8A-4147-A177-3AD203B41FA5}">
                      <a16:colId xmlns:a16="http://schemas.microsoft.com/office/drawing/2014/main" val="2666160448"/>
                    </a:ext>
                  </a:extLst>
                </a:gridCol>
                <a:gridCol w="2577042">
                  <a:extLst>
                    <a:ext uri="{9D8B030D-6E8A-4147-A177-3AD203B41FA5}">
                      <a16:colId xmlns:a16="http://schemas.microsoft.com/office/drawing/2014/main" val="2018300656"/>
                    </a:ext>
                  </a:extLst>
                </a:gridCol>
                <a:gridCol w="2577042">
                  <a:extLst>
                    <a:ext uri="{9D8B030D-6E8A-4147-A177-3AD203B41FA5}">
                      <a16:colId xmlns:a16="http://schemas.microsoft.com/office/drawing/2014/main" val="43074412"/>
                    </a:ext>
                  </a:extLst>
                </a:gridCol>
              </a:tblGrid>
              <a:tr h="0">
                <a:tc>
                  <a:txBody>
                    <a:bodyPr/>
                    <a:lstStyle/>
                    <a:p>
                      <a:pPr algn="l">
                        <a:buNone/>
                      </a:pPr>
                      <a:r>
                        <a:rPr lang="en-US" b="0" dirty="0">
                          <a:effectLst/>
                          <a:latin typeface="Calibri" panose="020F0502020204030204" pitchFamily="34" charset="0"/>
                          <a:cs typeface="Calibri" panose="020F0502020204030204" pitchFamily="34" charset="0"/>
                        </a:rPr>
                        <a:t>Market Structure</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buNone/>
                      </a:pPr>
                      <a:r>
                        <a:rPr lang="en-US" b="0" dirty="0">
                          <a:effectLst/>
                          <a:latin typeface="Calibri" panose="020F0502020204030204" pitchFamily="34" charset="0"/>
                          <a:cs typeface="Calibri" panose="020F0502020204030204" pitchFamily="34" charset="0"/>
                        </a:rPr>
                        <a:t>Demand Curve</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buNone/>
                      </a:pPr>
                      <a:r>
                        <a:rPr lang="en-US" b="0" dirty="0">
                          <a:effectLst/>
                          <a:latin typeface="Calibri" panose="020F0502020204030204" pitchFamily="34" charset="0"/>
                          <a:cs typeface="Calibri" panose="020F0502020204030204" pitchFamily="34" charset="0"/>
                        </a:rPr>
                        <a:t>Meaning</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713201859"/>
                  </a:ext>
                </a:extLst>
              </a:tr>
              <a:tr h="0">
                <a:tc>
                  <a:txBody>
                    <a:bodyPr/>
                    <a:lstStyle/>
                    <a:p>
                      <a:pPr algn="l">
                        <a:buNone/>
                      </a:pPr>
                      <a:r>
                        <a:rPr lang="en-US" b="0" dirty="0">
                          <a:effectLst/>
                          <a:latin typeface="Calibri" panose="020F0502020204030204" pitchFamily="34" charset="0"/>
                          <a:cs typeface="Calibri" panose="020F0502020204030204" pitchFamily="34" charset="0"/>
                        </a:rPr>
                        <a:t>Perfect Competition</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0">
                          <a:effectLst/>
                          <a:latin typeface="Calibri" panose="020F0502020204030204" pitchFamily="34" charset="0"/>
                          <a:cs typeface="Calibri" panose="020F0502020204030204" pitchFamily="34" charset="0"/>
                        </a:rPr>
                        <a:t>Perfectly elastic (flat)</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0" dirty="0">
                          <a:effectLst/>
                          <a:latin typeface="Calibri" panose="020F0502020204030204" pitchFamily="34" charset="0"/>
                          <a:cs typeface="Calibri" panose="020F0502020204030204" pitchFamily="34" charset="0"/>
                        </a:rPr>
                        <a:t>No pricing power—take market price</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0143071"/>
                  </a:ext>
                </a:extLst>
              </a:tr>
              <a:tr h="0">
                <a:tc>
                  <a:txBody>
                    <a:bodyPr/>
                    <a:lstStyle/>
                    <a:p>
                      <a:pPr algn="l">
                        <a:buNone/>
                      </a:pPr>
                      <a:r>
                        <a:rPr lang="en-US" b="0" dirty="0">
                          <a:effectLst/>
                          <a:latin typeface="Calibri" panose="020F0502020204030204" pitchFamily="34" charset="0"/>
                          <a:cs typeface="Calibri" panose="020F0502020204030204" pitchFamily="34" charset="0"/>
                        </a:rPr>
                        <a:t>Monopolistic Competition</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0">
                          <a:effectLst/>
                          <a:latin typeface="Calibri" panose="020F0502020204030204" pitchFamily="34" charset="0"/>
                          <a:cs typeface="Calibri" panose="020F0502020204030204" pitchFamily="34" charset="0"/>
                        </a:rPr>
                        <a:t>Downward-sloping</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0">
                          <a:effectLst/>
                          <a:latin typeface="Calibri" panose="020F0502020204030204" pitchFamily="34" charset="0"/>
                          <a:cs typeface="Calibri" panose="020F0502020204030204" pitchFamily="34" charset="0"/>
                        </a:rPr>
                        <a:t>Raise price = lose some customers</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9121494"/>
                  </a:ext>
                </a:extLst>
              </a:tr>
              <a:tr h="0">
                <a:tc>
                  <a:txBody>
                    <a:bodyPr/>
                    <a:lstStyle/>
                    <a:p>
                      <a:pPr algn="l">
                        <a:buNone/>
                      </a:pPr>
                      <a:r>
                        <a:rPr lang="en-US" b="0" dirty="0">
                          <a:effectLst/>
                          <a:latin typeface="Calibri" panose="020F0502020204030204" pitchFamily="34" charset="0"/>
                          <a:cs typeface="Calibri" panose="020F0502020204030204" pitchFamily="34" charset="0"/>
                        </a:rPr>
                        <a:t>Monopoly</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0" dirty="0">
                          <a:effectLst/>
                          <a:latin typeface="Calibri" panose="020F0502020204030204" pitchFamily="34" charset="0"/>
                          <a:cs typeface="Calibri" panose="020F0502020204030204" pitchFamily="34" charset="0"/>
                        </a:rPr>
                        <a:t>Downward-sloping (market demand)</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b="0" dirty="0">
                          <a:effectLst/>
                          <a:latin typeface="Calibri" panose="020F0502020204030204" pitchFamily="34" charset="0"/>
                          <a:cs typeface="Calibri" panose="020F0502020204030204" pitchFamily="34" charset="0"/>
                        </a:rPr>
                        <a:t>Raise price = lose some sales</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3484644"/>
                  </a:ext>
                </a:extLst>
              </a:tr>
            </a:tbl>
          </a:graphicData>
        </a:graphic>
      </p:graphicFrame>
    </p:spTree>
    <p:extLst>
      <p:ext uri="{BB962C8B-B14F-4D97-AF65-F5344CB8AC3E}">
        <p14:creationId xmlns:p14="http://schemas.microsoft.com/office/powerpoint/2010/main" val="1174576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3BC781F-B4EF-C254-89BE-CD9BD96906DF}"/>
              </a:ext>
            </a:extLst>
          </p:cNvPr>
          <p:cNvSpPr>
            <a:spLocks noGrp="1"/>
          </p:cNvSpPr>
          <p:nvPr>
            <p:ph type="title"/>
          </p:nvPr>
        </p:nvSpPr>
        <p:spPr>
          <a:xfrm>
            <a:off x="696798" y="365126"/>
            <a:ext cx="10515600" cy="632401"/>
          </a:xfrm>
        </p:spPr>
        <p:txBody>
          <a:bodyPr>
            <a:noAutofit/>
          </a:bodyPr>
          <a:lstStyle/>
          <a:p>
            <a:r>
              <a:rPr lang="en-US" b="0" dirty="0"/>
              <a:t>Profit Maximization</a:t>
            </a:r>
          </a:p>
        </p:txBody>
      </p:sp>
      <p:sp>
        <p:nvSpPr>
          <p:cNvPr id="7" name="Content Placeholder 6">
            <a:extLst>
              <a:ext uri="{FF2B5EF4-FFF2-40B4-BE49-F238E27FC236}">
                <a16:creationId xmlns:a16="http://schemas.microsoft.com/office/drawing/2014/main" id="{17F2976C-6994-6205-4081-3B31193427F8}"/>
              </a:ext>
            </a:extLst>
          </p:cNvPr>
          <p:cNvSpPr>
            <a:spLocks noGrp="1"/>
          </p:cNvSpPr>
          <p:nvPr>
            <p:ph idx="1"/>
          </p:nvPr>
        </p:nvSpPr>
        <p:spPr>
          <a:xfrm>
            <a:off x="696798" y="1351890"/>
            <a:ext cx="5820380" cy="5140984"/>
          </a:xfrm>
          <a:ln>
            <a:solidFill>
              <a:schemeClr val="tx1"/>
            </a:solidFill>
          </a:ln>
        </p:spPr>
        <p:txBody>
          <a:bodyPr>
            <a:normAutofit fontScale="92500"/>
          </a:bodyPr>
          <a:lstStyle/>
          <a:p>
            <a:pPr marL="0" indent="0">
              <a:buNone/>
            </a:pPr>
            <a:r>
              <a:rPr lang="en-US" sz="2400" dirty="0">
                <a:latin typeface="Calibri" panose="020F0502020204030204" pitchFamily="34" charset="0"/>
                <a:cs typeface="Calibri" panose="020F0502020204030204" pitchFamily="34" charset="0"/>
              </a:rPr>
              <a:t>How Monopolistic Competitors Choose Price and Quantity</a:t>
            </a:r>
          </a:p>
          <a:p>
            <a:pPr marL="0" indent="0">
              <a:buNone/>
            </a:pPr>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Decision Process (Same as Monopoly):</a:t>
            </a:r>
          </a:p>
          <a:p>
            <a:pPr lvl="1"/>
            <a:r>
              <a:rPr lang="en-US" sz="2200" dirty="0">
                <a:latin typeface="Calibri" panose="020F0502020204030204" pitchFamily="34" charset="0"/>
                <a:cs typeface="Calibri" panose="020F0502020204030204" pitchFamily="34" charset="0"/>
              </a:rPr>
              <a:t>Find profit-maximizing quantity: Where MR = MC</a:t>
            </a:r>
          </a:p>
          <a:p>
            <a:pPr lvl="1"/>
            <a:r>
              <a:rPr lang="en-US" sz="2200" dirty="0">
                <a:latin typeface="Calibri" panose="020F0502020204030204" pitchFamily="34" charset="0"/>
                <a:cs typeface="Calibri" panose="020F0502020204030204" pitchFamily="34" charset="0"/>
              </a:rPr>
              <a:t>Find price: Go up to demand curve at that quantity</a:t>
            </a:r>
          </a:p>
          <a:p>
            <a:pPr lvl="1"/>
            <a:r>
              <a:rPr lang="en-US" sz="2200" dirty="0">
                <a:latin typeface="Calibri" panose="020F0502020204030204" pitchFamily="34" charset="0"/>
                <a:cs typeface="Calibri" panose="020F0502020204030204" pitchFamily="34" charset="0"/>
              </a:rPr>
              <a:t>Calculate profit: (Price – AC) × Quantity</a:t>
            </a:r>
          </a:p>
          <a:p>
            <a:endParaRPr lang="en-US" sz="2400" dirty="0">
              <a:latin typeface="Calibri" panose="020F0502020204030204" pitchFamily="34" charset="0"/>
              <a:cs typeface="Calibri" panose="020F0502020204030204" pitchFamily="34" charset="0"/>
            </a:endParaRPr>
          </a:p>
          <a:p>
            <a:pPr marL="0" indent="0">
              <a:buNone/>
            </a:pPr>
            <a:r>
              <a:rPr lang="en-US" sz="2400" dirty="0">
                <a:latin typeface="Calibri" panose="020F0502020204030204" pitchFamily="34" charset="0"/>
                <a:cs typeface="Calibri" panose="020F0502020204030204" pitchFamily="34" charset="0"/>
              </a:rPr>
              <a:t>Short Run: Can earn economic profit</a:t>
            </a:r>
          </a:p>
          <a:p>
            <a:pPr marL="0" indent="0">
              <a:buNone/>
            </a:pP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Long Run: Entry drives profit to zero</a:t>
            </a:r>
          </a:p>
          <a:p>
            <a:endParaRPr lang="en-US" dirty="0"/>
          </a:p>
        </p:txBody>
      </p:sp>
      <p:pic>
        <p:nvPicPr>
          <p:cNvPr id="2" name="Picture 1" descr="The graph shows that the point for profit maximizing output occurs where marginal revenue equals marginal cost. In addition, profit maximizing price is given by the height of the demand curve at the profit maximizing quantity.">
            <a:extLst>
              <a:ext uri="{FF2B5EF4-FFF2-40B4-BE49-F238E27FC236}">
                <a16:creationId xmlns:a16="http://schemas.microsoft.com/office/drawing/2014/main" id="{D4104586-E95E-BCF2-D49B-DCE6FB1EC9D2}"/>
              </a:ext>
            </a:extLst>
          </p:cNvPr>
          <p:cNvPicPr>
            <a:picLocks noChangeAspect="1"/>
          </p:cNvPicPr>
          <p:nvPr/>
        </p:nvPicPr>
        <p:blipFill>
          <a:blip r:embed="rId3"/>
          <a:stretch>
            <a:fillRect/>
          </a:stretch>
        </p:blipFill>
        <p:spPr>
          <a:xfrm>
            <a:off x="6783184" y="1351890"/>
            <a:ext cx="5168313" cy="2917767"/>
          </a:xfrm>
          <a:prstGeom prst="rect">
            <a:avLst/>
          </a:prstGeom>
          <a:ln>
            <a:solidFill>
              <a:schemeClr val="tx1"/>
            </a:solidFill>
          </a:ln>
        </p:spPr>
      </p:pic>
    </p:spTree>
    <p:extLst>
      <p:ext uri="{BB962C8B-B14F-4D97-AF65-F5344CB8AC3E}">
        <p14:creationId xmlns:p14="http://schemas.microsoft.com/office/powerpoint/2010/main" val="4223975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3BC781F-B4EF-C254-89BE-CD9BD96906DF}"/>
              </a:ext>
            </a:extLst>
          </p:cNvPr>
          <p:cNvSpPr>
            <a:spLocks noGrp="1"/>
          </p:cNvSpPr>
          <p:nvPr>
            <p:ph type="title"/>
          </p:nvPr>
        </p:nvSpPr>
        <p:spPr>
          <a:xfrm>
            <a:off x="564822" y="365126"/>
            <a:ext cx="10515600" cy="715529"/>
          </a:xfrm>
        </p:spPr>
        <p:txBody>
          <a:bodyPr>
            <a:noAutofit/>
          </a:bodyPr>
          <a:lstStyle/>
          <a:p>
            <a:r>
              <a:rPr lang="en-US" b="0" dirty="0"/>
              <a:t>Long-Run Equilibrium</a:t>
            </a:r>
          </a:p>
        </p:txBody>
      </p:sp>
      <p:sp>
        <p:nvSpPr>
          <p:cNvPr id="7" name="Content Placeholder 6">
            <a:extLst>
              <a:ext uri="{FF2B5EF4-FFF2-40B4-BE49-F238E27FC236}">
                <a16:creationId xmlns:a16="http://schemas.microsoft.com/office/drawing/2014/main" id="{17F2976C-6994-6205-4081-3B31193427F8}"/>
              </a:ext>
            </a:extLst>
          </p:cNvPr>
          <p:cNvSpPr>
            <a:spLocks noGrp="1"/>
          </p:cNvSpPr>
          <p:nvPr>
            <p:ph idx="1"/>
          </p:nvPr>
        </p:nvSpPr>
        <p:spPr>
          <a:xfrm>
            <a:off x="677945" y="1304756"/>
            <a:ext cx="10515600" cy="4963040"/>
          </a:xfrm>
          <a:ln>
            <a:solidFill>
              <a:schemeClr val="tx1"/>
            </a:solidFill>
          </a:ln>
        </p:spPr>
        <p:txBody>
          <a:bodyPr>
            <a:normAutofit fontScale="92500" lnSpcReduction="20000"/>
          </a:bodyPr>
          <a:lstStyle/>
          <a:p>
            <a:pPr marL="0" indent="0">
              <a:buNone/>
            </a:pPr>
            <a:r>
              <a:rPr lang="en-US" sz="2400" dirty="0">
                <a:latin typeface="Calibri" panose="020F0502020204030204" pitchFamily="34" charset="0"/>
                <a:cs typeface="Calibri" panose="020F0502020204030204" pitchFamily="34" charset="0"/>
              </a:rPr>
              <a:t>Entry and Exit Drive Zero Economic Profit</a:t>
            </a:r>
          </a:p>
          <a:p>
            <a:pPr marL="0" indent="0">
              <a:buNone/>
            </a:pPr>
            <a:r>
              <a:rPr lang="en-US" sz="2400" dirty="0">
                <a:latin typeface="Calibri" panose="020F0502020204030204" pitchFamily="34" charset="0"/>
                <a:cs typeface="Calibri" panose="020F0502020204030204" pitchFamily="34" charset="0"/>
              </a:rPr>
              <a:t>When Profits Exist: → Entry → Supply shifts right → Price falls </a:t>
            </a:r>
            <a:r>
              <a:rPr lang="en-US" sz="2400" dirty="0">
                <a:latin typeface="Calibri" panose="020F0502020204030204" pitchFamily="34" charset="0"/>
                <a:cs typeface="Calibri" panose="020F0502020204030204" pitchFamily="34" charset="0"/>
                <a:sym typeface="Wingdings" panose="05000000000000000000" pitchFamily="2" charset="2"/>
              </a:rPr>
              <a:t> Each firm’s demand shifts left  </a:t>
            </a:r>
            <a:r>
              <a:rPr lang="en-US" sz="2400" dirty="0">
                <a:latin typeface="Calibri" panose="020F0502020204030204" pitchFamily="34" charset="0"/>
                <a:cs typeface="Calibri" panose="020F0502020204030204" pitchFamily="34" charset="0"/>
              </a:rPr>
              <a:t>Profit eliminated</a:t>
            </a:r>
            <a:br>
              <a:rPr lang="en-US" sz="2400" dirty="0">
                <a:latin typeface="Calibri" panose="020F0502020204030204" pitchFamily="34" charset="0"/>
                <a:cs typeface="Calibri" panose="020F0502020204030204" pitchFamily="34" charset="0"/>
              </a:rPr>
            </a:br>
            <a:endParaRPr lang="en-US" sz="2400" dirty="0">
              <a:latin typeface="Calibri" panose="020F0502020204030204" pitchFamily="34" charset="0"/>
              <a:cs typeface="Calibri" panose="020F0502020204030204" pitchFamily="34" charset="0"/>
            </a:endParaRPr>
          </a:p>
          <a:p>
            <a:pPr marL="0" indent="0">
              <a:buNone/>
            </a:pPr>
            <a:r>
              <a:rPr lang="en-US" sz="2400" dirty="0">
                <a:latin typeface="Calibri" panose="020F0502020204030204" pitchFamily="34" charset="0"/>
                <a:cs typeface="Calibri" panose="020F0502020204030204" pitchFamily="34" charset="0"/>
              </a:rPr>
              <a:t>When Losses Exist: → Exit → Supply shifts left → Price rises </a:t>
            </a:r>
            <a:r>
              <a:rPr lang="en-US" sz="2400" dirty="0">
                <a:latin typeface="Calibri" panose="020F0502020204030204" pitchFamily="34" charset="0"/>
                <a:cs typeface="Calibri" panose="020F0502020204030204" pitchFamily="34" charset="0"/>
                <a:sym typeface="Wingdings" panose="05000000000000000000" pitchFamily="2" charset="2"/>
              </a:rPr>
              <a:t> Each firm’s demand shifts right  </a:t>
            </a:r>
            <a:r>
              <a:rPr lang="en-US" sz="2400" dirty="0">
                <a:latin typeface="Calibri" panose="020F0502020204030204" pitchFamily="34" charset="0"/>
                <a:cs typeface="Calibri" panose="020F0502020204030204" pitchFamily="34" charset="0"/>
              </a:rPr>
              <a:t>Losses eliminated</a:t>
            </a:r>
          </a:p>
          <a:p>
            <a:pPr marL="0" indent="0">
              <a:buNone/>
            </a:pPr>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Long-Run Outcome:</a:t>
            </a:r>
          </a:p>
          <a:p>
            <a:pPr lvl="1"/>
            <a:r>
              <a:rPr lang="en-US" sz="2400" dirty="0">
                <a:latin typeface="Calibri" panose="020F0502020204030204" pitchFamily="34" charset="0"/>
                <a:cs typeface="Calibri" panose="020F0502020204030204" pitchFamily="34" charset="0"/>
              </a:rPr>
              <a:t>Price = Average Cost (zero economic profit)</a:t>
            </a:r>
          </a:p>
          <a:p>
            <a:pPr lvl="1"/>
            <a:r>
              <a:rPr lang="en-US" sz="2400" dirty="0">
                <a:latin typeface="Calibri" panose="020F0502020204030204" pitchFamily="34" charset="0"/>
                <a:cs typeface="Calibri" panose="020F0502020204030204" pitchFamily="34" charset="0"/>
              </a:rPr>
              <a:t>Price &gt; Minimum AC (productive inefficiency)</a:t>
            </a:r>
          </a:p>
          <a:p>
            <a:pPr lvl="1"/>
            <a:r>
              <a:rPr lang="en-US" sz="2400" dirty="0">
                <a:latin typeface="Calibri" panose="020F0502020204030204" pitchFamily="34" charset="0"/>
                <a:cs typeface="Calibri" panose="020F0502020204030204" pitchFamily="34" charset="0"/>
              </a:rPr>
              <a:t>Price &gt; MC (allocative inefficiency)</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Trade-off: We sacrifice efficiency for variety and innovation.</a:t>
            </a:r>
          </a:p>
          <a:p>
            <a:endParaRPr lang="en-US" dirty="0"/>
          </a:p>
        </p:txBody>
      </p:sp>
    </p:spTree>
    <p:extLst>
      <p:ext uri="{BB962C8B-B14F-4D97-AF65-F5344CB8AC3E}">
        <p14:creationId xmlns:p14="http://schemas.microsoft.com/office/powerpoint/2010/main" val="4066267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3BC781F-B4EF-C254-89BE-CD9BD96906DF}"/>
              </a:ext>
            </a:extLst>
          </p:cNvPr>
          <p:cNvSpPr>
            <a:spLocks noGrp="1"/>
          </p:cNvSpPr>
          <p:nvPr>
            <p:ph type="title"/>
          </p:nvPr>
        </p:nvSpPr>
        <p:spPr>
          <a:xfrm>
            <a:off x="725078" y="365126"/>
            <a:ext cx="10515600" cy="649027"/>
          </a:xfrm>
        </p:spPr>
        <p:txBody>
          <a:bodyPr>
            <a:noAutofit/>
          </a:bodyPr>
          <a:lstStyle/>
          <a:p>
            <a:r>
              <a:rPr lang="en-US" b="0" dirty="0"/>
              <a:t>Monopolistic Competition and Efficiency</a:t>
            </a:r>
          </a:p>
        </p:txBody>
      </p:sp>
      <p:sp>
        <p:nvSpPr>
          <p:cNvPr id="7" name="Content Placeholder 6">
            <a:extLst>
              <a:ext uri="{FF2B5EF4-FFF2-40B4-BE49-F238E27FC236}">
                <a16:creationId xmlns:a16="http://schemas.microsoft.com/office/drawing/2014/main" id="{17F2976C-6994-6205-4081-3B31193427F8}"/>
              </a:ext>
            </a:extLst>
          </p:cNvPr>
          <p:cNvSpPr>
            <a:spLocks noGrp="1"/>
          </p:cNvSpPr>
          <p:nvPr>
            <p:ph idx="1"/>
          </p:nvPr>
        </p:nvSpPr>
        <p:spPr>
          <a:xfrm>
            <a:off x="725078" y="1483865"/>
            <a:ext cx="10515600" cy="2423117"/>
          </a:xfrm>
          <a:ln>
            <a:solidFill>
              <a:schemeClr val="tx1"/>
            </a:solidFill>
          </a:ln>
        </p:spPr>
        <p:txBody>
          <a:bodyPr>
            <a:normAutofit/>
          </a:bodyPr>
          <a:lstStyle/>
          <a:p>
            <a:pPr marL="0" indent="0">
              <a:buNone/>
            </a:pPr>
            <a:r>
              <a:rPr lang="en-US" sz="2400" dirty="0">
                <a:latin typeface="Calibri" panose="020F0502020204030204" pitchFamily="34" charset="0"/>
                <a:cs typeface="Calibri" panose="020F0502020204030204" pitchFamily="34" charset="0"/>
              </a:rPr>
              <a:t>In </a:t>
            </a:r>
            <a:r>
              <a:rPr lang="en-US" sz="2400" u="sng" dirty="0">
                <a:latin typeface="Calibri" panose="020F0502020204030204" pitchFamily="34" charset="0"/>
                <a:cs typeface="Calibri" panose="020F0502020204030204" pitchFamily="34" charset="0"/>
              </a:rPr>
              <a:t>monopolistic competition</a:t>
            </a:r>
            <a:r>
              <a:rPr lang="en-US" sz="2400" dirty="0">
                <a:latin typeface="Calibri" panose="020F0502020204030204" pitchFamily="34" charset="0"/>
                <a:cs typeface="Calibri" panose="020F0502020204030204" pitchFamily="34" charset="0"/>
              </a:rPr>
              <a:t>, the result of entry and exit:</a:t>
            </a:r>
          </a:p>
          <a:p>
            <a:pPr lvl="1"/>
            <a:r>
              <a:rPr lang="en-US" sz="2400" dirty="0">
                <a:latin typeface="Calibri" panose="020F0502020204030204" pitchFamily="34" charset="0"/>
                <a:cs typeface="Calibri" panose="020F0502020204030204" pitchFamily="34" charset="0"/>
              </a:rPr>
              <a:t>Firms end up with a price that lies on the downward-sloping portion of the AC curve, not at the very bottom of the AC curve. </a:t>
            </a:r>
          </a:p>
          <a:p>
            <a:pPr lvl="1"/>
            <a:r>
              <a:rPr lang="en-US" sz="2400" dirty="0">
                <a:latin typeface="Calibri" panose="020F0502020204030204" pitchFamily="34" charset="0"/>
                <a:cs typeface="Calibri" panose="020F0502020204030204" pitchFamily="34" charset="0"/>
              </a:rPr>
              <a:t>Thus, monopolistic competition </a:t>
            </a:r>
            <a:r>
              <a:rPr lang="en-US" sz="2400" i="1" dirty="0">
                <a:latin typeface="Calibri" panose="020F0502020204030204" pitchFamily="34" charset="0"/>
                <a:cs typeface="Calibri" panose="020F0502020204030204" pitchFamily="34" charset="0"/>
              </a:rPr>
              <a:t>will not be productively efficient</a:t>
            </a:r>
            <a:r>
              <a:rPr lang="en-US" sz="2400" dirty="0">
                <a:latin typeface="Calibri" panose="020F0502020204030204" pitchFamily="34" charset="0"/>
                <a:cs typeface="Calibri" panose="020F0502020204030204" pitchFamily="34" charset="0"/>
              </a:rPr>
              <a:t>.</a:t>
            </a:r>
          </a:p>
          <a:p>
            <a:endParaRPr lang="en-US" dirty="0"/>
          </a:p>
        </p:txBody>
      </p:sp>
    </p:spTree>
    <p:extLst>
      <p:ext uri="{BB962C8B-B14F-4D97-AF65-F5344CB8AC3E}">
        <p14:creationId xmlns:p14="http://schemas.microsoft.com/office/powerpoint/2010/main" val="1322365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3BC781F-B4EF-C254-89BE-CD9BD96906DF}"/>
              </a:ext>
            </a:extLst>
          </p:cNvPr>
          <p:cNvSpPr>
            <a:spLocks noGrp="1"/>
          </p:cNvSpPr>
          <p:nvPr>
            <p:ph type="title"/>
          </p:nvPr>
        </p:nvSpPr>
        <p:spPr>
          <a:xfrm>
            <a:off x="668518" y="355699"/>
            <a:ext cx="10515600" cy="637347"/>
          </a:xfrm>
        </p:spPr>
        <p:txBody>
          <a:bodyPr>
            <a:noAutofit/>
          </a:bodyPr>
          <a:lstStyle/>
          <a:p>
            <a:r>
              <a:rPr lang="en-US" b="0" dirty="0"/>
              <a:t>Oligopoly Defined</a:t>
            </a:r>
          </a:p>
        </p:txBody>
      </p:sp>
      <p:sp>
        <p:nvSpPr>
          <p:cNvPr id="7" name="Content Placeholder 6">
            <a:extLst>
              <a:ext uri="{FF2B5EF4-FFF2-40B4-BE49-F238E27FC236}">
                <a16:creationId xmlns:a16="http://schemas.microsoft.com/office/drawing/2014/main" id="{17F2976C-6994-6205-4081-3B31193427F8}"/>
              </a:ext>
            </a:extLst>
          </p:cNvPr>
          <p:cNvSpPr>
            <a:spLocks noGrp="1"/>
          </p:cNvSpPr>
          <p:nvPr>
            <p:ph idx="1"/>
          </p:nvPr>
        </p:nvSpPr>
        <p:spPr>
          <a:xfrm>
            <a:off x="743932" y="1295329"/>
            <a:ext cx="10515600" cy="4569625"/>
          </a:xfrm>
        </p:spPr>
        <p:txBody>
          <a:bodyPr>
            <a:normAutofit/>
          </a:bodyPr>
          <a:lstStyle/>
          <a:p>
            <a:pPr marL="0" indent="0">
              <a:buNone/>
            </a:pPr>
            <a:r>
              <a:rPr lang="en-US" sz="2400" dirty="0">
                <a:latin typeface="Calibri" panose="020F0502020204030204" pitchFamily="34" charset="0"/>
                <a:cs typeface="Calibri" panose="020F0502020204030204" pitchFamily="34" charset="0"/>
              </a:rPr>
              <a:t>Key Characteristics:</a:t>
            </a:r>
          </a:p>
          <a:p>
            <a:pPr lvl="1"/>
            <a:r>
              <a:rPr lang="en-US" sz="2200" dirty="0">
                <a:latin typeface="Calibri" panose="020F0502020204030204" pitchFamily="34" charset="0"/>
                <a:cs typeface="Calibri" panose="020F0502020204030204" pitchFamily="34" charset="0"/>
              </a:rPr>
              <a:t>Few large firms dominate (high concentration)</a:t>
            </a:r>
          </a:p>
          <a:p>
            <a:pPr lvl="1"/>
            <a:r>
              <a:rPr lang="en-US" sz="2200" dirty="0">
                <a:latin typeface="Calibri" panose="020F0502020204030204" pitchFamily="34" charset="0"/>
                <a:cs typeface="Calibri" panose="020F0502020204030204" pitchFamily="34" charset="0"/>
              </a:rPr>
              <a:t>High barriers to entry (economies of scale, patents, capital)</a:t>
            </a:r>
          </a:p>
          <a:p>
            <a:pPr lvl="1"/>
            <a:r>
              <a:rPr lang="en-US" sz="2200" dirty="0">
                <a:latin typeface="Calibri" panose="020F0502020204030204" pitchFamily="34" charset="0"/>
                <a:cs typeface="Calibri" panose="020F0502020204030204" pitchFamily="34" charset="0"/>
              </a:rPr>
              <a:t>Mutual interdependence (strategic decision-making)</a:t>
            </a:r>
          </a:p>
          <a:p>
            <a:pPr lvl="1"/>
            <a:r>
              <a:rPr lang="en-US" sz="2200" dirty="0">
                <a:latin typeface="Calibri" panose="020F0502020204030204" pitchFamily="34" charset="0"/>
                <a:cs typeface="Calibri" panose="020F0502020204030204" pitchFamily="34" charset="0"/>
              </a:rPr>
              <a:t>Can compete or collude</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Analogy: Like chess players—each move depends on anticipating opponents' responses.</a:t>
            </a:r>
            <a:br>
              <a:rPr lang="en-US" dirty="0"/>
            </a:br>
            <a:br>
              <a:rPr lang="en-US" dirty="0"/>
            </a:br>
            <a:endParaRPr lang="en-US" dirty="0"/>
          </a:p>
        </p:txBody>
      </p:sp>
    </p:spTree>
    <p:extLst>
      <p:ext uri="{BB962C8B-B14F-4D97-AF65-F5344CB8AC3E}">
        <p14:creationId xmlns:p14="http://schemas.microsoft.com/office/powerpoint/2010/main" val="837626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FDD1B-98B0-C0B1-DBB6-6069F437AE88}"/>
              </a:ext>
            </a:extLst>
          </p:cNvPr>
          <p:cNvSpPr>
            <a:spLocks noGrp="1"/>
          </p:cNvSpPr>
          <p:nvPr>
            <p:ph type="title"/>
          </p:nvPr>
        </p:nvSpPr>
        <p:spPr>
          <a:xfrm>
            <a:off x="621384" y="365126"/>
            <a:ext cx="10515600" cy="599150"/>
          </a:xfrm>
        </p:spPr>
        <p:txBody>
          <a:bodyPr>
            <a:noAutofit/>
          </a:bodyPr>
          <a:lstStyle/>
          <a:p>
            <a:r>
              <a:rPr lang="en-US" b="0" dirty="0"/>
              <a:t>Oligopoly Examples</a:t>
            </a:r>
          </a:p>
        </p:txBody>
      </p:sp>
      <p:graphicFrame>
        <p:nvGraphicFramePr>
          <p:cNvPr id="5" name="Table 4">
            <a:extLst>
              <a:ext uri="{FF2B5EF4-FFF2-40B4-BE49-F238E27FC236}">
                <a16:creationId xmlns:a16="http://schemas.microsoft.com/office/drawing/2014/main" id="{12B22415-2A87-E12C-81C1-EF7DA3A49847}"/>
              </a:ext>
            </a:extLst>
          </p:cNvPr>
          <p:cNvGraphicFramePr>
            <a:graphicFrameLocks noGrp="1"/>
          </p:cNvGraphicFramePr>
          <p:nvPr>
            <p:extLst>
              <p:ext uri="{D42A27DB-BD31-4B8C-83A1-F6EECF244321}">
                <p14:modId xmlns:p14="http://schemas.microsoft.com/office/powerpoint/2010/main" val="2979556369"/>
              </p:ext>
            </p:extLst>
          </p:nvPr>
        </p:nvGraphicFramePr>
        <p:xfrm>
          <a:off x="311085" y="1229519"/>
          <a:ext cx="11632680" cy="5299762"/>
        </p:xfrm>
        <a:graphic>
          <a:graphicData uri="http://schemas.openxmlformats.org/drawingml/2006/table">
            <a:tbl>
              <a:tblPr firstRow="1">
                <a:tableStyleId>{7E9639D4-E3E2-4D34-9284-5A2195B3D0D7}</a:tableStyleId>
              </a:tblPr>
              <a:tblGrid>
                <a:gridCol w="1938780">
                  <a:extLst>
                    <a:ext uri="{9D8B030D-6E8A-4147-A177-3AD203B41FA5}">
                      <a16:colId xmlns:a16="http://schemas.microsoft.com/office/drawing/2014/main" val="1309682748"/>
                    </a:ext>
                  </a:extLst>
                </a:gridCol>
                <a:gridCol w="1938780">
                  <a:extLst>
                    <a:ext uri="{9D8B030D-6E8A-4147-A177-3AD203B41FA5}">
                      <a16:colId xmlns:a16="http://schemas.microsoft.com/office/drawing/2014/main" val="2293857800"/>
                    </a:ext>
                  </a:extLst>
                </a:gridCol>
                <a:gridCol w="1938780">
                  <a:extLst>
                    <a:ext uri="{9D8B030D-6E8A-4147-A177-3AD203B41FA5}">
                      <a16:colId xmlns:a16="http://schemas.microsoft.com/office/drawing/2014/main" val="1218739661"/>
                    </a:ext>
                  </a:extLst>
                </a:gridCol>
                <a:gridCol w="1938780">
                  <a:extLst>
                    <a:ext uri="{9D8B030D-6E8A-4147-A177-3AD203B41FA5}">
                      <a16:colId xmlns:a16="http://schemas.microsoft.com/office/drawing/2014/main" val="2561613902"/>
                    </a:ext>
                  </a:extLst>
                </a:gridCol>
                <a:gridCol w="1938780">
                  <a:extLst>
                    <a:ext uri="{9D8B030D-6E8A-4147-A177-3AD203B41FA5}">
                      <a16:colId xmlns:a16="http://schemas.microsoft.com/office/drawing/2014/main" val="2370129151"/>
                    </a:ext>
                  </a:extLst>
                </a:gridCol>
                <a:gridCol w="1938780">
                  <a:extLst>
                    <a:ext uri="{9D8B030D-6E8A-4147-A177-3AD203B41FA5}">
                      <a16:colId xmlns:a16="http://schemas.microsoft.com/office/drawing/2014/main" val="1738752694"/>
                    </a:ext>
                  </a:extLst>
                </a:gridCol>
              </a:tblGrid>
              <a:tr h="390728">
                <a:tc>
                  <a:txBody>
                    <a:bodyPr/>
                    <a:lstStyle/>
                    <a:p>
                      <a:pPr>
                        <a:buNone/>
                      </a:pPr>
                      <a:r>
                        <a:rPr lang="en-US" sz="1400" dirty="0">
                          <a:latin typeface="Aptos" panose="020B0004020202020204" pitchFamily="34" charset="0"/>
                        </a:rPr>
                        <a:t>Industry / Market</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Aptos" panose="020B0004020202020204" pitchFamily="34" charset="0"/>
                        </a:rPr>
                        <a:t>Major Firms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Aptos" panose="020B0004020202020204" pitchFamily="34" charset="0"/>
                        </a:rPr>
                        <a:t>Barriers to Entry</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Aptos" panose="020B0004020202020204" pitchFamily="34" charset="0"/>
                        </a:rPr>
                        <a:t>Price Control</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Aptos" panose="020B0004020202020204" pitchFamily="34" charset="0"/>
                        </a:rPr>
                        <a:t>Competition Type</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Aptos" panose="020B0004020202020204" pitchFamily="34" charset="0"/>
                        </a:rPr>
                        <a:t>Example of Strategic Behavior</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428968"/>
                  </a:ext>
                </a:extLst>
              </a:tr>
              <a:tr h="626317">
                <a:tc>
                  <a:txBody>
                    <a:bodyPr/>
                    <a:lstStyle/>
                    <a:p>
                      <a:pPr>
                        <a:buNone/>
                      </a:pPr>
                      <a:r>
                        <a:rPr lang="en-US" sz="1200" b="1" dirty="0">
                          <a:latin typeface="Aptos" panose="020B0004020202020204" pitchFamily="34" charset="0"/>
                        </a:rPr>
                        <a:t>Smartphones</a:t>
                      </a:r>
                      <a:endParaRPr lang="en-US" sz="1200" dirty="0">
                        <a:latin typeface="Aptos" panose="020B0004020202020204" pitchFamily="34" charset="0"/>
                      </a:endParaRP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Apple, Samsung, Xiaomi, Oppo, Huawei</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High R&amp;D costs, patents, brand loyalty</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Moderate – prices influenced by product differentiation</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Non-price competition (features, design, ecosystem)</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Annual flagship launches timed competitively</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8900792"/>
                  </a:ext>
                </a:extLst>
              </a:tr>
              <a:tr h="508523">
                <a:tc>
                  <a:txBody>
                    <a:bodyPr/>
                    <a:lstStyle/>
                    <a:p>
                      <a:pPr>
                        <a:buNone/>
                      </a:pPr>
                      <a:r>
                        <a:rPr lang="en-US" sz="1200" b="1" dirty="0">
                          <a:latin typeface="Aptos" panose="020B0004020202020204" pitchFamily="34" charset="0"/>
                        </a:rPr>
                        <a:t>Commercial Aircraft</a:t>
                      </a:r>
                      <a:endParaRPr lang="en-US" sz="1200" dirty="0">
                        <a:latin typeface="Aptos" panose="020B0004020202020204" pitchFamily="34" charset="0"/>
                      </a:endParaRP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Boeing, Airbus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Massive capital investment, government regulation</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Moderate – prices negotiated with airlines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Non-price (performance, delivery timelines)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dirty="0">
                          <a:latin typeface="Aptos" panose="020B0004020202020204" pitchFamily="34" charset="0"/>
                        </a:rPr>
                        <a:t>Matching new aircraft features when rival launches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4320150"/>
                  </a:ext>
                </a:extLst>
              </a:tr>
              <a:tr h="744112">
                <a:tc>
                  <a:txBody>
                    <a:bodyPr/>
                    <a:lstStyle/>
                    <a:p>
                      <a:pPr>
                        <a:buNone/>
                      </a:pPr>
                      <a:r>
                        <a:rPr lang="en-US" sz="1200" b="1" dirty="0">
                          <a:latin typeface="Aptos" panose="020B0004020202020204" pitchFamily="34" charset="0"/>
                        </a:rPr>
                        <a:t>Soft Drinks</a:t>
                      </a:r>
                      <a:endParaRPr lang="en-US" sz="1200" dirty="0">
                        <a:latin typeface="Aptos" panose="020B0004020202020204" pitchFamily="34" charset="0"/>
                      </a:endParaRP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Coca-Cola, PepsiCo</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Brand loyalty, distribution networks, marketing spend</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Moderate</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Non-price (branding, sponsorships)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Heavy advertising during rival campaigns (e.g., Super Bowl)</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4545734"/>
                  </a:ext>
                </a:extLst>
              </a:tr>
              <a:tr h="626317">
                <a:tc>
                  <a:txBody>
                    <a:bodyPr/>
                    <a:lstStyle/>
                    <a:p>
                      <a:pPr>
                        <a:buNone/>
                      </a:pPr>
                      <a:r>
                        <a:rPr lang="en-US" sz="1200" b="1" dirty="0">
                          <a:latin typeface="Aptos" panose="020B0004020202020204" pitchFamily="34" charset="0"/>
                        </a:rPr>
                        <a:t>Media &amp; Entertainment</a:t>
                      </a:r>
                      <a:endParaRPr lang="en-US" sz="1200" dirty="0">
                        <a:latin typeface="Aptos" panose="020B0004020202020204" pitchFamily="34" charset="0"/>
                      </a:endParaRP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Disney, Comcast, Warner Bros. Discovery, Paramount</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Content libraries, IP rights, production costs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Moderate – subscription and licensing fees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Both price and non-price</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Competing streaming service bundles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3041630"/>
                  </a:ext>
                </a:extLst>
              </a:tr>
              <a:tr h="508523">
                <a:tc>
                  <a:txBody>
                    <a:bodyPr/>
                    <a:lstStyle/>
                    <a:p>
                      <a:pPr>
                        <a:buNone/>
                      </a:pPr>
                      <a:r>
                        <a:rPr lang="en-US" sz="1200" b="1" dirty="0">
                          <a:latin typeface="Aptos" panose="020B0004020202020204" pitchFamily="34" charset="0"/>
                        </a:rPr>
                        <a:t>Video Game Consoles</a:t>
                      </a:r>
                      <a:endParaRPr lang="en-US" sz="1200" dirty="0">
                        <a:latin typeface="Aptos" panose="020B0004020202020204" pitchFamily="34" charset="0"/>
                      </a:endParaRP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Sony, Microsoft, Nintendo</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R&amp;D, exclusive game libraries, network effects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Moderate – hardware often sold near cost</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Non-price (exclusive titles, online services)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Exclusive game releases to lock in users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9955691"/>
                  </a:ext>
                </a:extLst>
              </a:tr>
              <a:tr h="508523">
                <a:tc>
                  <a:txBody>
                    <a:bodyPr/>
                    <a:lstStyle/>
                    <a:p>
                      <a:pPr>
                        <a:buNone/>
                      </a:pPr>
                      <a:r>
                        <a:rPr lang="en-US" sz="1200" b="1" dirty="0">
                          <a:latin typeface="Aptos" panose="020B0004020202020204" pitchFamily="34" charset="0"/>
                        </a:rPr>
                        <a:t>Airlines (U.S.)</a:t>
                      </a:r>
                      <a:endParaRPr lang="en-US" sz="1200" dirty="0">
                        <a:latin typeface="Aptos" panose="020B0004020202020204" pitchFamily="34" charset="0"/>
                      </a:endParaRP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American, Delta, United, Southwest</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Fleet costs, gate slots, regulation</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Moderate – affected by fuel costs and demand</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Both price and non-price</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Coordinated flight route adjustments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9047513"/>
                  </a:ext>
                </a:extLst>
              </a:tr>
              <a:tr h="626317">
                <a:tc>
                  <a:txBody>
                    <a:bodyPr/>
                    <a:lstStyle/>
                    <a:p>
                      <a:pPr>
                        <a:buNone/>
                      </a:pPr>
                      <a:r>
                        <a:rPr lang="en-US" sz="1200" b="1" dirty="0">
                          <a:latin typeface="Aptos" panose="020B0004020202020204" pitchFamily="34" charset="0"/>
                        </a:rPr>
                        <a:t>Credit Card Networks</a:t>
                      </a:r>
                      <a:endParaRPr lang="en-US" sz="1200" dirty="0">
                        <a:latin typeface="Aptos" panose="020B0004020202020204" pitchFamily="34" charset="0"/>
                      </a:endParaRP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Visa, Mastercard, AmEx, Discover</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Network infrastructure, merchant acceptance</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Low direct price competition (fees set to merchants)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Non-price (rewards programs, partnerships)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a:latin typeface="Aptos" panose="020B0004020202020204" pitchFamily="34" charset="0"/>
                        </a:rPr>
                        <a:t>Exclusive bank partnerships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4289070"/>
                  </a:ext>
                </a:extLst>
              </a:tr>
              <a:tr h="626317">
                <a:tc>
                  <a:txBody>
                    <a:bodyPr/>
                    <a:lstStyle/>
                    <a:p>
                      <a:pPr>
                        <a:buNone/>
                      </a:pPr>
                      <a:r>
                        <a:rPr lang="en-US" sz="1200" b="1" dirty="0">
                          <a:latin typeface="Aptos" panose="020B0004020202020204" pitchFamily="34" charset="0"/>
                        </a:rPr>
                        <a:t>Oil &amp; Gas Majors</a:t>
                      </a:r>
                      <a:endParaRPr lang="en-US" sz="1200" dirty="0">
                        <a:latin typeface="Aptos" panose="020B0004020202020204" pitchFamily="34" charset="0"/>
                      </a:endParaRP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dirty="0">
                          <a:latin typeface="Aptos" panose="020B0004020202020204" pitchFamily="34" charset="0"/>
                        </a:rPr>
                        <a:t>ExxonMobil, Chevron, Shell, BP, TotalEnergies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dirty="0">
                          <a:latin typeface="Aptos" panose="020B0004020202020204" pitchFamily="34" charset="0"/>
                        </a:rPr>
                        <a:t>Exploration costs, infrastructure, geopolitical barriers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dirty="0">
                          <a:latin typeface="Aptos" panose="020B0004020202020204" pitchFamily="34" charset="0"/>
                        </a:rPr>
                        <a:t>Some influence but tied to global oil prices</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dirty="0">
                          <a:latin typeface="Aptos" panose="020B0004020202020204" pitchFamily="34" charset="0"/>
                        </a:rPr>
                        <a:t>Both price and non-price</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200" dirty="0">
                          <a:latin typeface="Aptos" panose="020B0004020202020204" pitchFamily="34" charset="0"/>
                        </a:rPr>
                        <a:t>Coordinated investment in refining capacity</a:t>
                      </a:r>
                    </a:p>
                  </a:txBody>
                  <a:tcPr marL="28988" marR="28988" marT="14494" marB="144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0222681"/>
                  </a:ext>
                </a:extLst>
              </a:tr>
            </a:tbl>
          </a:graphicData>
        </a:graphic>
      </p:graphicFrame>
    </p:spTree>
    <p:extLst>
      <p:ext uri="{BB962C8B-B14F-4D97-AF65-F5344CB8AC3E}">
        <p14:creationId xmlns:p14="http://schemas.microsoft.com/office/powerpoint/2010/main" val="3047145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3BC781F-B4EF-C254-89BE-CD9BD96906DF}"/>
              </a:ext>
            </a:extLst>
          </p:cNvPr>
          <p:cNvSpPr>
            <a:spLocks noGrp="1"/>
          </p:cNvSpPr>
          <p:nvPr>
            <p:ph type="title"/>
          </p:nvPr>
        </p:nvSpPr>
        <p:spPr>
          <a:xfrm>
            <a:off x="649664" y="365126"/>
            <a:ext cx="10515600" cy="632401"/>
          </a:xfrm>
        </p:spPr>
        <p:txBody>
          <a:bodyPr>
            <a:noAutofit/>
          </a:bodyPr>
          <a:lstStyle/>
          <a:p>
            <a:r>
              <a:rPr lang="en-US" b="0" dirty="0"/>
              <a:t>The Oligopolist's Dilemma</a:t>
            </a:r>
          </a:p>
        </p:txBody>
      </p:sp>
      <p:sp>
        <p:nvSpPr>
          <p:cNvPr id="7" name="Content Placeholder 6">
            <a:extLst>
              <a:ext uri="{FF2B5EF4-FFF2-40B4-BE49-F238E27FC236}">
                <a16:creationId xmlns:a16="http://schemas.microsoft.com/office/drawing/2014/main" id="{17F2976C-6994-6205-4081-3B31193427F8}"/>
              </a:ext>
            </a:extLst>
          </p:cNvPr>
          <p:cNvSpPr>
            <a:spLocks noGrp="1"/>
          </p:cNvSpPr>
          <p:nvPr>
            <p:ph idx="1"/>
          </p:nvPr>
        </p:nvSpPr>
        <p:spPr>
          <a:xfrm>
            <a:off x="649664" y="1411976"/>
            <a:ext cx="10515600" cy="4639689"/>
          </a:xfrm>
          <a:ln>
            <a:solidFill>
              <a:schemeClr val="tx1"/>
            </a:solidFill>
          </a:ln>
        </p:spPr>
        <p:txBody>
          <a:bodyPr>
            <a:normAutofit/>
          </a:bodyPr>
          <a:lstStyle/>
          <a:p>
            <a:pPr marL="0" indent="0">
              <a:buNone/>
            </a:pPr>
            <a:r>
              <a:rPr lang="en-US" sz="2400" dirty="0">
                <a:latin typeface="Calibri" panose="020F0502020204030204" pitchFamily="34" charset="0"/>
                <a:cs typeface="Calibri" panose="020F0502020204030204" pitchFamily="34" charset="0"/>
              </a:rPr>
              <a:t>Two Conflicting Temptations</a:t>
            </a:r>
          </a:p>
          <a:p>
            <a:r>
              <a:rPr lang="en-US" sz="2400" dirty="0">
                <a:latin typeface="Calibri" panose="020F0502020204030204" pitchFamily="34" charset="0"/>
                <a:cs typeface="Calibri" panose="020F0502020204030204" pitchFamily="34" charset="0"/>
              </a:rPr>
              <a:t>Option 1: COLLUDE (Act like monopoly)</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 Restrict output, raise prices, share monopoly profits</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 But illegal in most countries</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Option 2: COMPETE (Act like perfect competition)</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 Expand output, cut prices, drive profits to zero</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 But worse for all firms</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Reality: "Cats in a bag"—scratch each other or cuddle up?</a:t>
            </a:r>
          </a:p>
          <a:p>
            <a:endParaRPr lang="en-US" dirty="0"/>
          </a:p>
        </p:txBody>
      </p:sp>
    </p:spTree>
    <p:extLst>
      <p:ext uri="{BB962C8B-B14F-4D97-AF65-F5344CB8AC3E}">
        <p14:creationId xmlns:p14="http://schemas.microsoft.com/office/powerpoint/2010/main" val="3226828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3BC781F-B4EF-C254-89BE-CD9BD96906DF}"/>
              </a:ext>
            </a:extLst>
          </p:cNvPr>
          <p:cNvSpPr>
            <a:spLocks noGrp="1"/>
          </p:cNvSpPr>
          <p:nvPr>
            <p:ph type="title"/>
          </p:nvPr>
        </p:nvSpPr>
        <p:spPr>
          <a:xfrm>
            <a:off x="696798" y="357598"/>
            <a:ext cx="10515600" cy="689806"/>
          </a:xfrm>
        </p:spPr>
        <p:txBody>
          <a:bodyPr>
            <a:noAutofit/>
          </a:bodyPr>
          <a:lstStyle/>
          <a:p>
            <a:r>
              <a:rPr lang="en-US" b="0" dirty="0"/>
              <a:t>Game Theory and the Prisoner's Dilemma</a:t>
            </a:r>
          </a:p>
        </p:txBody>
      </p:sp>
      <p:graphicFrame>
        <p:nvGraphicFramePr>
          <p:cNvPr id="3" name="Content Placeholder 2">
            <a:extLst>
              <a:ext uri="{FF2B5EF4-FFF2-40B4-BE49-F238E27FC236}">
                <a16:creationId xmlns:a16="http://schemas.microsoft.com/office/drawing/2014/main" id="{DB8A9903-CFD8-3B18-8989-83880213AFE3}"/>
              </a:ext>
            </a:extLst>
          </p:cNvPr>
          <p:cNvGraphicFramePr>
            <a:graphicFrameLocks noGrp="1"/>
          </p:cNvGraphicFramePr>
          <p:nvPr>
            <p:ph idx="1"/>
            <p:extLst>
              <p:ext uri="{D42A27DB-BD31-4B8C-83A1-F6EECF244321}">
                <p14:modId xmlns:p14="http://schemas.microsoft.com/office/powerpoint/2010/main" val="1577601272"/>
              </p:ext>
            </p:extLst>
          </p:nvPr>
        </p:nvGraphicFramePr>
        <p:xfrm>
          <a:off x="2312973" y="4292518"/>
          <a:ext cx="7566054" cy="2313291"/>
        </p:xfrm>
        <a:graphic>
          <a:graphicData uri="http://schemas.openxmlformats.org/drawingml/2006/table">
            <a:tbl>
              <a:tblPr firstRow="1"/>
              <a:tblGrid>
                <a:gridCol w="2522018">
                  <a:extLst>
                    <a:ext uri="{9D8B030D-6E8A-4147-A177-3AD203B41FA5}">
                      <a16:colId xmlns:a16="http://schemas.microsoft.com/office/drawing/2014/main" val="2686801192"/>
                    </a:ext>
                  </a:extLst>
                </a:gridCol>
                <a:gridCol w="2522018">
                  <a:extLst>
                    <a:ext uri="{9D8B030D-6E8A-4147-A177-3AD203B41FA5}">
                      <a16:colId xmlns:a16="http://schemas.microsoft.com/office/drawing/2014/main" val="105770932"/>
                    </a:ext>
                  </a:extLst>
                </a:gridCol>
                <a:gridCol w="2522018">
                  <a:extLst>
                    <a:ext uri="{9D8B030D-6E8A-4147-A177-3AD203B41FA5}">
                      <a16:colId xmlns:a16="http://schemas.microsoft.com/office/drawing/2014/main" val="431873408"/>
                    </a:ext>
                  </a:extLst>
                </a:gridCol>
              </a:tblGrid>
              <a:tr h="578323">
                <a:tc>
                  <a:txBody>
                    <a:bodyPr/>
                    <a:lstStyle/>
                    <a:p>
                      <a:pPr algn="l" fontAlgn="t" latinLnBrk="0">
                        <a:buNone/>
                      </a:pPr>
                      <a:endParaRPr lang="en-US" b="0" dirty="0">
                        <a:effectLst/>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latinLnBrk="0">
                        <a:buNone/>
                      </a:pPr>
                      <a:r>
                        <a:rPr lang="en-US" b="0" dirty="0">
                          <a:effectLst/>
                        </a:rPr>
                        <a:t>Prisoner B: Silent</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t" latinLnBrk="0">
                        <a:buNone/>
                      </a:pPr>
                      <a:r>
                        <a:rPr lang="en-US" b="0" dirty="0">
                          <a:effectLst/>
                        </a:rPr>
                        <a:t>Prisoner B: Confess</a:t>
                      </a: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306816417"/>
                  </a:ext>
                </a:extLst>
              </a:tr>
              <a:tr h="867484">
                <a:tc>
                  <a:txBody>
                    <a:bodyPr/>
                    <a:lstStyle/>
                    <a:p>
                      <a:pPr algn="l" fontAlgn="base" latinLnBrk="0">
                        <a:buNone/>
                      </a:pPr>
                      <a:r>
                        <a:rPr lang="en-US" b="0" dirty="0">
                          <a:effectLst/>
                        </a:rPr>
                        <a:t>Prisoner A: Silent</a:t>
                      </a:r>
                      <a:endParaRPr lang="en-US" dirty="0">
                        <a:effectLst/>
                      </a:endParaRPr>
                    </a:p>
                  </a:txBody>
                  <a:tcPr marL="76200" marR="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base" latinLnBrk="0">
                        <a:buNone/>
                      </a:pPr>
                      <a:r>
                        <a:rPr lang="en-US" dirty="0">
                          <a:effectLst/>
                        </a:rPr>
                        <a:t>Both get 2 years</a:t>
                      </a:r>
                    </a:p>
                  </a:txBody>
                  <a:tcPr marL="76200" marR="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latinLnBrk="0">
                        <a:buNone/>
                      </a:pPr>
                      <a:r>
                        <a:rPr lang="en-US" dirty="0">
                          <a:effectLst/>
                        </a:rPr>
                        <a:t>A gets 8 years, B gets 1 year</a:t>
                      </a:r>
                    </a:p>
                  </a:txBody>
                  <a:tcPr marL="76200" marR="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7266251"/>
                  </a:ext>
                </a:extLst>
              </a:tr>
              <a:tr h="867484">
                <a:tc>
                  <a:txBody>
                    <a:bodyPr/>
                    <a:lstStyle/>
                    <a:p>
                      <a:pPr algn="l" fontAlgn="base" latinLnBrk="0">
                        <a:buNone/>
                      </a:pPr>
                      <a:r>
                        <a:rPr lang="en-US" b="0" dirty="0">
                          <a:effectLst/>
                        </a:rPr>
                        <a:t>Prisoner A: Confess</a:t>
                      </a:r>
                      <a:endParaRPr lang="en-US" dirty="0">
                        <a:effectLst/>
                      </a:endParaRPr>
                    </a:p>
                  </a:txBody>
                  <a:tcPr marL="76200" marR="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fontAlgn="base" latinLnBrk="0">
                        <a:buNone/>
                      </a:pPr>
                      <a:r>
                        <a:rPr lang="en-US">
                          <a:effectLst/>
                        </a:rPr>
                        <a:t>A gets 1 year, B gets 8 years</a:t>
                      </a:r>
                    </a:p>
                  </a:txBody>
                  <a:tcPr marL="76200" marR="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latinLnBrk="0">
                        <a:buNone/>
                      </a:pPr>
                      <a:r>
                        <a:rPr lang="en-US" dirty="0">
                          <a:effectLst/>
                        </a:rPr>
                        <a:t>Both get 5 years</a:t>
                      </a:r>
                    </a:p>
                  </a:txBody>
                  <a:tcPr marL="76200" marR="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1593892"/>
                  </a:ext>
                </a:extLst>
              </a:tr>
            </a:tbl>
          </a:graphicData>
        </a:graphic>
      </p:graphicFrame>
      <p:sp>
        <p:nvSpPr>
          <p:cNvPr id="5" name="TextBox 4">
            <a:extLst>
              <a:ext uri="{FF2B5EF4-FFF2-40B4-BE49-F238E27FC236}">
                <a16:creationId xmlns:a16="http://schemas.microsoft.com/office/drawing/2014/main" id="{C462C2FB-0561-129B-AFB0-1EC3FA44AEA5}"/>
              </a:ext>
            </a:extLst>
          </p:cNvPr>
          <p:cNvSpPr txBox="1"/>
          <p:nvPr/>
        </p:nvSpPr>
        <p:spPr>
          <a:xfrm>
            <a:off x="696798" y="1245530"/>
            <a:ext cx="10515599" cy="3046988"/>
          </a:xfrm>
          <a:prstGeom prst="rect">
            <a:avLst/>
          </a:prstGeom>
          <a:noFill/>
          <a:ln>
            <a:solidFill>
              <a:schemeClr val="tx1"/>
            </a:solidFill>
          </a:ln>
        </p:spPr>
        <p:txBody>
          <a:bodyPr wrap="square">
            <a:spAutoFit/>
          </a:bodyPr>
          <a:lstStyle/>
          <a:p>
            <a:pPr algn="l">
              <a:buNone/>
            </a:pPr>
            <a:r>
              <a:rPr lang="en-US" sz="2400" b="0" i="0" dirty="0">
                <a:effectLst/>
                <a:latin typeface="Calibri" panose="020F0502020204030204" pitchFamily="34" charset="0"/>
                <a:cs typeface="Calibri" panose="020F0502020204030204" pitchFamily="34" charset="0"/>
              </a:rPr>
              <a:t>Understanding Strategic Interdependence</a:t>
            </a:r>
          </a:p>
          <a:p>
            <a:pPr algn="l">
              <a:buNone/>
            </a:pPr>
            <a:endParaRPr lang="en-US" sz="2400" b="0" i="0" dirty="0">
              <a:effectLst/>
              <a:latin typeface="Calibri" panose="020F0502020204030204" pitchFamily="34" charset="0"/>
              <a:cs typeface="Calibri" panose="020F0502020204030204" pitchFamily="34" charset="0"/>
            </a:endParaRPr>
          </a:p>
          <a:p>
            <a:pPr algn="l"/>
            <a:r>
              <a:rPr lang="en-US" sz="2400" b="0" i="0" dirty="0">
                <a:effectLst/>
                <a:latin typeface="Calibri" panose="020F0502020204030204" pitchFamily="34" charset="0"/>
                <a:cs typeface="Calibri" panose="020F0502020204030204" pitchFamily="34" charset="0"/>
              </a:rPr>
              <a:t>Prisoner's Dilemma:</a:t>
            </a:r>
            <a:endParaRPr lang="en-US" sz="2400" dirty="0">
              <a:latin typeface="Calibri" panose="020F0502020204030204" pitchFamily="34" charset="0"/>
              <a:cs typeface="Calibri" panose="020F0502020204030204" pitchFamily="34" charset="0"/>
            </a:endParaRPr>
          </a:p>
          <a:p>
            <a:pPr marL="800100" lvl="1" indent="-342900">
              <a:buFont typeface="Arial" panose="020B0604020202020204" pitchFamily="34" charset="0"/>
              <a:buChar char="•"/>
            </a:pPr>
            <a:r>
              <a:rPr lang="en-US" sz="2400" b="0" i="0" dirty="0">
                <a:effectLst/>
                <a:latin typeface="Calibri" panose="020F0502020204030204" pitchFamily="34" charset="0"/>
                <a:cs typeface="Calibri" panose="020F0502020204030204" pitchFamily="34" charset="0"/>
              </a:rPr>
              <a:t>Two suspects arrested, interrogated separately.</a:t>
            </a:r>
          </a:p>
          <a:p>
            <a:pPr marL="800100" lvl="1" indent="-342900">
              <a:buFont typeface="Arial" panose="020B0604020202020204" pitchFamily="34" charset="0"/>
              <a:buChar char="•"/>
            </a:pPr>
            <a:r>
              <a:rPr lang="en-US" sz="2400" b="0" i="0" dirty="0">
                <a:effectLst/>
                <a:latin typeface="Calibri" panose="020F0502020204030204" pitchFamily="34" charset="0"/>
                <a:cs typeface="Calibri" panose="020F0502020204030204" pitchFamily="34" charset="0"/>
              </a:rPr>
              <a:t>Dominant Strategy: Confess (regardless of partner's choice)</a:t>
            </a:r>
            <a:endParaRPr lang="en-US" sz="2400" dirty="0">
              <a:latin typeface="Calibri" panose="020F0502020204030204" pitchFamily="34" charset="0"/>
              <a:cs typeface="Calibri" panose="020F0502020204030204" pitchFamily="34" charset="0"/>
            </a:endParaRPr>
          </a:p>
          <a:p>
            <a:pPr marL="800100" lvl="1" indent="-342900">
              <a:buFont typeface="Arial" panose="020B0604020202020204" pitchFamily="34" charset="0"/>
              <a:buChar char="•"/>
            </a:pPr>
            <a:r>
              <a:rPr lang="en-US" sz="2400" b="0" i="0" dirty="0">
                <a:effectLst/>
                <a:latin typeface="Calibri" panose="020F0502020204030204" pitchFamily="34" charset="0"/>
                <a:cs typeface="Calibri" panose="020F0502020204030204" pitchFamily="34" charset="0"/>
              </a:rPr>
              <a:t>Outcome: Both confess (5 years each)</a:t>
            </a:r>
            <a:br>
              <a:rPr lang="en-US" sz="2400" b="0" i="0" dirty="0">
                <a:effectLst/>
                <a:latin typeface="Calibri" panose="020F0502020204030204" pitchFamily="34" charset="0"/>
                <a:cs typeface="Calibri" panose="020F0502020204030204" pitchFamily="34" charset="0"/>
              </a:rPr>
            </a:br>
            <a:endParaRPr lang="en-US" sz="2400" b="0" i="0" dirty="0">
              <a:effectLst/>
              <a:latin typeface="Calibri" panose="020F0502020204030204" pitchFamily="34" charset="0"/>
              <a:cs typeface="Calibri" panose="020F0502020204030204" pitchFamily="34" charset="0"/>
            </a:endParaRPr>
          </a:p>
          <a:p>
            <a:pPr algn="l">
              <a:buNone/>
            </a:pPr>
            <a:r>
              <a:rPr lang="en-US" sz="2400" b="0" i="0" dirty="0">
                <a:effectLst/>
                <a:latin typeface="Calibri" panose="020F0502020204030204" pitchFamily="34" charset="0"/>
                <a:cs typeface="Calibri" panose="020F0502020204030204" pitchFamily="34" charset="0"/>
              </a:rPr>
              <a:t>Irony: Both silent = only 2 years each (better outcome)</a:t>
            </a:r>
          </a:p>
        </p:txBody>
      </p:sp>
    </p:spTree>
    <p:extLst>
      <p:ext uri="{BB962C8B-B14F-4D97-AF65-F5344CB8AC3E}">
        <p14:creationId xmlns:p14="http://schemas.microsoft.com/office/powerpoint/2010/main" val="2593321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3BC781F-B4EF-C254-89BE-CD9BD96906DF}"/>
              </a:ext>
            </a:extLst>
          </p:cNvPr>
          <p:cNvSpPr>
            <a:spLocks noGrp="1"/>
          </p:cNvSpPr>
          <p:nvPr>
            <p:ph type="title"/>
          </p:nvPr>
        </p:nvSpPr>
        <p:spPr>
          <a:xfrm>
            <a:off x="715651" y="365125"/>
            <a:ext cx="10515600" cy="754875"/>
          </a:xfrm>
        </p:spPr>
        <p:txBody>
          <a:bodyPr>
            <a:normAutofit/>
          </a:bodyPr>
          <a:lstStyle/>
          <a:p>
            <a:r>
              <a:rPr lang="en-US" b="0" dirty="0"/>
              <a:t>Oligopoly Prisoner's Dilemma</a:t>
            </a:r>
          </a:p>
        </p:txBody>
      </p:sp>
      <p:sp>
        <p:nvSpPr>
          <p:cNvPr id="7" name="Content Placeholder 6">
            <a:extLst>
              <a:ext uri="{FF2B5EF4-FFF2-40B4-BE49-F238E27FC236}">
                <a16:creationId xmlns:a16="http://schemas.microsoft.com/office/drawing/2014/main" id="{17F2976C-6994-6205-4081-3B31193427F8}"/>
              </a:ext>
            </a:extLst>
          </p:cNvPr>
          <p:cNvSpPr>
            <a:spLocks noGrp="1"/>
          </p:cNvSpPr>
          <p:nvPr>
            <p:ph idx="1"/>
          </p:nvPr>
        </p:nvSpPr>
        <p:spPr>
          <a:xfrm>
            <a:off x="715651" y="1376661"/>
            <a:ext cx="10515600" cy="1268198"/>
          </a:xfrm>
          <a:ln>
            <a:solidFill>
              <a:schemeClr val="tx1"/>
            </a:solidFill>
          </a:ln>
        </p:spPr>
        <p:txBody>
          <a:bodyPr>
            <a:normAutofit fontScale="92500" lnSpcReduction="20000"/>
          </a:bodyPr>
          <a:lstStyle/>
          <a:p>
            <a:pPr marL="0" indent="0">
              <a:buNone/>
            </a:pPr>
            <a:r>
              <a:rPr lang="en-US" sz="2600" dirty="0">
                <a:latin typeface="Calibri" panose="020F0502020204030204" pitchFamily="34" charset="0"/>
                <a:cs typeface="Calibri" panose="020F0502020204030204" pitchFamily="34" charset="0"/>
              </a:rPr>
              <a:t>The Duopoly Game</a:t>
            </a:r>
          </a:p>
          <a:p>
            <a:pPr marL="0" indent="0">
              <a:buNone/>
            </a:pPr>
            <a:endParaRPr lang="en-US" sz="2600" dirty="0">
              <a:latin typeface="Calibri" panose="020F0502020204030204" pitchFamily="34" charset="0"/>
              <a:cs typeface="Calibri" panose="020F0502020204030204" pitchFamily="34" charset="0"/>
            </a:endParaRPr>
          </a:p>
          <a:p>
            <a:pPr marL="0" indent="0">
              <a:buNone/>
            </a:pPr>
            <a:r>
              <a:rPr lang="en-US" sz="2600" dirty="0">
                <a:latin typeface="Calibri" panose="020F0502020204030204" pitchFamily="34" charset="0"/>
                <a:cs typeface="Calibri" panose="020F0502020204030204" pitchFamily="34" charset="0"/>
              </a:rPr>
              <a:t>Two firms choose output levels:</a:t>
            </a:r>
          </a:p>
          <a:p>
            <a:endParaRPr lang="en-US" dirty="0"/>
          </a:p>
        </p:txBody>
      </p:sp>
      <p:pic>
        <p:nvPicPr>
          <p:cNvPr id="2" name="Shape 176" descr="The table shows the prisoner’s dilemma. The 4 column 4 row table is modified differently than a standard table. Rows 1 and 2 in Columns 1 and 2 are empty. Columns 3 and 4 show the options for Prisoner B. Rows 4 and 5 show the options for Prisoner A. Prisoner B can either “remain silent (cooperate with other prisoner)” (column 3 row 2), or confess (not cooperate with other prisoner)” (column 4 row 2). Prisoner A can either “remain silent (cooperate with other prisoner)” (column 2 row 3), or confess (not cooperate with other prisoner)” (column 2 row 4). The possible outcomes are as follows: If both prisoners remain silent: A gets 2 years, B gets 2 years (column 3 row 3); if prisoner B remains silent but prisoner A confesses: A gets 8 years, B gets 1 year (column 3 row 4); if prisoner B confesses but prisoner A remains silent: A gets 1 year, b gets 8 years (column 4 row 3); if both prisoners confess: A gets 5 years, B gets 5 years (column 4 row 4).">
            <a:extLst>
              <a:ext uri="{FF2B5EF4-FFF2-40B4-BE49-F238E27FC236}">
                <a16:creationId xmlns:a16="http://schemas.microsoft.com/office/drawing/2014/main" id="{E64C1E9B-D3A2-8AFF-42B4-E4C65B6EB257}"/>
              </a:ext>
            </a:extLst>
          </p:cNvPr>
          <p:cNvPicPr preferRelativeResize="0"/>
          <p:nvPr/>
        </p:nvPicPr>
        <p:blipFill>
          <a:blip r:embed="rId3">
            <a:alphaModFix/>
          </a:blip>
          <a:stretch>
            <a:fillRect/>
          </a:stretch>
        </p:blipFill>
        <p:spPr>
          <a:xfrm>
            <a:off x="1873200" y="2901521"/>
            <a:ext cx="8445599" cy="2228025"/>
          </a:xfrm>
          <a:prstGeom prst="rect">
            <a:avLst/>
          </a:prstGeom>
          <a:noFill/>
          <a:ln>
            <a:solidFill>
              <a:schemeClr val="tx1"/>
            </a:solidFill>
          </a:ln>
        </p:spPr>
      </p:pic>
      <p:sp>
        <p:nvSpPr>
          <p:cNvPr id="3" name="Content Placeholder 6">
            <a:extLst>
              <a:ext uri="{FF2B5EF4-FFF2-40B4-BE49-F238E27FC236}">
                <a16:creationId xmlns:a16="http://schemas.microsoft.com/office/drawing/2014/main" id="{666612AA-E01A-5B32-51EE-0DAD3050FB5E}"/>
              </a:ext>
            </a:extLst>
          </p:cNvPr>
          <p:cNvSpPr txBox="1">
            <a:spLocks/>
          </p:cNvSpPr>
          <p:nvPr/>
        </p:nvSpPr>
        <p:spPr>
          <a:xfrm>
            <a:off x="715651" y="5386208"/>
            <a:ext cx="10515600" cy="126819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tx1"/>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2400" dirty="0">
                <a:latin typeface="Calibri" panose="020F0502020204030204" pitchFamily="34" charset="0"/>
                <a:cs typeface="Calibri" panose="020F0502020204030204" pitchFamily="34" charset="0"/>
              </a:rPr>
              <a:t>Dominant Strategy: High output (compete)</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Outcome: Both earn only $400</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Irony: Both restricting output = $1,000 each (collusion)</a:t>
            </a:r>
          </a:p>
        </p:txBody>
      </p:sp>
    </p:spTree>
    <p:extLst>
      <p:ext uri="{BB962C8B-B14F-4D97-AF65-F5344CB8AC3E}">
        <p14:creationId xmlns:p14="http://schemas.microsoft.com/office/powerpoint/2010/main" val="541824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B4F5C-421B-C8E4-46EE-930B6ED0C560}"/>
              </a:ext>
            </a:extLst>
          </p:cNvPr>
          <p:cNvSpPr>
            <a:spLocks noGrp="1"/>
          </p:cNvSpPr>
          <p:nvPr>
            <p:ph type="title"/>
          </p:nvPr>
        </p:nvSpPr>
        <p:spPr>
          <a:xfrm>
            <a:off x="838200" y="365126"/>
            <a:ext cx="10515600" cy="848532"/>
          </a:xfrm>
        </p:spPr>
        <p:txBody>
          <a:bodyPr>
            <a:normAutofit fontScale="90000"/>
          </a:bodyPr>
          <a:lstStyle/>
          <a:p>
            <a:r>
              <a:rPr lang="en-US" sz="3100" b="0" dirty="0"/>
              <a:t>Real-World Collusion: The Lysine Cartel</a:t>
            </a:r>
            <a:br>
              <a:rPr lang="en-US" b="0" dirty="0"/>
            </a:br>
            <a:endParaRPr lang="en-US" dirty="0"/>
          </a:p>
        </p:txBody>
      </p:sp>
      <p:sp>
        <p:nvSpPr>
          <p:cNvPr id="3" name="Content Placeholder 2">
            <a:extLst>
              <a:ext uri="{FF2B5EF4-FFF2-40B4-BE49-F238E27FC236}">
                <a16:creationId xmlns:a16="http://schemas.microsoft.com/office/drawing/2014/main" id="{D3452CD9-E6EA-2C04-84BC-5A403113D5CE}"/>
              </a:ext>
            </a:extLst>
          </p:cNvPr>
          <p:cNvSpPr>
            <a:spLocks noGrp="1"/>
          </p:cNvSpPr>
          <p:nvPr>
            <p:ph idx="1"/>
          </p:nvPr>
        </p:nvSpPr>
        <p:spPr>
          <a:xfrm>
            <a:off x="838200" y="1512916"/>
            <a:ext cx="10515600" cy="5137266"/>
          </a:xfrm>
          <a:ln>
            <a:solidFill>
              <a:schemeClr val="tx1"/>
            </a:solidFill>
          </a:ln>
        </p:spPr>
        <p:txBody>
          <a:bodyPr>
            <a:normAutofit fontScale="92500" lnSpcReduction="10000"/>
          </a:bodyPr>
          <a:lstStyle/>
          <a:p>
            <a:pPr marL="0" indent="0">
              <a:buNone/>
            </a:pPr>
            <a:r>
              <a:rPr lang="en-US" sz="2400" dirty="0">
                <a:latin typeface="Calibri" panose="020F0502020204030204" pitchFamily="34" charset="0"/>
                <a:cs typeface="Calibri" panose="020F0502020204030204" pitchFamily="34" charset="0"/>
              </a:rPr>
              <a:t>When Oligopolists Cuddle Up</a:t>
            </a:r>
          </a:p>
          <a:p>
            <a:pPr marL="0" indent="0">
              <a:buNone/>
            </a:pPr>
            <a:r>
              <a:rPr lang="en-US" sz="2400" dirty="0">
                <a:latin typeface="Calibri" panose="020F0502020204030204" pitchFamily="34" charset="0"/>
                <a:cs typeface="Calibri" panose="020F0502020204030204" pitchFamily="34" charset="0"/>
              </a:rPr>
              <a:t>Lysine (animal feed additive) producers, 1990s:</a:t>
            </a:r>
          </a:p>
          <a:p>
            <a:pPr lvl="1"/>
            <a:r>
              <a:rPr lang="en-US" sz="2400" dirty="0">
                <a:latin typeface="Calibri" panose="020F0502020204030204" pitchFamily="34" charset="0"/>
                <a:cs typeface="Calibri" panose="020F0502020204030204" pitchFamily="34" charset="0"/>
              </a:rPr>
              <a:t>Met in hotels to fix prices and divide market</a:t>
            </a:r>
          </a:p>
          <a:p>
            <a:pPr lvl="1"/>
            <a:r>
              <a:rPr lang="en-US" sz="2400" dirty="0">
                <a:latin typeface="Calibri" panose="020F0502020204030204" pitchFamily="34" charset="0"/>
                <a:cs typeface="Calibri" panose="020F0502020204030204" pitchFamily="34" charset="0"/>
              </a:rPr>
              <a:t>FBI wiretapped meetings</a:t>
            </a:r>
          </a:p>
          <a:p>
            <a:pPr lvl="1"/>
            <a:r>
              <a:rPr lang="en-US" sz="2400" dirty="0">
                <a:latin typeface="Calibri" panose="020F0502020204030204" pitchFamily="34" charset="0"/>
                <a:cs typeface="Calibri" panose="020F0502020204030204" pitchFamily="34" charset="0"/>
              </a:rPr>
              <a:t>Executive quote: "Your competitors are your friends. Your customers are the enemy."</a:t>
            </a:r>
          </a:p>
          <a:p>
            <a:pPr marL="0" indent="0">
              <a:buNone/>
            </a:pPr>
            <a:endParaRPr lang="en-US" sz="2400" dirty="0">
              <a:latin typeface="Calibri" panose="020F0502020204030204" pitchFamily="34" charset="0"/>
              <a:cs typeface="Calibri" panose="020F0502020204030204" pitchFamily="34" charset="0"/>
            </a:endParaRPr>
          </a:p>
          <a:p>
            <a:pPr marL="0" indent="0">
              <a:buNone/>
            </a:pPr>
            <a:r>
              <a:rPr lang="en-US" sz="2400" dirty="0">
                <a:latin typeface="Calibri" panose="020F0502020204030204" pitchFamily="34" charset="0"/>
                <a:cs typeface="Calibri" panose="020F0502020204030204" pitchFamily="34" charset="0"/>
              </a:rPr>
              <a:t>Result:</a:t>
            </a:r>
          </a:p>
          <a:p>
            <a:r>
              <a:rPr lang="en-US" sz="2400" dirty="0">
                <a:latin typeface="Calibri" panose="020F0502020204030204" pitchFamily="34" charset="0"/>
                <a:cs typeface="Calibri" panose="020F0502020204030204" pitchFamily="34" charset="0"/>
              </a:rPr>
              <a:t>Prices doubled during cartel</a:t>
            </a:r>
          </a:p>
          <a:p>
            <a:r>
              <a:rPr lang="en-US" sz="2400" dirty="0">
                <a:latin typeface="Calibri" panose="020F0502020204030204" pitchFamily="34" charset="0"/>
                <a:cs typeface="Calibri" panose="020F0502020204030204" pitchFamily="34" charset="0"/>
              </a:rPr>
              <a:t>ADM fined $100 million</a:t>
            </a:r>
          </a:p>
          <a:p>
            <a:r>
              <a:rPr lang="en-US" sz="2400" dirty="0">
                <a:latin typeface="Calibri" panose="020F0502020204030204" pitchFamily="34" charset="0"/>
                <a:cs typeface="Calibri" panose="020F0502020204030204" pitchFamily="34" charset="0"/>
              </a:rPr>
              <a:t>Executives imprisoned 24-30 months</a:t>
            </a:r>
          </a:p>
          <a:p>
            <a:pPr marL="0" indent="0">
              <a:buNone/>
            </a:pPr>
            <a:endParaRPr lang="en-US" sz="2400" dirty="0">
              <a:latin typeface="Calibri" panose="020F0502020204030204" pitchFamily="34" charset="0"/>
              <a:cs typeface="Calibri" panose="020F0502020204030204" pitchFamily="34" charset="0"/>
            </a:endParaRPr>
          </a:p>
          <a:p>
            <a:pPr marL="0" indent="0">
              <a:buNone/>
            </a:pPr>
            <a:r>
              <a:rPr lang="en-US" sz="2400" dirty="0">
                <a:latin typeface="Calibri" panose="020F0502020204030204" pitchFamily="34" charset="0"/>
                <a:cs typeface="Calibri" panose="020F0502020204030204" pitchFamily="34" charset="0"/>
              </a:rPr>
              <a:t>Lesson: Strong temptation to collude, but cartels eventually collapse.</a:t>
            </a:r>
          </a:p>
          <a:p>
            <a:pPr marL="0" indent="0">
              <a:buNone/>
            </a:pPr>
            <a:endParaRPr lang="en-US" dirty="0"/>
          </a:p>
        </p:txBody>
      </p:sp>
    </p:spTree>
    <p:extLst>
      <p:ext uri="{BB962C8B-B14F-4D97-AF65-F5344CB8AC3E}">
        <p14:creationId xmlns:p14="http://schemas.microsoft.com/office/powerpoint/2010/main" val="2724442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3BC781F-B4EF-C254-89BE-CD9BD96906DF}"/>
              </a:ext>
            </a:extLst>
          </p:cNvPr>
          <p:cNvSpPr>
            <a:spLocks noGrp="1"/>
          </p:cNvSpPr>
          <p:nvPr>
            <p:ph type="title"/>
          </p:nvPr>
        </p:nvSpPr>
        <p:spPr>
          <a:xfrm>
            <a:off x="677945" y="365126"/>
            <a:ext cx="10836110" cy="1033898"/>
          </a:xfrm>
        </p:spPr>
        <p:txBody>
          <a:bodyPr>
            <a:noAutofit/>
          </a:bodyPr>
          <a:lstStyle/>
          <a:p>
            <a:r>
              <a:rPr lang="en-US" b="0" dirty="0"/>
              <a:t>Enforcing Cooperation: The Kinked Demand Curve</a:t>
            </a:r>
          </a:p>
        </p:txBody>
      </p:sp>
      <p:sp>
        <p:nvSpPr>
          <p:cNvPr id="7" name="Content Placeholder 6">
            <a:extLst>
              <a:ext uri="{FF2B5EF4-FFF2-40B4-BE49-F238E27FC236}">
                <a16:creationId xmlns:a16="http://schemas.microsoft.com/office/drawing/2014/main" id="{17F2976C-6994-6205-4081-3B31193427F8}"/>
              </a:ext>
            </a:extLst>
          </p:cNvPr>
          <p:cNvSpPr>
            <a:spLocks noGrp="1"/>
          </p:cNvSpPr>
          <p:nvPr>
            <p:ph idx="1"/>
          </p:nvPr>
        </p:nvSpPr>
        <p:spPr>
          <a:xfrm>
            <a:off x="677944" y="1695796"/>
            <a:ext cx="6454375" cy="5020888"/>
          </a:xfrm>
          <a:ln>
            <a:solidFill>
              <a:schemeClr val="tx1"/>
            </a:solidFill>
          </a:ln>
        </p:spPr>
        <p:txBody>
          <a:bodyPr>
            <a:normAutofit fontScale="92500" lnSpcReduction="10000"/>
          </a:bodyPr>
          <a:lstStyle/>
          <a:p>
            <a:pPr marL="0" indent="0">
              <a:buNone/>
            </a:pPr>
            <a:r>
              <a:rPr lang="en-US" sz="2400" dirty="0">
                <a:latin typeface="Calibri" panose="020F0502020204030204" pitchFamily="34" charset="0"/>
                <a:cs typeface="Calibri" panose="020F0502020204030204" pitchFamily="34" charset="0"/>
              </a:rPr>
              <a:t>Silent Collusion Without Written Agreements</a:t>
            </a:r>
          </a:p>
          <a:p>
            <a:pPr marL="0" indent="0">
              <a:buNone/>
            </a:pPr>
            <a:endParaRPr lang="en-US" sz="2400" dirty="0">
              <a:latin typeface="Calibri" panose="020F0502020204030204" pitchFamily="34" charset="0"/>
              <a:cs typeface="Calibri" panose="020F0502020204030204" pitchFamily="34" charset="0"/>
            </a:endParaRPr>
          </a:p>
          <a:p>
            <a:pPr marL="0" indent="0">
              <a:buNone/>
            </a:pPr>
            <a:r>
              <a:rPr lang="en-US" sz="2400" dirty="0">
                <a:latin typeface="Calibri" panose="020F0502020204030204" pitchFamily="34" charset="0"/>
                <a:cs typeface="Calibri" panose="020F0502020204030204" pitchFamily="34" charset="0"/>
              </a:rPr>
              <a:t>Strategy: Match all price cuts, ignore price increases</a:t>
            </a:r>
          </a:p>
          <a:p>
            <a:pPr marL="0" indent="0">
              <a:buNone/>
            </a:pPr>
            <a:r>
              <a:rPr lang="en-US" sz="2400" dirty="0">
                <a:latin typeface="Calibri" panose="020F0502020204030204" pitchFamily="34" charset="0"/>
                <a:cs typeface="Calibri" panose="020F0502020204030204" pitchFamily="34" charset="0"/>
              </a:rPr>
              <a:t>If firm cuts price: Rivals match immediately → Small sales gain</a:t>
            </a:r>
            <a:br>
              <a:rPr lang="en-US" sz="2400" dirty="0">
                <a:latin typeface="Calibri" panose="020F0502020204030204" pitchFamily="34" charset="0"/>
                <a:cs typeface="Calibri" panose="020F0502020204030204" pitchFamily="34" charset="0"/>
              </a:rPr>
            </a:br>
            <a:r>
              <a:rPr lang="en-US" sz="2400" dirty="0">
                <a:latin typeface="Calibri" panose="020F0502020204030204" pitchFamily="34" charset="0"/>
                <a:cs typeface="Calibri" panose="020F0502020204030204" pitchFamily="34" charset="0"/>
              </a:rPr>
              <a:t>If firm raises price: Rivals don't match → Large sales loss</a:t>
            </a:r>
          </a:p>
          <a:p>
            <a:pPr marL="0" indent="0">
              <a:buNone/>
            </a:pPr>
            <a:endParaRPr lang="en-US" sz="2400" dirty="0">
              <a:latin typeface="Calibri" panose="020F0502020204030204" pitchFamily="34" charset="0"/>
              <a:cs typeface="Calibri" panose="020F0502020204030204" pitchFamily="34" charset="0"/>
            </a:endParaRPr>
          </a:p>
          <a:p>
            <a:pPr marL="0" indent="0">
              <a:buNone/>
            </a:pPr>
            <a:r>
              <a:rPr lang="en-US" sz="2400" dirty="0">
                <a:latin typeface="Calibri" panose="020F0502020204030204" pitchFamily="34" charset="0"/>
                <a:cs typeface="Calibri" panose="020F0502020204030204" pitchFamily="34" charset="0"/>
              </a:rPr>
              <a:t>Result: No incentive to change price—"kink" at agreed price</a:t>
            </a:r>
          </a:p>
          <a:p>
            <a:pPr marL="0" indent="0">
              <a:buNone/>
            </a:pPr>
            <a:endParaRPr lang="en-US" sz="2400" dirty="0">
              <a:latin typeface="Calibri" panose="020F0502020204030204" pitchFamily="34" charset="0"/>
              <a:cs typeface="Calibri" panose="020F0502020204030204" pitchFamily="34" charset="0"/>
            </a:endParaRPr>
          </a:p>
          <a:p>
            <a:pPr marL="0" indent="0">
              <a:buNone/>
            </a:pPr>
            <a:r>
              <a:rPr lang="en-US" sz="2400" dirty="0">
                <a:latin typeface="Calibri" panose="020F0502020204030204" pitchFamily="34" charset="0"/>
                <a:cs typeface="Calibri" panose="020F0502020204030204" pitchFamily="34" charset="0"/>
              </a:rPr>
              <a:t>Analogy: Mutually Assured Destruction (MAD) in Cold War—cooperation through threat of retaliation</a:t>
            </a:r>
          </a:p>
          <a:p>
            <a:endParaRPr lang="en-US" dirty="0"/>
          </a:p>
        </p:txBody>
      </p:sp>
      <p:pic>
        <p:nvPicPr>
          <p:cNvPr id="2" name="Picture 1">
            <a:extLst>
              <a:ext uri="{FF2B5EF4-FFF2-40B4-BE49-F238E27FC236}">
                <a16:creationId xmlns:a16="http://schemas.microsoft.com/office/drawing/2014/main" id="{A79AF8AD-A442-51A2-6183-11992C2E9B6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334871" y="2626822"/>
            <a:ext cx="4179184" cy="3169750"/>
          </a:xfrm>
          <a:prstGeom prst="rect">
            <a:avLst/>
          </a:prstGeom>
          <a:ln>
            <a:solidFill>
              <a:schemeClr val="tx1"/>
            </a:solidFill>
          </a:ln>
        </p:spPr>
      </p:pic>
    </p:spTree>
    <p:extLst>
      <p:ext uri="{BB962C8B-B14F-4D97-AF65-F5344CB8AC3E}">
        <p14:creationId xmlns:p14="http://schemas.microsoft.com/office/powerpoint/2010/main" val="3202794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4A2495-534C-5E85-2DB9-DB7C12877F1D}"/>
              </a:ext>
            </a:extLst>
          </p:cNvPr>
          <p:cNvSpPr>
            <a:spLocks noGrp="1"/>
          </p:cNvSpPr>
          <p:nvPr>
            <p:ph type="title"/>
          </p:nvPr>
        </p:nvSpPr>
        <p:spPr>
          <a:xfrm>
            <a:off x="593103" y="346273"/>
            <a:ext cx="10515600" cy="734382"/>
          </a:xfrm>
        </p:spPr>
        <p:txBody>
          <a:bodyPr>
            <a:noAutofit/>
          </a:bodyPr>
          <a:lstStyle/>
          <a:p>
            <a:r>
              <a:rPr lang="en-US" b="0" dirty="0"/>
              <a:t>Market Structure Comparison</a:t>
            </a:r>
          </a:p>
        </p:txBody>
      </p:sp>
      <p:graphicFrame>
        <p:nvGraphicFramePr>
          <p:cNvPr id="2" name="Table 1">
            <a:extLst>
              <a:ext uri="{FF2B5EF4-FFF2-40B4-BE49-F238E27FC236}">
                <a16:creationId xmlns:a16="http://schemas.microsoft.com/office/drawing/2014/main" id="{E98EE10F-5219-7D6E-FF3B-1364244E35F1}"/>
              </a:ext>
            </a:extLst>
          </p:cNvPr>
          <p:cNvGraphicFramePr>
            <a:graphicFrameLocks noGrp="1"/>
          </p:cNvGraphicFramePr>
          <p:nvPr>
            <p:extLst>
              <p:ext uri="{D42A27DB-BD31-4B8C-83A1-F6EECF244321}">
                <p14:modId xmlns:p14="http://schemas.microsoft.com/office/powerpoint/2010/main" val="30155934"/>
              </p:ext>
            </p:extLst>
          </p:nvPr>
        </p:nvGraphicFramePr>
        <p:xfrm>
          <a:off x="881149" y="1413164"/>
          <a:ext cx="10227555" cy="4804753"/>
        </p:xfrm>
        <a:graphic>
          <a:graphicData uri="http://schemas.openxmlformats.org/drawingml/2006/table">
            <a:tbl>
              <a:tblPr firstRow="1"/>
              <a:tblGrid>
                <a:gridCol w="2045511">
                  <a:extLst>
                    <a:ext uri="{9D8B030D-6E8A-4147-A177-3AD203B41FA5}">
                      <a16:colId xmlns:a16="http://schemas.microsoft.com/office/drawing/2014/main" val="74380097"/>
                    </a:ext>
                  </a:extLst>
                </a:gridCol>
                <a:gridCol w="2045511">
                  <a:extLst>
                    <a:ext uri="{9D8B030D-6E8A-4147-A177-3AD203B41FA5}">
                      <a16:colId xmlns:a16="http://schemas.microsoft.com/office/drawing/2014/main" val="519677894"/>
                    </a:ext>
                  </a:extLst>
                </a:gridCol>
                <a:gridCol w="2045511">
                  <a:extLst>
                    <a:ext uri="{9D8B030D-6E8A-4147-A177-3AD203B41FA5}">
                      <a16:colId xmlns:a16="http://schemas.microsoft.com/office/drawing/2014/main" val="4196459312"/>
                    </a:ext>
                  </a:extLst>
                </a:gridCol>
                <a:gridCol w="2045511">
                  <a:extLst>
                    <a:ext uri="{9D8B030D-6E8A-4147-A177-3AD203B41FA5}">
                      <a16:colId xmlns:a16="http://schemas.microsoft.com/office/drawing/2014/main" val="773564171"/>
                    </a:ext>
                  </a:extLst>
                </a:gridCol>
                <a:gridCol w="2045511">
                  <a:extLst>
                    <a:ext uri="{9D8B030D-6E8A-4147-A177-3AD203B41FA5}">
                      <a16:colId xmlns:a16="http://schemas.microsoft.com/office/drawing/2014/main" val="2770961068"/>
                    </a:ext>
                  </a:extLst>
                </a:gridCol>
              </a:tblGrid>
              <a:tr h="727035">
                <a:tc>
                  <a:txBody>
                    <a:bodyPr/>
                    <a:lstStyle/>
                    <a:p>
                      <a:pPr algn="l">
                        <a:buNone/>
                      </a:pPr>
                      <a:r>
                        <a:rPr lang="en-US" sz="2000" dirty="0">
                          <a:effectLst/>
                          <a:latin typeface="Calibri" panose="020F0502020204030204" pitchFamily="34" charset="0"/>
                          <a:cs typeface="Calibri" panose="020F0502020204030204" pitchFamily="34" charset="0"/>
                        </a:rPr>
                        <a:t>Feature</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buNone/>
                      </a:pPr>
                      <a:r>
                        <a:rPr lang="en-US" sz="2000">
                          <a:effectLst/>
                          <a:latin typeface="Calibri" panose="020F0502020204030204" pitchFamily="34" charset="0"/>
                          <a:cs typeface="Calibri" panose="020F0502020204030204" pitchFamily="34" charset="0"/>
                        </a:rPr>
                        <a:t>Perfect Competition</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buNone/>
                      </a:pPr>
                      <a:r>
                        <a:rPr lang="en-US" sz="2000">
                          <a:effectLst/>
                          <a:latin typeface="Calibri" panose="020F0502020204030204" pitchFamily="34" charset="0"/>
                          <a:cs typeface="Calibri" panose="020F0502020204030204" pitchFamily="34" charset="0"/>
                        </a:rPr>
                        <a:t>Monopolistic Competition</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buNone/>
                      </a:pPr>
                      <a:r>
                        <a:rPr lang="en-US" sz="2000">
                          <a:effectLst/>
                          <a:latin typeface="Calibri" panose="020F0502020204030204" pitchFamily="34" charset="0"/>
                          <a:cs typeface="Calibri" panose="020F0502020204030204" pitchFamily="34" charset="0"/>
                        </a:rPr>
                        <a:t>Oligopoly</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l">
                        <a:buNone/>
                      </a:pPr>
                      <a:r>
                        <a:rPr lang="en-US" sz="2000" dirty="0">
                          <a:effectLst/>
                          <a:latin typeface="Calibri" panose="020F0502020204030204" pitchFamily="34" charset="0"/>
                          <a:cs typeface="Calibri" panose="020F0502020204030204" pitchFamily="34" charset="0"/>
                        </a:rPr>
                        <a:t>Monopoly</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3388365809"/>
                  </a:ext>
                </a:extLst>
              </a:tr>
              <a:tr h="442543">
                <a:tc>
                  <a:txBody>
                    <a:bodyPr/>
                    <a:lstStyle/>
                    <a:p>
                      <a:pPr algn="l">
                        <a:buNone/>
                      </a:pPr>
                      <a:r>
                        <a:rPr lang="en-US" sz="2000">
                          <a:effectLst/>
                          <a:latin typeface="Calibri" panose="020F0502020204030204" pitchFamily="34" charset="0"/>
                          <a:cs typeface="Calibri" panose="020F0502020204030204" pitchFamily="34" charset="0"/>
                        </a:rPr>
                        <a:t># of Firms</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Many</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Many</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Few</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One</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1711073"/>
                  </a:ext>
                </a:extLst>
              </a:tr>
              <a:tr h="727035">
                <a:tc>
                  <a:txBody>
                    <a:bodyPr/>
                    <a:lstStyle/>
                    <a:p>
                      <a:pPr algn="l">
                        <a:buNone/>
                      </a:pPr>
                      <a:r>
                        <a:rPr lang="en-US" sz="2000" b="1">
                          <a:effectLst/>
                          <a:latin typeface="Calibri" panose="020F0502020204030204" pitchFamily="34" charset="0"/>
                          <a:cs typeface="Calibri" panose="020F0502020204030204" pitchFamily="34" charset="0"/>
                        </a:rPr>
                        <a:t>Entry Barriers</a:t>
                      </a:r>
                      <a:endParaRPr lang="en-US" sz="2000">
                        <a:effectLst/>
                        <a:latin typeface="Calibri" panose="020F0502020204030204" pitchFamily="34" charset="0"/>
                        <a:cs typeface="Calibri" panose="020F0502020204030204" pitchFamily="34" charset="0"/>
                      </a:endParaRP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None</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Low</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High</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Very High</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8712977"/>
                  </a:ext>
                </a:extLst>
              </a:tr>
              <a:tr h="727035">
                <a:tc>
                  <a:txBody>
                    <a:bodyPr/>
                    <a:lstStyle/>
                    <a:p>
                      <a:pPr algn="l">
                        <a:buNone/>
                      </a:pPr>
                      <a:r>
                        <a:rPr lang="en-US" sz="2000" b="1">
                          <a:effectLst/>
                          <a:latin typeface="Calibri" panose="020F0502020204030204" pitchFamily="34" charset="0"/>
                          <a:cs typeface="Calibri" panose="020F0502020204030204" pitchFamily="34" charset="0"/>
                        </a:rPr>
                        <a:t>Product Type</a:t>
                      </a:r>
                      <a:endParaRPr lang="en-US" sz="2000">
                        <a:effectLst/>
                        <a:latin typeface="Calibri" panose="020F0502020204030204" pitchFamily="34" charset="0"/>
                        <a:cs typeface="Calibri" panose="020F0502020204030204" pitchFamily="34" charset="0"/>
                      </a:endParaRP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Identical</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Differentiated</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Similar/Differentiated</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Unique</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3141171"/>
                  </a:ext>
                </a:extLst>
              </a:tr>
              <a:tr h="727035">
                <a:tc>
                  <a:txBody>
                    <a:bodyPr/>
                    <a:lstStyle/>
                    <a:p>
                      <a:pPr algn="l">
                        <a:buNone/>
                      </a:pPr>
                      <a:r>
                        <a:rPr lang="en-US" sz="2000" b="1">
                          <a:effectLst/>
                          <a:latin typeface="Calibri" panose="020F0502020204030204" pitchFamily="34" charset="0"/>
                          <a:cs typeface="Calibri" panose="020F0502020204030204" pitchFamily="34" charset="0"/>
                        </a:rPr>
                        <a:t>Market Power</a:t>
                      </a:r>
                      <a:endParaRPr lang="en-US" sz="2000">
                        <a:effectLst/>
                        <a:latin typeface="Calibri" panose="020F0502020204030204" pitchFamily="34" charset="0"/>
                        <a:cs typeface="Calibri" panose="020F0502020204030204" pitchFamily="34" charset="0"/>
                      </a:endParaRP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None</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Some</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Moderate-High</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Maximum</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848097"/>
                  </a:ext>
                </a:extLst>
              </a:tr>
              <a:tr h="727035">
                <a:tc>
                  <a:txBody>
                    <a:bodyPr/>
                    <a:lstStyle/>
                    <a:p>
                      <a:pPr algn="l">
                        <a:buNone/>
                      </a:pPr>
                      <a:r>
                        <a:rPr lang="en-US" sz="2000" b="1">
                          <a:effectLst/>
                          <a:latin typeface="Calibri" panose="020F0502020204030204" pitchFamily="34" charset="0"/>
                          <a:cs typeface="Calibri" panose="020F0502020204030204" pitchFamily="34" charset="0"/>
                        </a:rPr>
                        <a:t>Long-Run Profit</a:t>
                      </a:r>
                      <a:endParaRPr lang="en-US" sz="2000">
                        <a:effectLst/>
                        <a:latin typeface="Calibri" panose="020F0502020204030204" pitchFamily="34" charset="0"/>
                        <a:cs typeface="Calibri" panose="020F0502020204030204" pitchFamily="34" charset="0"/>
                      </a:endParaRP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Zero</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Zero</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dirty="0">
                          <a:effectLst/>
                          <a:latin typeface="Calibri" panose="020F0502020204030204" pitchFamily="34" charset="0"/>
                          <a:cs typeface="Calibri" panose="020F0502020204030204" pitchFamily="34" charset="0"/>
                        </a:rPr>
                        <a:t>Possible</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Possible</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7033677"/>
                  </a:ext>
                </a:extLst>
              </a:tr>
              <a:tr h="727035">
                <a:tc>
                  <a:txBody>
                    <a:bodyPr/>
                    <a:lstStyle/>
                    <a:p>
                      <a:pPr algn="l">
                        <a:buNone/>
                      </a:pPr>
                      <a:r>
                        <a:rPr lang="en-US" sz="2000" b="1">
                          <a:effectLst/>
                          <a:latin typeface="Calibri" panose="020F0502020204030204" pitchFamily="34" charset="0"/>
                          <a:cs typeface="Calibri" panose="020F0502020204030204" pitchFamily="34" charset="0"/>
                        </a:rPr>
                        <a:t>Efficiency</a:t>
                      </a:r>
                      <a:endParaRPr lang="en-US" sz="2000">
                        <a:effectLst/>
                        <a:latin typeface="Calibri" panose="020F0502020204030204" pitchFamily="34" charset="0"/>
                        <a:cs typeface="Calibri" panose="020F0502020204030204" pitchFamily="34" charset="0"/>
                      </a:endParaRP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Productive &amp; Allocative</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Neither</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a:effectLst/>
                          <a:latin typeface="Calibri" panose="020F0502020204030204" pitchFamily="34" charset="0"/>
                          <a:cs typeface="Calibri" panose="020F0502020204030204" pitchFamily="34" charset="0"/>
                        </a:rPr>
                        <a:t>Neither</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2000" dirty="0">
                          <a:effectLst/>
                          <a:latin typeface="Calibri" panose="020F0502020204030204" pitchFamily="34" charset="0"/>
                          <a:cs typeface="Calibri" panose="020F0502020204030204" pitchFamily="34" charset="0"/>
                        </a:rPr>
                        <a:t>Neither</a:t>
                      </a:r>
                    </a:p>
                  </a:txBody>
                  <a:tcPr marL="51019" marR="51019" marT="51019" marB="510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5672206"/>
                  </a:ext>
                </a:extLst>
              </a:tr>
            </a:tbl>
          </a:graphicData>
        </a:graphic>
      </p:graphicFrame>
    </p:spTree>
    <p:extLst>
      <p:ext uri="{BB962C8B-B14F-4D97-AF65-F5344CB8AC3E}">
        <p14:creationId xmlns:p14="http://schemas.microsoft.com/office/powerpoint/2010/main" val="333080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53A0E-D04B-0029-0A9B-3964018BB5D3}"/>
              </a:ext>
            </a:extLst>
          </p:cNvPr>
          <p:cNvSpPr>
            <a:spLocks noGrp="1"/>
          </p:cNvSpPr>
          <p:nvPr>
            <p:ph type="title"/>
          </p:nvPr>
        </p:nvSpPr>
        <p:spPr>
          <a:xfrm>
            <a:off x="838200" y="365126"/>
            <a:ext cx="10515600" cy="798656"/>
          </a:xfrm>
        </p:spPr>
        <p:txBody>
          <a:bodyPr>
            <a:normAutofit/>
          </a:bodyPr>
          <a:lstStyle/>
          <a:p>
            <a:r>
              <a:rPr lang="en-US" b="0" dirty="0"/>
              <a:t>Policy Implications</a:t>
            </a:r>
            <a:endParaRPr lang="en-US" dirty="0"/>
          </a:p>
        </p:txBody>
      </p:sp>
      <p:sp>
        <p:nvSpPr>
          <p:cNvPr id="3" name="Content Placeholder 2">
            <a:extLst>
              <a:ext uri="{FF2B5EF4-FFF2-40B4-BE49-F238E27FC236}">
                <a16:creationId xmlns:a16="http://schemas.microsoft.com/office/drawing/2014/main" id="{5E139249-B1C8-E58D-E4AA-8D2F24C2A1C1}"/>
              </a:ext>
            </a:extLst>
          </p:cNvPr>
          <p:cNvSpPr>
            <a:spLocks noGrp="1"/>
          </p:cNvSpPr>
          <p:nvPr>
            <p:ph idx="1"/>
          </p:nvPr>
        </p:nvSpPr>
        <p:spPr>
          <a:xfrm>
            <a:off x="838200" y="1413164"/>
            <a:ext cx="10515600" cy="5286894"/>
          </a:xfrm>
          <a:ln>
            <a:solidFill>
              <a:schemeClr val="tx1"/>
            </a:solidFill>
          </a:ln>
        </p:spPr>
        <p:txBody>
          <a:bodyPr>
            <a:normAutofit fontScale="77500" lnSpcReduction="20000"/>
          </a:bodyPr>
          <a:lstStyle/>
          <a:p>
            <a:pPr marL="0" indent="0">
              <a:buNone/>
            </a:pPr>
            <a:r>
              <a:rPr lang="en-US" sz="2800" dirty="0">
                <a:latin typeface="Calibri" panose="020F0502020204030204" pitchFamily="34" charset="0"/>
                <a:cs typeface="Calibri" panose="020F0502020204030204" pitchFamily="34" charset="0"/>
              </a:rPr>
              <a:t>How Should Government Respond?	</a:t>
            </a:r>
          </a:p>
          <a:p>
            <a:pPr marL="0" indent="0">
              <a:buNone/>
            </a:pPr>
            <a:endParaRPr lang="en-US" sz="2800" dirty="0">
              <a:latin typeface="Calibri" panose="020F0502020204030204" pitchFamily="34" charset="0"/>
              <a:cs typeface="Calibri" panose="020F0502020204030204" pitchFamily="34" charset="0"/>
            </a:endParaRPr>
          </a:p>
          <a:p>
            <a:r>
              <a:rPr lang="en-US" sz="2800" dirty="0">
                <a:latin typeface="Calibri" panose="020F0502020204030204" pitchFamily="34" charset="0"/>
                <a:cs typeface="Calibri" panose="020F0502020204030204" pitchFamily="34" charset="0"/>
              </a:rPr>
              <a:t>Benefits of Imperfect Competition:</a:t>
            </a:r>
          </a:p>
          <a:p>
            <a:pPr lvl="1"/>
            <a:r>
              <a:rPr lang="en-US" sz="2600" dirty="0">
                <a:latin typeface="Calibri" panose="020F0502020204030204" pitchFamily="34" charset="0"/>
                <a:cs typeface="Calibri" panose="020F0502020204030204" pitchFamily="34" charset="0"/>
              </a:rPr>
              <a:t>Product variety and innovation (monopolistic competition)</a:t>
            </a:r>
          </a:p>
          <a:p>
            <a:pPr lvl="1"/>
            <a:r>
              <a:rPr lang="en-US" sz="2600" dirty="0">
                <a:latin typeface="Calibri" panose="020F0502020204030204" pitchFamily="34" charset="0"/>
                <a:cs typeface="Calibri" panose="020F0502020204030204" pitchFamily="34" charset="0"/>
              </a:rPr>
              <a:t>Economies of scale, lower costs (oligopoly)</a:t>
            </a:r>
          </a:p>
          <a:p>
            <a:pPr lvl="1"/>
            <a:r>
              <a:rPr lang="en-US" sz="2600" dirty="0">
                <a:latin typeface="Calibri" panose="020F0502020204030204" pitchFamily="34" charset="0"/>
                <a:cs typeface="Calibri" panose="020F0502020204030204" pitchFamily="34" charset="0"/>
              </a:rPr>
              <a:t>R&amp;D investment and technological progress</a:t>
            </a:r>
          </a:p>
          <a:p>
            <a:r>
              <a:rPr lang="en-US" sz="2800" dirty="0">
                <a:latin typeface="Calibri" panose="020F0502020204030204" pitchFamily="34" charset="0"/>
                <a:cs typeface="Calibri" panose="020F0502020204030204" pitchFamily="34" charset="0"/>
              </a:rPr>
              <a:t>Costs of Imperfect Competition:</a:t>
            </a:r>
          </a:p>
          <a:p>
            <a:pPr lvl="1"/>
            <a:r>
              <a:rPr lang="en-US" sz="2600" dirty="0">
                <a:latin typeface="Calibri" panose="020F0502020204030204" pitchFamily="34" charset="0"/>
                <a:cs typeface="Calibri" panose="020F0502020204030204" pitchFamily="34" charset="0"/>
              </a:rPr>
              <a:t>Higher prices than perfect competition</a:t>
            </a:r>
          </a:p>
          <a:p>
            <a:pPr lvl="1"/>
            <a:r>
              <a:rPr lang="en-US" sz="2600" dirty="0">
                <a:latin typeface="Calibri" panose="020F0502020204030204" pitchFamily="34" charset="0"/>
                <a:cs typeface="Calibri" panose="020F0502020204030204" pitchFamily="34" charset="0"/>
              </a:rPr>
              <a:t>Allocative and productive inefficiency</a:t>
            </a:r>
          </a:p>
          <a:p>
            <a:pPr lvl="1"/>
            <a:r>
              <a:rPr lang="en-US" sz="2600" dirty="0">
                <a:latin typeface="Calibri" panose="020F0502020204030204" pitchFamily="34" charset="0"/>
                <a:cs typeface="Calibri" panose="020F0502020204030204" pitchFamily="34" charset="0"/>
              </a:rPr>
              <a:t>Excessive advertising spending (wasteful?)</a:t>
            </a:r>
          </a:p>
          <a:p>
            <a:endParaRPr lang="en-US" sz="2800" dirty="0">
              <a:latin typeface="Calibri" panose="020F0502020204030204" pitchFamily="34" charset="0"/>
              <a:cs typeface="Calibri" panose="020F0502020204030204" pitchFamily="34" charset="0"/>
            </a:endParaRPr>
          </a:p>
          <a:p>
            <a:r>
              <a:rPr lang="en-US" sz="2800" dirty="0">
                <a:latin typeface="Calibri" panose="020F0502020204030204" pitchFamily="34" charset="0"/>
                <a:cs typeface="Calibri" panose="020F0502020204030204" pitchFamily="34" charset="0"/>
              </a:rPr>
              <a:t>Policy Challenge: Encourage beneficial behavior, discourage anti-competitive collusion</a:t>
            </a:r>
            <a:br>
              <a:rPr lang="en-US" dirty="0"/>
            </a:br>
            <a:endParaRPr lang="en-US" dirty="0"/>
          </a:p>
        </p:txBody>
      </p:sp>
    </p:spTree>
    <p:extLst>
      <p:ext uri="{BB962C8B-B14F-4D97-AF65-F5344CB8AC3E}">
        <p14:creationId xmlns:p14="http://schemas.microsoft.com/office/powerpoint/2010/main" val="2011518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1EFE0-9B88-41B6-0A72-4FF9F50EAA63}"/>
              </a:ext>
            </a:extLst>
          </p:cNvPr>
          <p:cNvSpPr>
            <a:spLocks noGrp="1"/>
          </p:cNvSpPr>
          <p:nvPr>
            <p:ph type="title"/>
          </p:nvPr>
        </p:nvSpPr>
        <p:spPr>
          <a:xfrm>
            <a:off x="838200" y="365126"/>
            <a:ext cx="10515600" cy="682278"/>
          </a:xfrm>
        </p:spPr>
        <p:txBody>
          <a:bodyPr>
            <a:noAutofit/>
          </a:bodyPr>
          <a:lstStyle/>
          <a:p>
            <a:r>
              <a:rPr lang="en-US" b="0" dirty="0"/>
              <a:t>Key Takeaways</a:t>
            </a:r>
            <a:endParaRPr lang="en-US" dirty="0"/>
          </a:p>
        </p:txBody>
      </p:sp>
      <p:sp>
        <p:nvSpPr>
          <p:cNvPr id="3" name="Content Placeholder 2">
            <a:extLst>
              <a:ext uri="{FF2B5EF4-FFF2-40B4-BE49-F238E27FC236}">
                <a16:creationId xmlns:a16="http://schemas.microsoft.com/office/drawing/2014/main" id="{B27A2C94-AB6C-0291-BC7E-35CFE8CB6E41}"/>
              </a:ext>
            </a:extLst>
          </p:cNvPr>
          <p:cNvSpPr>
            <a:spLocks noGrp="1"/>
          </p:cNvSpPr>
          <p:nvPr>
            <p:ph idx="1"/>
          </p:nvPr>
        </p:nvSpPr>
        <p:spPr>
          <a:xfrm>
            <a:off x="838200" y="1246909"/>
            <a:ext cx="10515600" cy="5386647"/>
          </a:xfrm>
          <a:ln>
            <a:solidFill>
              <a:schemeClr val="tx1"/>
            </a:solidFill>
          </a:ln>
        </p:spPr>
        <p:txBody>
          <a:bodyPr/>
          <a:lstStyle/>
          <a:p>
            <a:pPr marL="0" indent="0">
              <a:buNone/>
            </a:pPr>
            <a:r>
              <a:rPr lang="en-US" sz="2400" dirty="0">
                <a:latin typeface="Calibri" panose="020F0502020204030204" pitchFamily="34" charset="0"/>
                <a:cs typeface="Calibri" panose="020F0502020204030204" pitchFamily="34" charset="0"/>
              </a:rPr>
              <a:t>Monopolistic Competition:</a:t>
            </a:r>
          </a:p>
          <a:p>
            <a:pPr lvl="1"/>
            <a:r>
              <a:rPr lang="en-US" sz="2200" dirty="0">
                <a:latin typeface="Calibri" panose="020F0502020204030204" pitchFamily="34" charset="0"/>
                <a:cs typeface="Calibri" panose="020F0502020204030204" pitchFamily="34" charset="0"/>
              </a:rPr>
              <a:t>Many firms, differentiated products, easy entry</a:t>
            </a:r>
          </a:p>
          <a:p>
            <a:pPr lvl="1"/>
            <a:r>
              <a:rPr lang="en-US" sz="2200" dirty="0">
                <a:latin typeface="Calibri" panose="020F0502020204030204" pitchFamily="34" charset="0"/>
                <a:cs typeface="Calibri" panose="020F0502020204030204" pitchFamily="34" charset="0"/>
              </a:rPr>
              <a:t>Some market power in short run; zero profit in long run</a:t>
            </a:r>
          </a:p>
          <a:p>
            <a:pPr lvl="1"/>
            <a:r>
              <a:rPr lang="en-US" sz="2200" dirty="0">
                <a:latin typeface="Calibri" panose="020F0502020204030204" pitchFamily="34" charset="0"/>
                <a:cs typeface="Calibri" panose="020F0502020204030204" pitchFamily="34" charset="0"/>
              </a:rPr>
              <a:t>Inefficient but provides variety and innovation</a:t>
            </a:r>
          </a:p>
          <a:p>
            <a:endParaRPr lang="en-US" sz="2400" dirty="0">
              <a:latin typeface="Calibri" panose="020F0502020204030204" pitchFamily="34" charset="0"/>
              <a:cs typeface="Calibri" panose="020F0502020204030204" pitchFamily="34" charset="0"/>
            </a:endParaRPr>
          </a:p>
          <a:p>
            <a:pPr marL="0" indent="0">
              <a:buNone/>
            </a:pPr>
            <a:r>
              <a:rPr lang="en-US" sz="2400" dirty="0">
                <a:latin typeface="Calibri" panose="020F0502020204030204" pitchFamily="34" charset="0"/>
                <a:cs typeface="Calibri" panose="020F0502020204030204" pitchFamily="34" charset="0"/>
              </a:rPr>
              <a:t>Oligopoly:</a:t>
            </a:r>
          </a:p>
          <a:p>
            <a:pPr lvl="1"/>
            <a:r>
              <a:rPr lang="en-US" sz="2200" dirty="0">
                <a:latin typeface="Calibri" panose="020F0502020204030204" pitchFamily="34" charset="0"/>
                <a:cs typeface="Calibri" panose="020F0502020204030204" pitchFamily="34" charset="0"/>
              </a:rPr>
              <a:t>Few firms, high barriers, strategic interdependence</a:t>
            </a:r>
          </a:p>
          <a:p>
            <a:pPr lvl="1"/>
            <a:r>
              <a:rPr lang="en-US" sz="2200" dirty="0">
                <a:latin typeface="Calibri" panose="020F0502020204030204" pitchFamily="34" charset="0"/>
                <a:cs typeface="Calibri" panose="020F0502020204030204" pitchFamily="34" charset="0"/>
              </a:rPr>
              <a:t>Face dilemma: compete or collude?</a:t>
            </a:r>
          </a:p>
          <a:p>
            <a:pPr lvl="1"/>
            <a:r>
              <a:rPr lang="en-US" sz="2200" dirty="0">
                <a:latin typeface="Calibri" panose="020F0502020204030204" pitchFamily="34" charset="0"/>
                <a:cs typeface="Calibri" panose="020F0502020204030204" pitchFamily="34" charset="0"/>
              </a:rPr>
              <a:t>Can benefit consumers (scale) or harm them (collusion)</a:t>
            </a:r>
          </a:p>
          <a:p>
            <a:endParaRPr lang="en-US" sz="2400" dirty="0">
              <a:latin typeface="Calibri" panose="020F0502020204030204" pitchFamily="34" charset="0"/>
              <a:cs typeface="Calibri" panose="020F0502020204030204" pitchFamily="34" charset="0"/>
            </a:endParaRPr>
          </a:p>
          <a:p>
            <a:pPr marL="0" indent="0">
              <a:buNone/>
            </a:pPr>
            <a:r>
              <a:rPr lang="en-US" sz="2400" dirty="0">
                <a:latin typeface="Calibri" panose="020F0502020204030204" pitchFamily="34" charset="0"/>
                <a:cs typeface="Calibri" panose="020F0502020204030204" pitchFamily="34" charset="0"/>
              </a:rPr>
              <a:t>Both structures dominate real-world markets—understanding them is essential.</a:t>
            </a:r>
          </a:p>
          <a:p>
            <a:endParaRPr lang="en-US" dirty="0"/>
          </a:p>
        </p:txBody>
      </p:sp>
    </p:spTree>
    <p:extLst>
      <p:ext uri="{BB962C8B-B14F-4D97-AF65-F5344CB8AC3E}">
        <p14:creationId xmlns:p14="http://schemas.microsoft.com/office/powerpoint/2010/main" val="62568816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941</TotalTime>
  <Words>3899</Words>
  <Application>Microsoft Office PowerPoint</Application>
  <PresentationFormat>Widescreen</PresentationFormat>
  <Paragraphs>292</Paragraphs>
  <Slides>19</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Gill Sans MT</vt:lpstr>
      <vt:lpstr>Parcel</vt:lpstr>
      <vt:lpstr>Chapter 10</vt:lpstr>
      <vt:lpstr>The Soap Opera: When Competitors Meet in Secret</vt:lpstr>
      <vt:lpstr>Market Structure Spectrum</vt:lpstr>
      <vt:lpstr>Monopolistic Competition Defined</vt:lpstr>
      <vt:lpstr>Product Differentiation Strategies</vt:lpstr>
      <vt:lpstr>Demand Curves Compared</vt:lpstr>
      <vt:lpstr>Profit Maximization</vt:lpstr>
      <vt:lpstr>Long-Run Equilibrium</vt:lpstr>
      <vt:lpstr>Monopolistic Competition and Efficiency</vt:lpstr>
      <vt:lpstr>Oligopoly Defined</vt:lpstr>
      <vt:lpstr>Oligopoly Examples</vt:lpstr>
      <vt:lpstr>The Oligopolist's Dilemma</vt:lpstr>
      <vt:lpstr>Game Theory and the Prisoner's Dilemma</vt:lpstr>
      <vt:lpstr>Oligopoly Prisoner's Dilemma</vt:lpstr>
      <vt:lpstr>Real-World Collusion: The Lysine Cartel </vt:lpstr>
      <vt:lpstr>Enforcing Cooperation: The Kinked Demand Curve</vt:lpstr>
      <vt:lpstr>Market Structure Comparison</vt:lpstr>
      <vt:lpstr>Policy Implications</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Scott T Lane</dc:creator>
  <cp:lastModifiedBy>Scott T Lane</cp:lastModifiedBy>
  <cp:revision>1</cp:revision>
  <dcterms:created xsi:type="dcterms:W3CDTF">2025-05-05T14:11:37Z</dcterms:created>
  <dcterms:modified xsi:type="dcterms:W3CDTF">2026-04-21T12:10:32Z</dcterms:modified>
</cp:coreProperties>
</file>