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5" r:id="rId1"/>
  </p:sldMasterIdLst>
  <p:notesMasterIdLst>
    <p:notesMasterId r:id="rId20"/>
  </p:notesMasterIdLst>
  <p:sldIdLst>
    <p:sldId id="256" r:id="rId2"/>
    <p:sldId id="284" r:id="rId3"/>
    <p:sldId id="261" r:id="rId4"/>
    <p:sldId id="281" r:id="rId5"/>
    <p:sldId id="262" r:id="rId6"/>
    <p:sldId id="264" r:id="rId7"/>
    <p:sldId id="265" r:id="rId8"/>
    <p:sldId id="266" r:id="rId9"/>
    <p:sldId id="268" r:id="rId10"/>
    <p:sldId id="269" r:id="rId11"/>
    <p:sldId id="270" r:id="rId12"/>
    <p:sldId id="271" r:id="rId13"/>
    <p:sldId id="279" r:id="rId14"/>
    <p:sldId id="280" r:id="rId15"/>
    <p:sldId id="272" r:id="rId16"/>
    <p:sldId id="275" r:id="rId17"/>
    <p:sldId id="278" r:id="rId18"/>
    <p:sldId id="28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52F7B9-A0B5-49F1-B71F-57D4BCDBFABA}" v="2" dt="2026-04-14T11:43:12.126"/>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690" autoAdjust="0"/>
    <p:restoredTop sz="95519" autoAdjust="0"/>
  </p:normalViewPr>
  <p:slideViewPr>
    <p:cSldViewPr snapToGrid="0">
      <p:cViewPr varScale="1">
        <p:scale>
          <a:sx n="111" d="100"/>
          <a:sy n="111" d="100"/>
        </p:scale>
        <p:origin x="264"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T Lane" userId="c97bbaa9-35da-4a3b-a646-d12e455ac46e" providerId="ADAL" clId="{C8D54B54-DE85-4E6D-BD51-09B0B006B76A}"/>
    <pc:docChg chg="delSld">
      <pc:chgData name="Scott T Lane" userId="c97bbaa9-35da-4a3b-a646-d12e455ac46e" providerId="ADAL" clId="{C8D54B54-DE85-4E6D-BD51-09B0B006B76A}" dt="2026-04-14T12:29:00.705" v="0" actId="47"/>
      <pc:docMkLst>
        <pc:docMk/>
      </pc:docMkLst>
      <pc:sldChg chg="del">
        <pc:chgData name="Scott T Lane" userId="c97bbaa9-35da-4a3b-a646-d12e455ac46e" providerId="ADAL" clId="{C8D54B54-DE85-4E6D-BD51-09B0B006B76A}" dt="2026-04-14T12:29:00.705" v="0" actId="47"/>
        <pc:sldMkLst>
          <pc:docMk/>
          <pc:sldMk cId="3942775388" sldId="283"/>
        </pc:sldMkLst>
      </pc:sldChg>
    </pc:docChg>
  </pc:docChgLst>
  <pc:docChgLst>
    <pc:chgData name="Scott T Lane" userId="c97bbaa9-35da-4a3b-a646-d12e455ac46e" providerId="ADAL" clId="{2FF3E2E3-7818-4E76-9C63-7C10A568D9B9}"/>
    <pc:docChg chg="custSel addSld delSld modSld">
      <pc:chgData name="Scott T Lane" userId="c97bbaa9-35da-4a3b-a646-d12e455ac46e" providerId="ADAL" clId="{2FF3E2E3-7818-4E76-9C63-7C10A568D9B9}" dt="2026-04-14T12:20:08.769" v="402" actId="12"/>
      <pc:docMkLst>
        <pc:docMk/>
      </pc:docMkLst>
      <pc:sldChg chg="new del">
        <pc:chgData name="Scott T Lane" userId="c97bbaa9-35da-4a3b-a646-d12e455ac46e" providerId="ADAL" clId="{2FF3E2E3-7818-4E76-9C63-7C10A568D9B9}" dt="2026-04-14T11:39:54.626" v="1" actId="47"/>
        <pc:sldMkLst>
          <pc:docMk/>
          <pc:sldMk cId="656336127" sldId="283"/>
        </pc:sldMkLst>
      </pc:sldChg>
      <pc:sldChg chg="modSp new mod">
        <pc:chgData name="Scott T Lane" userId="c97bbaa9-35da-4a3b-a646-d12e455ac46e" providerId="ADAL" clId="{2FF3E2E3-7818-4E76-9C63-7C10A568D9B9}" dt="2026-04-14T11:42:41.704" v="271" actId="27636"/>
        <pc:sldMkLst>
          <pc:docMk/>
          <pc:sldMk cId="3942775388" sldId="283"/>
        </pc:sldMkLst>
        <pc:spChg chg="mod">
          <ac:chgData name="Scott T Lane" userId="c97bbaa9-35da-4a3b-a646-d12e455ac46e" providerId="ADAL" clId="{2FF3E2E3-7818-4E76-9C63-7C10A568D9B9}" dt="2026-04-14T11:42:36.391" v="269" actId="20577"/>
          <ac:spMkLst>
            <pc:docMk/>
            <pc:sldMk cId="3942775388" sldId="283"/>
            <ac:spMk id="2" creationId="{ADB76696-47D1-90C3-14CB-E37F37B77662}"/>
          </ac:spMkLst>
        </pc:spChg>
        <pc:spChg chg="mod">
          <ac:chgData name="Scott T Lane" userId="c97bbaa9-35da-4a3b-a646-d12e455ac46e" providerId="ADAL" clId="{2FF3E2E3-7818-4E76-9C63-7C10A568D9B9}" dt="2026-04-14T11:42:41.704" v="271" actId="27636"/>
          <ac:spMkLst>
            <pc:docMk/>
            <pc:sldMk cId="3942775388" sldId="283"/>
            <ac:spMk id="3" creationId="{A8A6B981-6228-8A11-4D08-942BFA551609}"/>
          </ac:spMkLst>
        </pc:spChg>
      </pc:sldChg>
      <pc:sldChg chg="modSp new mod">
        <pc:chgData name="Scott T Lane" userId="c97bbaa9-35da-4a3b-a646-d12e455ac46e" providerId="ADAL" clId="{2FF3E2E3-7818-4E76-9C63-7C10A568D9B9}" dt="2026-04-14T12:20:08.769" v="402" actId="12"/>
        <pc:sldMkLst>
          <pc:docMk/>
          <pc:sldMk cId="3511855627" sldId="284"/>
        </pc:sldMkLst>
        <pc:spChg chg="mod">
          <ac:chgData name="Scott T Lane" userId="c97bbaa9-35da-4a3b-a646-d12e455ac46e" providerId="ADAL" clId="{2FF3E2E3-7818-4E76-9C63-7C10A568D9B9}" dt="2026-04-14T11:43:24.783" v="293" actId="14100"/>
          <ac:spMkLst>
            <pc:docMk/>
            <pc:sldMk cId="3511855627" sldId="284"/>
            <ac:spMk id="2" creationId="{D049314E-8D63-B4B2-143E-EE180C3C0953}"/>
          </ac:spMkLst>
        </pc:spChg>
        <pc:spChg chg="mod">
          <ac:chgData name="Scott T Lane" userId="c97bbaa9-35da-4a3b-a646-d12e455ac46e" providerId="ADAL" clId="{2FF3E2E3-7818-4E76-9C63-7C10A568D9B9}" dt="2026-04-14T12:20:04.091" v="401" actId="12"/>
          <ac:spMkLst>
            <pc:docMk/>
            <pc:sldMk cId="3511855627" sldId="284"/>
            <ac:spMk id="3" creationId="{FE318635-493B-667B-7666-A8829A78ADAF}"/>
          </ac:spMkLst>
        </pc:spChg>
        <pc:spChg chg="mod">
          <ac:chgData name="Scott T Lane" userId="c97bbaa9-35da-4a3b-a646-d12e455ac46e" providerId="ADAL" clId="{2FF3E2E3-7818-4E76-9C63-7C10A568D9B9}" dt="2026-04-14T12:20:08.769" v="402" actId="12"/>
          <ac:spMkLst>
            <pc:docMk/>
            <pc:sldMk cId="3511855627" sldId="284"/>
            <ac:spMk id="4" creationId="{E83D8ECF-B5F2-6E5B-16A5-14A86ACD108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8F3A2-8E25-4A3A-A5C5-30CE7D552B9E}" type="datetimeFigureOut">
              <a:rPr lang="en-US" smtClean="0"/>
              <a:t>4/14/2026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92C0B-33F8-41E1-8332-0E4CBB15B695}" type="slidenum">
              <a:rPr lang="en-US" smtClean="0"/>
              <a:t>‹#›</a:t>
            </a:fld>
            <a:endParaRPr lang="en-US"/>
          </a:p>
        </p:txBody>
      </p:sp>
    </p:spTree>
    <p:extLst>
      <p:ext uri="{BB962C8B-B14F-4D97-AF65-F5344CB8AC3E}">
        <p14:creationId xmlns:p14="http://schemas.microsoft.com/office/powerpoint/2010/main" val="18186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Chapter 8 on Perfect Competition. This chapter explores a market structure where firms are "price takers"—they have no power to set their own prices and must accept whatever the market dictates. Think of it like being a single vendor at a massive farmer's market where everyone sells identical tomatoes. You can't charge more than your neighbors, or customers will simply walk two steps to the left. We'll explore how firms make decisions in this highly competitive environment, including what quantity to produce, when to stay in business, and when to exit the market.</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a:t>
            </a:fld>
            <a:endParaRPr lang="en-US"/>
          </a:p>
        </p:txBody>
      </p:sp>
    </p:spTree>
    <p:extLst>
      <p:ext uri="{BB962C8B-B14F-4D97-AF65-F5344CB8AC3E}">
        <p14:creationId xmlns:p14="http://schemas.microsoft.com/office/powerpoint/2010/main" val="873848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2</a:t>
            </a:fld>
            <a:endParaRPr lang="en-US"/>
          </a:p>
        </p:txBody>
      </p:sp>
    </p:spTree>
    <p:extLst>
      <p:ext uri="{BB962C8B-B14F-4D97-AF65-F5344CB8AC3E}">
        <p14:creationId xmlns:p14="http://schemas.microsoft.com/office/powerpoint/2010/main" val="3580264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Imagine attending a convention where everyone looks absolutely identical—same height, same clothes, same everything. That's perfect competition: products are so similar that buyers can't tell them apart. Four conditions define this market: First, many firms produce identical goods—winter wheat is winter wheat, regardless of who grows it. Second, numerous buyers and sellers exist with freedom to enter or leave. Third, everyone has complete information about prices and quality—no secrets. Fourth, there are no barriers preventing new firms from entering or existing firms from leaving. When all these conditions exist, individual firms become "price takers"—they must accept the market price because raising prices even slightly means losing all customers to identical competitors.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3</a:t>
            </a:fld>
            <a:endParaRPr lang="en-US"/>
          </a:p>
        </p:txBody>
      </p:sp>
    </p:spTree>
    <p:extLst>
      <p:ext uri="{BB962C8B-B14F-4D97-AF65-F5344CB8AC3E}">
        <p14:creationId xmlns:p14="http://schemas.microsoft.com/office/powerpoint/2010/main" val="736404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Perfect competition is rare but approximated in several markets. Agricultural commodities are the classic example: a bushel of #2 yellow corn from Iowa is identical to one from Illinois. In December 2021, U.S. corn farmers received an average of $5.47 per bushel—try charging $6.00 and you'll find zero buyers. Stock markets also approach perfect competition: one share of Apple stock is identical to any other share. Currency exchanges work similarly. My favorite real-world analogy? Imagine selling bottled water outside a stadium on a hot day. If ten vendors are there selling identical bottles, you charge what everyone else charges—maybe $2. Charge $3 and you sell nothing. Charge $1.50 and you'll be mobbed, but why would you when people will pay $2? That's the essence of being a price taker.</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4</a:t>
            </a:fld>
            <a:endParaRPr lang="en-US"/>
          </a:p>
        </p:txBody>
      </p:sp>
    </p:spTree>
    <p:extLst>
      <p:ext uri="{BB962C8B-B14F-4D97-AF65-F5344CB8AC3E}">
        <p14:creationId xmlns:p14="http://schemas.microsoft.com/office/powerpoint/2010/main" val="2153015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Perfectly competitive firms face exactly one major strategic decision: what quantity to produce? They're like musicians who must play at a venue's preset ticket price—they can't change the price, only decide whether to perform and how many shows to book. The firm accepts the market price as given and focuses entirely on the quantity decision. The profit-maximizing rule is beautifully simple: produce where marginal revenue equals marginal cost—where MR equals MC. Marginal revenue is the additional revenue from selling one more unit; marginal cost is the cost of producing one more unit. When these are equal, profit is maximized. Produce less and you're leaving money on the table. Produce more and each additional unit costs more than it earns. This MR = MC rule is the firm's North Star for decision-making.</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5</a:t>
            </a:fld>
            <a:endParaRPr lang="en-US"/>
          </a:p>
        </p:txBody>
      </p:sp>
    </p:spTree>
    <p:extLst>
      <p:ext uri="{BB962C8B-B14F-4D97-AF65-F5344CB8AC3E}">
        <p14:creationId xmlns:p14="http://schemas.microsoft.com/office/powerpoint/2010/main" val="2345462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6</a:t>
            </a:fld>
            <a:endParaRPr lang="en-US"/>
          </a:p>
        </p:txBody>
      </p:sp>
    </p:spTree>
    <p:extLst>
      <p:ext uri="{BB962C8B-B14F-4D97-AF65-F5344CB8AC3E}">
        <p14:creationId xmlns:p14="http://schemas.microsoft.com/office/powerpoint/2010/main" val="477490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make this concrete with a raspberry farmer. The market determines raspberries sell for $4 per pack—our farmer is a price taker and cannot change this. The farmer's decision is purely about quantity. Looking at the data, at 80 packs, marginal revenue (which equals the $4 price) intersects marginal cost at exactly $4. This is the sweet spot. Total revenue is $320 (80 packs times $4), total cost is $230, yielding a profit of $90. Why not produce 90 packs? Because marginal cost at 90 is $6.60—much higher than the $4 revenue each pack brings in. Producing that 90th pack loses $2.60. Why not produce only 70? Because marginal cost at 70 is $2.50—still below the $4 price, meaning we're leaving $1.50 of profit on the table. The 80-pack output is where profit maximization occurs.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8</a:t>
            </a:fld>
            <a:endParaRPr lang="en-US"/>
          </a:p>
        </p:txBody>
      </p:sp>
    </p:spTree>
    <p:extLst>
      <p:ext uri="{BB962C8B-B14F-4D97-AF65-F5344CB8AC3E}">
        <p14:creationId xmlns:p14="http://schemas.microsoft.com/office/powerpoint/2010/main" val="13672060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Even when firms produce at the profit-maximizing quantity where MR equals MC, three scenarios are possible depending on the relationship between price and average total cost. First, the profit zone: if market price exceeds average cost, the firm earns economic profits—this is the happy scenario. Each unit sold brings in more revenue than its average cost, creating a profit margin. Second, the break-even point: price exactly equals average cost. The firm makes zero economic profit—it's covering all its costs including opportunity costs, but not making extra. Think of this like a restaurant that pays all bills including the owner's salary but has nothing left over. Third, the loss zone: price falls below average cost. The firm loses money on each unit sold. But here's the surprising part—the firm may continue operating despite losses. Why? Because it might still cover variable costs and contribute something toward fixed costs that must be paid anyway.</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9</a:t>
            </a:fld>
            <a:endParaRPr lang="en-US"/>
          </a:p>
        </p:txBody>
      </p:sp>
    </p:spTree>
    <p:extLst>
      <p:ext uri="{BB962C8B-B14F-4D97-AF65-F5344CB8AC3E}">
        <p14:creationId xmlns:p14="http://schemas.microsoft.com/office/powerpoint/2010/main" val="1158984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Here's one of economics' most counterintuitive insights: firms sometimes should keep operating even when losing money. The key is distinguishing between fixed costs (already paid, like rent) and variable costs (like wages and materials). Imagine a yoga studio with a $10,000 monthly rent already committed. If they shut down, they lose $10,000. If they stay open and earn $20,000 in revenue with $15,000 in instructor costs, they lose only $5,000—that $20,000 revenue pays all the instructors and chips away $5,000 of the rent. Better to lose $5,000 than $10,000. The shutdown point is where price falls below average variable cost—meaning the business can't even pay its workers. At that point, shutting down immediately is better. It's like the sunk cost fallacy in reverse: you paid for the movie ticket (fixed cost), but if the movie is terrible, should you stay? Only if you get some enjoyment (variable benefit) from staying.</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10</a:t>
            </a:fld>
            <a:endParaRPr lang="en-US"/>
          </a:p>
        </p:txBody>
      </p:sp>
    </p:spTree>
    <p:extLst>
      <p:ext uri="{BB962C8B-B14F-4D97-AF65-F5344CB8AC3E}">
        <p14:creationId xmlns:p14="http://schemas.microsoft.com/office/powerpoint/2010/main" val="12837775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Perfect competition has a self-correcting mechanism over time. When firms earn economic profits, it's like finding gold in a stream—word gets out and new prospectors rush in. In markets, new firms enter when they see profits, increasing supply and driving down market price until profits disappear. Conversely, when firms lose money, they exit the market like prospectors leaving a depleted gold field. Firms leaving reduces supply, raising market price until losses stop. The long-run equilibrium occurs when all firms earn exactly zero economic profit. This doesn't mean they're struggling—zero economic profit means they're covering all costs including opportunity costs, earning a normal return. At this point, no new firms want to enter (no extra profits to attract them) and no existing firms want to leave (they're earning enough to stay). The equilibrium condition is price equals marginal revenue equals marginal cost equals average cost—a beautiful equality.</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14</a:t>
            </a:fld>
            <a:endParaRPr lang="en-US"/>
          </a:p>
        </p:txBody>
      </p:sp>
    </p:spTree>
    <p:extLst>
      <p:ext uri="{BB962C8B-B14F-4D97-AF65-F5344CB8AC3E}">
        <p14:creationId xmlns:p14="http://schemas.microsoft.com/office/powerpoint/2010/main" val="31035334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Industries respond differently to increased demand in the long run, depending on what happens to production costs. In a constant-cost industry, when demand increases, firms can expand output without costs changing—imagine farming on unlimited flat land where new farms cost exactly the same as existing ones. Price returns to its original level after the adjustment. In an increasing-cost industry, expansion raises costs—perhaps skilled workers become scarce or key inputs like lithium for batteries become expensive as more firms compete for them. Long-run price rises to reflect these higher costs. In a decreasing-cost industry—the most interesting case—expansion actually lowers costs, perhaps through technological improvements or economies of scale that benefit all firms. Think of computer chip manufacturing: as the industry grew, technology improved, and long-run prices fell dramatically. Most agricultural markets approximate constant-cost industries; many manufacturing sectors are increasing-cost; and high-tech industries often exhibit decreasing costs.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15</a:t>
            </a:fld>
            <a:endParaRPr lang="en-US"/>
          </a:p>
        </p:txBody>
      </p:sp>
    </p:spTree>
    <p:extLst>
      <p:ext uri="{BB962C8B-B14F-4D97-AF65-F5344CB8AC3E}">
        <p14:creationId xmlns:p14="http://schemas.microsoft.com/office/powerpoint/2010/main" val="20150909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Perfect competition is a theoretical ideal—like a perfect vacuum in physics or a frictionless plane in mechanics. Real markets diverge in important ways. Pollution represents an externality not captured in our model—the social cost exceeds private cost. Innovation constantly disrupts markets, giving temporary advantages to innovators. Income inequality means some people can't afford basic necessities even when markets function efficiently. Buyers and sellers rarely have perfect information—think about choosing a doctor or evaluating product quality. Governments intervene through regulations, taxes, and subsidies. And most markets feature some degree of market power rather than price-taking behavior. Despite these limitations, perfect competition remains incredibly valuable as a benchmark. It helps us identify market failures and evaluate policy interventions. When markets deviate from perfect competition, we can analyze why, assess the consequences, and consider whether intervention might improve outcomes. It's not a perfect description of reality, but rather a powerful analytical tool.</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17</a:t>
            </a:fld>
            <a:endParaRPr lang="en-US"/>
          </a:p>
        </p:txBody>
      </p:sp>
    </p:spTree>
    <p:extLst>
      <p:ext uri="{BB962C8B-B14F-4D97-AF65-F5344CB8AC3E}">
        <p14:creationId xmlns:p14="http://schemas.microsoft.com/office/powerpoint/2010/main" val="26934121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consolidate the key insights from this chapter. Perfect competition teaches us six fundamental lessons. First, when firms face many competitors selling identical products, they become price takers—their only strategic decision is quantity. Second, the profit-maximizing rule is elegantly simple: produce where marginal revenue equals marginal cost. Third, firms may rationally operate while losing money if they're covering variable costs and minimizing losses. Fourth, the long run brings a zero-profit equilibrium as entry and exit eliminate profits and losses. Fifth, perfect competition uniquely achieves both productive efficiency—producing at minimum cost—and allocative efficiency—producing the right goods in the right quantities. Sixth, while perfect competition rarely exists in pure form, it provides an essential benchmark for understanding real markets and evaluating policy interventions. These principles form the foundation for analyzing more realistic market structures like monopolistic competition and oligopoly in subsequent chapters.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18</a:t>
            </a:fld>
            <a:endParaRPr lang="en-US"/>
          </a:p>
        </p:txBody>
      </p:sp>
    </p:spTree>
    <p:extLst>
      <p:ext uri="{BB962C8B-B14F-4D97-AF65-F5344CB8AC3E}">
        <p14:creationId xmlns:p14="http://schemas.microsoft.com/office/powerpoint/2010/main" val="2467551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4/14/2026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8161019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4/14/2026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0467368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C764DE79-268F-4C1A-8933-263129D2AF90}" type="datetimeFigureOut">
              <a:rPr lang="en-US" smtClean="0"/>
              <a:t>4/14/2026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2347301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C764DE79-268F-4C1A-8933-263129D2AF90}" type="datetimeFigureOut">
              <a:rPr lang="en-US" smtClean="0"/>
              <a:t>4/14/2026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04868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C764DE79-268F-4C1A-8933-263129D2AF90}" type="datetimeFigureOut">
              <a:rPr lang="en-US" smtClean="0"/>
              <a:t>4/14/2026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6645236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4/14/2026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5466315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4/14/2026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9245883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buClr>
                <a:schemeClr val="tx1"/>
              </a:buClr>
              <a:defRPr sz="1900">
                <a:solidFill>
                  <a:schemeClr val="tx1"/>
                </a:solidFill>
              </a:defRPr>
            </a:lvl1pPr>
            <a:lvl2pPr>
              <a:buClr>
                <a:schemeClr val="tx1"/>
              </a:buClr>
              <a:defRPr sz="1600">
                <a:solidFill>
                  <a:schemeClr val="tx1"/>
                </a:solidFill>
              </a:defRPr>
            </a:lvl2pPr>
            <a:lvl3pPr>
              <a:buClr>
                <a:schemeClr val="tx1"/>
              </a:buClr>
              <a:defRPr sz="1600">
                <a:solidFill>
                  <a:schemeClr val="tx1"/>
                </a:solidFill>
              </a:defRPr>
            </a:lvl3pPr>
            <a:lvl4pPr>
              <a:buClr>
                <a:schemeClr val="tx1"/>
              </a:buClr>
              <a:defRPr sz="1600">
                <a:solidFill>
                  <a:schemeClr val="tx1"/>
                </a:solidFill>
              </a:defRPr>
            </a:lvl4pPr>
            <a:lvl5pPr>
              <a:buClr>
                <a:schemeClr val="tx1"/>
              </a:buCl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C764DE79-268F-4C1A-8933-263129D2AF90}" type="datetimeFigureOut">
              <a:rPr lang="en-US" smtClean="0"/>
              <a:t>4/14/2026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250638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C764DE79-268F-4C1A-8933-263129D2AF90}" type="datetimeFigureOut">
              <a:rPr lang="en-US" smtClean="0"/>
              <a:t>4/14/2026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7090768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8180942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4225927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433764"/>
            <a:ext cx="6675120" cy="513762"/>
          </a:xfrm>
        </p:spPr>
        <p:txBody>
          <a:bodyPr anchor="t">
            <a:normAutofit/>
          </a:bodyPr>
          <a:lstStyle>
            <a:lvl1pPr algn="l">
              <a:defRPr sz="2400"/>
            </a:lvl1pPr>
          </a:lstStyle>
          <a:p>
            <a:r>
              <a:rPr lang="en-US" dirty="0"/>
              <a:t>Click to edit Master title style</a:t>
            </a:r>
          </a:p>
        </p:txBody>
      </p:sp>
    </p:spTree>
    <p:extLst>
      <p:ext uri="{BB962C8B-B14F-4D97-AF65-F5344CB8AC3E}">
        <p14:creationId xmlns:p14="http://schemas.microsoft.com/office/powerpoint/2010/main" val="29001122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1383" y="365126"/>
            <a:ext cx="10515600" cy="424583"/>
          </a:xfrm>
        </p:spPr>
        <p:txBody>
          <a:bodyPr>
            <a:noAutofit/>
          </a:bodyPr>
          <a:lstStyle>
            <a:lvl1pPr>
              <a:defRPr sz="2400" b="1"/>
            </a:lvl1pPr>
          </a:lstStyle>
          <a:p>
            <a:r>
              <a:rPr lang="en-US" dirty="0"/>
              <a:t>Title</a:t>
            </a:r>
          </a:p>
        </p:txBody>
      </p:sp>
      <p:sp>
        <p:nvSpPr>
          <p:cNvPr id="3" name="Content Placeholder 2"/>
          <p:cNvSpPr>
            <a:spLocks noGrp="1"/>
          </p:cNvSpPr>
          <p:nvPr>
            <p:ph idx="1"/>
          </p:nvPr>
        </p:nvSpPr>
        <p:spPr>
          <a:xfrm>
            <a:off x="621383" y="1399024"/>
            <a:ext cx="10515600" cy="3796145"/>
          </a:xfrm>
        </p:spPr>
        <p:txBody>
          <a:bodyPr/>
          <a:lstStyle>
            <a:lvl1pPr>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66835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C764DE79-268F-4C1A-8933-263129D2AF90}" type="datetimeFigureOut">
              <a:rPr lang="en-US" smtClean="0"/>
              <a:t>4/14/2026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778446456"/>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tx1"/>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7D4F-ED2B-026B-3DCC-FC25D75BF3F3}"/>
              </a:ext>
            </a:extLst>
          </p:cNvPr>
          <p:cNvSpPr>
            <a:spLocks noGrp="1"/>
          </p:cNvSpPr>
          <p:nvPr>
            <p:ph type="ctrTitle"/>
          </p:nvPr>
        </p:nvSpPr>
        <p:spPr>
          <a:xfrm>
            <a:off x="7537528" y="1032764"/>
            <a:ext cx="4308672" cy="1171575"/>
          </a:xfrm>
        </p:spPr>
        <p:txBody>
          <a:bodyPr anchor="b">
            <a:normAutofit/>
          </a:bodyPr>
          <a:lstStyle/>
          <a:p>
            <a:r>
              <a:rPr lang="en-US" sz="5400" dirty="0"/>
              <a:t>Chapter 8</a:t>
            </a:r>
          </a:p>
        </p:txBody>
      </p:sp>
      <p:sp>
        <p:nvSpPr>
          <p:cNvPr id="3" name="Subtitle 2">
            <a:extLst>
              <a:ext uri="{FF2B5EF4-FFF2-40B4-BE49-F238E27FC236}">
                <a16:creationId xmlns:a16="http://schemas.microsoft.com/office/drawing/2014/main" id="{046F5DC3-0C75-250B-266C-A3F19543BE11}"/>
              </a:ext>
            </a:extLst>
          </p:cNvPr>
          <p:cNvSpPr>
            <a:spLocks noGrp="1"/>
          </p:cNvSpPr>
          <p:nvPr>
            <p:ph type="subTitle" idx="4294967295"/>
          </p:nvPr>
        </p:nvSpPr>
        <p:spPr>
          <a:xfrm>
            <a:off x="8619250" y="2461119"/>
            <a:ext cx="2143344" cy="471268"/>
          </a:xfrm>
          <a:ln>
            <a:solidFill>
              <a:srgbClr val="002060"/>
            </a:solidFill>
          </a:ln>
        </p:spPr>
        <p:txBody>
          <a:bodyPr anchor="t">
            <a:normAutofit/>
          </a:bodyPr>
          <a:lstStyle/>
          <a:p>
            <a:pPr marL="0" indent="0">
              <a:buNone/>
            </a:pPr>
            <a:r>
              <a:rPr lang="en-US" dirty="0"/>
              <a:t>Perfect Competition</a:t>
            </a:r>
          </a:p>
        </p:txBody>
      </p:sp>
      <p:pic>
        <p:nvPicPr>
          <p:cNvPr id="4" name="Picture 3" descr="Colored pencils inside a pencil holder which is on top of a wood table">
            <a:extLst>
              <a:ext uri="{FF2B5EF4-FFF2-40B4-BE49-F238E27FC236}">
                <a16:creationId xmlns:a16="http://schemas.microsoft.com/office/drawing/2014/main" id="{77531D5D-61A1-09F3-9506-55CD6D1C52C3}"/>
              </a:ext>
            </a:extLst>
          </p:cNvPr>
          <p:cNvPicPr>
            <a:picLocks noChangeAspect="1"/>
          </p:cNvPicPr>
          <p:nvPr/>
        </p:nvPicPr>
        <p:blipFill>
          <a:blip r:embed="rId3"/>
          <a:srcRect l="32539" r="-1" b="-1"/>
          <a:stretch/>
        </p:blipFill>
        <p:spPr>
          <a:xfrm>
            <a:off x="20" y="10"/>
            <a:ext cx="6931132" cy="6857990"/>
          </a:xfrm>
          <a:prstGeom prst="rect">
            <a:avLst/>
          </a:prstGeom>
        </p:spPr>
      </p:pic>
      <p:sp>
        <p:nvSpPr>
          <p:cNvPr id="5" name="TextBox 4">
            <a:extLst>
              <a:ext uri="{FF2B5EF4-FFF2-40B4-BE49-F238E27FC236}">
                <a16:creationId xmlns:a16="http://schemas.microsoft.com/office/drawing/2014/main" id="{04771DE1-C57F-4F3E-8472-6FE09869688C}"/>
              </a:ext>
            </a:extLst>
          </p:cNvPr>
          <p:cNvSpPr txBox="1"/>
          <p:nvPr/>
        </p:nvSpPr>
        <p:spPr>
          <a:xfrm>
            <a:off x="7888762" y="3556282"/>
            <a:ext cx="3604320" cy="369332"/>
          </a:xfrm>
          <a:prstGeom prst="rect">
            <a:avLst/>
          </a:prstGeom>
          <a:noFill/>
        </p:spPr>
        <p:txBody>
          <a:bodyPr wrap="none" rtlCol="0">
            <a:spAutoFit/>
          </a:bodyPr>
          <a:lstStyle/>
          <a:p>
            <a:r>
              <a:rPr lang="en-US" i="1" dirty="0"/>
              <a:t>“When You Are One Among Thousands”</a:t>
            </a:r>
          </a:p>
        </p:txBody>
      </p:sp>
    </p:spTree>
    <p:extLst>
      <p:ext uri="{BB962C8B-B14F-4D97-AF65-F5344CB8AC3E}">
        <p14:creationId xmlns:p14="http://schemas.microsoft.com/office/powerpoint/2010/main" val="2946475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9314E-8D63-B4B2-143E-EE180C3C0953}"/>
              </a:ext>
            </a:extLst>
          </p:cNvPr>
          <p:cNvSpPr>
            <a:spLocks noGrp="1"/>
          </p:cNvSpPr>
          <p:nvPr>
            <p:ph type="title"/>
          </p:nvPr>
        </p:nvSpPr>
        <p:spPr>
          <a:xfrm>
            <a:off x="2231136" y="409074"/>
            <a:ext cx="7729728" cy="1744338"/>
          </a:xfrm>
        </p:spPr>
        <p:txBody>
          <a:bodyPr>
            <a:normAutofit fontScale="90000"/>
          </a:bodyPr>
          <a:lstStyle/>
          <a:p>
            <a:r>
              <a:rPr lang="en-US" dirty="0"/>
              <a:t>Market Power</a:t>
            </a:r>
            <a:br>
              <a:rPr lang="en-US" dirty="0"/>
            </a:br>
            <a:br>
              <a:rPr lang="en-US" dirty="0"/>
            </a:br>
            <a:r>
              <a:rPr lang="en-US" sz="1800" dirty="0"/>
              <a:t>Classify these examples on a continuum of “no control over price” to “a lot of control over price”.</a:t>
            </a:r>
            <a:br>
              <a:rPr lang="en-US" dirty="0"/>
            </a:br>
            <a:endParaRPr lang="en-US" dirty="0"/>
          </a:p>
        </p:txBody>
      </p:sp>
      <p:sp>
        <p:nvSpPr>
          <p:cNvPr id="3" name="Content Placeholder 2">
            <a:extLst>
              <a:ext uri="{FF2B5EF4-FFF2-40B4-BE49-F238E27FC236}">
                <a16:creationId xmlns:a16="http://schemas.microsoft.com/office/drawing/2014/main" id="{FE318635-493B-667B-7666-A8829A78ADAF}"/>
              </a:ext>
            </a:extLst>
          </p:cNvPr>
          <p:cNvSpPr>
            <a:spLocks noGrp="1"/>
          </p:cNvSpPr>
          <p:nvPr>
            <p:ph sz="half" idx="1"/>
          </p:nvPr>
        </p:nvSpPr>
        <p:spPr>
          <a:ln>
            <a:solidFill>
              <a:schemeClr val="tx1"/>
            </a:solidFill>
          </a:ln>
        </p:spPr>
        <p:txBody>
          <a:bodyPr>
            <a:normAutofit lnSpcReduction="10000"/>
          </a:bodyPr>
          <a:lstStyle/>
          <a:p>
            <a:pPr marL="342900" indent="-342900">
              <a:buFont typeface="+mj-lt"/>
              <a:buAutoNum type="arabicPeriod"/>
            </a:pPr>
            <a:r>
              <a:rPr lang="en-US" dirty="0"/>
              <a:t>A wheat farmer</a:t>
            </a:r>
          </a:p>
          <a:p>
            <a:pPr marL="342900" indent="-342900">
              <a:buFont typeface="+mj-lt"/>
              <a:buAutoNum type="arabicPeriod"/>
            </a:pPr>
            <a:r>
              <a:rPr lang="en-US" dirty="0"/>
              <a:t>Google Search</a:t>
            </a:r>
          </a:p>
          <a:p>
            <a:pPr marL="342900" indent="-342900">
              <a:buFont typeface="+mj-lt"/>
              <a:buAutoNum type="arabicPeriod"/>
            </a:pPr>
            <a:r>
              <a:rPr lang="en-US" dirty="0"/>
              <a:t>Apple iPhone</a:t>
            </a:r>
          </a:p>
          <a:p>
            <a:pPr marL="342900" indent="-342900">
              <a:buFont typeface="+mj-lt"/>
              <a:buAutoNum type="arabicPeriod"/>
            </a:pPr>
            <a:r>
              <a:rPr lang="en-US" dirty="0" err="1"/>
              <a:t>Comporium</a:t>
            </a:r>
            <a:endParaRPr lang="en-US" dirty="0"/>
          </a:p>
          <a:p>
            <a:pPr marL="342900" indent="-342900">
              <a:buFont typeface="+mj-lt"/>
              <a:buAutoNum type="arabicPeriod"/>
            </a:pPr>
            <a:r>
              <a:rPr lang="en-US" dirty="0"/>
              <a:t>York Natural Gas</a:t>
            </a:r>
          </a:p>
          <a:p>
            <a:pPr marL="342900" indent="-342900">
              <a:buFont typeface="+mj-lt"/>
              <a:buAutoNum type="arabicPeriod"/>
            </a:pPr>
            <a:r>
              <a:rPr lang="en-US" dirty="0"/>
              <a:t>a soybean farmer</a:t>
            </a:r>
          </a:p>
          <a:p>
            <a:pPr marL="342900" indent="-342900">
              <a:buFont typeface="+mj-lt"/>
              <a:buAutoNum type="arabicPeriod"/>
            </a:pPr>
            <a:r>
              <a:rPr lang="en-US" dirty="0"/>
              <a:t>Dominos</a:t>
            </a:r>
          </a:p>
          <a:p>
            <a:pPr marL="342900" indent="-342900">
              <a:buFont typeface="+mj-lt"/>
              <a:buAutoNum type="arabicPeriod"/>
            </a:pPr>
            <a:r>
              <a:rPr lang="en-US" dirty="0"/>
              <a:t>Nike</a:t>
            </a:r>
          </a:p>
          <a:p>
            <a:endParaRPr lang="en-US" dirty="0"/>
          </a:p>
        </p:txBody>
      </p:sp>
      <p:sp>
        <p:nvSpPr>
          <p:cNvPr id="4" name="Content Placeholder 3">
            <a:extLst>
              <a:ext uri="{FF2B5EF4-FFF2-40B4-BE49-F238E27FC236}">
                <a16:creationId xmlns:a16="http://schemas.microsoft.com/office/drawing/2014/main" id="{E83D8ECF-B5F2-6E5B-16A5-14A86ACD1087}"/>
              </a:ext>
            </a:extLst>
          </p:cNvPr>
          <p:cNvSpPr>
            <a:spLocks noGrp="1"/>
          </p:cNvSpPr>
          <p:nvPr>
            <p:ph sz="half" idx="2"/>
          </p:nvPr>
        </p:nvSpPr>
        <p:spPr>
          <a:ln>
            <a:solidFill>
              <a:schemeClr val="tx1"/>
            </a:solidFill>
          </a:ln>
        </p:spPr>
        <p:txBody>
          <a:bodyPr>
            <a:normAutofit lnSpcReduction="10000"/>
          </a:bodyPr>
          <a:lstStyle/>
          <a:p>
            <a:pPr marL="342900" indent="-342900">
              <a:buFont typeface="+mj-lt"/>
              <a:buAutoNum type="arabicPeriod"/>
            </a:pPr>
            <a:r>
              <a:rPr lang="en-US" dirty="0"/>
              <a:t>Local farmer’s market stall</a:t>
            </a:r>
          </a:p>
          <a:p>
            <a:pPr marL="342900" indent="-342900">
              <a:buFont typeface="+mj-lt"/>
              <a:buAutoNum type="arabicPeriod"/>
            </a:pPr>
            <a:r>
              <a:rPr lang="en-US" dirty="0"/>
              <a:t>American Airlines</a:t>
            </a:r>
          </a:p>
          <a:p>
            <a:pPr marL="342900" indent="-342900">
              <a:buFont typeface="+mj-lt"/>
              <a:buAutoNum type="arabicPeriod"/>
            </a:pPr>
            <a:r>
              <a:rPr lang="en-US" dirty="0"/>
              <a:t>Boeing</a:t>
            </a:r>
          </a:p>
          <a:p>
            <a:pPr marL="342900" indent="-342900">
              <a:buFont typeface="+mj-lt"/>
              <a:buAutoNum type="arabicPeriod"/>
            </a:pPr>
            <a:r>
              <a:rPr lang="en-US" dirty="0"/>
              <a:t>Duke Energy</a:t>
            </a:r>
          </a:p>
          <a:p>
            <a:pPr marL="342900" indent="-342900">
              <a:buFont typeface="+mj-lt"/>
              <a:buAutoNum type="arabicPeriod"/>
            </a:pPr>
            <a:r>
              <a:rPr lang="en-US" dirty="0"/>
              <a:t>McDonalds</a:t>
            </a:r>
          </a:p>
          <a:p>
            <a:pPr marL="342900" indent="-342900">
              <a:buFont typeface="+mj-lt"/>
              <a:buAutoNum type="arabicPeriod"/>
            </a:pPr>
            <a:r>
              <a:rPr lang="en-US" dirty="0" err="1"/>
              <a:t>Sportclips</a:t>
            </a:r>
            <a:endParaRPr lang="en-US" dirty="0"/>
          </a:p>
          <a:p>
            <a:pPr marL="342900" indent="-342900">
              <a:buFont typeface="+mj-lt"/>
              <a:buAutoNum type="arabicPeriod"/>
            </a:pPr>
            <a:r>
              <a:rPr lang="en-US" dirty="0"/>
              <a:t>Zara</a:t>
            </a:r>
          </a:p>
          <a:p>
            <a:pPr marL="342900" indent="-342900">
              <a:buFont typeface="+mj-lt"/>
              <a:buAutoNum type="arabicPeriod"/>
            </a:pPr>
            <a:r>
              <a:rPr lang="en-US" dirty="0"/>
              <a:t>J. Crew</a:t>
            </a:r>
          </a:p>
        </p:txBody>
      </p:sp>
    </p:spTree>
    <p:extLst>
      <p:ext uri="{BB962C8B-B14F-4D97-AF65-F5344CB8AC3E}">
        <p14:creationId xmlns:p14="http://schemas.microsoft.com/office/powerpoint/2010/main" val="3511855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AC3A30-8B39-B62E-05AA-956DB46DB45F}"/>
              </a:ext>
            </a:extLst>
          </p:cNvPr>
          <p:cNvSpPr>
            <a:spLocks noGrp="1"/>
          </p:cNvSpPr>
          <p:nvPr>
            <p:ph type="title"/>
          </p:nvPr>
        </p:nvSpPr>
        <p:spPr>
          <a:xfrm>
            <a:off x="621383" y="365126"/>
            <a:ext cx="10515600" cy="592817"/>
          </a:xfrm>
        </p:spPr>
        <p:txBody>
          <a:bodyPr>
            <a:noAutofit/>
          </a:bodyPr>
          <a:lstStyle/>
          <a:p>
            <a:pPr lvl="0">
              <a:spcBef>
                <a:spcPts val="0"/>
              </a:spcBef>
            </a:pPr>
            <a:r>
              <a:rPr lang="en-US" sz="2800" b="0" dirty="0"/>
              <a:t>What is Perfect Competition</a:t>
            </a:r>
          </a:p>
        </p:txBody>
      </p:sp>
      <p:sp>
        <p:nvSpPr>
          <p:cNvPr id="7" name="Content Placeholder 6">
            <a:extLst>
              <a:ext uri="{FF2B5EF4-FFF2-40B4-BE49-F238E27FC236}">
                <a16:creationId xmlns:a16="http://schemas.microsoft.com/office/drawing/2014/main" id="{8F31F1F0-F92C-9DBC-45ED-7FC944F9C8F5}"/>
              </a:ext>
            </a:extLst>
          </p:cNvPr>
          <p:cNvSpPr>
            <a:spLocks noGrp="1"/>
          </p:cNvSpPr>
          <p:nvPr>
            <p:ph idx="1"/>
          </p:nvPr>
        </p:nvSpPr>
        <p:spPr>
          <a:xfrm>
            <a:off x="687371" y="1304756"/>
            <a:ext cx="10515600" cy="5052950"/>
          </a:xfrm>
        </p:spPr>
        <p:txBody>
          <a:bodyPr>
            <a:normAutofit/>
          </a:bodyPr>
          <a:lstStyle/>
          <a:p>
            <a:pPr marL="0" indent="0">
              <a:buNone/>
            </a:pPr>
            <a:r>
              <a:rPr lang="en-US" sz="2400" dirty="0">
                <a:latin typeface="Calibri" panose="020F0502020204030204" pitchFamily="34" charset="0"/>
                <a:cs typeface="Calibri" panose="020F0502020204030204" pitchFamily="34" charset="0"/>
              </a:rPr>
              <a:t>The "Identical Twins Convention" Market</a:t>
            </a:r>
          </a:p>
          <a:p>
            <a:pPr marL="0" indent="0">
              <a:buNone/>
            </a:pPr>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4 Essential Criteria:</a:t>
            </a:r>
          </a:p>
          <a:p>
            <a:pPr marL="571500" lvl="1" indent="-342900">
              <a:buFont typeface="+mj-lt"/>
              <a:buAutoNum type="arabicPeriod"/>
            </a:pPr>
            <a:r>
              <a:rPr lang="en-US" sz="2400" dirty="0">
                <a:latin typeface="Calibri" panose="020F0502020204030204" pitchFamily="34" charset="0"/>
                <a:cs typeface="Calibri" panose="020F0502020204030204" pitchFamily="34" charset="0"/>
              </a:rPr>
              <a:t>Many firms sell identical products</a:t>
            </a:r>
          </a:p>
          <a:p>
            <a:pPr marL="571500" lvl="1" indent="-342900">
              <a:buFont typeface="+mj-lt"/>
              <a:buAutoNum type="arabicPeriod"/>
            </a:pPr>
            <a:r>
              <a:rPr lang="en-US" sz="2400" dirty="0">
                <a:latin typeface="Calibri" panose="020F0502020204030204" pitchFamily="34" charset="0"/>
                <a:cs typeface="Calibri" panose="020F0502020204030204" pitchFamily="34" charset="0"/>
              </a:rPr>
              <a:t>Many buyers &amp; sellers (free entry/exit)</a:t>
            </a:r>
          </a:p>
          <a:p>
            <a:pPr marL="571500" lvl="1" indent="-342900">
              <a:buFont typeface="+mj-lt"/>
              <a:buAutoNum type="arabicPeriod"/>
            </a:pPr>
            <a:r>
              <a:rPr lang="en-US" sz="2400" dirty="0">
                <a:latin typeface="Calibri" panose="020F0502020204030204" pitchFamily="34" charset="0"/>
                <a:cs typeface="Calibri" panose="020F0502020204030204" pitchFamily="34" charset="0"/>
              </a:rPr>
              <a:t>Perfect information for all participants</a:t>
            </a:r>
          </a:p>
          <a:p>
            <a:pPr marL="571500" lvl="1" indent="-342900">
              <a:buFont typeface="+mj-lt"/>
              <a:buAutoNum type="arabicPeriod"/>
            </a:pPr>
            <a:r>
              <a:rPr lang="en-US" sz="2400" dirty="0">
                <a:latin typeface="Calibri" panose="020F0502020204030204" pitchFamily="34" charset="0"/>
                <a:cs typeface="Calibri" panose="020F0502020204030204" pitchFamily="34" charset="0"/>
              </a:rPr>
              <a:t>No barriers to entry or exit</a:t>
            </a:r>
          </a:p>
          <a:p>
            <a:pPr marL="571500" lvl="1" indent="-342900">
              <a:buFont typeface="+mj-lt"/>
              <a:buAutoNum type="arabicPeriod"/>
            </a:pPr>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Result: Firms are price takers</a:t>
            </a:r>
          </a:p>
          <a:p>
            <a:endParaRPr lang="en-US" dirty="0"/>
          </a:p>
        </p:txBody>
      </p:sp>
      <p:pic>
        <p:nvPicPr>
          <p:cNvPr id="2" name="Picture 1">
            <a:extLst>
              <a:ext uri="{FF2B5EF4-FFF2-40B4-BE49-F238E27FC236}">
                <a16:creationId xmlns:a16="http://schemas.microsoft.com/office/drawing/2014/main" id="{D3729486-635E-FF30-F5C2-BEAEED7969B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429828" y="1304756"/>
            <a:ext cx="5555343" cy="2886174"/>
          </a:xfrm>
          <a:prstGeom prst="rect">
            <a:avLst/>
          </a:prstGeom>
        </p:spPr>
      </p:pic>
    </p:spTree>
    <p:extLst>
      <p:ext uri="{BB962C8B-B14F-4D97-AF65-F5344CB8AC3E}">
        <p14:creationId xmlns:p14="http://schemas.microsoft.com/office/powerpoint/2010/main" val="263471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443A5-286D-FCF4-3065-B4EB5A820DE2}"/>
              </a:ext>
            </a:extLst>
          </p:cNvPr>
          <p:cNvSpPr>
            <a:spLocks noGrp="1"/>
          </p:cNvSpPr>
          <p:nvPr>
            <p:ph type="title"/>
          </p:nvPr>
        </p:nvSpPr>
        <p:spPr>
          <a:xfrm>
            <a:off x="621383" y="365126"/>
            <a:ext cx="10515600" cy="636360"/>
          </a:xfrm>
        </p:spPr>
        <p:txBody>
          <a:bodyPr/>
          <a:lstStyle/>
          <a:p>
            <a:r>
              <a:rPr lang="en-US" sz="2800" b="0" dirty="0"/>
              <a:t>Real World Examples</a:t>
            </a:r>
          </a:p>
        </p:txBody>
      </p:sp>
      <p:sp>
        <p:nvSpPr>
          <p:cNvPr id="3" name="Content Placeholder 2">
            <a:extLst>
              <a:ext uri="{FF2B5EF4-FFF2-40B4-BE49-F238E27FC236}">
                <a16:creationId xmlns:a16="http://schemas.microsoft.com/office/drawing/2014/main" id="{0855D8FA-E686-B71E-53C2-1FF6383E8771}"/>
              </a:ext>
            </a:extLst>
          </p:cNvPr>
          <p:cNvSpPr>
            <a:spLocks noGrp="1"/>
          </p:cNvSpPr>
          <p:nvPr>
            <p:ph idx="1"/>
          </p:nvPr>
        </p:nvSpPr>
        <p:spPr/>
        <p:txBody>
          <a:bodyPr/>
          <a:lstStyle/>
          <a:p>
            <a:r>
              <a:rPr lang="en-US" sz="2400" dirty="0">
                <a:latin typeface="Calibri" panose="020F0502020204030204" pitchFamily="34" charset="0"/>
                <a:cs typeface="Calibri" panose="020F0502020204030204" pitchFamily="34" charset="0"/>
              </a:rPr>
              <a:t>Where Perfect Competition Exists:</a:t>
            </a:r>
          </a:p>
          <a:p>
            <a:pPr lvl="1"/>
            <a:r>
              <a:rPr lang="en-US" sz="2200" dirty="0">
                <a:latin typeface="Calibri" panose="020F0502020204030204" pitchFamily="34" charset="0"/>
                <a:cs typeface="Calibri" panose="020F0502020204030204" pitchFamily="34" charset="0"/>
              </a:rPr>
              <a:t>Agricultural commodities (corn, wheat, soybeans)</a:t>
            </a:r>
          </a:p>
          <a:p>
            <a:pPr lvl="1"/>
            <a:r>
              <a:rPr lang="en-US" sz="2200" dirty="0">
                <a:latin typeface="Calibri" panose="020F0502020204030204" pitchFamily="34" charset="0"/>
                <a:cs typeface="Calibri" panose="020F0502020204030204" pitchFamily="34" charset="0"/>
              </a:rPr>
              <a:t>Stock markets (shares of identical stock)</a:t>
            </a:r>
          </a:p>
          <a:p>
            <a:pPr lvl="1"/>
            <a:r>
              <a:rPr lang="en-US" sz="2200" dirty="0">
                <a:latin typeface="Calibri" panose="020F0502020204030204" pitchFamily="34" charset="0"/>
                <a:cs typeface="Calibri" panose="020F0502020204030204" pitchFamily="34" charset="0"/>
              </a:rPr>
              <a:t>Foreign currency exchange</a:t>
            </a:r>
          </a:p>
          <a:p>
            <a:pPr lvl="1"/>
            <a:r>
              <a:rPr lang="en-US" sz="2200" dirty="0">
                <a:latin typeface="Calibri" panose="020F0502020204030204" pitchFamily="34" charset="0"/>
                <a:cs typeface="Calibri" panose="020F0502020204030204" pitchFamily="34" charset="0"/>
              </a:rPr>
              <a:t>Roadside produce stands</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Analogy: Selling bottled water outside a concert—</a:t>
            </a:r>
            <a:r>
              <a:rPr lang="en-US" sz="2400" i="1" dirty="0">
                <a:latin typeface="Calibri" panose="020F0502020204030204" pitchFamily="34" charset="0"/>
                <a:cs typeface="Calibri" panose="020F0502020204030204" pitchFamily="34" charset="0"/>
              </a:rPr>
              <a:t>you charge what everyone else charges</a:t>
            </a:r>
            <a:endParaRPr lang="en-US" sz="2400" dirty="0">
              <a:latin typeface="Calibri" panose="020F0502020204030204" pitchFamily="34" charset="0"/>
              <a:cs typeface="Calibri" panose="020F0502020204030204" pitchFamily="34" charset="0"/>
            </a:endParaRPr>
          </a:p>
          <a:p>
            <a:endParaRPr lang="en-US" dirty="0"/>
          </a:p>
        </p:txBody>
      </p:sp>
      <p:pic>
        <p:nvPicPr>
          <p:cNvPr id="4" name="Picture 3">
            <a:extLst>
              <a:ext uri="{FF2B5EF4-FFF2-40B4-BE49-F238E27FC236}">
                <a16:creationId xmlns:a16="http://schemas.microsoft.com/office/drawing/2014/main" id="{9B361BEE-5F9F-0AF4-82CF-68BAEFFD4C1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960497" y="1110063"/>
            <a:ext cx="4176486" cy="3084174"/>
          </a:xfrm>
          <a:prstGeom prst="rect">
            <a:avLst/>
          </a:prstGeom>
        </p:spPr>
      </p:pic>
    </p:spTree>
    <p:extLst>
      <p:ext uri="{BB962C8B-B14F-4D97-AF65-F5344CB8AC3E}">
        <p14:creationId xmlns:p14="http://schemas.microsoft.com/office/powerpoint/2010/main" val="1272067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AC3A30-8B39-B62E-05AA-956DB46DB45F}"/>
              </a:ext>
            </a:extLst>
          </p:cNvPr>
          <p:cNvSpPr>
            <a:spLocks noGrp="1"/>
          </p:cNvSpPr>
          <p:nvPr>
            <p:ph type="title"/>
          </p:nvPr>
        </p:nvSpPr>
        <p:spPr>
          <a:xfrm>
            <a:off x="621383" y="365126"/>
            <a:ext cx="10515600" cy="578303"/>
          </a:xfrm>
        </p:spPr>
        <p:txBody>
          <a:bodyPr>
            <a:noAutofit/>
          </a:bodyPr>
          <a:lstStyle/>
          <a:p>
            <a:pPr lvl="0">
              <a:spcBef>
                <a:spcPts val="0"/>
              </a:spcBef>
            </a:pPr>
            <a:r>
              <a:rPr lang="en-US" sz="2800" b="0" dirty="0"/>
              <a:t>The One Big Decision</a:t>
            </a:r>
          </a:p>
        </p:txBody>
      </p:sp>
      <p:sp>
        <p:nvSpPr>
          <p:cNvPr id="7" name="Content Placeholder 6">
            <a:extLst>
              <a:ext uri="{FF2B5EF4-FFF2-40B4-BE49-F238E27FC236}">
                <a16:creationId xmlns:a16="http://schemas.microsoft.com/office/drawing/2014/main" id="{8F31F1F0-F92C-9DBC-45ED-7FC944F9C8F5}"/>
              </a:ext>
            </a:extLst>
          </p:cNvPr>
          <p:cNvSpPr>
            <a:spLocks noGrp="1"/>
          </p:cNvSpPr>
          <p:nvPr>
            <p:ph idx="1"/>
          </p:nvPr>
        </p:nvSpPr>
        <p:spPr/>
        <p:txBody>
          <a:bodyPr>
            <a:normAutofit lnSpcReduction="10000"/>
          </a:bodyPr>
          <a:lstStyle/>
          <a:p>
            <a:r>
              <a:rPr lang="en-US" sz="2400" dirty="0">
                <a:latin typeface="Calibri" panose="020F0502020204030204" pitchFamily="34" charset="0"/>
                <a:cs typeface="Calibri" panose="020F0502020204030204" pitchFamily="34" charset="0"/>
              </a:rPr>
              <a:t>What quantity should I produce?</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The Firm's Challenge:</a:t>
            </a:r>
          </a:p>
          <a:p>
            <a:pPr lvl="1"/>
            <a:r>
              <a:rPr lang="en-US" sz="2400" dirty="0">
                <a:latin typeface="Calibri" panose="020F0502020204030204" pitchFamily="34" charset="0"/>
                <a:cs typeface="Calibri" panose="020F0502020204030204" pitchFamily="34" charset="0"/>
              </a:rPr>
              <a:t>Cannot control price (market sets it)</a:t>
            </a:r>
          </a:p>
          <a:p>
            <a:pPr lvl="1"/>
            <a:r>
              <a:rPr lang="en-US" sz="2400" dirty="0">
                <a:latin typeface="Calibri" panose="020F0502020204030204" pitchFamily="34" charset="0"/>
                <a:cs typeface="Calibri" panose="020F0502020204030204" pitchFamily="34" charset="0"/>
              </a:rPr>
              <a:t>Can only decide how much to produce</a:t>
            </a:r>
          </a:p>
          <a:p>
            <a:pPr lvl="1"/>
            <a:r>
              <a:rPr lang="en-US" sz="2400" dirty="0">
                <a:latin typeface="Calibri" panose="020F0502020204030204" pitchFamily="34" charset="0"/>
                <a:cs typeface="Calibri" panose="020F0502020204030204" pitchFamily="34" charset="0"/>
              </a:rPr>
              <a:t>Goal: Maximize profit (or minimize loss)</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Key Rule: Produce where MR = MC</a:t>
            </a:r>
          </a:p>
          <a:p>
            <a:endParaRPr lang="en-US" dirty="0"/>
          </a:p>
        </p:txBody>
      </p:sp>
    </p:spTree>
    <p:extLst>
      <p:ext uri="{BB962C8B-B14F-4D97-AF65-F5344CB8AC3E}">
        <p14:creationId xmlns:p14="http://schemas.microsoft.com/office/powerpoint/2010/main" val="3723106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AC3A30-8B39-B62E-05AA-956DB46DB45F}"/>
              </a:ext>
            </a:extLst>
          </p:cNvPr>
          <p:cNvSpPr>
            <a:spLocks noGrp="1"/>
          </p:cNvSpPr>
          <p:nvPr>
            <p:ph type="title"/>
          </p:nvPr>
        </p:nvSpPr>
        <p:spPr>
          <a:xfrm>
            <a:off x="621383" y="365126"/>
            <a:ext cx="10515600" cy="660067"/>
          </a:xfrm>
        </p:spPr>
        <p:txBody>
          <a:bodyPr>
            <a:noAutofit/>
          </a:bodyPr>
          <a:lstStyle/>
          <a:p>
            <a:pPr lvl="0">
              <a:spcBef>
                <a:spcPts val="0"/>
              </a:spcBef>
            </a:pPr>
            <a:r>
              <a:rPr lang="en-US" sz="2800" b="0" dirty="0"/>
              <a:t>Marginal Revenue and Marginal Costs</a:t>
            </a:r>
          </a:p>
        </p:txBody>
      </p:sp>
      <p:sp>
        <p:nvSpPr>
          <p:cNvPr id="7" name="Content Placeholder 6">
            <a:extLst>
              <a:ext uri="{FF2B5EF4-FFF2-40B4-BE49-F238E27FC236}">
                <a16:creationId xmlns:a16="http://schemas.microsoft.com/office/drawing/2014/main" id="{8F31F1F0-F92C-9DBC-45ED-7FC944F9C8F5}"/>
              </a:ext>
            </a:extLst>
          </p:cNvPr>
          <p:cNvSpPr>
            <a:spLocks noGrp="1"/>
          </p:cNvSpPr>
          <p:nvPr>
            <p:ph idx="1"/>
          </p:nvPr>
        </p:nvSpPr>
        <p:spPr>
          <a:xfrm>
            <a:off x="677941" y="1389598"/>
            <a:ext cx="10515600" cy="4360619"/>
          </a:xfrm>
        </p:spPr>
        <p:txBody>
          <a:bodyPr>
            <a:normAutofit/>
          </a:bodyPr>
          <a:lstStyle/>
          <a:p>
            <a:r>
              <a:rPr lang="en-US" b="1" dirty="0"/>
              <a:t>Marginal revenue </a:t>
            </a:r>
            <a:r>
              <a:rPr lang="en-US" dirty="0"/>
              <a:t>(MR) - the additional revenue gained from selling one more unit. </a:t>
            </a:r>
          </a:p>
          <a:p>
            <a:endParaRPr lang="en-US" dirty="0"/>
          </a:p>
          <a:p>
            <a:endParaRPr lang="en-US" dirty="0"/>
          </a:p>
          <a:p>
            <a:endParaRPr lang="en-US" b="1" dirty="0"/>
          </a:p>
          <a:p>
            <a:r>
              <a:rPr lang="en-US" b="1" dirty="0"/>
              <a:t>Marginal cost </a:t>
            </a:r>
            <a:r>
              <a:rPr lang="en-US" dirty="0"/>
              <a:t>(MC) - the cost per additional unit sold.</a:t>
            </a:r>
          </a:p>
          <a:p>
            <a:endParaRPr lang="en-US" dirty="0"/>
          </a:p>
          <a:p>
            <a:endParaRPr lang="en-US" dirty="0"/>
          </a:p>
          <a:p>
            <a:endParaRPr lang="en-US" dirty="0"/>
          </a:p>
          <a:p>
            <a:r>
              <a:rPr lang="en-US" dirty="0"/>
              <a:t>The </a:t>
            </a:r>
            <a:r>
              <a:rPr lang="en-US" u="sng" dirty="0"/>
              <a:t>profit-maximizing choice</a:t>
            </a:r>
            <a:r>
              <a:rPr lang="en-US" dirty="0"/>
              <a:t> for a perfectly competitive firm will occur at the level of output where MR = MC.</a:t>
            </a:r>
          </a:p>
          <a:p>
            <a:endParaRPr lang="en-US" dirty="0"/>
          </a:p>
        </p:txBody>
      </p:sp>
      <p:graphicFrame>
        <p:nvGraphicFramePr>
          <p:cNvPr id="2" name="Object 1">
            <a:extLst>
              <a:ext uri="{FF2B5EF4-FFF2-40B4-BE49-F238E27FC236}">
                <a16:creationId xmlns:a16="http://schemas.microsoft.com/office/drawing/2014/main" id="{7AF5A774-034A-130A-591B-67ECB83FFFD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687183038"/>
              </p:ext>
            </p:extLst>
          </p:nvPr>
        </p:nvGraphicFramePr>
        <p:xfrm>
          <a:off x="4099683" y="1946770"/>
          <a:ext cx="3672115" cy="818782"/>
        </p:xfrm>
        <a:graphic>
          <a:graphicData uri="http://schemas.openxmlformats.org/presentationml/2006/ole">
            <mc:AlternateContent xmlns:mc="http://schemas.openxmlformats.org/markup-compatibility/2006">
              <mc:Choice xmlns:v="urn:schemas-microsoft-com:vml" Requires="v">
                <p:oleObj name="Equation" r:id="rId3" imgW="1879560" imgH="419040" progId="Equation.DSMT4">
                  <p:embed/>
                </p:oleObj>
              </mc:Choice>
              <mc:Fallback>
                <p:oleObj name="Equation" r:id="rId3" imgW="1879560" imgH="419040" progId="Equation.DSMT4">
                  <p:embed/>
                  <p:pic>
                    <p:nvPicPr>
                      <p:cNvPr id="2" name="Object 1">
                        <a:extLst>
                          <a:ext uri="{FF2B5EF4-FFF2-40B4-BE49-F238E27FC236}">
                            <a16:creationId xmlns:a16="http://schemas.microsoft.com/office/drawing/2014/main" id="{7AF5A774-034A-130A-591B-67ECB83FFFDF}"/>
                          </a:ext>
                          <a:ext uri="{C183D7F6-B498-43B3-948B-1728B52AA6E4}">
                            <adec:decorative xmlns:adec="http://schemas.microsoft.com/office/drawing/2017/decorative" val="1"/>
                          </a:ext>
                        </a:extLst>
                      </p:cNvPr>
                      <p:cNvPicPr/>
                      <p:nvPr/>
                    </p:nvPicPr>
                    <p:blipFill>
                      <a:blip r:embed="rId4"/>
                      <a:stretch>
                        <a:fillRect/>
                      </a:stretch>
                    </p:blipFill>
                    <p:spPr>
                      <a:xfrm>
                        <a:off x="4099683" y="1946770"/>
                        <a:ext cx="3672115" cy="818782"/>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B1B1DBAF-68F8-6172-4CAD-77FB9EB410D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701998781"/>
              </p:ext>
            </p:extLst>
          </p:nvPr>
        </p:nvGraphicFramePr>
        <p:xfrm>
          <a:off x="4335393" y="3687129"/>
          <a:ext cx="3200693" cy="818782"/>
        </p:xfrm>
        <a:graphic>
          <a:graphicData uri="http://schemas.openxmlformats.org/presentationml/2006/ole">
            <mc:AlternateContent xmlns:mc="http://schemas.openxmlformats.org/markup-compatibility/2006">
              <mc:Choice xmlns:v="urn:schemas-microsoft-com:vml" Requires="v">
                <p:oleObj name="Equation" r:id="rId5" imgW="1638000" imgH="419040" progId="Equation.DSMT4">
                  <p:embed/>
                </p:oleObj>
              </mc:Choice>
              <mc:Fallback>
                <p:oleObj name="Equation" r:id="rId5" imgW="1638000" imgH="419040" progId="Equation.DSMT4">
                  <p:embed/>
                  <p:pic>
                    <p:nvPicPr>
                      <p:cNvPr id="3" name="Object 2">
                        <a:extLst>
                          <a:ext uri="{FF2B5EF4-FFF2-40B4-BE49-F238E27FC236}">
                            <a16:creationId xmlns:a16="http://schemas.microsoft.com/office/drawing/2014/main" id="{B1B1DBAF-68F8-6172-4CAD-77FB9EB410D7}"/>
                          </a:ext>
                          <a:ext uri="{C183D7F6-B498-43B3-948B-1728B52AA6E4}">
                            <adec:decorative xmlns:adec="http://schemas.microsoft.com/office/drawing/2017/decorative" val="1"/>
                          </a:ext>
                        </a:extLst>
                      </p:cNvPr>
                      <p:cNvPicPr/>
                      <p:nvPr/>
                    </p:nvPicPr>
                    <p:blipFill>
                      <a:blip r:embed="rId6"/>
                      <a:stretch>
                        <a:fillRect/>
                      </a:stretch>
                    </p:blipFill>
                    <p:spPr>
                      <a:xfrm>
                        <a:off x="4335393" y="3687129"/>
                        <a:ext cx="3200693" cy="818782"/>
                      </a:xfrm>
                      <a:prstGeom prst="rect">
                        <a:avLst/>
                      </a:prstGeom>
                    </p:spPr>
                  </p:pic>
                </p:oleObj>
              </mc:Fallback>
            </mc:AlternateContent>
          </a:graphicData>
        </a:graphic>
      </p:graphicFrame>
    </p:spTree>
    <p:extLst>
      <p:ext uri="{BB962C8B-B14F-4D97-AF65-F5344CB8AC3E}">
        <p14:creationId xmlns:p14="http://schemas.microsoft.com/office/powerpoint/2010/main" val="754257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AC3A30-8B39-B62E-05AA-956DB46DB45F}"/>
              </a:ext>
            </a:extLst>
          </p:cNvPr>
          <p:cNvSpPr>
            <a:spLocks noGrp="1"/>
          </p:cNvSpPr>
          <p:nvPr>
            <p:ph type="title"/>
          </p:nvPr>
        </p:nvSpPr>
        <p:spPr>
          <a:xfrm>
            <a:off x="611955" y="218115"/>
            <a:ext cx="11256391" cy="549274"/>
          </a:xfrm>
        </p:spPr>
        <p:txBody>
          <a:bodyPr>
            <a:noAutofit/>
          </a:bodyPr>
          <a:lstStyle/>
          <a:p>
            <a:pPr marL="0" marR="0" lvl="0" indent="0" rtl="0">
              <a:spcBef>
                <a:spcPts val="0"/>
              </a:spcBef>
            </a:pPr>
            <a:r>
              <a:rPr lang="en-US" sz="2800" b="0" dirty="0"/>
              <a:t>Market Price of Raspberries</a:t>
            </a:r>
          </a:p>
        </p:txBody>
      </p:sp>
      <p:sp>
        <p:nvSpPr>
          <p:cNvPr id="7" name="Content Placeholder 6">
            <a:extLst>
              <a:ext uri="{FF2B5EF4-FFF2-40B4-BE49-F238E27FC236}">
                <a16:creationId xmlns:a16="http://schemas.microsoft.com/office/drawing/2014/main" id="{8F31F1F0-F92C-9DBC-45ED-7FC944F9C8F5}"/>
              </a:ext>
            </a:extLst>
          </p:cNvPr>
          <p:cNvSpPr>
            <a:spLocks noGrp="1"/>
          </p:cNvSpPr>
          <p:nvPr>
            <p:ph idx="1"/>
          </p:nvPr>
        </p:nvSpPr>
        <p:spPr>
          <a:xfrm>
            <a:off x="838200" y="5036457"/>
            <a:ext cx="10515600" cy="1603428"/>
          </a:xfrm>
          <a:ln>
            <a:solidFill>
              <a:schemeClr val="tx1"/>
            </a:solidFill>
          </a:ln>
        </p:spPr>
        <p:txBody>
          <a:bodyPr>
            <a:normAutofit lnSpcReduction="10000"/>
          </a:bodyPr>
          <a:lstStyle/>
          <a:p>
            <a:r>
              <a:rPr lang="en-US" sz="2400" dirty="0">
                <a:latin typeface="Calibri" panose="020F0502020204030204" pitchFamily="34" charset="0"/>
                <a:cs typeface="Calibri" panose="020F0502020204030204" pitchFamily="34" charset="0"/>
              </a:rPr>
              <a:t>The equilibrium market price of raspberries is determined through the interaction of market supply and market demand at $4.00.</a:t>
            </a:r>
          </a:p>
          <a:p>
            <a:r>
              <a:rPr lang="en-US" sz="2400" dirty="0">
                <a:latin typeface="Calibri" panose="020F0502020204030204" pitchFamily="34" charset="0"/>
                <a:cs typeface="Calibri" panose="020F0502020204030204" pitchFamily="34" charset="0"/>
              </a:rPr>
              <a:t>An individual raspberry farmer must accept the market price.   He cannot change it himself.</a:t>
            </a:r>
          </a:p>
          <a:p>
            <a:endParaRPr lang="en-US" dirty="0"/>
          </a:p>
        </p:txBody>
      </p:sp>
      <p:pic>
        <p:nvPicPr>
          <p:cNvPr id="4" name="Picture 3" descr="This graph illustrates the market for raspberries. There is a downward-sloping demand curve and an upward-sloping supply curve. Equilibrium is shown at a price of 4 dollars and a quantity of 800 raspberry packs.">
            <a:extLst>
              <a:ext uri="{FF2B5EF4-FFF2-40B4-BE49-F238E27FC236}">
                <a16:creationId xmlns:a16="http://schemas.microsoft.com/office/drawing/2014/main" id="{1DB0E68F-54A6-7F67-B5DE-1BE8FB0AF805}"/>
              </a:ext>
            </a:extLst>
          </p:cNvPr>
          <p:cNvPicPr>
            <a:picLocks noChangeAspect="1"/>
          </p:cNvPicPr>
          <p:nvPr/>
        </p:nvPicPr>
        <p:blipFill>
          <a:blip r:embed="rId2"/>
          <a:stretch>
            <a:fillRect/>
          </a:stretch>
        </p:blipFill>
        <p:spPr>
          <a:xfrm>
            <a:off x="2807589" y="1256402"/>
            <a:ext cx="6576822" cy="3578169"/>
          </a:xfrm>
          <a:prstGeom prst="rect">
            <a:avLst/>
          </a:prstGeom>
          <a:ln>
            <a:solidFill>
              <a:schemeClr val="tx1"/>
            </a:solidFill>
          </a:ln>
        </p:spPr>
      </p:pic>
    </p:spTree>
    <p:extLst>
      <p:ext uri="{BB962C8B-B14F-4D97-AF65-F5344CB8AC3E}">
        <p14:creationId xmlns:p14="http://schemas.microsoft.com/office/powerpoint/2010/main" val="1644158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AC3A30-8B39-B62E-05AA-956DB46DB45F}"/>
              </a:ext>
            </a:extLst>
          </p:cNvPr>
          <p:cNvSpPr>
            <a:spLocks noGrp="1"/>
          </p:cNvSpPr>
          <p:nvPr>
            <p:ph type="title"/>
          </p:nvPr>
        </p:nvSpPr>
        <p:spPr>
          <a:xfrm>
            <a:off x="649664" y="186017"/>
            <a:ext cx="10515600" cy="590838"/>
          </a:xfrm>
        </p:spPr>
        <p:txBody>
          <a:bodyPr>
            <a:noAutofit/>
          </a:bodyPr>
          <a:lstStyle/>
          <a:p>
            <a:r>
              <a:rPr lang="en-US" sz="2800" b="0" dirty="0"/>
              <a:t>Raspberry Farm Example</a:t>
            </a:r>
          </a:p>
        </p:txBody>
      </p:sp>
      <p:sp>
        <p:nvSpPr>
          <p:cNvPr id="7" name="Content Placeholder 6">
            <a:extLst>
              <a:ext uri="{FF2B5EF4-FFF2-40B4-BE49-F238E27FC236}">
                <a16:creationId xmlns:a16="http://schemas.microsoft.com/office/drawing/2014/main" id="{8F31F1F0-F92C-9DBC-45ED-7FC944F9C8F5}"/>
              </a:ext>
            </a:extLst>
          </p:cNvPr>
          <p:cNvSpPr>
            <a:spLocks noGrp="1"/>
          </p:cNvSpPr>
          <p:nvPr>
            <p:ph idx="1"/>
          </p:nvPr>
        </p:nvSpPr>
        <p:spPr>
          <a:xfrm>
            <a:off x="838200" y="4057106"/>
            <a:ext cx="10515600" cy="2614877"/>
          </a:xfrm>
          <a:ln>
            <a:solidFill>
              <a:schemeClr val="tx1"/>
            </a:solidFill>
          </a:ln>
        </p:spPr>
        <p:txBody>
          <a:bodyPr>
            <a:normAutofit/>
          </a:bodyPr>
          <a:lstStyle/>
          <a:p>
            <a:r>
              <a:rPr lang="en-US" sz="2400" dirty="0">
                <a:latin typeface="Calibri" panose="020F0502020204030204" pitchFamily="34" charset="0"/>
                <a:cs typeface="Calibri" panose="020F0502020204030204" pitchFamily="34" charset="0"/>
              </a:rPr>
              <a:t>Market Price: $4.00/pack</a:t>
            </a:r>
          </a:p>
          <a:p>
            <a:r>
              <a:rPr lang="en-US" sz="2400" dirty="0">
                <a:latin typeface="Calibri" panose="020F0502020204030204" pitchFamily="34" charset="0"/>
                <a:cs typeface="Calibri" panose="020F0502020204030204" pitchFamily="34" charset="0"/>
              </a:rPr>
              <a:t>Profit-Maximizing Output: 80 packs, where MR = MC = $4</a:t>
            </a:r>
          </a:p>
          <a:p>
            <a:r>
              <a:rPr lang="en-US" sz="2400" dirty="0">
                <a:latin typeface="Calibri" panose="020F0502020204030204" pitchFamily="34" charset="0"/>
                <a:cs typeface="Calibri" panose="020F0502020204030204" pitchFamily="34" charset="0"/>
              </a:rPr>
              <a:t>Total Revenue: $320</a:t>
            </a:r>
          </a:p>
          <a:p>
            <a:r>
              <a:rPr lang="en-US" sz="2400" dirty="0">
                <a:latin typeface="Calibri" panose="020F0502020204030204" pitchFamily="34" charset="0"/>
                <a:cs typeface="Calibri" panose="020F0502020204030204" pitchFamily="34" charset="0"/>
              </a:rPr>
              <a:t>Total Cost: $230</a:t>
            </a:r>
          </a:p>
          <a:p>
            <a:r>
              <a:rPr lang="en-US" sz="2400" dirty="0">
                <a:latin typeface="Calibri" panose="020F0502020204030204" pitchFamily="34" charset="0"/>
                <a:cs typeface="Calibri" panose="020F0502020204030204" pitchFamily="34" charset="0"/>
              </a:rPr>
              <a:t>Profit: $90</a:t>
            </a:r>
          </a:p>
        </p:txBody>
      </p:sp>
      <p:pic>
        <p:nvPicPr>
          <p:cNvPr id="5" name="Picture 4" descr="This graph illustrates marginal revenue and marginal cost curves of an individual farmer in a perfectly competitive market. The y-axis shows marginal cost and marginal revenue measured in dollars. The x-axis shows quantity as packs of raspberries. The marginal revenue curve is shown as a straight horizontal line at 5 dollars because in a perfectly competitive market price is determined by the market, and that price is marginal revenue. The marginal cost curve starts just below marginal revenue, decreases, then begins to increase after quantity of 50. As marginal cost is increasing, it intersects marginal revenue at a quantity of 80, and this is identified as the profit-maximizing point.">
            <a:extLst>
              <a:ext uri="{FF2B5EF4-FFF2-40B4-BE49-F238E27FC236}">
                <a16:creationId xmlns:a16="http://schemas.microsoft.com/office/drawing/2014/main" id="{1AB9965D-33E3-8836-4F5D-FABBA53B200F}"/>
              </a:ext>
            </a:extLst>
          </p:cNvPr>
          <p:cNvPicPr>
            <a:picLocks noChangeAspect="1"/>
          </p:cNvPicPr>
          <p:nvPr/>
        </p:nvPicPr>
        <p:blipFill>
          <a:blip r:embed="rId3"/>
          <a:stretch>
            <a:fillRect/>
          </a:stretch>
        </p:blipFill>
        <p:spPr>
          <a:xfrm>
            <a:off x="3369717" y="1051214"/>
            <a:ext cx="5452565" cy="2910642"/>
          </a:xfrm>
          <a:prstGeom prst="rect">
            <a:avLst/>
          </a:prstGeom>
          <a:ln>
            <a:solidFill>
              <a:schemeClr val="tx1"/>
            </a:solidFill>
          </a:ln>
        </p:spPr>
      </p:pic>
    </p:spTree>
    <p:extLst>
      <p:ext uri="{BB962C8B-B14F-4D97-AF65-F5344CB8AC3E}">
        <p14:creationId xmlns:p14="http://schemas.microsoft.com/office/powerpoint/2010/main" val="2599394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70D94-BC28-C9C1-98B8-20E0C38B7E0A}"/>
              </a:ext>
            </a:extLst>
          </p:cNvPr>
          <p:cNvSpPr>
            <a:spLocks noGrp="1"/>
          </p:cNvSpPr>
          <p:nvPr>
            <p:ph type="title"/>
          </p:nvPr>
        </p:nvSpPr>
        <p:spPr>
          <a:xfrm>
            <a:off x="1451429" y="249876"/>
            <a:ext cx="9231085" cy="931284"/>
          </a:xfrm>
        </p:spPr>
        <p:txBody>
          <a:bodyPr>
            <a:normAutofit/>
          </a:bodyPr>
          <a:lstStyle/>
          <a:p>
            <a:r>
              <a:rPr lang="en-US" dirty="0"/>
              <a:t>Possible Outcomes at the Raspberry Farm</a:t>
            </a:r>
          </a:p>
        </p:txBody>
      </p:sp>
      <p:sp>
        <p:nvSpPr>
          <p:cNvPr id="4" name="Content Placeholder 3">
            <a:extLst>
              <a:ext uri="{FF2B5EF4-FFF2-40B4-BE49-F238E27FC236}">
                <a16:creationId xmlns:a16="http://schemas.microsoft.com/office/drawing/2014/main" id="{4DD9B858-41BC-6C3C-AA2F-8C3806EE4F1A}"/>
              </a:ext>
            </a:extLst>
          </p:cNvPr>
          <p:cNvSpPr>
            <a:spLocks noGrp="1"/>
          </p:cNvSpPr>
          <p:nvPr>
            <p:ph sz="half" idx="1"/>
          </p:nvPr>
        </p:nvSpPr>
        <p:spPr>
          <a:xfrm>
            <a:off x="6870700" y="1422026"/>
            <a:ext cx="4572000" cy="3280603"/>
          </a:xfrm>
        </p:spPr>
        <p:txBody>
          <a:bodyPr>
            <a:normAutofit/>
          </a:bodyPr>
          <a:lstStyle/>
          <a:p>
            <a:pPr marL="0" indent="0">
              <a:buNone/>
            </a:pPr>
            <a:r>
              <a:rPr lang="en-US" sz="2000" dirty="0">
                <a:latin typeface="Calibri" panose="020F0502020204030204" pitchFamily="34" charset="0"/>
                <a:cs typeface="Calibri" panose="020F0502020204030204" pitchFamily="34" charset="0"/>
              </a:rPr>
              <a:t>1. Profit Zone: Price &gt; Average Cost</a:t>
            </a:r>
          </a:p>
          <a:p>
            <a:pPr lvl="1"/>
            <a:r>
              <a:rPr lang="en-US" sz="1800" dirty="0">
                <a:latin typeface="Calibri" panose="020F0502020204030204" pitchFamily="34" charset="0"/>
                <a:cs typeface="Calibri" panose="020F0502020204030204" pitchFamily="34" charset="0"/>
              </a:rPr>
              <a:t>Firm earns economic profit</a:t>
            </a:r>
          </a:p>
          <a:p>
            <a:pPr marL="0" indent="0">
              <a:buNone/>
            </a:pPr>
            <a:r>
              <a:rPr lang="en-US" sz="2000" dirty="0">
                <a:latin typeface="Calibri" panose="020F0502020204030204" pitchFamily="34" charset="0"/>
                <a:cs typeface="Calibri" panose="020F0502020204030204" pitchFamily="34" charset="0"/>
              </a:rPr>
              <a:t>2. Break-Even Point: Price = Average Cost</a:t>
            </a:r>
          </a:p>
          <a:p>
            <a:pPr lvl="1"/>
            <a:r>
              <a:rPr lang="en-US" sz="1800" dirty="0">
                <a:latin typeface="Calibri" panose="020F0502020204030204" pitchFamily="34" charset="0"/>
                <a:cs typeface="Calibri" panose="020F0502020204030204" pitchFamily="34" charset="0"/>
              </a:rPr>
              <a:t>Firm earns zero economic profit</a:t>
            </a:r>
          </a:p>
          <a:p>
            <a:pPr marL="0" indent="0">
              <a:buNone/>
            </a:pPr>
            <a:r>
              <a:rPr lang="en-US" sz="2000" dirty="0">
                <a:latin typeface="Calibri" panose="020F0502020204030204" pitchFamily="34" charset="0"/>
                <a:cs typeface="Calibri" panose="020F0502020204030204" pitchFamily="34" charset="0"/>
              </a:rPr>
              <a:t>3. Loss Zone: Price &lt; Average Cost</a:t>
            </a:r>
          </a:p>
          <a:p>
            <a:pPr lvl="1"/>
            <a:r>
              <a:rPr lang="en-US" sz="1800" dirty="0">
                <a:latin typeface="Calibri" panose="020F0502020204030204" pitchFamily="34" charset="0"/>
                <a:cs typeface="Calibri" panose="020F0502020204030204" pitchFamily="34" charset="0"/>
              </a:rPr>
              <a:t>Firm experiences losses (but may continue operating)</a:t>
            </a:r>
          </a:p>
          <a:p>
            <a:endParaRPr lang="en-US" dirty="0"/>
          </a:p>
        </p:txBody>
      </p:sp>
      <p:pic>
        <p:nvPicPr>
          <p:cNvPr id="6" name="Picture 5">
            <a:extLst>
              <a:ext uri="{FF2B5EF4-FFF2-40B4-BE49-F238E27FC236}">
                <a16:creationId xmlns:a16="http://schemas.microsoft.com/office/drawing/2014/main" id="{F493AD70-920A-BC07-4F34-2DFA2BC4AB9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47700" y="1436273"/>
            <a:ext cx="5664200" cy="5171850"/>
          </a:xfrm>
          <a:prstGeom prst="rect">
            <a:avLst/>
          </a:prstGeom>
        </p:spPr>
      </p:pic>
    </p:spTree>
    <p:extLst>
      <p:ext uri="{BB962C8B-B14F-4D97-AF65-F5344CB8AC3E}">
        <p14:creationId xmlns:p14="http://schemas.microsoft.com/office/powerpoint/2010/main" val="1310607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AC3A30-8B39-B62E-05AA-956DB46DB45F}"/>
              </a:ext>
            </a:extLst>
          </p:cNvPr>
          <p:cNvSpPr>
            <a:spLocks noGrp="1"/>
          </p:cNvSpPr>
          <p:nvPr>
            <p:ph type="title"/>
          </p:nvPr>
        </p:nvSpPr>
        <p:spPr/>
        <p:txBody>
          <a:bodyPr>
            <a:normAutofit fontScale="90000"/>
          </a:bodyPr>
          <a:lstStyle/>
          <a:p>
            <a:r>
              <a:rPr lang="en-US" dirty="0"/>
              <a:t>The Shutdown Decision</a:t>
            </a:r>
          </a:p>
        </p:txBody>
      </p:sp>
      <p:sp>
        <p:nvSpPr>
          <p:cNvPr id="7" name="Content Placeholder 6">
            <a:extLst>
              <a:ext uri="{FF2B5EF4-FFF2-40B4-BE49-F238E27FC236}">
                <a16:creationId xmlns:a16="http://schemas.microsoft.com/office/drawing/2014/main" id="{8F31F1F0-F92C-9DBC-45ED-7FC944F9C8F5}"/>
              </a:ext>
            </a:extLst>
          </p:cNvPr>
          <p:cNvSpPr>
            <a:spLocks noGrp="1"/>
          </p:cNvSpPr>
          <p:nvPr>
            <p:ph idx="1"/>
          </p:nvPr>
        </p:nvSpPr>
        <p:spPr>
          <a:xfrm>
            <a:off x="621383" y="1399024"/>
            <a:ext cx="10515600" cy="4900176"/>
          </a:xfrm>
          <a:ln>
            <a:solidFill>
              <a:schemeClr val="tx1"/>
            </a:solidFill>
          </a:ln>
        </p:spPr>
        <p:txBody>
          <a:bodyPr>
            <a:normAutofit/>
          </a:bodyPr>
          <a:lstStyle/>
          <a:p>
            <a:pPr marL="0" indent="0">
              <a:buNone/>
            </a:pPr>
            <a:r>
              <a:rPr lang="en-US" sz="2400" dirty="0">
                <a:latin typeface="Calibri" panose="020F0502020204030204" pitchFamily="34" charset="0"/>
                <a:cs typeface="Calibri" panose="020F0502020204030204" pitchFamily="34" charset="0"/>
              </a:rPr>
              <a:t>The "Sunk Costs" Dilemma</a:t>
            </a:r>
          </a:p>
          <a:p>
            <a:r>
              <a:rPr lang="en-US" sz="2400" dirty="0">
                <a:latin typeface="Calibri" panose="020F0502020204030204" pitchFamily="34" charset="0"/>
                <a:cs typeface="Calibri" panose="020F0502020204030204" pitchFamily="34" charset="0"/>
              </a:rPr>
              <a:t>Should the firm shut down when losing money?</a:t>
            </a:r>
          </a:p>
          <a:p>
            <a:pPr lvl="1"/>
            <a:r>
              <a:rPr lang="en-US" sz="2400" dirty="0">
                <a:latin typeface="Calibri" panose="020F0502020204030204" pitchFamily="34" charset="0"/>
                <a:cs typeface="Calibri" panose="020F0502020204030204" pitchFamily="34" charset="0"/>
              </a:rPr>
              <a:t>NO if Price &gt; Average Variable Cost</a:t>
            </a:r>
          </a:p>
          <a:p>
            <a:pPr lvl="2"/>
            <a:r>
              <a:rPr lang="en-US" sz="2400" dirty="0">
                <a:latin typeface="Calibri" panose="020F0502020204030204" pitchFamily="34" charset="0"/>
                <a:cs typeface="Calibri" panose="020F0502020204030204" pitchFamily="34" charset="0"/>
              </a:rPr>
              <a:t>Covers workers, materials, utilities</a:t>
            </a:r>
          </a:p>
          <a:p>
            <a:pPr lvl="2"/>
            <a:r>
              <a:rPr lang="en-US" sz="2400" dirty="0">
                <a:latin typeface="Calibri" panose="020F0502020204030204" pitchFamily="34" charset="0"/>
                <a:cs typeface="Calibri" panose="020F0502020204030204" pitchFamily="34" charset="0"/>
              </a:rPr>
              <a:t>Reduces total losses</a:t>
            </a:r>
          </a:p>
          <a:p>
            <a:pPr lvl="1"/>
            <a:r>
              <a:rPr lang="en-US" sz="2400" dirty="0">
                <a:latin typeface="Calibri" panose="020F0502020204030204" pitchFamily="34" charset="0"/>
                <a:cs typeface="Calibri" panose="020F0502020204030204" pitchFamily="34" charset="0"/>
              </a:rPr>
              <a:t>YES if Price &lt; Average Variable Cost</a:t>
            </a:r>
          </a:p>
          <a:p>
            <a:pPr lvl="2"/>
            <a:r>
              <a:rPr lang="en-US" sz="2400" dirty="0">
                <a:latin typeface="Calibri" panose="020F0502020204030204" pitchFamily="34" charset="0"/>
                <a:cs typeface="Calibri" panose="020F0502020204030204" pitchFamily="34" charset="0"/>
              </a:rPr>
              <a:t>Can't even pay workers</a:t>
            </a:r>
          </a:p>
          <a:p>
            <a:pPr lvl="2"/>
            <a:r>
              <a:rPr lang="en-US" sz="2400" dirty="0">
                <a:latin typeface="Calibri" panose="020F0502020204030204" pitchFamily="34" charset="0"/>
                <a:cs typeface="Calibri" panose="020F0502020204030204" pitchFamily="34" charset="0"/>
              </a:rPr>
              <a:t>Immediate shutdown</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Analogy: Like staying in a bad movie because you paid for the ticket</a:t>
            </a:r>
          </a:p>
          <a:p>
            <a:endParaRPr lang="en-US" dirty="0"/>
          </a:p>
        </p:txBody>
      </p:sp>
    </p:spTree>
    <p:extLst>
      <p:ext uri="{BB962C8B-B14F-4D97-AF65-F5344CB8AC3E}">
        <p14:creationId xmlns:p14="http://schemas.microsoft.com/office/powerpoint/2010/main" val="2769485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AC3A30-8B39-B62E-05AA-956DB46DB45F}"/>
              </a:ext>
            </a:extLst>
          </p:cNvPr>
          <p:cNvSpPr>
            <a:spLocks noGrp="1"/>
          </p:cNvSpPr>
          <p:nvPr>
            <p:ph type="title"/>
          </p:nvPr>
        </p:nvSpPr>
        <p:spPr/>
        <p:txBody>
          <a:bodyPr>
            <a:normAutofit fontScale="90000"/>
          </a:bodyPr>
          <a:lstStyle/>
          <a:p>
            <a:pPr marL="0" marR="0" lvl="0" indent="0" rtl="0">
              <a:spcBef>
                <a:spcPts val="0"/>
              </a:spcBef>
            </a:pPr>
            <a:r>
              <a:rPr lang="en-US" dirty="0"/>
              <a:t>The Shutdown Point for the Raspberry Farm</a:t>
            </a:r>
          </a:p>
        </p:txBody>
      </p:sp>
      <p:sp>
        <p:nvSpPr>
          <p:cNvPr id="7" name="Content Placeholder 6">
            <a:extLst>
              <a:ext uri="{FF2B5EF4-FFF2-40B4-BE49-F238E27FC236}">
                <a16:creationId xmlns:a16="http://schemas.microsoft.com/office/drawing/2014/main" id="{8F31F1F0-F92C-9DBC-45ED-7FC944F9C8F5}"/>
              </a:ext>
            </a:extLst>
          </p:cNvPr>
          <p:cNvSpPr>
            <a:spLocks noGrp="1"/>
          </p:cNvSpPr>
          <p:nvPr>
            <p:ph idx="1"/>
          </p:nvPr>
        </p:nvSpPr>
        <p:spPr>
          <a:xfrm>
            <a:off x="838200" y="4542971"/>
            <a:ext cx="10515600" cy="2162629"/>
          </a:xfrm>
          <a:ln>
            <a:solidFill>
              <a:schemeClr val="tx1"/>
            </a:solidFill>
          </a:ln>
        </p:spPr>
        <p:txBody>
          <a:bodyPr>
            <a:normAutofit/>
          </a:bodyPr>
          <a:lstStyle/>
          <a:p>
            <a:r>
              <a:rPr lang="en-US" sz="2400" dirty="0">
                <a:latin typeface="Calibri" panose="020F0502020204030204" pitchFamily="34" charset="0"/>
                <a:cs typeface="Calibri" panose="020F0502020204030204" pitchFamily="34" charset="0"/>
              </a:rPr>
              <a:t>In (a), the farm produces at a level of 65. It is making losses, but price &gt; AVC, so it continues to operate. </a:t>
            </a:r>
          </a:p>
          <a:p>
            <a:r>
              <a:rPr lang="en-US" sz="2400" dirty="0">
                <a:latin typeface="Calibri" panose="020F0502020204030204" pitchFamily="34" charset="0"/>
                <a:cs typeface="Calibri" panose="020F0502020204030204" pitchFamily="34" charset="0"/>
              </a:rPr>
              <a:t>In (b), the farm produces at a level of 60. This price &lt; AVC for this level of output.  </a:t>
            </a:r>
          </a:p>
          <a:p>
            <a:r>
              <a:rPr lang="en-US" sz="2400" dirty="0">
                <a:latin typeface="Calibri" panose="020F0502020204030204" pitchFamily="34" charset="0"/>
                <a:cs typeface="Calibri" panose="020F0502020204030204" pitchFamily="34" charset="0"/>
              </a:rPr>
              <a:t>If the farmer cannot pay workers (the variable costs), then it has to shut down. </a:t>
            </a:r>
          </a:p>
        </p:txBody>
      </p:sp>
      <p:pic>
        <p:nvPicPr>
          <p:cNvPr id="4" name="Picture 3" descr="The graphs show that despite negative profits (i.e. losses), firms can continue to operate. However, when prices drop beneath variable cost, firms will shut down">
            <a:extLst>
              <a:ext uri="{FF2B5EF4-FFF2-40B4-BE49-F238E27FC236}">
                <a16:creationId xmlns:a16="http://schemas.microsoft.com/office/drawing/2014/main" id="{6DA5A7B7-CFA4-5F2E-4431-8AB6EF279606}"/>
              </a:ext>
            </a:extLst>
          </p:cNvPr>
          <p:cNvPicPr>
            <a:picLocks noChangeAspect="1"/>
          </p:cNvPicPr>
          <p:nvPr/>
        </p:nvPicPr>
        <p:blipFill>
          <a:blip r:embed="rId2"/>
          <a:stretch>
            <a:fillRect/>
          </a:stretch>
        </p:blipFill>
        <p:spPr>
          <a:xfrm>
            <a:off x="2421164" y="1206171"/>
            <a:ext cx="7349671" cy="3086862"/>
          </a:xfrm>
          <a:prstGeom prst="rect">
            <a:avLst/>
          </a:prstGeom>
          <a:ln>
            <a:solidFill>
              <a:schemeClr val="tx1"/>
            </a:solidFill>
          </a:ln>
        </p:spPr>
      </p:pic>
    </p:spTree>
    <p:extLst>
      <p:ext uri="{BB962C8B-B14F-4D97-AF65-F5344CB8AC3E}">
        <p14:creationId xmlns:p14="http://schemas.microsoft.com/office/powerpoint/2010/main" val="3168685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AC3A30-8B39-B62E-05AA-956DB46DB45F}"/>
              </a:ext>
            </a:extLst>
          </p:cNvPr>
          <p:cNvSpPr>
            <a:spLocks noGrp="1"/>
          </p:cNvSpPr>
          <p:nvPr>
            <p:ph type="title"/>
          </p:nvPr>
        </p:nvSpPr>
        <p:spPr>
          <a:xfrm>
            <a:off x="1175657" y="86234"/>
            <a:ext cx="10300693" cy="1188720"/>
          </a:xfrm>
        </p:spPr>
        <p:txBody>
          <a:bodyPr>
            <a:normAutofit/>
          </a:bodyPr>
          <a:lstStyle/>
          <a:p>
            <a:pPr lvl="0" rtl="0">
              <a:spcBef>
                <a:spcPts val="0"/>
              </a:spcBef>
            </a:pPr>
            <a:r>
              <a:rPr lang="en-US" dirty="0"/>
              <a:t>Short-Run Outcomes for Perfectly Competitive Firms, Part 1</a:t>
            </a:r>
          </a:p>
        </p:txBody>
      </p:sp>
      <p:sp>
        <p:nvSpPr>
          <p:cNvPr id="4" name="Content Placeholder 6">
            <a:extLst>
              <a:ext uri="{FF2B5EF4-FFF2-40B4-BE49-F238E27FC236}">
                <a16:creationId xmlns:a16="http://schemas.microsoft.com/office/drawing/2014/main" id="{B6363499-0B5F-9997-BECB-0A25C00B80BD}"/>
              </a:ext>
              <a:ext uri="{C183D7F6-B498-43B3-948B-1728B52AA6E4}">
                <adec:decorative xmlns:adec="http://schemas.microsoft.com/office/drawing/2017/decorative" val="1"/>
              </a:ext>
            </a:extLst>
          </p:cNvPr>
          <p:cNvSpPr>
            <a:spLocks noGrp="1"/>
          </p:cNvSpPr>
          <p:nvPr>
            <p:ph sz="half" idx="1"/>
          </p:nvPr>
        </p:nvSpPr>
        <p:spPr>
          <a:xfrm>
            <a:off x="669211" y="5823626"/>
            <a:ext cx="10515600" cy="902059"/>
          </a:xfrm>
          <a:ln>
            <a:solidFill>
              <a:schemeClr val="tx1"/>
            </a:solidFill>
          </a:ln>
        </p:spPr>
        <p:txBody>
          <a:bodyPr>
            <a:normAutofit/>
          </a:bodyPr>
          <a:lstStyle/>
          <a:p>
            <a:pPr marL="0" indent="0">
              <a:buNone/>
            </a:pPr>
            <a:r>
              <a:rPr lang="en-US" b="1" i="1" dirty="0">
                <a:latin typeface="Calibri" panose="020F0502020204030204" pitchFamily="34" charset="0"/>
                <a:cs typeface="Calibri" panose="020F0502020204030204" pitchFamily="34" charset="0"/>
              </a:rPr>
              <a:t>Break even point </a:t>
            </a:r>
            <a:r>
              <a:rPr lang="en-US" i="1" dirty="0">
                <a:latin typeface="Calibri" panose="020F0502020204030204" pitchFamily="34" charset="0"/>
                <a:cs typeface="Calibri" panose="020F0502020204030204" pitchFamily="34" charset="0"/>
              </a:rPr>
              <a:t>- level of output where the MC intersects the AC curve at the minimum point of AC; if the price is at this point, the firm is earning zero economic profits.</a:t>
            </a:r>
          </a:p>
        </p:txBody>
      </p:sp>
      <p:sp>
        <p:nvSpPr>
          <p:cNvPr id="3" name="Content Placeholder 2">
            <a:extLst>
              <a:ext uri="{FF2B5EF4-FFF2-40B4-BE49-F238E27FC236}">
                <a16:creationId xmlns:a16="http://schemas.microsoft.com/office/drawing/2014/main" id="{D5CCC4B6-2CCC-91C6-1FDA-7B81C06009F1}"/>
              </a:ext>
              <a:ext uri="{C183D7F6-B498-43B3-948B-1728B52AA6E4}">
                <adec:decorative xmlns:adec="http://schemas.microsoft.com/office/drawing/2017/decorative" val="1"/>
              </a:ext>
            </a:extLst>
          </p:cNvPr>
          <p:cNvSpPr>
            <a:spLocks noGrp="1"/>
          </p:cNvSpPr>
          <p:nvPr>
            <p:ph sz="half" idx="2"/>
          </p:nvPr>
        </p:nvSpPr>
        <p:spPr>
          <a:xfrm>
            <a:off x="6049648" y="1559615"/>
            <a:ext cx="5315037" cy="3979350"/>
          </a:xfrm>
          <a:ln>
            <a:solidFill>
              <a:schemeClr val="tx1"/>
            </a:solidFill>
          </a:ln>
        </p:spPr>
        <p:txBody>
          <a:bodyPr>
            <a:normAutofit/>
          </a:bodyPr>
          <a:lstStyle/>
          <a:p>
            <a:r>
              <a:rPr lang="en-US" dirty="0">
                <a:latin typeface="Calibri" panose="020F0502020204030204" pitchFamily="34" charset="0"/>
                <a:cs typeface="Calibri" panose="020F0502020204030204" pitchFamily="34" charset="0"/>
              </a:rPr>
              <a:t>We can divide the MC curve into 3 zones, based on where it is crossed by the AC and AVC curves.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We call the point where MC crosses AC the </a:t>
            </a:r>
            <a:r>
              <a:rPr lang="en-US" u="sng" dirty="0">
                <a:latin typeface="Calibri" panose="020F0502020204030204" pitchFamily="34" charset="0"/>
                <a:cs typeface="Calibri" panose="020F0502020204030204" pitchFamily="34" charset="0"/>
              </a:rPr>
              <a:t>break even point</a:t>
            </a:r>
            <a:r>
              <a:rPr lang="en-US" dirty="0">
                <a:latin typeface="Calibri" panose="020F0502020204030204" pitchFamily="34" charset="0"/>
                <a:cs typeface="Calibri" panose="020F0502020204030204" pitchFamily="34" charset="0"/>
              </a:rPr>
              <a:t>.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If the firm is operating where </a:t>
            </a:r>
            <a:r>
              <a:rPr lang="en-US" i="1" dirty="0">
                <a:latin typeface="Calibri" panose="020F0502020204030204" pitchFamily="34" charset="0"/>
                <a:cs typeface="Calibri" panose="020F0502020204030204" pitchFamily="34" charset="0"/>
              </a:rPr>
              <a:t>price</a:t>
            </a:r>
            <a:r>
              <a:rPr lang="en-US" dirty="0">
                <a:latin typeface="Calibri" panose="020F0502020204030204" pitchFamily="34" charset="0"/>
                <a:cs typeface="Calibri" panose="020F0502020204030204" pitchFamily="34" charset="0"/>
              </a:rPr>
              <a:t> &gt; </a:t>
            </a:r>
            <a:r>
              <a:rPr lang="en-US" i="1" dirty="0">
                <a:latin typeface="Calibri" panose="020F0502020204030204" pitchFamily="34" charset="0"/>
                <a:cs typeface="Calibri" panose="020F0502020204030204" pitchFamily="34" charset="0"/>
              </a:rPr>
              <a:t>break even point</a:t>
            </a:r>
            <a:r>
              <a:rPr lang="en-US" dirty="0">
                <a:latin typeface="Calibri" panose="020F0502020204030204" pitchFamily="34" charset="0"/>
                <a:cs typeface="Calibri" panose="020F0502020204030204" pitchFamily="34" charset="0"/>
              </a:rPr>
              <a:t>, then price &gt; AC and the firm is </a:t>
            </a:r>
            <a:r>
              <a:rPr lang="en-US" u="sng" dirty="0">
                <a:latin typeface="Calibri" panose="020F0502020204030204" pitchFamily="34" charset="0"/>
                <a:cs typeface="Calibri" panose="020F0502020204030204" pitchFamily="34" charset="0"/>
              </a:rPr>
              <a:t>earning profits</a:t>
            </a:r>
            <a:r>
              <a:rPr lang="en-US" dirty="0">
                <a:latin typeface="Calibri" panose="020F0502020204030204" pitchFamily="34" charset="0"/>
                <a:cs typeface="Calibri" panose="020F0502020204030204" pitchFamily="34" charset="0"/>
              </a:rPr>
              <a:t>.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If the </a:t>
            </a:r>
            <a:r>
              <a:rPr lang="en-US" i="1" dirty="0">
                <a:latin typeface="Calibri" panose="020F0502020204030204" pitchFamily="34" charset="0"/>
                <a:cs typeface="Calibri" panose="020F0502020204030204" pitchFamily="34" charset="0"/>
              </a:rPr>
              <a:t>price</a:t>
            </a:r>
            <a:r>
              <a:rPr lang="en-US" dirty="0">
                <a:latin typeface="Calibri" panose="020F0502020204030204" pitchFamily="34" charset="0"/>
                <a:cs typeface="Calibri" panose="020F0502020204030204" pitchFamily="34" charset="0"/>
              </a:rPr>
              <a:t> = </a:t>
            </a:r>
            <a:r>
              <a:rPr lang="en-US" i="1" dirty="0">
                <a:latin typeface="Calibri" panose="020F0502020204030204" pitchFamily="34" charset="0"/>
                <a:cs typeface="Calibri" panose="020F0502020204030204" pitchFamily="34" charset="0"/>
              </a:rPr>
              <a:t>break even point</a:t>
            </a:r>
            <a:r>
              <a:rPr lang="en-US" dirty="0">
                <a:latin typeface="Calibri" panose="020F0502020204030204" pitchFamily="34" charset="0"/>
                <a:cs typeface="Calibri" panose="020F0502020204030204" pitchFamily="34" charset="0"/>
              </a:rPr>
              <a:t>, then the firm is making </a:t>
            </a:r>
            <a:r>
              <a:rPr lang="en-US" u="sng" dirty="0">
                <a:latin typeface="Calibri" panose="020F0502020204030204" pitchFamily="34" charset="0"/>
                <a:cs typeface="Calibri" panose="020F0502020204030204" pitchFamily="34" charset="0"/>
              </a:rPr>
              <a:t>zero profits</a:t>
            </a:r>
            <a:r>
              <a:rPr lang="en-US" dirty="0">
                <a:latin typeface="Calibri" panose="020F0502020204030204" pitchFamily="34" charset="0"/>
                <a:cs typeface="Calibri" panose="020F0502020204030204" pitchFamily="34" charset="0"/>
              </a:rPr>
              <a:t>. </a:t>
            </a:r>
          </a:p>
          <a:p>
            <a:endParaRPr lang="en-US" dirty="0"/>
          </a:p>
        </p:txBody>
      </p:sp>
      <p:pic>
        <p:nvPicPr>
          <p:cNvPr id="8" name="Picture 7">
            <a:extLst>
              <a:ext uri="{FF2B5EF4-FFF2-40B4-BE49-F238E27FC236}">
                <a16:creationId xmlns:a16="http://schemas.microsoft.com/office/drawing/2014/main" id="{0B7D955A-C4A2-C0E6-4EF6-88207122F4C7}"/>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15649" y="1559615"/>
            <a:ext cx="5211362" cy="3609509"/>
          </a:xfrm>
          <a:prstGeom prst="rect">
            <a:avLst/>
          </a:prstGeom>
          <a:ln>
            <a:solidFill>
              <a:schemeClr val="tx1"/>
            </a:solidFill>
          </a:ln>
        </p:spPr>
      </p:pic>
    </p:spTree>
    <p:extLst>
      <p:ext uri="{BB962C8B-B14F-4D97-AF65-F5344CB8AC3E}">
        <p14:creationId xmlns:p14="http://schemas.microsoft.com/office/powerpoint/2010/main" val="1389833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AC3A30-8B39-B62E-05AA-956DB46DB45F}"/>
              </a:ext>
            </a:extLst>
          </p:cNvPr>
          <p:cNvSpPr>
            <a:spLocks noGrp="1"/>
          </p:cNvSpPr>
          <p:nvPr>
            <p:ph type="title"/>
          </p:nvPr>
        </p:nvSpPr>
        <p:spPr>
          <a:xfrm>
            <a:off x="725076" y="312135"/>
            <a:ext cx="10515600" cy="1188720"/>
          </a:xfrm>
        </p:spPr>
        <p:txBody>
          <a:bodyPr>
            <a:normAutofit/>
          </a:bodyPr>
          <a:lstStyle/>
          <a:p>
            <a:pPr lvl="0" rtl="0">
              <a:spcBef>
                <a:spcPts val="0"/>
              </a:spcBef>
            </a:pPr>
            <a:r>
              <a:rPr lang="en-US" dirty="0"/>
              <a:t>Short-Run Outcomes for Perfectly Competitive Firms, Part 2 </a:t>
            </a:r>
          </a:p>
        </p:txBody>
      </p:sp>
      <p:sp>
        <p:nvSpPr>
          <p:cNvPr id="3" name="Content Placeholder 2">
            <a:extLst>
              <a:ext uri="{FF2B5EF4-FFF2-40B4-BE49-F238E27FC236}">
                <a16:creationId xmlns:a16="http://schemas.microsoft.com/office/drawing/2014/main" id="{D5CCC4B6-2CCC-91C6-1FDA-7B81C06009F1}"/>
              </a:ext>
              <a:ext uri="{C183D7F6-B498-43B3-948B-1728B52AA6E4}">
                <adec:decorative xmlns:adec="http://schemas.microsoft.com/office/drawing/2017/decorative" val="1"/>
              </a:ext>
            </a:extLst>
          </p:cNvPr>
          <p:cNvSpPr>
            <a:spLocks noGrp="1"/>
          </p:cNvSpPr>
          <p:nvPr>
            <p:ph sz="half" idx="1"/>
          </p:nvPr>
        </p:nvSpPr>
        <p:spPr>
          <a:xfrm>
            <a:off x="6096000" y="1838661"/>
            <a:ext cx="5181600" cy="4490253"/>
          </a:xfrm>
        </p:spPr>
        <p:txBody>
          <a:bodyPr>
            <a:normAutofit/>
          </a:bodyPr>
          <a:lstStyle/>
          <a:p>
            <a:r>
              <a:rPr lang="en-US" sz="2000" dirty="0">
                <a:latin typeface="Calibri" panose="020F0502020204030204" pitchFamily="34" charset="0"/>
                <a:cs typeface="Calibri" panose="020F0502020204030204" pitchFamily="34" charset="0"/>
              </a:rPr>
              <a:t>If </a:t>
            </a:r>
            <a:r>
              <a:rPr lang="en-US" sz="2000" i="1" dirty="0">
                <a:latin typeface="Calibri" panose="020F0502020204030204" pitchFamily="34" charset="0"/>
                <a:cs typeface="Calibri" panose="020F0502020204030204" pitchFamily="34" charset="0"/>
              </a:rPr>
              <a:t>shutdown point &lt; price &lt; break even point</a:t>
            </a:r>
            <a:r>
              <a:rPr lang="en-US" sz="2000" dirty="0">
                <a:latin typeface="Calibri" panose="020F0502020204030204" pitchFamily="34" charset="0"/>
                <a:cs typeface="Calibri" panose="020F0502020204030204" pitchFamily="34" charset="0"/>
              </a:rPr>
              <a:t>, </a:t>
            </a:r>
          </a:p>
          <a:p>
            <a:pPr lvl="1"/>
            <a:r>
              <a:rPr lang="en-US" sz="2000" dirty="0">
                <a:latin typeface="Calibri" panose="020F0502020204030204" pitchFamily="34" charset="0"/>
                <a:cs typeface="Calibri" panose="020F0502020204030204" pitchFamily="34" charset="0"/>
              </a:rPr>
              <a:t>the firm is </a:t>
            </a:r>
            <a:r>
              <a:rPr lang="en-US" sz="2000" u="sng" dirty="0">
                <a:latin typeface="Calibri" panose="020F0502020204030204" pitchFamily="34" charset="0"/>
                <a:cs typeface="Calibri" panose="020F0502020204030204" pitchFamily="34" charset="0"/>
              </a:rPr>
              <a:t>making losses</a:t>
            </a:r>
            <a:r>
              <a:rPr lang="en-US" sz="2000" dirty="0">
                <a:latin typeface="Calibri" panose="020F0502020204030204" pitchFamily="34" charset="0"/>
                <a:cs typeface="Calibri" panose="020F0502020204030204" pitchFamily="34" charset="0"/>
              </a:rPr>
              <a:t> </a:t>
            </a:r>
          </a:p>
          <a:p>
            <a:pPr lvl="1"/>
            <a:r>
              <a:rPr lang="en-US" sz="2000" dirty="0">
                <a:latin typeface="Calibri" panose="020F0502020204030204" pitchFamily="34" charset="0"/>
                <a:cs typeface="Calibri" panose="020F0502020204030204" pitchFamily="34" charset="0"/>
              </a:rPr>
              <a:t>but will continue to operate in the short run, </a:t>
            </a:r>
          </a:p>
          <a:p>
            <a:pPr lvl="1"/>
            <a:r>
              <a:rPr lang="en-US" sz="2000" dirty="0">
                <a:latin typeface="Calibri" panose="020F0502020204030204" pitchFamily="34" charset="0"/>
                <a:cs typeface="Calibri" panose="020F0502020204030204" pitchFamily="34" charset="0"/>
              </a:rPr>
              <a:t>since it is covering its variable costs, and more if price is above the shutdown-point price. </a:t>
            </a: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If </a:t>
            </a:r>
            <a:r>
              <a:rPr lang="en-US" sz="2000" i="1" dirty="0">
                <a:latin typeface="Calibri" panose="020F0502020204030204" pitchFamily="34" charset="0"/>
                <a:cs typeface="Calibri" panose="020F0502020204030204" pitchFamily="34" charset="0"/>
              </a:rPr>
              <a:t>price &lt; shutdown point</a:t>
            </a:r>
            <a:r>
              <a:rPr lang="en-US" sz="2000" dirty="0">
                <a:latin typeface="Calibri" panose="020F0502020204030204" pitchFamily="34" charset="0"/>
                <a:cs typeface="Calibri" panose="020F0502020204030204" pitchFamily="34" charset="0"/>
              </a:rPr>
              <a:t>, then the firm will </a:t>
            </a:r>
            <a:r>
              <a:rPr lang="en-US" sz="2000" u="sng" dirty="0">
                <a:latin typeface="Calibri" panose="020F0502020204030204" pitchFamily="34" charset="0"/>
                <a:cs typeface="Calibri" panose="020F0502020204030204" pitchFamily="34" charset="0"/>
              </a:rPr>
              <a:t>shut down immediately</a:t>
            </a:r>
            <a:r>
              <a:rPr lang="en-US" sz="2000" dirty="0">
                <a:latin typeface="Calibri" panose="020F0502020204030204" pitchFamily="34" charset="0"/>
                <a:cs typeface="Calibri" panose="020F0502020204030204" pitchFamily="34" charset="0"/>
              </a:rPr>
              <a:t>, since it is not even covering its variable costs.</a:t>
            </a:r>
          </a:p>
          <a:p>
            <a:endParaRPr lang="en-US" dirty="0"/>
          </a:p>
        </p:txBody>
      </p:sp>
      <p:pic>
        <p:nvPicPr>
          <p:cNvPr id="9" name="Picture 8">
            <a:extLst>
              <a:ext uri="{FF2B5EF4-FFF2-40B4-BE49-F238E27FC236}">
                <a16:creationId xmlns:a16="http://schemas.microsoft.com/office/drawing/2014/main" id="{34FDA4A6-0518-8FB8-7199-FF67D34BB74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25076" y="1818263"/>
            <a:ext cx="5211362" cy="3609509"/>
          </a:xfrm>
          <a:prstGeom prst="rect">
            <a:avLst/>
          </a:prstGeom>
          <a:ln>
            <a:solidFill>
              <a:schemeClr val="tx1"/>
            </a:solidFill>
          </a:ln>
        </p:spPr>
      </p:pic>
    </p:spTree>
    <p:extLst>
      <p:ext uri="{BB962C8B-B14F-4D97-AF65-F5344CB8AC3E}">
        <p14:creationId xmlns:p14="http://schemas.microsoft.com/office/powerpoint/2010/main" val="503619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AC3A30-8B39-B62E-05AA-956DB46DB45F}"/>
              </a:ext>
            </a:extLst>
          </p:cNvPr>
          <p:cNvSpPr>
            <a:spLocks noGrp="1"/>
          </p:cNvSpPr>
          <p:nvPr>
            <p:ph type="title"/>
          </p:nvPr>
        </p:nvSpPr>
        <p:spPr>
          <a:xfrm>
            <a:off x="621383" y="365126"/>
            <a:ext cx="10515600" cy="650874"/>
          </a:xfrm>
        </p:spPr>
        <p:txBody>
          <a:bodyPr>
            <a:noAutofit/>
          </a:bodyPr>
          <a:lstStyle/>
          <a:p>
            <a:pPr lvl="0">
              <a:spcBef>
                <a:spcPts val="0"/>
              </a:spcBef>
            </a:pPr>
            <a:r>
              <a:rPr lang="en-US" sz="2800" b="0" dirty="0"/>
              <a:t>Long run entry and Exit</a:t>
            </a:r>
          </a:p>
        </p:txBody>
      </p:sp>
      <p:sp>
        <p:nvSpPr>
          <p:cNvPr id="7" name="Content Placeholder 6">
            <a:extLst>
              <a:ext uri="{FF2B5EF4-FFF2-40B4-BE49-F238E27FC236}">
                <a16:creationId xmlns:a16="http://schemas.microsoft.com/office/drawing/2014/main" id="{8F31F1F0-F92C-9DBC-45ED-7FC944F9C8F5}"/>
              </a:ext>
            </a:extLst>
          </p:cNvPr>
          <p:cNvSpPr>
            <a:spLocks noGrp="1"/>
          </p:cNvSpPr>
          <p:nvPr>
            <p:ph idx="1"/>
          </p:nvPr>
        </p:nvSpPr>
        <p:spPr/>
        <p:txBody>
          <a:bodyPr/>
          <a:lstStyle/>
          <a:p>
            <a:r>
              <a:rPr lang="en-US" dirty="0"/>
              <a:t>When firms earn profits → New firms enter</a:t>
            </a:r>
            <a:br>
              <a:rPr lang="en-US" dirty="0"/>
            </a:br>
            <a:r>
              <a:rPr lang="en-US" dirty="0"/>
              <a:t>When firms suffer losses → Existing firms exit</a:t>
            </a:r>
          </a:p>
          <a:p>
            <a:r>
              <a:rPr lang="en-US" dirty="0"/>
              <a:t>Long-Run Equilibrium:</a:t>
            </a:r>
          </a:p>
          <a:p>
            <a:pPr lvl="1"/>
            <a:r>
              <a:rPr lang="en-US" dirty="0"/>
              <a:t>Zero economic profit for all firms</a:t>
            </a:r>
          </a:p>
          <a:p>
            <a:pPr lvl="1"/>
            <a:r>
              <a:rPr lang="en-US" dirty="0"/>
              <a:t>No incentive to enter or exit</a:t>
            </a:r>
          </a:p>
          <a:p>
            <a:pPr lvl="1"/>
            <a:r>
              <a:rPr lang="en-US" dirty="0"/>
              <a:t>P = MR = MC = AC</a:t>
            </a:r>
          </a:p>
          <a:p>
            <a:endParaRPr lang="en-US" dirty="0"/>
          </a:p>
          <a:p>
            <a:r>
              <a:rPr lang="en-US" dirty="0"/>
              <a:t>Analogy: Gold rush towns—booms attract prospectors, busts cause departures</a:t>
            </a:r>
          </a:p>
          <a:p>
            <a:endParaRPr lang="en-US" dirty="0"/>
          </a:p>
        </p:txBody>
      </p:sp>
    </p:spTree>
    <p:extLst>
      <p:ext uri="{BB962C8B-B14F-4D97-AF65-F5344CB8AC3E}">
        <p14:creationId xmlns:p14="http://schemas.microsoft.com/office/powerpoint/2010/main" val="4062727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AC3A30-8B39-B62E-05AA-956DB46DB45F}"/>
              </a:ext>
            </a:extLst>
          </p:cNvPr>
          <p:cNvSpPr>
            <a:spLocks noGrp="1"/>
          </p:cNvSpPr>
          <p:nvPr>
            <p:ph type="title"/>
          </p:nvPr>
        </p:nvSpPr>
        <p:spPr/>
        <p:txBody>
          <a:bodyPr>
            <a:noAutofit/>
          </a:bodyPr>
          <a:lstStyle/>
          <a:p>
            <a:pPr lvl="0">
              <a:spcBef>
                <a:spcPts val="0"/>
              </a:spcBef>
            </a:pPr>
            <a:r>
              <a:rPr lang="en-US" sz="2800" b="0" dirty="0"/>
              <a:t>Industry Types in the Long run</a:t>
            </a:r>
          </a:p>
        </p:txBody>
      </p:sp>
      <p:sp>
        <p:nvSpPr>
          <p:cNvPr id="7" name="Content Placeholder 6">
            <a:extLst>
              <a:ext uri="{FF2B5EF4-FFF2-40B4-BE49-F238E27FC236}">
                <a16:creationId xmlns:a16="http://schemas.microsoft.com/office/drawing/2014/main" id="{8F31F1F0-F92C-9DBC-45ED-7FC944F9C8F5}"/>
              </a:ext>
            </a:extLst>
          </p:cNvPr>
          <p:cNvSpPr>
            <a:spLocks noGrp="1"/>
          </p:cNvSpPr>
          <p:nvPr>
            <p:ph idx="1"/>
          </p:nvPr>
        </p:nvSpPr>
        <p:spPr>
          <a:xfrm>
            <a:off x="621383" y="1399024"/>
            <a:ext cx="10515600" cy="4740519"/>
          </a:xfrm>
          <a:ln>
            <a:solidFill>
              <a:schemeClr val="tx1"/>
            </a:solidFill>
          </a:ln>
        </p:spPr>
        <p:txBody>
          <a:bodyPr>
            <a:normAutofit/>
          </a:bodyPr>
          <a:lstStyle/>
          <a:p>
            <a:pPr marL="457200" indent="-457200">
              <a:buFont typeface="+mj-lt"/>
              <a:buAutoNum type="arabicPeriod"/>
            </a:pPr>
            <a:r>
              <a:rPr lang="en-US" sz="2400" dirty="0">
                <a:latin typeface="Calibri" panose="020F0502020204030204" pitchFamily="34" charset="0"/>
                <a:cs typeface="Calibri" panose="020F0502020204030204" pitchFamily="34" charset="0"/>
              </a:rPr>
              <a:t>Constant-Cost Industry</a:t>
            </a:r>
          </a:p>
          <a:p>
            <a:pPr lvl="1"/>
            <a:r>
              <a:rPr lang="en-US" sz="2400" dirty="0">
                <a:latin typeface="Calibri" panose="020F0502020204030204" pitchFamily="34" charset="0"/>
                <a:cs typeface="Calibri" panose="020F0502020204030204" pitchFamily="34" charset="0"/>
              </a:rPr>
              <a:t>Demand ↑, Costs stay same → Price unchanged</a:t>
            </a:r>
          </a:p>
          <a:p>
            <a:pPr marL="457200" indent="-457200">
              <a:buFont typeface="+mj-lt"/>
              <a:buAutoNum type="arabicPeriod"/>
            </a:pPr>
            <a:r>
              <a:rPr lang="en-US" sz="2400" dirty="0">
                <a:latin typeface="Calibri" panose="020F0502020204030204" pitchFamily="34" charset="0"/>
                <a:cs typeface="Calibri" panose="020F0502020204030204" pitchFamily="34" charset="0"/>
              </a:rPr>
              <a:t>Increasing-Cost Industry</a:t>
            </a:r>
          </a:p>
          <a:p>
            <a:pPr lvl="1"/>
            <a:r>
              <a:rPr lang="en-US" sz="2400" dirty="0">
                <a:latin typeface="Calibri" panose="020F0502020204030204" pitchFamily="34" charset="0"/>
                <a:cs typeface="Calibri" panose="020F0502020204030204" pitchFamily="34" charset="0"/>
              </a:rPr>
              <a:t>Demand ↑, Costs rise → Price rises</a:t>
            </a:r>
          </a:p>
          <a:p>
            <a:pPr lvl="1"/>
            <a:r>
              <a:rPr lang="en-US" sz="2400" dirty="0">
                <a:latin typeface="Calibri" panose="020F0502020204030204" pitchFamily="34" charset="0"/>
                <a:cs typeface="Calibri" panose="020F0502020204030204" pitchFamily="34" charset="0"/>
              </a:rPr>
              <a:t>(Scarce inputs, higher wages)</a:t>
            </a:r>
          </a:p>
          <a:p>
            <a:pPr marL="457200" indent="-457200">
              <a:buFont typeface="+mj-lt"/>
              <a:buAutoNum type="arabicPeriod"/>
            </a:pPr>
            <a:r>
              <a:rPr lang="en-US" sz="2400" dirty="0">
                <a:latin typeface="Calibri" panose="020F0502020204030204" pitchFamily="34" charset="0"/>
                <a:cs typeface="Calibri" panose="020F0502020204030204" pitchFamily="34" charset="0"/>
              </a:rPr>
              <a:t>Decreasing-Cost Industry</a:t>
            </a:r>
          </a:p>
          <a:p>
            <a:pPr lvl="1"/>
            <a:r>
              <a:rPr lang="en-US" sz="2400" dirty="0">
                <a:latin typeface="Calibri" panose="020F0502020204030204" pitchFamily="34" charset="0"/>
                <a:cs typeface="Calibri" panose="020F0502020204030204" pitchFamily="34" charset="0"/>
              </a:rPr>
              <a:t>Demand ↑, Costs fall → Price falls</a:t>
            </a:r>
          </a:p>
          <a:p>
            <a:pPr lvl="1"/>
            <a:r>
              <a:rPr lang="en-US" sz="2400" dirty="0">
                <a:latin typeface="Calibri" panose="020F0502020204030204" pitchFamily="34" charset="0"/>
                <a:cs typeface="Calibri" panose="020F0502020204030204" pitchFamily="34" charset="0"/>
              </a:rPr>
              <a:t>(Technology improvements, economies of scale)</a:t>
            </a:r>
          </a:p>
          <a:p>
            <a:endParaRPr lang="en-US" dirty="0"/>
          </a:p>
        </p:txBody>
      </p:sp>
    </p:spTree>
    <p:extLst>
      <p:ext uri="{BB962C8B-B14F-4D97-AF65-F5344CB8AC3E}">
        <p14:creationId xmlns:p14="http://schemas.microsoft.com/office/powerpoint/2010/main" val="372199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AC3A30-8B39-B62E-05AA-956DB46DB45F}"/>
              </a:ext>
            </a:extLst>
          </p:cNvPr>
          <p:cNvSpPr>
            <a:spLocks noGrp="1"/>
          </p:cNvSpPr>
          <p:nvPr>
            <p:ph type="title"/>
          </p:nvPr>
        </p:nvSpPr>
        <p:spPr>
          <a:xfrm>
            <a:off x="621383" y="365126"/>
            <a:ext cx="10515600" cy="708931"/>
          </a:xfrm>
        </p:spPr>
        <p:txBody>
          <a:bodyPr>
            <a:noAutofit/>
          </a:bodyPr>
          <a:lstStyle/>
          <a:p>
            <a:pPr lvl="0">
              <a:spcBef>
                <a:spcPts val="0"/>
              </a:spcBef>
            </a:pPr>
            <a:r>
              <a:rPr lang="en-US" sz="2800" b="0" dirty="0">
                <a:latin typeface="Calibri" panose="020F0502020204030204" pitchFamily="34" charset="0"/>
                <a:cs typeface="Calibri" panose="020F0502020204030204" pitchFamily="34" charset="0"/>
              </a:rPr>
              <a:t>Efficiency in Perfect competition</a:t>
            </a:r>
          </a:p>
        </p:txBody>
      </p:sp>
      <p:sp>
        <p:nvSpPr>
          <p:cNvPr id="7" name="Content Placeholder 6">
            <a:extLst>
              <a:ext uri="{FF2B5EF4-FFF2-40B4-BE49-F238E27FC236}">
                <a16:creationId xmlns:a16="http://schemas.microsoft.com/office/drawing/2014/main" id="{8F31F1F0-F92C-9DBC-45ED-7FC944F9C8F5}"/>
              </a:ext>
            </a:extLst>
          </p:cNvPr>
          <p:cNvSpPr>
            <a:spLocks noGrp="1"/>
          </p:cNvSpPr>
          <p:nvPr>
            <p:ph idx="1"/>
          </p:nvPr>
        </p:nvSpPr>
        <p:spPr>
          <a:xfrm>
            <a:off x="621383" y="1380170"/>
            <a:ext cx="10515600" cy="4843945"/>
          </a:xfrm>
          <a:ln>
            <a:solidFill>
              <a:schemeClr val="tx1"/>
            </a:solidFill>
          </a:ln>
        </p:spPr>
        <p:txBody>
          <a:bodyPr>
            <a:normAutofit/>
          </a:bodyPr>
          <a:lstStyle/>
          <a:p>
            <a:pPr marL="0" indent="0">
              <a:buNone/>
            </a:pPr>
            <a:r>
              <a:rPr lang="en-US" sz="2400" dirty="0">
                <a:latin typeface="Calibri" panose="020F0502020204030204" pitchFamily="34" charset="0"/>
                <a:cs typeface="Calibri" panose="020F0502020204030204" pitchFamily="34" charset="0"/>
              </a:rPr>
              <a:t>Two Types of Efficiency:</a:t>
            </a:r>
          </a:p>
          <a:p>
            <a:pPr marL="342900" indent="-342900">
              <a:buFont typeface="+mj-lt"/>
              <a:buAutoNum type="arabicPeriod"/>
            </a:pPr>
            <a:r>
              <a:rPr lang="en-US" sz="2400" dirty="0">
                <a:latin typeface="Calibri" panose="020F0502020204030204" pitchFamily="34" charset="0"/>
                <a:cs typeface="Calibri" panose="020F0502020204030204" pitchFamily="34" charset="0"/>
              </a:rPr>
              <a:t>Productive Efficiency</a:t>
            </a:r>
          </a:p>
          <a:p>
            <a:pPr lvl="1"/>
            <a:r>
              <a:rPr lang="en-US" sz="2400" dirty="0">
                <a:latin typeface="Calibri" panose="020F0502020204030204" pitchFamily="34" charset="0"/>
                <a:cs typeface="Calibri" panose="020F0502020204030204" pitchFamily="34" charset="0"/>
              </a:rPr>
              <a:t>Producing at lowest possible cost</a:t>
            </a:r>
          </a:p>
          <a:p>
            <a:pPr lvl="1"/>
            <a:r>
              <a:rPr lang="en-US" sz="2400" dirty="0">
                <a:latin typeface="Calibri" panose="020F0502020204030204" pitchFamily="34" charset="0"/>
                <a:cs typeface="Calibri" panose="020F0502020204030204" pitchFamily="34" charset="0"/>
              </a:rPr>
              <a:t>P = minimum AC</a:t>
            </a:r>
          </a:p>
          <a:p>
            <a:pPr marL="342900" indent="-342900">
              <a:buFont typeface="+mj-lt"/>
              <a:buAutoNum type="arabicPeriod"/>
            </a:pPr>
            <a:r>
              <a:rPr lang="en-US" sz="2400" dirty="0">
                <a:latin typeface="Calibri" panose="020F0502020204030204" pitchFamily="34" charset="0"/>
                <a:cs typeface="Calibri" panose="020F0502020204030204" pitchFamily="34" charset="0"/>
              </a:rPr>
              <a:t>Allocative Efficiency</a:t>
            </a:r>
          </a:p>
          <a:p>
            <a:pPr lvl="1"/>
            <a:r>
              <a:rPr lang="en-US" sz="2400" dirty="0">
                <a:latin typeface="Calibri" panose="020F0502020204030204" pitchFamily="34" charset="0"/>
                <a:cs typeface="Calibri" panose="020F0502020204030204" pitchFamily="34" charset="0"/>
              </a:rPr>
              <a:t>Resources allocated to highest-valued uses</a:t>
            </a:r>
          </a:p>
          <a:p>
            <a:pPr lvl="1"/>
            <a:r>
              <a:rPr lang="en-US" sz="2400" dirty="0">
                <a:latin typeface="Calibri" panose="020F0502020204030204" pitchFamily="34" charset="0"/>
                <a:cs typeface="Calibri" panose="020F0502020204030204" pitchFamily="34" charset="0"/>
              </a:rPr>
              <a:t>P = MC (social benefit = social cost)</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Result: Perfect competition maximizes social welfare</a:t>
            </a:r>
            <a:br>
              <a:rPr lang="en-US" dirty="0"/>
            </a:br>
            <a:endParaRPr lang="en-US" dirty="0"/>
          </a:p>
        </p:txBody>
      </p:sp>
    </p:spTree>
    <p:extLst>
      <p:ext uri="{BB962C8B-B14F-4D97-AF65-F5344CB8AC3E}">
        <p14:creationId xmlns:p14="http://schemas.microsoft.com/office/powerpoint/2010/main" val="3822884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AC3A30-8B39-B62E-05AA-956DB46DB45F}"/>
              </a:ext>
            </a:extLst>
          </p:cNvPr>
          <p:cNvSpPr>
            <a:spLocks noGrp="1"/>
          </p:cNvSpPr>
          <p:nvPr>
            <p:ph type="title"/>
          </p:nvPr>
        </p:nvSpPr>
        <p:spPr>
          <a:xfrm>
            <a:off x="621383" y="365126"/>
            <a:ext cx="10515600" cy="854074"/>
          </a:xfrm>
        </p:spPr>
        <p:txBody>
          <a:bodyPr>
            <a:noAutofit/>
          </a:bodyPr>
          <a:lstStyle/>
          <a:p>
            <a:pPr lvl="0">
              <a:spcBef>
                <a:spcPts val="0"/>
              </a:spcBef>
            </a:pPr>
            <a:r>
              <a:rPr lang="en-US" sz="2800" b="0" dirty="0">
                <a:latin typeface="Calibri" panose="020F0502020204030204" pitchFamily="34" charset="0"/>
                <a:cs typeface="Calibri" panose="020F0502020204030204" pitchFamily="34" charset="0"/>
              </a:rPr>
              <a:t>Perfect Competition vs. Reality</a:t>
            </a:r>
          </a:p>
        </p:txBody>
      </p:sp>
      <p:sp>
        <p:nvSpPr>
          <p:cNvPr id="7" name="Content Placeholder 6">
            <a:extLst>
              <a:ext uri="{FF2B5EF4-FFF2-40B4-BE49-F238E27FC236}">
                <a16:creationId xmlns:a16="http://schemas.microsoft.com/office/drawing/2014/main" id="{8F31F1F0-F92C-9DBC-45ED-7FC944F9C8F5}"/>
              </a:ext>
            </a:extLst>
          </p:cNvPr>
          <p:cNvSpPr>
            <a:spLocks noGrp="1"/>
          </p:cNvSpPr>
          <p:nvPr>
            <p:ph idx="1"/>
          </p:nvPr>
        </p:nvSpPr>
        <p:spPr>
          <a:xfrm>
            <a:off x="696798" y="1342463"/>
            <a:ext cx="10515600" cy="4985766"/>
          </a:xfrm>
          <a:ln>
            <a:solidFill>
              <a:schemeClr val="tx1"/>
            </a:solidFill>
          </a:ln>
        </p:spPr>
        <p:txBody>
          <a:bodyPr>
            <a:normAutofit fontScale="92500" lnSpcReduction="10000"/>
          </a:bodyPr>
          <a:lstStyle/>
          <a:p>
            <a:r>
              <a:rPr lang="en-US" sz="2400" dirty="0">
                <a:latin typeface="Calibri" panose="020F0502020204030204" pitchFamily="34" charset="0"/>
                <a:cs typeface="Calibri" panose="020F0502020204030204" pitchFamily="34" charset="0"/>
              </a:rPr>
              <a:t>Perfect Competition = Hypothetical Benchmark</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Real Markets Include:</a:t>
            </a:r>
          </a:p>
          <a:p>
            <a:pPr lvl="1"/>
            <a:r>
              <a:rPr lang="en-US" sz="2400" dirty="0">
                <a:latin typeface="Calibri" panose="020F0502020204030204" pitchFamily="34" charset="0"/>
                <a:cs typeface="Calibri" panose="020F0502020204030204" pitchFamily="34" charset="0"/>
              </a:rPr>
              <a:t>Pollution and externalities</a:t>
            </a:r>
          </a:p>
          <a:p>
            <a:pPr lvl="1"/>
            <a:r>
              <a:rPr lang="en-US" sz="2400" dirty="0">
                <a:latin typeface="Calibri" panose="020F0502020204030204" pitchFamily="34" charset="0"/>
                <a:cs typeface="Calibri" panose="020F0502020204030204" pitchFamily="34" charset="0"/>
              </a:rPr>
              <a:t>Innovation and new technology</a:t>
            </a:r>
          </a:p>
          <a:p>
            <a:pPr lvl="1"/>
            <a:r>
              <a:rPr lang="en-US" sz="2400" dirty="0">
                <a:latin typeface="Calibri" panose="020F0502020204030204" pitchFamily="34" charset="0"/>
                <a:cs typeface="Calibri" panose="020F0502020204030204" pitchFamily="34" charset="0"/>
              </a:rPr>
              <a:t>Income inequality</a:t>
            </a:r>
          </a:p>
          <a:p>
            <a:pPr lvl="1"/>
            <a:r>
              <a:rPr lang="en-US" sz="2400" dirty="0">
                <a:latin typeface="Calibri" panose="020F0502020204030204" pitchFamily="34" charset="0"/>
                <a:cs typeface="Calibri" panose="020F0502020204030204" pitchFamily="34" charset="0"/>
              </a:rPr>
              <a:t>Imperfect information</a:t>
            </a:r>
          </a:p>
          <a:p>
            <a:pPr lvl="1"/>
            <a:r>
              <a:rPr lang="en-US" sz="2400" dirty="0">
                <a:latin typeface="Calibri" panose="020F0502020204030204" pitchFamily="34" charset="0"/>
                <a:cs typeface="Calibri" panose="020F0502020204030204" pitchFamily="34" charset="0"/>
              </a:rPr>
              <a:t>Government intervention</a:t>
            </a:r>
          </a:p>
          <a:p>
            <a:pPr lvl="1"/>
            <a:r>
              <a:rPr lang="en-US" sz="2400" dirty="0">
                <a:latin typeface="Calibri" panose="020F0502020204030204" pitchFamily="34" charset="0"/>
                <a:cs typeface="Calibri" panose="020F0502020204030204" pitchFamily="34" charset="0"/>
              </a:rPr>
              <a:t>Market power and discrimination</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Value: Useful comparison point for policy analysis</a:t>
            </a:r>
          </a:p>
          <a:p>
            <a:endParaRPr lang="en-US" dirty="0"/>
          </a:p>
        </p:txBody>
      </p:sp>
    </p:spTree>
    <p:extLst>
      <p:ext uri="{BB962C8B-B14F-4D97-AF65-F5344CB8AC3E}">
        <p14:creationId xmlns:p14="http://schemas.microsoft.com/office/powerpoint/2010/main" val="1694090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FE053-7E11-AE5E-45B7-52655CEED4F2}"/>
              </a:ext>
            </a:extLst>
          </p:cNvPr>
          <p:cNvSpPr>
            <a:spLocks noGrp="1"/>
          </p:cNvSpPr>
          <p:nvPr>
            <p:ph type="title"/>
          </p:nvPr>
        </p:nvSpPr>
        <p:spPr>
          <a:xfrm>
            <a:off x="621383" y="365126"/>
            <a:ext cx="10515600" cy="694417"/>
          </a:xfrm>
        </p:spPr>
        <p:txBody>
          <a:bodyPr/>
          <a:lstStyle/>
          <a:p>
            <a:r>
              <a:rPr lang="en-US" sz="2800" b="0" dirty="0"/>
              <a:t>Key takeaways</a:t>
            </a:r>
          </a:p>
        </p:txBody>
      </p:sp>
      <p:sp>
        <p:nvSpPr>
          <p:cNvPr id="3" name="Content Placeholder 2">
            <a:extLst>
              <a:ext uri="{FF2B5EF4-FFF2-40B4-BE49-F238E27FC236}">
                <a16:creationId xmlns:a16="http://schemas.microsoft.com/office/drawing/2014/main" id="{B85A81ED-9A5E-70EF-C8F4-87168123EFCA}"/>
              </a:ext>
            </a:extLst>
          </p:cNvPr>
          <p:cNvSpPr>
            <a:spLocks noGrp="1"/>
          </p:cNvSpPr>
          <p:nvPr>
            <p:ph idx="1"/>
          </p:nvPr>
        </p:nvSpPr>
        <p:spPr>
          <a:ln>
            <a:solidFill>
              <a:schemeClr val="tx1"/>
            </a:solidFill>
          </a:ln>
        </p:spPr>
        <p:txBody>
          <a:bodyPr/>
          <a:lstStyle/>
          <a:p>
            <a:pPr marL="0" indent="0">
              <a:buNone/>
            </a:pPr>
            <a:r>
              <a:rPr lang="en-US" sz="2400" dirty="0">
                <a:latin typeface="Calibri" panose="020F0502020204030204" pitchFamily="34" charset="0"/>
                <a:cs typeface="Calibri" panose="020F0502020204030204" pitchFamily="34" charset="0"/>
              </a:rPr>
              <a:t>Perfect Competition Insights:</a:t>
            </a:r>
          </a:p>
          <a:p>
            <a:r>
              <a:rPr lang="en-US" sz="2400" dirty="0">
                <a:latin typeface="Calibri" panose="020F0502020204030204" pitchFamily="34" charset="0"/>
                <a:cs typeface="Calibri" panose="020F0502020204030204" pitchFamily="34" charset="0"/>
              </a:rPr>
              <a:t>Firms are price takers with one decision: quantity</a:t>
            </a:r>
          </a:p>
          <a:p>
            <a:r>
              <a:rPr lang="en-US" sz="2400" dirty="0">
                <a:latin typeface="Calibri" panose="020F0502020204030204" pitchFamily="34" charset="0"/>
                <a:cs typeface="Calibri" panose="020F0502020204030204" pitchFamily="34" charset="0"/>
              </a:rPr>
              <a:t>Maximize profit where MR = MC</a:t>
            </a:r>
          </a:p>
          <a:p>
            <a:r>
              <a:rPr lang="en-US" sz="2400" dirty="0">
                <a:latin typeface="Calibri" panose="020F0502020204030204" pitchFamily="34" charset="0"/>
                <a:cs typeface="Calibri" panose="020F0502020204030204" pitchFamily="34" charset="0"/>
              </a:rPr>
              <a:t>May operate at a loss if P &gt; AVC</a:t>
            </a:r>
          </a:p>
          <a:p>
            <a:r>
              <a:rPr lang="en-US" sz="2400" dirty="0">
                <a:latin typeface="Calibri" panose="020F0502020204030204" pitchFamily="34" charset="0"/>
                <a:cs typeface="Calibri" panose="020F0502020204030204" pitchFamily="34" charset="0"/>
              </a:rPr>
              <a:t>Long-run: zero economic profit equilibrium</a:t>
            </a:r>
          </a:p>
          <a:p>
            <a:r>
              <a:rPr lang="en-US" sz="2400" dirty="0">
                <a:latin typeface="Calibri" panose="020F0502020204030204" pitchFamily="34" charset="0"/>
                <a:cs typeface="Calibri" panose="020F0502020204030204" pitchFamily="34" charset="0"/>
              </a:rPr>
              <a:t>Achieves productive and allocative efficiency</a:t>
            </a:r>
          </a:p>
          <a:p>
            <a:r>
              <a:rPr lang="en-US" sz="2400" dirty="0">
                <a:latin typeface="Calibri" panose="020F0502020204030204" pitchFamily="34" charset="0"/>
                <a:cs typeface="Calibri" panose="020F0502020204030204" pitchFamily="34" charset="0"/>
              </a:rPr>
              <a:t>Rare in reality but valuable as benchmark</a:t>
            </a:r>
          </a:p>
          <a:p>
            <a:endParaRPr lang="en-US" dirty="0"/>
          </a:p>
        </p:txBody>
      </p:sp>
    </p:spTree>
    <p:extLst>
      <p:ext uri="{BB962C8B-B14F-4D97-AF65-F5344CB8AC3E}">
        <p14:creationId xmlns:p14="http://schemas.microsoft.com/office/powerpoint/2010/main" val="1932497706"/>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933</TotalTime>
  <Words>2758</Words>
  <Application>Microsoft Office PowerPoint</Application>
  <PresentationFormat>Widescreen</PresentationFormat>
  <Paragraphs>175</Paragraphs>
  <Slides>18</Slides>
  <Notes>13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4" baseType="lpstr">
      <vt:lpstr>Aptos</vt:lpstr>
      <vt:lpstr>Arial</vt:lpstr>
      <vt:lpstr>Calibri</vt:lpstr>
      <vt:lpstr>Gill Sans MT</vt:lpstr>
      <vt:lpstr>Parcel</vt:lpstr>
      <vt:lpstr>Equation</vt:lpstr>
      <vt:lpstr>Chapter 8</vt:lpstr>
      <vt:lpstr>Market Power  Classify these examples on a continuum of “no control over price” to “a lot of control over price”. </vt:lpstr>
      <vt:lpstr>What is Perfect Competition</vt:lpstr>
      <vt:lpstr>Real World Examples</vt:lpstr>
      <vt:lpstr>The One Big Decision</vt:lpstr>
      <vt:lpstr>Marginal Revenue and Marginal Costs</vt:lpstr>
      <vt:lpstr>Market Price of Raspberries</vt:lpstr>
      <vt:lpstr>Raspberry Farm Example</vt:lpstr>
      <vt:lpstr>Possible Outcomes at the Raspberry Farm</vt:lpstr>
      <vt:lpstr>The Shutdown Decision</vt:lpstr>
      <vt:lpstr>The Shutdown Point for the Raspberry Farm</vt:lpstr>
      <vt:lpstr>Short-Run Outcomes for Perfectly Competitive Firms, Part 1</vt:lpstr>
      <vt:lpstr>Short-Run Outcomes for Perfectly Competitive Firms, Part 2 </vt:lpstr>
      <vt:lpstr>Long run entry and Exit</vt:lpstr>
      <vt:lpstr>Industry Types in the Long run</vt:lpstr>
      <vt:lpstr>Efficiency in Perfect competition</vt:lpstr>
      <vt:lpstr>Perfect Competition vs. Reality</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Scott T Lane</dc:creator>
  <cp:lastModifiedBy>Scott T Lane</cp:lastModifiedBy>
  <cp:revision>1</cp:revision>
  <dcterms:created xsi:type="dcterms:W3CDTF">2025-05-05T14:11:37Z</dcterms:created>
  <dcterms:modified xsi:type="dcterms:W3CDTF">2026-04-14T12:29:01Z</dcterms:modified>
</cp:coreProperties>
</file>