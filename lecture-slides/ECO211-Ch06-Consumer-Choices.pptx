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20"/>
  </p:notesMasterIdLst>
  <p:sldIdLst>
    <p:sldId id="256" r:id="rId2"/>
    <p:sldId id="317" r:id="rId3"/>
    <p:sldId id="323" r:id="rId4"/>
    <p:sldId id="321" r:id="rId5"/>
    <p:sldId id="318" r:id="rId6"/>
    <p:sldId id="320" r:id="rId7"/>
    <p:sldId id="324" r:id="rId8"/>
    <p:sldId id="307" r:id="rId9"/>
    <p:sldId id="322" r:id="rId10"/>
    <p:sldId id="264" r:id="rId11"/>
    <p:sldId id="265" r:id="rId12"/>
    <p:sldId id="309" r:id="rId13"/>
    <p:sldId id="312" r:id="rId14"/>
    <p:sldId id="271" r:id="rId15"/>
    <p:sldId id="325" r:id="rId16"/>
    <p:sldId id="326" r:id="rId17"/>
    <p:sldId id="327" r:id="rId18"/>
    <p:sldId id="32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autoAdjust="0"/>
    <p:restoredTop sz="72489" autoAdjust="0"/>
  </p:normalViewPr>
  <p:slideViewPr>
    <p:cSldViewPr snapToGrid="0">
      <p:cViewPr varScale="1">
        <p:scale>
          <a:sx n="66" d="100"/>
          <a:sy n="66" d="100"/>
        </p:scale>
        <p:origin x="917" y="5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7E70BB95-7D27-52BD-BFCA-66981E18D4F3}"/>
    <pc:docChg chg="undo custSel modSld">
      <pc:chgData name="Scott T Lane" userId="c97bbaa9-35da-4a3b-a646-d12e455ac46e" providerId="ADAL" clId="{7E70BB95-7D27-52BD-BFCA-66981E18D4F3}" dt="2026-03-17T23:33:00.009" v="40"/>
      <pc:docMkLst>
        <pc:docMk/>
      </pc:docMkLst>
      <pc:sldChg chg="addSp delSp modSp mod modTransition setBg modAnim delDesignElem">
        <pc:chgData name="Scott T Lane" userId="c97bbaa9-35da-4a3b-a646-d12e455ac46e" providerId="ADAL" clId="{7E70BB95-7D27-52BD-BFCA-66981E18D4F3}" dt="2026-03-17T23:33:00.009" v="40"/>
        <pc:sldMkLst>
          <pc:docMk/>
          <pc:sldMk cId="2946475127" sldId="256"/>
        </pc:sldMkLst>
        <pc:spChg chg="mod">
          <ac:chgData name="Scott T Lane" userId="c97bbaa9-35da-4a3b-a646-d12e455ac46e" providerId="ADAL" clId="{7E70BB95-7D27-52BD-BFCA-66981E18D4F3}" dt="2026-03-10T10:56:18.214" v="9" actId="14100"/>
          <ac:spMkLst>
            <pc:docMk/>
            <pc:sldMk cId="2946475127" sldId="256"/>
            <ac:spMk id="2" creationId="{E63B7D4F-ED2B-026B-3DCC-FC25D75BF3F3}"/>
          </ac:spMkLst>
        </pc:spChg>
        <pc:spChg chg="add mod">
          <ac:chgData name="Scott T Lane" userId="c97bbaa9-35da-4a3b-a646-d12e455ac46e" providerId="ADAL" clId="{7E70BB95-7D27-52BD-BFCA-66981E18D4F3}" dt="2026-03-10T10:57:22.567" v="32" actId="1076"/>
          <ac:spMkLst>
            <pc:docMk/>
            <pc:sldMk cId="2946475127" sldId="256"/>
            <ac:spMk id="5" creationId="{94488982-3395-8102-AF5A-5035187BF822}"/>
          </ac:spMkLst>
        </pc:spChg>
      </pc:sldChg>
      <pc:sldChg chg="addSp delSp modSp modTransition modAnim">
        <pc:chgData name="Scott T Lane" userId="c97bbaa9-35da-4a3b-a646-d12e455ac46e" providerId="ADAL" clId="{7E70BB95-7D27-52BD-BFCA-66981E18D4F3}" dt="2026-03-17T23:33:00.009" v="40"/>
        <pc:sldMkLst>
          <pc:docMk/>
          <pc:sldMk cId="3957052720" sldId="264"/>
        </pc:sldMkLst>
      </pc:sldChg>
      <pc:sldChg chg="addSp delSp modSp modTransition modAnim">
        <pc:chgData name="Scott T Lane" userId="c97bbaa9-35da-4a3b-a646-d12e455ac46e" providerId="ADAL" clId="{7E70BB95-7D27-52BD-BFCA-66981E18D4F3}" dt="2026-03-17T23:33:00.009" v="40"/>
        <pc:sldMkLst>
          <pc:docMk/>
          <pc:sldMk cId="1710297802" sldId="265"/>
        </pc:sldMkLst>
      </pc:sldChg>
      <pc:sldChg chg="addSp delSp modSp modTransition modAnim">
        <pc:chgData name="Scott T Lane" userId="c97bbaa9-35da-4a3b-a646-d12e455ac46e" providerId="ADAL" clId="{7E70BB95-7D27-52BD-BFCA-66981E18D4F3}" dt="2026-03-17T23:33:00.009" v="40"/>
        <pc:sldMkLst>
          <pc:docMk/>
          <pc:sldMk cId="374887475" sldId="271"/>
        </pc:sldMkLst>
      </pc:sldChg>
      <pc:sldChg chg="addSp delSp modSp mod modTransition modAnim">
        <pc:chgData name="Scott T Lane" userId="c97bbaa9-35da-4a3b-a646-d12e455ac46e" providerId="ADAL" clId="{7E70BB95-7D27-52BD-BFCA-66981E18D4F3}" dt="2026-03-17T23:33:00.009" v="40"/>
        <pc:sldMkLst>
          <pc:docMk/>
          <pc:sldMk cId="2477407496" sldId="307"/>
        </pc:sldMkLst>
        <pc:spChg chg="mod">
          <ac:chgData name="Scott T Lane" userId="c97bbaa9-35da-4a3b-a646-d12e455ac46e" providerId="ADAL" clId="{7E70BB95-7D27-52BD-BFCA-66981E18D4F3}" dt="2026-03-10T10:54:58.617" v="4" actId="27636"/>
          <ac:spMkLst>
            <pc:docMk/>
            <pc:sldMk cId="2477407496" sldId="307"/>
            <ac:spMk id="5" creationId="{8A85D7CF-8C2B-82C8-2042-F6353162AC79}"/>
          </ac:spMkLst>
        </pc:spChg>
      </pc:sldChg>
      <pc:sldChg chg="addSp delSp modSp modTransition modAnim">
        <pc:chgData name="Scott T Lane" userId="c97bbaa9-35da-4a3b-a646-d12e455ac46e" providerId="ADAL" clId="{7E70BB95-7D27-52BD-BFCA-66981E18D4F3}" dt="2026-03-17T23:33:00.009" v="40"/>
        <pc:sldMkLst>
          <pc:docMk/>
          <pc:sldMk cId="3955474227" sldId="309"/>
        </pc:sldMkLst>
      </pc:sldChg>
      <pc:sldChg chg="addSp delSp modSp mod modTransition modAnim">
        <pc:chgData name="Scott T Lane" userId="c97bbaa9-35da-4a3b-a646-d12e455ac46e" providerId="ADAL" clId="{7E70BB95-7D27-52BD-BFCA-66981E18D4F3}" dt="2026-03-17T23:33:00.009" v="40"/>
        <pc:sldMkLst>
          <pc:docMk/>
          <pc:sldMk cId="256663966" sldId="312"/>
        </pc:sldMkLst>
        <pc:spChg chg="mod">
          <ac:chgData name="Scott T Lane" userId="c97bbaa9-35da-4a3b-a646-d12e455ac46e" providerId="ADAL" clId="{7E70BB95-7D27-52BD-BFCA-66981E18D4F3}" dt="2026-03-10T10:54:58.632" v="6" actId="27636"/>
          <ac:spMkLst>
            <pc:docMk/>
            <pc:sldMk cId="256663966" sldId="312"/>
            <ac:spMk id="7" creationId="{AF56E1C2-C095-14EA-F9F9-5AD34442E1CA}"/>
          </ac:spMkLst>
        </pc:spChg>
      </pc:sldChg>
      <pc:sldChg chg="addSp delSp modSp mod modTransition modAnim">
        <pc:chgData name="Scott T Lane" userId="c97bbaa9-35da-4a3b-a646-d12e455ac46e" providerId="ADAL" clId="{7E70BB95-7D27-52BD-BFCA-66981E18D4F3}" dt="2026-03-17T23:33:00.009" v="40"/>
        <pc:sldMkLst>
          <pc:docMk/>
          <pc:sldMk cId="3961540397" sldId="317"/>
        </pc:sldMkLst>
        <pc:spChg chg="mod">
          <ac:chgData name="Scott T Lane" userId="c97bbaa9-35da-4a3b-a646-d12e455ac46e" providerId="ADAL" clId="{7E70BB95-7D27-52BD-BFCA-66981E18D4F3}" dt="2026-03-10T10:54:58.597" v="2" actId="27636"/>
          <ac:spMkLst>
            <pc:docMk/>
            <pc:sldMk cId="3961540397" sldId="317"/>
            <ac:spMk id="2" creationId="{01A8CA3B-EEEF-0C37-5E1A-1295E3C3B546}"/>
          </ac:spMkLst>
        </pc:spChg>
        <pc:spChg chg="mod">
          <ac:chgData name="Scott T Lane" userId="c97bbaa9-35da-4a3b-a646-d12e455ac46e" providerId="ADAL" clId="{7E70BB95-7D27-52BD-BFCA-66981E18D4F3}" dt="2026-03-10T10:57:35.386" v="33" actId="113"/>
          <ac:spMkLst>
            <pc:docMk/>
            <pc:sldMk cId="3961540397" sldId="317"/>
            <ac:spMk id="6" creationId="{1DD28273-6806-C844-D709-51B27A16BD35}"/>
          </ac:spMkLst>
        </pc:spChg>
      </pc:sldChg>
      <pc:sldChg chg="addSp delSp modSp mod modTransition modAnim">
        <pc:chgData name="Scott T Lane" userId="c97bbaa9-35da-4a3b-a646-d12e455ac46e" providerId="ADAL" clId="{7E70BB95-7D27-52BD-BFCA-66981E18D4F3}" dt="2026-03-17T23:33:00.009" v="40"/>
        <pc:sldMkLst>
          <pc:docMk/>
          <pc:sldMk cId="2654566599" sldId="318"/>
        </pc:sldMkLst>
        <pc:spChg chg="mod">
          <ac:chgData name="Scott T Lane" userId="c97bbaa9-35da-4a3b-a646-d12e455ac46e" providerId="ADAL" clId="{7E70BB95-7D27-52BD-BFCA-66981E18D4F3}" dt="2026-03-10T10:57:45.820" v="35" actId="113"/>
          <ac:spMkLst>
            <pc:docMk/>
            <pc:sldMk cId="2654566599" sldId="318"/>
            <ac:spMk id="2" creationId="{B98118B2-884F-E7C4-67DA-0C699286C948}"/>
          </ac:spMkLst>
        </pc:spChg>
        <pc:spChg chg="mod">
          <ac:chgData name="Scott T Lane" userId="c97bbaa9-35da-4a3b-a646-d12e455ac46e" providerId="ADAL" clId="{7E70BB95-7D27-52BD-BFCA-66981E18D4F3}" dt="2026-03-10T10:54:58.609" v="3" actId="27636"/>
          <ac:spMkLst>
            <pc:docMk/>
            <pc:sldMk cId="2654566599" sldId="318"/>
            <ac:spMk id="3" creationId="{459C7ED6-54AF-7B1D-19E2-E868D93A3E20}"/>
          </ac:spMkLst>
        </pc:spChg>
      </pc:sldChg>
      <pc:sldChg chg="addSp delSp modSp mod modTransition modAnim">
        <pc:chgData name="Scott T Lane" userId="c97bbaa9-35da-4a3b-a646-d12e455ac46e" providerId="ADAL" clId="{7E70BB95-7D27-52BD-BFCA-66981E18D4F3}" dt="2026-03-17T23:33:00.009" v="40"/>
        <pc:sldMkLst>
          <pc:docMk/>
          <pc:sldMk cId="3722923696" sldId="320"/>
        </pc:sldMkLst>
        <pc:spChg chg="mod">
          <ac:chgData name="Scott T Lane" userId="c97bbaa9-35da-4a3b-a646-d12e455ac46e" providerId="ADAL" clId="{7E70BB95-7D27-52BD-BFCA-66981E18D4F3}" dt="2026-03-10T10:57:54.837" v="36" actId="113"/>
          <ac:spMkLst>
            <pc:docMk/>
            <pc:sldMk cId="3722923696" sldId="320"/>
            <ac:spMk id="2" creationId="{2B6733EA-E922-BDAA-31D2-70BB599DC7C9}"/>
          </ac:spMkLst>
        </pc:spChg>
      </pc:sldChg>
      <pc:sldChg chg="addSp delSp modSp mod modTransition modAnim">
        <pc:chgData name="Scott T Lane" userId="c97bbaa9-35da-4a3b-a646-d12e455ac46e" providerId="ADAL" clId="{7E70BB95-7D27-52BD-BFCA-66981E18D4F3}" dt="2026-03-17T23:33:00.009" v="40"/>
        <pc:sldMkLst>
          <pc:docMk/>
          <pc:sldMk cId="223747621" sldId="321"/>
        </pc:sldMkLst>
        <pc:spChg chg="mod">
          <ac:chgData name="Scott T Lane" userId="c97bbaa9-35da-4a3b-a646-d12e455ac46e" providerId="ADAL" clId="{7E70BB95-7D27-52BD-BFCA-66981E18D4F3}" dt="2026-03-10T10:57:41.003" v="34" actId="113"/>
          <ac:spMkLst>
            <pc:docMk/>
            <pc:sldMk cId="223747621" sldId="321"/>
            <ac:spMk id="2" creationId="{CCCF5930-A338-381F-9295-182C03F96187}"/>
          </ac:spMkLst>
        </pc:spChg>
      </pc:sldChg>
      <pc:sldChg chg="addSp delSp modSp modTransition modAnim">
        <pc:chgData name="Scott T Lane" userId="c97bbaa9-35da-4a3b-a646-d12e455ac46e" providerId="ADAL" clId="{7E70BB95-7D27-52BD-BFCA-66981E18D4F3}" dt="2026-03-17T23:33:00.009" v="40"/>
        <pc:sldMkLst>
          <pc:docMk/>
          <pc:sldMk cId="204565445" sldId="322"/>
        </pc:sldMkLst>
      </pc:sldChg>
      <pc:sldChg chg="addSp delSp modSp modTransition modAnim">
        <pc:chgData name="Scott T Lane" userId="c97bbaa9-35da-4a3b-a646-d12e455ac46e" providerId="ADAL" clId="{7E70BB95-7D27-52BD-BFCA-66981E18D4F3}" dt="2026-03-17T23:33:00.009" v="40"/>
        <pc:sldMkLst>
          <pc:docMk/>
          <pc:sldMk cId="2407473024" sldId="323"/>
        </pc:sldMkLst>
      </pc:sldChg>
      <pc:sldChg chg="addSp delSp modSp modTransition modAnim">
        <pc:chgData name="Scott T Lane" userId="c97bbaa9-35da-4a3b-a646-d12e455ac46e" providerId="ADAL" clId="{7E70BB95-7D27-52BD-BFCA-66981E18D4F3}" dt="2026-03-17T23:33:00.009" v="40"/>
        <pc:sldMkLst>
          <pc:docMk/>
          <pc:sldMk cId="3832564759" sldId="324"/>
        </pc:sldMkLst>
      </pc:sldChg>
      <pc:sldChg chg="addSp delSp modSp modTransition modAnim">
        <pc:chgData name="Scott T Lane" userId="c97bbaa9-35da-4a3b-a646-d12e455ac46e" providerId="ADAL" clId="{7E70BB95-7D27-52BD-BFCA-66981E18D4F3}" dt="2026-03-17T23:33:00.009" v="40"/>
        <pc:sldMkLst>
          <pc:docMk/>
          <pc:sldMk cId="4062638629" sldId="325"/>
        </pc:sldMkLst>
      </pc:sldChg>
      <pc:sldChg chg="addSp delSp modSp modTransition modAnim">
        <pc:chgData name="Scott T Lane" userId="c97bbaa9-35da-4a3b-a646-d12e455ac46e" providerId="ADAL" clId="{7E70BB95-7D27-52BD-BFCA-66981E18D4F3}" dt="2026-03-17T23:33:00.009" v="40"/>
        <pc:sldMkLst>
          <pc:docMk/>
          <pc:sldMk cId="3577440221" sldId="326"/>
        </pc:sldMkLst>
      </pc:sldChg>
      <pc:sldChg chg="addSp delSp modSp modTransition modAnim">
        <pc:chgData name="Scott T Lane" userId="c97bbaa9-35da-4a3b-a646-d12e455ac46e" providerId="ADAL" clId="{7E70BB95-7D27-52BD-BFCA-66981E18D4F3}" dt="2026-03-17T23:33:00.009" v="40"/>
        <pc:sldMkLst>
          <pc:docMk/>
          <pc:sldMk cId="1248380838" sldId="327"/>
        </pc:sldMkLst>
      </pc:sldChg>
      <pc:sldChg chg="addSp delSp modSp modTransition modAnim">
        <pc:chgData name="Scott T Lane" userId="c97bbaa9-35da-4a3b-a646-d12e455ac46e" providerId="ADAL" clId="{7E70BB95-7D27-52BD-BFCA-66981E18D4F3}" dt="2026-03-17T23:33:00.009" v="40"/>
        <pc:sldMkLst>
          <pc:docMk/>
          <pc:sldMk cId="2277406291" sldId="328"/>
        </pc:sldMkLst>
      </pc:sldChg>
    </pc:docChg>
  </pc:docChgLst>
  <pc:docChgLst>
    <pc:chgData name="Scott T Lane" userId="c97bbaa9-35da-4a3b-a646-d12e455ac46e" providerId="ADAL" clId="{2FF3E2E3-7818-4E76-9C63-7C10A568D9B9}"/>
    <pc:docChg chg="undo custSel addSld delSld modSld modMainMaster">
      <pc:chgData name="Scott T Lane" userId="c97bbaa9-35da-4a3b-a646-d12e455ac46e" providerId="ADAL" clId="{2FF3E2E3-7818-4E76-9C63-7C10A568D9B9}" dt="2026-03-25T14:55:47.662" v="510" actId="478"/>
      <pc:docMkLst>
        <pc:docMk/>
      </pc:docMkLst>
      <pc:sldChg chg="addSp delSp modSp mod">
        <pc:chgData name="Scott T Lane" userId="c97bbaa9-35da-4a3b-a646-d12e455ac46e" providerId="ADAL" clId="{2FF3E2E3-7818-4E76-9C63-7C10A568D9B9}" dt="2026-03-25T14:55:47.662" v="510" actId="478"/>
        <pc:sldMkLst>
          <pc:docMk/>
          <pc:sldMk cId="2946475127" sldId="256"/>
        </pc:sldMkLst>
        <pc:spChg chg="del">
          <ac:chgData name="Scott T Lane" userId="c97bbaa9-35da-4a3b-a646-d12e455ac46e" providerId="ADAL" clId="{2FF3E2E3-7818-4E76-9C63-7C10A568D9B9}" dt="2026-03-25T14:55:45.295" v="509" actId="478"/>
          <ac:spMkLst>
            <pc:docMk/>
            <pc:sldMk cId="2946475127" sldId="256"/>
            <ac:spMk id="3" creationId="{046F5DC3-0C75-250B-266C-A3F19543BE11}"/>
          </ac:spMkLst>
        </pc:spChg>
        <pc:spChg chg="add del mod">
          <ac:chgData name="Scott T Lane" userId="c97bbaa9-35da-4a3b-a646-d12e455ac46e" providerId="ADAL" clId="{2FF3E2E3-7818-4E76-9C63-7C10A568D9B9}" dt="2026-03-25T14:55:47.662" v="510" actId="478"/>
          <ac:spMkLst>
            <pc:docMk/>
            <pc:sldMk cId="2946475127" sldId="256"/>
            <ac:spMk id="7" creationId="{42E67CE7-693A-D652-8CF0-F5B2CA152F4A}"/>
          </ac:spMkLst>
        </pc:spChg>
      </pc:sldChg>
      <pc:sldChg chg="modSp mod">
        <pc:chgData name="Scott T Lane" userId="c97bbaa9-35da-4a3b-a646-d12e455ac46e" providerId="ADAL" clId="{2FF3E2E3-7818-4E76-9C63-7C10A568D9B9}" dt="2026-03-17T15:16:46.671" v="302" actId="15"/>
        <pc:sldMkLst>
          <pc:docMk/>
          <pc:sldMk cId="3957052720" sldId="264"/>
        </pc:sldMkLst>
        <pc:spChg chg="mod">
          <ac:chgData name="Scott T Lane" userId="c97bbaa9-35da-4a3b-a646-d12e455ac46e" providerId="ADAL" clId="{2FF3E2E3-7818-4E76-9C63-7C10A568D9B9}" dt="2026-03-17T15:15:39.488" v="292" actId="14100"/>
          <ac:spMkLst>
            <pc:docMk/>
            <pc:sldMk cId="3957052720" sldId="264"/>
            <ac:spMk id="6" creationId="{B58AD7C3-FAC0-E872-D85C-05E442D06027}"/>
          </ac:spMkLst>
        </pc:spChg>
        <pc:spChg chg="mod">
          <ac:chgData name="Scott T Lane" userId="c97bbaa9-35da-4a3b-a646-d12e455ac46e" providerId="ADAL" clId="{2FF3E2E3-7818-4E76-9C63-7C10A568D9B9}" dt="2026-03-17T15:16:46.671" v="302" actId="15"/>
          <ac:spMkLst>
            <pc:docMk/>
            <pc:sldMk cId="3957052720" sldId="264"/>
            <ac:spMk id="7" creationId="{AF56E1C2-C095-14EA-F9F9-5AD34442E1CA}"/>
          </ac:spMkLst>
        </pc:spChg>
      </pc:sldChg>
      <pc:sldChg chg="modSp mod">
        <pc:chgData name="Scott T Lane" userId="c97bbaa9-35da-4a3b-a646-d12e455ac46e" providerId="ADAL" clId="{2FF3E2E3-7818-4E76-9C63-7C10A568D9B9}" dt="2026-03-17T15:17:24.647" v="304" actId="208"/>
        <pc:sldMkLst>
          <pc:docMk/>
          <pc:sldMk cId="1710297802" sldId="265"/>
        </pc:sldMkLst>
        <pc:spChg chg="mod">
          <ac:chgData name="Scott T Lane" userId="c97bbaa9-35da-4a3b-a646-d12e455ac46e" providerId="ADAL" clId="{2FF3E2E3-7818-4E76-9C63-7C10A568D9B9}" dt="2026-03-17T15:17:24.647" v="304" actId="208"/>
          <ac:spMkLst>
            <pc:docMk/>
            <pc:sldMk cId="1710297802" sldId="265"/>
            <ac:spMk id="3" creationId="{1C96E452-DA79-1E0F-DE85-FDED4F8E9BC7}"/>
          </ac:spMkLst>
        </pc:spChg>
        <pc:spChg chg="mod">
          <ac:chgData name="Scott T Lane" userId="c97bbaa9-35da-4a3b-a646-d12e455ac46e" providerId="ADAL" clId="{2FF3E2E3-7818-4E76-9C63-7C10A568D9B9}" dt="2026-03-17T15:17:16.271" v="303" actId="14100"/>
          <ac:spMkLst>
            <pc:docMk/>
            <pc:sldMk cId="1710297802" sldId="265"/>
            <ac:spMk id="6" creationId="{B58AD7C3-FAC0-E872-D85C-05E442D06027}"/>
          </ac:spMkLst>
        </pc:spChg>
      </pc:sldChg>
      <pc:sldChg chg="modSp mod">
        <pc:chgData name="Scott T Lane" userId="c97bbaa9-35da-4a3b-a646-d12e455ac46e" providerId="ADAL" clId="{2FF3E2E3-7818-4E76-9C63-7C10A568D9B9}" dt="2026-03-17T15:26:01.402" v="362" actId="255"/>
        <pc:sldMkLst>
          <pc:docMk/>
          <pc:sldMk cId="374887475" sldId="271"/>
        </pc:sldMkLst>
        <pc:spChg chg="mod">
          <ac:chgData name="Scott T Lane" userId="c97bbaa9-35da-4a3b-a646-d12e455ac46e" providerId="ADAL" clId="{2FF3E2E3-7818-4E76-9C63-7C10A568D9B9}" dt="2026-03-17T15:26:01.402" v="362" actId="255"/>
          <ac:spMkLst>
            <pc:docMk/>
            <pc:sldMk cId="374887475" sldId="271"/>
            <ac:spMk id="3" creationId="{031074EF-70C2-4F40-BC9F-F43C1DEEA205}"/>
          </ac:spMkLst>
        </pc:spChg>
        <pc:spChg chg="mod">
          <ac:chgData name="Scott T Lane" userId="c97bbaa9-35da-4a3b-a646-d12e455ac46e" providerId="ADAL" clId="{2FF3E2E3-7818-4E76-9C63-7C10A568D9B9}" dt="2026-03-17T15:25:36.253" v="358" actId="14100"/>
          <ac:spMkLst>
            <pc:docMk/>
            <pc:sldMk cId="374887475" sldId="271"/>
            <ac:spMk id="6" creationId="{B58AD7C3-FAC0-E872-D85C-05E442D06027}"/>
          </ac:spMkLst>
        </pc:spChg>
      </pc:sldChg>
      <pc:sldChg chg="delSp modSp mod">
        <pc:chgData name="Scott T Lane" userId="c97bbaa9-35da-4a3b-a646-d12e455ac46e" providerId="ADAL" clId="{2FF3E2E3-7818-4E76-9C63-7C10A568D9B9}" dt="2026-03-17T15:13:53.176" v="266" actId="14100"/>
        <pc:sldMkLst>
          <pc:docMk/>
          <pc:sldMk cId="2477407496" sldId="307"/>
        </pc:sldMkLst>
        <pc:spChg chg="mod">
          <ac:chgData name="Scott T Lane" userId="c97bbaa9-35da-4a3b-a646-d12e455ac46e" providerId="ADAL" clId="{2FF3E2E3-7818-4E76-9C63-7C10A568D9B9}" dt="2026-03-17T15:13:53.176" v="266" actId="14100"/>
          <ac:spMkLst>
            <pc:docMk/>
            <pc:sldMk cId="2477407496" sldId="307"/>
            <ac:spMk id="5" creationId="{8A85D7CF-8C2B-82C8-2042-F6353162AC79}"/>
          </ac:spMkLst>
        </pc:spChg>
        <pc:spChg chg="mod">
          <ac:chgData name="Scott T Lane" userId="c97bbaa9-35da-4a3b-a646-d12e455ac46e" providerId="ADAL" clId="{2FF3E2E3-7818-4E76-9C63-7C10A568D9B9}" dt="2026-03-17T15:12:28.017" v="250" actId="14100"/>
          <ac:spMkLst>
            <pc:docMk/>
            <pc:sldMk cId="2477407496" sldId="307"/>
            <ac:spMk id="6" creationId="{B58AD7C3-FAC0-E872-D85C-05E442D06027}"/>
          </ac:spMkLst>
        </pc:spChg>
      </pc:sldChg>
      <pc:sldChg chg="modSp mod">
        <pc:chgData name="Scott T Lane" userId="c97bbaa9-35da-4a3b-a646-d12e455ac46e" providerId="ADAL" clId="{2FF3E2E3-7818-4E76-9C63-7C10A568D9B9}" dt="2026-03-17T15:22:54.713" v="324" actId="14100"/>
        <pc:sldMkLst>
          <pc:docMk/>
          <pc:sldMk cId="3955474227" sldId="309"/>
        </pc:sldMkLst>
        <pc:spChg chg="mod">
          <ac:chgData name="Scott T Lane" userId="c97bbaa9-35da-4a3b-a646-d12e455ac46e" providerId="ADAL" clId="{2FF3E2E3-7818-4E76-9C63-7C10A568D9B9}" dt="2026-03-17T15:22:54.713" v="324" actId="14100"/>
          <ac:spMkLst>
            <pc:docMk/>
            <pc:sldMk cId="3955474227" sldId="309"/>
            <ac:spMk id="3" creationId="{28882D4A-BC8B-5AE9-F93E-40AB5FA81DFB}"/>
          </ac:spMkLst>
        </pc:spChg>
        <pc:spChg chg="mod">
          <ac:chgData name="Scott T Lane" userId="c97bbaa9-35da-4a3b-a646-d12e455ac46e" providerId="ADAL" clId="{2FF3E2E3-7818-4E76-9C63-7C10A568D9B9}" dt="2026-03-17T15:18:38.204" v="313" actId="20577"/>
          <ac:spMkLst>
            <pc:docMk/>
            <pc:sldMk cId="3955474227" sldId="309"/>
            <ac:spMk id="6" creationId="{B58AD7C3-FAC0-E872-D85C-05E442D06027}"/>
          </ac:spMkLst>
        </pc:spChg>
        <pc:picChg chg="mod">
          <ac:chgData name="Scott T Lane" userId="c97bbaa9-35da-4a3b-a646-d12e455ac46e" providerId="ADAL" clId="{2FF3E2E3-7818-4E76-9C63-7C10A568D9B9}" dt="2026-03-17T15:22:49.224" v="322" actId="14100"/>
          <ac:picMkLst>
            <pc:docMk/>
            <pc:sldMk cId="3955474227" sldId="309"/>
            <ac:picMk id="5" creationId="{A37B5965-0017-067D-F2F8-D0F06CBDCB17}"/>
          </ac:picMkLst>
        </pc:picChg>
      </pc:sldChg>
      <pc:sldChg chg="modSp mod">
        <pc:chgData name="Scott T Lane" userId="c97bbaa9-35da-4a3b-a646-d12e455ac46e" providerId="ADAL" clId="{2FF3E2E3-7818-4E76-9C63-7C10A568D9B9}" dt="2026-03-17T15:24:56.378" v="342" actId="20577"/>
        <pc:sldMkLst>
          <pc:docMk/>
          <pc:sldMk cId="256663966" sldId="312"/>
        </pc:sldMkLst>
        <pc:spChg chg="mod">
          <ac:chgData name="Scott T Lane" userId="c97bbaa9-35da-4a3b-a646-d12e455ac46e" providerId="ADAL" clId="{2FF3E2E3-7818-4E76-9C63-7C10A568D9B9}" dt="2026-03-17T15:24:24.121" v="331" actId="20577"/>
          <ac:spMkLst>
            <pc:docMk/>
            <pc:sldMk cId="256663966" sldId="312"/>
            <ac:spMk id="6" creationId="{B58AD7C3-FAC0-E872-D85C-05E442D06027}"/>
          </ac:spMkLst>
        </pc:spChg>
        <pc:spChg chg="mod">
          <ac:chgData name="Scott T Lane" userId="c97bbaa9-35da-4a3b-a646-d12e455ac46e" providerId="ADAL" clId="{2FF3E2E3-7818-4E76-9C63-7C10A568D9B9}" dt="2026-03-17T15:24:56.378" v="342" actId="20577"/>
          <ac:spMkLst>
            <pc:docMk/>
            <pc:sldMk cId="256663966" sldId="312"/>
            <ac:spMk id="7" creationId="{AF56E1C2-C095-14EA-F9F9-5AD34442E1CA}"/>
          </ac:spMkLst>
        </pc:spChg>
      </pc:sldChg>
      <pc:sldChg chg="addSp delSp modSp mod">
        <pc:chgData name="Scott T Lane" userId="c97bbaa9-35da-4a3b-a646-d12e455ac46e" providerId="ADAL" clId="{2FF3E2E3-7818-4E76-9C63-7C10A568D9B9}" dt="2026-03-17T14:57:22.468" v="54" actId="255"/>
        <pc:sldMkLst>
          <pc:docMk/>
          <pc:sldMk cId="3961540397" sldId="317"/>
        </pc:sldMkLst>
        <pc:spChg chg="mod">
          <ac:chgData name="Scott T Lane" userId="c97bbaa9-35da-4a3b-a646-d12e455ac46e" providerId="ADAL" clId="{2FF3E2E3-7818-4E76-9C63-7C10A568D9B9}" dt="2026-03-17T14:57:22.468" v="54" actId="255"/>
          <ac:spMkLst>
            <pc:docMk/>
            <pc:sldMk cId="3961540397" sldId="317"/>
            <ac:spMk id="2" creationId="{01A8CA3B-EEEF-0C37-5E1A-1295E3C3B546}"/>
          </ac:spMkLst>
        </pc:spChg>
        <pc:spChg chg="mod">
          <ac:chgData name="Scott T Lane" userId="c97bbaa9-35da-4a3b-a646-d12e455ac46e" providerId="ADAL" clId="{2FF3E2E3-7818-4E76-9C63-7C10A568D9B9}" dt="2026-03-17T14:56:49.267" v="46" actId="20577"/>
          <ac:spMkLst>
            <pc:docMk/>
            <pc:sldMk cId="3961540397" sldId="317"/>
            <ac:spMk id="6" creationId="{1DD28273-6806-C844-D709-51B27A16BD35}"/>
          </ac:spMkLst>
        </pc:spChg>
      </pc:sldChg>
      <pc:sldChg chg="modSp mod">
        <pc:chgData name="Scott T Lane" userId="c97bbaa9-35da-4a3b-a646-d12e455ac46e" providerId="ADAL" clId="{2FF3E2E3-7818-4E76-9C63-7C10A568D9B9}" dt="2026-03-17T15:06:28.517" v="192" actId="27636"/>
        <pc:sldMkLst>
          <pc:docMk/>
          <pc:sldMk cId="2654566599" sldId="318"/>
        </pc:sldMkLst>
        <pc:spChg chg="mod">
          <ac:chgData name="Scott T Lane" userId="c97bbaa9-35da-4a3b-a646-d12e455ac46e" providerId="ADAL" clId="{2FF3E2E3-7818-4E76-9C63-7C10A568D9B9}" dt="2026-03-17T15:06:28.517" v="192" actId="27636"/>
          <ac:spMkLst>
            <pc:docMk/>
            <pc:sldMk cId="2654566599" sldId="318"/>
            <ac:spMk id="3" creationId="{459C7ED6-54AF-7B1D-19E2-E868D93A3E20}"/>
          </ac:spMkLst>
        </pc:spChg>
      </pc:sldChg>
      <pc:sldChg chg="delSp modSp mod">
        <pc:chgData name="Scott T Lane" userId="c97bbaa9-35da-4a3b-a646-d12e455ac46e" providerId="ADAL" clId="{2FF3E2E3-7818-4E76-9C63-7C10A568D9B9}" dt="2026-03-17T15:07:39.719" v="194" actId="14100"/>
        <pc:sldMkLst>
          <pc:docMk/>
          <pc:sldMk cId="3722923696" sldId="320"/>
        </pc:sldMkLst>
        <pc:spChg chg="mod">
          <ac:chgData name="Scott T Lane" userId="c97bbaa9-35da-4a3b-a646-d12e455ac46e" providerId="ADAL" clId="{2FF3E2E3-7818-4E76-9C63-7C10A568D9B9}" dt="2026-03-17T15:07:39.719" v="194" actId="14100"/>
          <ac:spMkLst>
            <pc:docMk/>
            <pc:sldMk cId="3722923696" sldId="320"/>
            <ac:spMk id="2" creationId="{2B6733EA-E922-BDAA-31D2-70BB599DC7C9}"/>
          </ac:spMkLst>
        </pc:spChg>
      </pc:sldChg>
      <pc:sldChg chg="addSp delSp modSp mod modNotesTx">
        <pc:chgData name="Scott T Lane" userId="c97bbaa9-35da-4a3b-a646-d12e455ac46e" providerId="ADAL" clId="{2FF3E2E3-7818-4E76-9C63-7C10A568D9B9}" dt="2026-03-17T15:37:00.511" v="500" actId="20577"/>
        <pc:sldMkLst>
          <pc:docMk/>
          <pc:sldMk cId="223747621" sldId="321"/>
        </pc:sldMkLst>
        <pc:spChg chg="mod">
          <ac:chgData name="Scott T Lane" userId="c97bbaa9-35da-4a3b-a646-d12e455ac46e" providerId="ADAL" clId="{2FF3E2E3-7818-4E76-9C63-7C10A568D9B9}" dt="2026-03-17T15:02:30.015" v="151" actId="20577"/>
          <ac:spMkLst>
            <pc:docMk/>
            <pc:sldMk cId="223747621" sldId="321"/>
            <ac:spMk id="2" creationId="{CCCF5930-A338-381F-9295-182C03F96187}"/>
          </ac:spMkLst>
        </pc:spChg>
        <pc:spChg chg="add mod">
          <ac:chgData name="Scott T Lane" userId="c97bbaa9-35da-4a3b-a646-d12e455ac46e" providerId="ADAL" clId="{2FF3E2E3-7818-4E76-9C63-7C10A568D9B9}" dt="2026-03-17T15:05:35.486" v="186" actId="113"/>
          <ac:spMkLst>
            <pc:docMk/>
            <pc:sldMk cId="223747621" sldId="321"/>
            <ac:spMk id="4" creationId="{167C812B-7E9A-3919-5658-36198ADF181A}"/>
          </ac:spMkLst>
        </pc:spChg>
        <pc:graphicFrameChg chg="add mod modGraphic">
          <ac:chgData name="Scott T Lane" userId="c97bbaa9-35da-4a3b-a646-d12e455ac46e" providerId="ADAL" clId="{2FF3E2E3-7818-4E76-9C63-7C10A568D9B9}" dt="2026-03-17T15:04:18.252" v="173"/>
          <ac:graphicFrameMkLst>
            <pc:docMk/>
            <pc:sldMk cId="223747621" sldId="321"/>
            <ac:graphicFrameMk id="8" creationId="{E101AA09-4CDD-AE03-F6ED-22AB4B7DC252}"/>
          </ac:graphicFrameMkLst>
        </pc:graphicFrameChg>
      </pc:sldChg>
      <pc:sldChg chg="modSp mod">
        <pc:chgData name="Scott T Lane" userId="c97bbaa9-35da-4a3b-a646-d12e455ac46e" providerId="ADAL" clId="{2FF3E2E3-7818-4E76-9C63-7C10A568D9B9}" dt="2026-03-17T15:14:42.767" v="289" actId="14100"/>
        <pc:sldMkLst>
          <pc:docMk/>
          <pc:sldMk cId="204565445" sldId="322"/>
        </pc:sldMkLst>
        <pc:spChg chg="mod">
          <ac:chgData name="Scott T Lane" userId="c97bbaa9-35da-4a3b-a646-d12e455ac46e" providerId="ADAL" clId="{2FF3E2E3-7818-4E76-9C63-7C10A568D9B9}" dt="2026-03-17T15:14:42.767" v="289" actId="14100"/>
          <ac:spMkLst>
            <pc:docMk/>
            <pc:sldMk cId="204565445" sldId="322"/>
            <ac:spMk id="2" creationId="{C1EB6545-C56E-1C37-210B-C857ACC5FD3D}"/>
          </ac:spMkLst>
        </pc:spChg>
      </pc:sldChg>
      <pc:sldChg chg="delSp modSp new mod">
        <pc:chgData name="Scott T Lane" userId="c97bbaa9-35da-4a3b-a646-d12e455ac46e" providerId="ADAL" clId="{2FF3E2E3-7818-4E76-9C63-7C10A568D9B9}" dt="2026-03-17T15:00:31.861" v="107" actId="12"/>
        <pc:sldMkLst>
          <pc:docMk/>
          <pc:sldMk cId="2407473024" sldId="323"/>
        </pc:sldMkLst>
        <pc:spChg chg="mod">
          <ac:chgData name="Scott T Lane" userId="c97bbaa9-35da-4a3b-a646-d12e455ac46e" providerId="ADAL" clId="{2FF3E2E3-7818-4E76-9C63-7C10A568D9B9}" dt="2026-03-17T14:59:37.323" v="90" actId="14100"/>
          <ac:spMkLst>
            <pc:docMk/>
            <pc:sldMk cId="2407473024" sldId="323"/>
            <ac:spMk id="2" creationId="{7B4DE852-3673-ED2D-2398-AFDD70CAEF44}"/>
          </ac:spMkLst>
        </pc:spChg>
        <pc:spChg chg="mod">
          <ac:chgData name="Scott T Lane" userId="c97bbaa9-35da-4a3b-a646-d12e455ac46e" providerId="ADAL" clId="{2FF3E2E3-7818-4E76-9C63-7C10A568D9B9}" dt="2026-03-17T15:00:31.861" v="107" actId="12"/>
          <ac:spMkLst>
            <pc:docMk/>
            <pc:sldMk cId="2407473024" sldId="323"/>
            <ac:spMk id="3" creationId="{676B54FC-CFFF-58F8-9390-B087B7A1A028}"/>
          </ac:spMkLst>
        </pc:spChg>
      </pc:sldChg>
      <pc:sldChg chg="addSp modSp new mod">
        <pc:chgData name="Scott T Lane" userId="c97bbaa9-35da-4a3b-a646-d12e455ac46e" providerId="ADAL" clId="{2FF3E2E3-7818-4E76-9C63-7C10A568D9B9}" dt="2026-03-17T15:40:34.819" v="508" actId="14100"/>
        <pc:sldMkLst>
          <pc:docMk/>
          <pc:sldMk cId="3832564759" sldId="324"/>
        </pc:sldMkLst>
        <pc:spChg chg="mod">
          <ac:chgData name="Scott T Lane" userId="c97bbaa9-35da-4a3b-a646-d12e455ac46e" providerId="ADAL" clId="{2FF3E2E3-7818-4E76-9C63-7C10A568D9B9}" dt="2026-03-17T15:10:35.701" v="216" actId="255"/>
          <ac:spMkLst>
            <pc:docMk/>
            <pc:sldMk cId="3832564759" sldId="324"/>
            <ac:spMk id="2" creationId="{DBF694F0-23F2-C406-6508-EF53D6083714}"/>
          </ac:spMkLst>
        </pc:spChg>
        <pc:spChg chg="mod">
          <ac:chgData name="Scott T Lane" userId="c97bbaa9-35da-4a3b-a646-d12e455ac46e" providerId="ADAL" clId="{2FF3E2E3-7818-4E76-9C63-7C10A568D9B9}" dt="2026-03-17T15:12:55.343" v="254" actId="255"/>
          <ac:spMkLst>
            <pc:docMk/>
            <pc:sldMk cId="3832564759" sldId="324"/>
            <ac:spMk id="3" creationId="{53529FC0-9B12-33D5-572D-3E4AF5A330EC}"/>
          </ac:spMkLst>
        </pc:spChg>
        <pc:picChg chg="add mod">
          <ac:chgData name="Scott T Lane" userId="c97bbaa9-35da-4a3b-a646-d12e455ac46e" providerId="ADAL" clId="{2FF3E2E3-7818-4E76-9C63-7C10A568D9B9}" dt="2026-03-17T15:40:26.505" v="506" actId="1076"/>
          <ac:picMkLst>
            <pc:docMk/>
            <pc:sldMk cId="3832564759" sldId="324"/>
            <ac:picMk id="4" creationId="{A1426DE5-8AD9-0DA5-9C51-E79981C695B6}"/>
          </ac:picMkLst>
        </pc:picChg>
        <pc:picChg chg="add mod">
          <ac:chgData name="Scott T Lane" userId="c97bbaa9-35da-4a3b-a646-d12e455ac46e" providerId="ADAL" clId="{2FF3E2E3-7818-4E76-9C63-7C10A568D9B9}" dt="2026-03-17T15:40:34.819" v="508" actId="14100"/>
          <ac:picMkLst>
            <pc:docMk/>
            <pc:sldMk cId="3832564759" sldId="324"/>
            <ac:picMk id="5" creationId="{5A75E3F8-DD45-B938-1E12-B3B305B60963}"/>
          </ac:picMkLst>
        </pc:picChg>
      </pc:sldChg>
      <pc:sldChg chg="modSp new mod">
        <pc:chgData name="Scott T Lane" userId="c97bbaa9-35da-4a3b-a646-d12e455ac46e" providerId="ADAL" clId="{2FF3E2E3-7818-4E76-9C63-7C10A568D9B9}" dt="2026-03-17T15:27:49.510" v="406" actId="15"/>
        <pc:sldMkLst>
          <pc:docMk/>
          <pc:sldMk cId="4062638629" sldId="325"/>
        </pc:sldMkLst>
        <pc:spChg chg="mod">
          <ac:chgData name="Scott T Lane" userId="c97bbaa9-35da-4a3b-a646-d12e455ac46e" providerId="ADAL" clId="{2FF3E2E3-7818-4E76-9C63-7C10A568D9B9}" dt="2026-03-17T15:26:47.107" v="384" actId="20577"/>
          <ac:spMkLst>
            <pc:docMk/>
            <pc:sldMk cId="4062638629" sldId="325"/>
            <ac:spMk id="2" creationId="{BEA5397B-7B6B-888C-1D2C-6E56D78E4C71}"/>
          </ac:spMkLst>
        </pc:spChg>
        <pc:spChg chg="mod">
          <ac:chgData name="Scott T Lane" userId="c97bbaa9-35da-4a3b-a646-d12e455ac46e" providerId="ADAL" clId="{2FF3E2E3-7818-4E76-9C63-7C10A568D9B9}" dt="2026-03-17T15:27:49.510" v="406" actId="15"/>
          <ac:spMkLst>
            <pc:docMk/>
            <pc:sldMk cId="4062638629" sldId="325"/>
            <ac:spMk id="3" creationId="{ABF3B907-0747-C3D5-85F7-8A3BF2EECF23}"/>
          </ac:spMkLst>
        </pc:spChg>
      </pc:sldChg>
      <pc:sldChg chg="modSp add mod modNotesTx">
        <pc:chgData name="Scott T Lane" userId="c97bbaa9-35da-4a3b-a646-d12e455ac46e" providerId="ADAL" clId="{2FF3E2E3-7818-4E76-9C63-7C10A568D9B9}" dt="2026-03-17T15:29:07.364" v="431" actId="6549"/>
        <pc:sldMkLst>
          <pc:docMk/>
          <pc:sldMk cId="3577440221" sldId="326"/>
        </pc:sldMkLst>
        <pc:spChg chg="mod">
          <ac:chgData name="Scott T Lane" userId="c97bbaa9-35da-4a3b-a646-d12e455ac46e" providerId="ADAL" clId="{2FF3E2E3-7818-4E76-9C63-7C10A568D9B9}" dt="2026-03-17T15:28:20.121" v="420" actId="20577"/>
          <ac:spMkLst>
            <pc:docMk/>
            <pc:sldMk cId="3577440221" sldId="326"/>
            <ac:spMk id="2" creationId="{122DB615-8D65-67A1-D31E-0291769685E6}"/>
          </ac:spMkLst>
        </pc:spChg>
        <pc:spChg chg="mod">
          <ac:chgData name="Scott T Lane" userId="c97bbaa9-35da-4a3b-a646-d12e455ac46e" providerId="ADAL" clId="{2FF3E2E3-7818-4E76-9C63-7C10A568D9B9}" dt="2026-03-17T15:28:52.498" v="430" actId="27636"/>
          <ac:spMkLst>
            <pc:docMk/>
            <pc:sldMk cId="3577440221" sldId="326"/>
            <ac:spMk id="3" creationId="{27AAF906-8044-5333-8DA7-CFD727B149A2}"/>
          </ac:spMkLst>
        </pc:spChg>
      </pc:sldChg>
      <pc:sldChg chg="modSp add mod modNotesTx">
        <pc:chgData name="Scott T Lane" userId="c97bbaa9-35da-4a3b-a646-d12e455ac46e" providerId="ADAL" clId="{2FF3E2E3-7818-4E76-9C63-7C10A568D9B9}" dt="2026-03-17T15:30:27.734" v="471" actId="15"/>
        <pc:sldMkLst>
          <pc:docMk/>
          <pc:sldMk cId="1248380838" sldId="327"/>
        </pc:sldMkLst>
        <pc:spChg chg="mod">
          <ac:chgData name="Scott T Lane" userId="c97bbaa9-35da-4a3b-a646-d12e455ac46e" providerId="ADAL" clId="{2FF3E2E3-7818-4E76-9C63-7C10A568D9B9}" dt="2026-03-17T15:29:41.470" v="461" actId="20577"/>
          <ac:spMkLst>
            <pc:docMk/>
            <pc:sldMk cId="1248380838" sldId="327"/>
            <ac:spMk id="2" creationId="{652ACDA4-0A59-F220-85E2-343F87BABD00}"/>
          </ac:spMkLst>
        </pc:spChg>
        <pc:spChg chg="mod">
          <ac:chgData name="Scott T Lane" userId="c97bbaa9-35da-4a3b-a646-d12e455ac46e" providerId="ADAL" clId="{2FF3E2E3-7818-4E76-9C63-7C10A568D9B9}" dt="2026-03-17T15:30:27.734" v="471" actId="15"/>
          <ac:spMkLst>
            <pc:docMk/>
            <pc:sldMk cId="1248380838" sldId="327"/>
            <ac:spMk id="3" creationId="{252AD965-2899-10CF-9819-EA723502EFDC}"/>
          </ac:spMkLst>
        </pc:spChg>
      </pc:sldChg>
      <pc:sldChg chg="modSp add mod modNotesTx">
        <pc:chgData name="Scott T Lane" userId="c97bbaa9-35da-4a3b-a646-d12e455ac46e" providerId="ADAL" clId="{2FF3E2E3-7818-4E76-9C63-7C10A568D9B9}" dt="2026-03-17T15:31:35.911" v="499" actId="113"/>
        <pc:sldMkLst>
          <pc:docMk/>
          <pc:sldMk cId="2277406291" sldId="328"/>
        </pc:sldMkLst>
        <pc:spChg chg="mod">
          <ac:chgData name="Scott T Lane" userId="c97bbaa9-35da-4a3b-a646-d12e455ac46e" providerId="ADAL" clId="{2FF3E2E3-7818-4E76-9C63-7C10A568D9B9}" dt="2026-03-17T15:30:42.825" v="489" actId="20577"/>
          <ac:spMkLst>
            <pc:docMk/>
            <pc:sldMk cId="2277406291" sldId="328"/>
            <ac:spMk id="2" creationId="{3BA74E70-D835-EF87-7588-0C9D04C93CA5}"/>
          </ac:spMkLst>
        </pc:spChg>
        <pc:spChg chg="mod">
          <ac:chgData name="Scott T Lane" userId="c97bbaa9-35da-4a3b-a646-d12e455ac46e" providerId="ADAL" clId="{2FF3E2E3-7818-4E76-9C63-7C10A568D9B9}" dt="2026-03-17T15:31:35.911" v="499" actId="113"/>
          <ac:spMkLst>
            <pc:docMk/>
            <pc:sldMk cId="2277406291" sldId="328"/>
            <ac:spMk id="3" creationId="{A391A23C-6EA0-346C-CC0B-229BF5F36373}"/>
          </ac:spMkLst>
        </pc:spChg>
      </pc:sldChg>
      <pc:sldMasterChg chg="modSp modSldLayout">
        <pc:chgData name="Scott T Lane" userId="c97bbaa9-35da-4a3b-a646-d12e455ac46e" providerId="ADAL" clId="{2FF3E2E3-7818-4E76-9C63-7C10A568D9B9}" dt="2026-03-17T15:01:43.547" v="114" actId="12"/>
        <pc:sldMasterMkLst>
          <pc:docMk/>
          <pc:sldMasterMk cId="1392798635" sldId="2147483688"/>
        </pc:sldMasterMkLst>
        <pc:spChg chg="mod">
          <ac:chgData name="Scott T Lane" userId="c97bbaa9-35da-4a3b-a646-d12e455ac46e" providerId="ADAL" clId="{2FF3E2E3-7818-4E76-9C63-7C10A568D9B9}" dt="2026-03-17T14:55:00.552" v="31" actId="12"/>
          <ac:spMkLst>
            <pc:docMk/>
            <pc:sldMasterMk cId="1392798635" sldId="2147483688"/>
            <ac:spMk id="3" creationId="{00000000-0000-0000-0000-000000000000}"/>
          </ac:spMkLst>
        </pc:spChg>
        <pc:sldLayoutChg chg="delSp modSp mod">
          <pc:chgData name="Scott T Lane" userId="c97bbaa9-35da-4a3b-a646-d12e455ac46e" providerId="ADAL" clId="{2FF3E2E3-7818-4E76-9C63-7C10A568D9B9}" dt="2026-03-17T15:01:43.547" v="114" actId="12"/>
          <pc:sldLayoutMkLst>
            <pc:docMk/>
            <pc:sldMasterMk cId="1392798635" sldId="2147483688"/>
            <pc:sldLayoutMk cId="1674273999" sldId="2147483700"/>
          </pc:sldLayoutMkLst>
          <pc:spChg chg="mod">
            <ac:chgData name="Scott T Lane" userId="c97bbaa9-35da-4a3b-a646-d12e455ac46e" providerId="ADAL" clId="{2FF3E2E3-7818-4E76-9C63-7C10A568D9B9}" dt="2026-03-17T15:01:00.977" v="109" actId="14100"/>
            <ac:spMkLst>
              <pc:docMk/>
              <pc:sldMasterMk cId="1392798635" sldId="2147483688"/>
              <pc:sldLayoutMk cId="1674273999" sldId="2147483700"/>
              <ac:spMk id="2" creationId="{00000000-0000-0000-0000-000000000000}"/>
            </ac:spMkLst>
          </pc:spChg>
          <pc:spChg chg="mod">
            <ac:chgData name="Scott T Lane" userId="c97bbaa9-35da-4a3b-a646-d12e455ac46e" providerId="ADAL" clId="{2FF3E2E3-7818-4E76-9C63-7C10A568D9B9}" dt="2026-03-17T15:01:43.547" v="114" actId="12"/>
            <ac:spMkLst>
              <pc:docMk/>
              <pc:sldMasterMk cId="1392798635" sldId="2147483688"/>
              <pc:sldLayoutMk cId="1674273999" sldId="2147483700"/>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6 on Consumer Choices. In this chapter, we'll explore how consumers make decisions about what to buy given their limited budgets. We'll examine the economic concepts of utility, budget constraints, and how changes in income and prices affect our purchasing decisions. We'll also look at behavioral economics, which challenges some traditional assumptions about rational decision-making. By the end of this presentation, you'll understand the fundamental principles that drive consumer behavior in markets.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1753232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Every consumer faces a fundamental economic problem: we have unlimited wants but limited resources. Whether you're a college student with $50 to spend this week or a family managing a monthly budget, you must make choices. Economists believe that people try to get the most satisfaction—what we call utility—from their available money. This is like packing a suitcase with a 50-pound weight limit for a two-week vacation. You want to bring your entire wardrobe, but you must prioritize and choose items that will give you the most value during your trip. Every item you pack means something else must stay home. Similarly, every dollar you spend on one thing means you can't spend it on something else. Understanding these trade-offs is the foundation of consumer choice theory.</a:t>
            </a:r>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2</a:t>
            </a:fld>
            <a:endParaRPr lang="en-US"/>
          </a:p>
        </p:txBody>
      </p:sp>
    </p:spTree>
    <p:extLst>
      <p:ext uri="{BB962C8B-B14F-4D97-AF65-F5344CB8AC3E}">
        <p14:creationId xmlns:p14="http://schemas.microsoft.com/office/powerpoint/2010/main" val="3870417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define our key terms. Utility is simply the satisfaction or pleasure you get from consuming goods and services. Economists measure this in hypothetical units called "utils"—these aren't real measurements like inches or pounds, but they help us think systematically about satisfaction. Total utility is your overall satisfaction from consuming a certain quantity of something. Marginal utility is the extra satisfaction you get from consuming one more unit. The formula is straightforward: marginal utility equals the change in total utility divided by the change in quantity. The most important principle here is the law of diminishing marginal utility. This law states that as you consume more and more of something, each additional unit gives you less extra satisfaction than the previous one. Think about your favorite food—the first bite is amazing, but by the tenth serving, you're not enjoying it nearly as much. This principle applies universally to consumer goods.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2252399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368570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budget constraint is a visual representation of your economic reality. It shows all the possible combinations of two goods you can afford with your limited income and given prices. Picture it as a fence around your consumption possibilities—you can choose any combination on or inside the fence, but you can't magically jump over it to afford things beyond your budget. The slope of the budget constraint line represents opportunity cost: it shows how many units of one good you must give up to get more of the other. For example, if movies cost $7 and T-shirts cost $14, the opportunity cost of one T-shirt is two movies. Every point on the line represents spending your entire budget. Points inside the line mean you're not spending all your money—you have budget left over. Points outside the line are unaffordable combinations you can't reach with your current income. The budget constraint is a powerful tool because it forces us to confront trade-offs. You can't have everything, so what combination will give you the most satisfaction?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1563381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latin typeface="+mn-lt"/>
              </a:rPr>
              <a:t>Transcript:</a:t>
            </a:r>
          </a:p>
          <a:p>
            <a:endParaRPr lang="en-US" sz="10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rgbClr val="424242"/>
                </a:solidFill>
                <a:effectLst/>
                <a:highlight>
                  <a:srgbClr val="FFFFFF"/>
                </a:highlight>
                <a:latin typeface="+mn-lt"/>
              </a:rPr>
              <a:t>Let’s begin with an assumption, which we will discuss in more detail later, that José can measure his own utility with something called </a:t>
            </a:r>
            <a:r>
              <a:rPr lang="en-US" sz="1000" b="0" i="1" dirty="0">
                <a:solidFill>
                  <a:srgbClr val="424242"/>
                </a:solidFill>
                <a:effectLst/>
                <a:highlight>
                  <a:srgbClr val="FFFFFF"/>
                </a:highlight>
                <a:latin typeface="+mn-lt"/>
              </a:rPr>
              <a:t>utils</a:t>
            </a:r>
            <a:r>
              <a:rPr lang="en-US" sz="1000" b="0" i="0" dirty="0">
                <a:solidFill>
                  <a:srgbClr val="424242"/>
                </a:solidFill>
                <a:effectLst/>
                <a:highlight>
                  <a:srgbClr val="FFFFFF"/>
                </a:highlight>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24242"/>
              </a:solidFill>
              <a:effectLst/>
              <a:highlight>
                <a:srgbClr val="FFFFFF"/>
              </a:highlight>
              <a:latin typeface="Neue Helvetica W01"/>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mn-lt"/>
              </a:rPr>
              <a:t>Total utility </a:t>
            </a:r>
            <a:r>
              <a:rPr lang="en-US" sz="1000" dirty="0">
                <a:latin typeface="+mn-lt"/>
              </a:rPr>
              <a:t>is the satisfaction derived from consumer choices.</a:t>
            </a:r>
          </a:p>
          <a:p>
            <a:endParaRPr lang="en-US" sz="1000" dirty="0">
              <a:latin typeface="+mn-lt"/>
            </a:endParaRPr>
          </a:p>
          <a:p>
            <a:r>
              <a:rPr lang="en-US" sz="1000" dirty="0">
                <a:latin typeface="+mn-lt"/>
              </a:rPr>
              <a:t>The table shows both Jose’s total utility for T-Shirts and Movies.  Generally, his total utility or satisfaction will increase the more of them he has.  In the table, you can see total utility indeed increasing as the quantity increases.</a:t>
            </a:r>
          </a:p>
          <a:p>
            <a:endParaRPr lang="en-US" sz="1000" dirty="0">
              <a:latin typeface="+mn-lt"/>
            </a:endParaRPr>
          </a:p>
          <a:p>
            <a:r>
              <a:rPr lang="en-US" sz="1000" dirty="0">
                <a:latin typeface="+mn-lt"/>
              </a:rPr>
              <a:t>The </a:t>
            </a:r>
            <a:r>
              <a:rPr lang="en-US" sz="1000" b="1" dirty="0">
                <a:latin typeface="+mn-lt"/>
              </a:rPr>
              <a:t>marginal utility </a:t>
            </a:r>
            <a:r>
              <a:rPr lang="en-US" sz="1000" dirty="0">
                <a:latin typeface="+mn-lt"/>
              </a:rPr>
              <a:t>is </a:t>
            </a:r>
            <a:r>
              <a:rPr lang="en-US" sz="1000" b="0" i="0" dirty="0">
                <a:solidFill>
                  <a:srgbClr val="000000"/>
                </a:solidFill>
                <a:effectLst/>
                <a:highlight>
                  <a:srgbClr val="FFFFFF"/>
                </a:highlight>
                <a:latin typeface="+mn-lt"/>
              </a:rPr>
              <a:t>the additional utility provided by one additional unit of consumption.</a:t>
            </a:r>
          </a:p>
          <a:p>
            <a:endParaRPr lang="en-US" sz="1000" b="0" i="0" dirty="0">
              <a:solidFill>
                <a:srgbClr val="000000"/>
              </a:solidFill>
              <a:effectLst/>
              <a:highlight>
                <a:srgbClr val="FFFFFF"/>
              </a:highlight>
              <a:latin typeface="+mn-lt"/>
            </a:endParaRPr>
          </a:p>
          <a:p>
            <a:r>
              <a:rPr lang="en-US" sz="1000" b="0" i="0" dirty="0">
                <a:solidFill>
                  <a:srgbClr val="424242"/>
                </a:solidFill>
                <a:effectLst/>
                <a:highlight>
                  <a:srgbClr val="FFFFFF"/>
                </a:highlight>
                <a:latin typeface="+mn-lt"/>
              </a:rPr>
              <a:t>Notice that marginal utility diminishes as additional units are consumed, which means that each subsequent unit of a good consumed provides less </a:t>
            </a:r>
            <a:r>
              <a:rPr lang="en-US" sz="1000" b="0" i="1" dirty="0">
                <a:solidFill>
                  <a:srgbClr val="424242"/>
                </a:solidFill>
                <a:effectLst/>
                <a:highlight>
                  <a:srgbClr val="FFFFFF"/>
                </a:highlight>
                <a:latin typeface="+mn-lt"/>
              </a:rPr>
              <a:t>additional</a:t>
            </a:r>
            <a:r>
              <a:rPr lang="en-US" sz="1000" b="0" i="0" dirty="0">
                <a:solidFill>
                  <a:srgbClr val="424242"/>
                </a:solidFill>
                <a:effectLst/>
                <a:highlight>
                  <a:srgbClr val="FFFFFF"/>
                </a:highlight>
                <a:latin typeface="+mn-lt"/>
              </a:rPr>
              <a:t> utility. For example, the first T-shirt José picks is his favorite and it gives him an addition of 22 utils. The fourth T-shirt is just something to wear when all his other clothes are in the wash and yields only 18 additional utils. This is an example of the law of </a:t>
            </a:r>
            <a:r>
              <a:rPr lang="en-US" sz="1000" b="1" i="0" dirty="0">
                <a:solidFill>
                  <a:srgbClr val="424242"/>
                </a:solidFill>
                <a:effectLst/>
                <a:highlight>
                  <a:srgbClr val="FFFFFF"/>
                </a:highlight>
                <a:latin typeface="+mn-lt"/>
              </a:rPr>
              <a:t>diminishing marginal utility</a:t>
            </a:r>
            <a:r>
              <a:rPr lang="en-US" sz="1000" b="0" i="0" dirty="0">
                <a:solidFill>
                  <a:srgbClr val="424242"/>
                </a:solidFill>
                <a:effectLst/>
                <a:highlight>
                  <a:srgbClr val="FFFFFF"/>
                </a:highlight>
                <a:latin typeface="+mn-lt"/>
              </a:rPr>
              <a:t>, which holds that the additional utility decreases with each unit added.</a:t>
            </a:r>
            <a:endParaRPr lang="en-US" sz="1000" dirty="0">
              <a:latin typeface="+mn-lt"/>
            </a:endParaRPr>
          </a:p>
          <a:p>
            <a:endParaRPr lang="en-US" dirty="0"/>
          </a:p>
          <a:p>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6</a:t>
            </a:fld>
            <a:endParaRPr lang="en-US"/>
          </a:p>
        </p:txBody>
      </p:sp>
    </p:spTree>
    <p:extLst>
      <p:ext uri="{BB962C8B-B14F-4D97-AF65-F5344CB8AC3E}">
        <p14:creationId xmlns:p14="http://schemas.microsoft.com/office/powerpoint/2010/main" val="3988054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work through a concrete example with José, who has $56 to spend on T-shirts and movies. T-shirts cost $14 each, and movies cost $7 each. José could spend all his money on 4 T-shirts and see no movies—this is point P on his budget constraint, giving him a total utility of 81 utils. Or he could buy 2 T-shirts and see 4 movies—point R with a total utility of 101 utils. He could choose 1 T-shirt and 6 movies—point S with a total utility of 103 utils. Or he could skip T-shirts entirely and see 8 movies—point T with a total utility of 100 utils. After calculating the total utility at each affordable combination, José discovers that point S—buying 1 T-shirt and attending 6 movies—gives him the highest total utility of 103 utils. This is his utility-maximizing choice. Notice that José doesn't choose the extreme of all T-shirts or all movies. He finds a balanced combination that maximizes his overall satisfaction given his budget constraint.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822837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Economists have discovered a powerful decision rule for maximizing utility. The key concept is marginal utility per dollar—how much extra satisfaction you get per dollar spent on a good. You calculate this by dividing the marginal utility by the price. The optimization rule states that you maximize utility when the marginal utility per dollar is equal across all goods you purchase. Mathematically, MU₁ divided by P₁ should equal MU₂ divided by P₂. Why does this make sense? Imagine marginal utility per dollar is higher for movies than T-shirts. This means movies are giving you more "bang for your buck." You should buy more movies and fewer T-shirts, which will raise the marginal utility of T-shirts (because you have fewer) and lower the marginal utility of movies (because you have more) until they balance. Think of it like balancing a scale. You keep shifting purchases from one good to another until both sides are perfectly balanced—meaning the last dollar spent on each good gives you equal additional satisfaction. At this point, you can't improve your situation by reallocating your budget, so you've maximized utility.</a:t>
            </a:r>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8</a:t>
            </a:fld>
            <a:endParaRPr lang="en-US"/>
          </a:p>
        </p:txBody>
      </p:sp>
    </p:spTree>
    <p:extLst>
      <p:ext uri="{BB962C8B-B14F-4D97-AF65-F5344CB8AC3E}">
        <p14:creationId xmlns:p14="http://schemas.microsoft.com/office/powerpoint/2010/main" val="2805450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see how José uses the marginal utility per dollar rule to find his optimal choice. José starts by comparing options. The first T-shirt has a marginal utility of 22 and costs $14, giving a marginal utility per dollar of 1.6. The first movie has a marginal utility of 16 and costs $7, yielding 2.3 utils per dollar. Since movies provide more satisfaction per dollar, José buys movies first. He continues buying movies because they keep offering higher marginal utility per dollar. The second movie gives 2.14 utils per dollar, the third gives 2.0, and so on. José keeps buying movies until he reaches the sixth movie, which provides marginal utility per dollar of 1.6—exactly equal to what the first T-shirt offers. At this point, José has found the balance. The sixth movie and the first T-shirt both provide 1.6 utils per dollar. If he bought a seventh movie, it would only give 1.4 utils per dollar—less than the T-shirt. So José's optimal choice is 1 T-shirt and 6 movies, exactly what we found by comparing total utilities. This rule gives us a systematic way to find utility-maximizing choices.</a:t>
            </a:r>
            <a:endParaRPr lang="en-US" sz="1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9</a:t>
            </a:fld>
            <a:endParaRPr lang="en-US"/>
          </a:p>
        </p:txBody>
      </p:sp>
    </p:spTree>
    <p:extLst>
      <p:ext uri="{BB962C8B-B14F-4D97-AF65-F5344CB8AC3E}">
        <p14:creationId xmlns:p14="http://schemas.microsoft.com/office/powerpoint/2010/main" val="3538349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let's examine what happens when your income changes. When your income increases, your budget constraint shifts outward—parallel to the original line. This means you can afford more of both goods. For most products, called normal goods, people buy more when their income rises. These include things like restaurant meals, new clothing, entertainment, and travel. When you get a raise, you typically consume more of these goods. However, some goods are classified as inferior goods—not because they're low quality, but because people buy less of them as income rises. Classic examples include ramen noodles, fast food, used cars, and public transportation. When a college student graduates and lands a good job, they typically stop living on ramen noodles and start buying fresher food. They might stop taking the bus and buy a car. They're not buying less ramen because they suddenly hate it—they're buying less because they can now afford better alternatives. Think about your own life—when you got your first real paycheck, what did you stop buying? Those were probably inferior goods for you.</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486793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11</a:t>
            </a:fld>
            <a:endParaRPr lang="en-US"/>
          </a:p>
        </p:txBody>
      </p:sp>
    </p:spTree>
    <p:extLst>
      <p:ext uri="{BB962C8B-B14F-4D97-AF65-F5344CB8AC3E}">
        <p14:creationId xmlns:p14="http://schemas.microsoft.com/office/powerpoint/2010/main" val="2228213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changes work differently than income changes. When the price of one good increases, the budget constraint rotates inward, as if on a hinge. Imagine the price of baseball bats rises but camera prices stay the same. The budget line pivots on the camera axis—you can still afford the same number of cameras if you buy no bats, but you can now afford fewer bats. Two important effects happen simultaneously when prices change. First, the substitution effect kicks in: when one good becomes relatively more expensive, you have an incentive to substitute away from it toward relatively cheaper alternatives. If beef prices rise but chicken stays the same, you'll likely buy more chicken and less beef. Second, the income effect occurs: even though your actual income hasn't changed, higher prices reduce your purchasing power—you effectively feel poorer. For normal goods, this means you buy less of the now-more-expensive product. These effects reinforce each other. If gas prices double, you'll drive less both because driving is now relatively more expensive compared to alternatives like walking or biking (substitution effect) and because you feel poorer overall (income effect).</a:t>
            </a:r>
            <a:endParaRPr lang="en-US" sz="1000" dirty="0"/>
          </a:p>
        </p:txBody>
      </p:sp>
      <p:sp>
        <p:nvSpPr>
          <p:cNvPr id="4" name="Slide Number Placeholder 3"/>
          <p:cNvSpPr>
            <a:spLocks noGrp="1"/>
          </p:cNvSpPr>
          <p:nvPr>
            <p:ph type="sldNum" sz="quarter" idx="5"/>
          </p:nvPr>
        </p:nvSpPr>
        <p:spPr/>
        <p:txBody>
          <a:bodyPr/>
          <a:lstStyle/>
          <a:p>
            <a:fld id="{CD113C51-47D1-4AA5-A474-594FAE2B106F}" type="slidenum">
              <a:rPr lang="en-US" smtClean="0"/>
              <a:t>12</a:t>
            </a:fld>
            <a:endParaRPr lang="en-US"/>
          </a:p>
        </p:txBody>
      </p:sp>
    </p:spTree>
    <p:extLst>
      <p:ext uri="{BB962C8B-B14F-4D97-AF65-F5344CB8AC3E}">
        <p14:creationId xmlns:p14="http://schemas.microsoft.com/office/powerpoint/2010/main" val="1707164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where everything comes together. The concepts of utility maximization and budget constraints provide the logical foundation for demand curves—one of the most fundamental tools in economics. When the price of a good changes, the budget constraint rotates. As we've discussed, consumers seeking to maximize utility will adjust their consumption. Generally, as price increases, consumers choose less of that good—both because of substitution effects and income effects. If we track these changes, plotting different prices against the quantities demanded at each price, we generate a demand curve. The demand curve slopes downward, reflecting the law of demand: as price increases, quantity demanded decreases, ceteris paribus—all else being equal. This is not just an empirical observation; it's grounded in the logical behavior of utility-maximizing consumers facing budget constraints. When you see a demand curve in economics, remember it represents millions of individual consumers, each solving their own utility maximization problem, responding rationally to price changes within their budget constraints.</a:t>
            </a:r>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13</a:t>
            </a:fld>
            <a:endParaRPr lang="en-US"/>
          </a:p>
        </p:txBody>
      </p:sp>
    </p:spTree>
    <p:extLst>
      <p:ext uri="{BB962C8B-B14F-4D97-AF65-F5344CB8AC3E}">
        <p14:creationId xmlns:p14="http://schemas.microsoft.com/office/powerpoint/2010/main" val="2623394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113C51-47D1-4AA5-A474-594FAE2B106F}" type="slidenum">
              <a:rPr lang="en-US" smtClean="0"/>
              <a:t>14</a:t>
            </a:fld>
            <a:endParaRPr lang="en-US"/>
          </a:p>
        </p:txBody>
      </p:sp>
    </p:spTree>
    <p:extLst>
      <p:ext uri="{BB962C8B-B14F-4D97-AF65-F5344CB8AC3E}">
        <p14:creationId xmlns:p14="http://schemas.microsoft.com/office/powerpoint/2010/main" val="3134762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Traditional economic theory assumes people are perfectly rational—that we make consistent, informed decisions always in our best interest. But behavioral economics challenges this view. Behavioral economists, drawing on psychology, argue that human decision-making is more complex. They don't claim people are irrational; rather, they show that emotions, mental states, and context systematically affect our choices in predictable ways. Traditional economists might say that if you lose $10 and then find $10, you should feel neutral—after all, negative 10 plus 10 equals zero. But behavioral research shows most people still feel upset. We focus more on losses than equivalent gains. Traditional theory assumes complete self-control, but people buy cigarettes by the pack instead of the carton to limit consumption, even though cartons are cheaper per cigarette. We deliberately overpay taxes to force ourselves to save. Traditional economics assumes dollars are fungible—completely interchangeable—but people often practice mental accounting, treating money differently based on its source. You might be careful with hard-earned money but frivolously spend $50 you found on the street, even though they're economically equivalent.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564993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8B2A-2A57-640A-378D-E21911665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F073B-9D38-92D4-0DD3-6D9C1DDD4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776E4-91E8-95B2-5656-F7FA3F207C8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One of the most important discoveries in behavioral economics is loss aversion, documented by Nobel laureate Daniel Kahneman and his colleague Amos Tversky. Their research found that losses hurt us about 2.25 times more than equivalent gains help us. Think about your own experience: losing a $20 bill creates a significant negative emotional response—maybe you're upset for hours. But finding $20 on the street, while nice, probably doesn't make you 2.25 times as happy. This asymmetry has major implications. In investing, loss aversion causes people to overreact to market downturns, selling in a panic and missing subsequent recoveries. People often avoid risks even when the expected value is positive because the potential loss looms larger than the potential gain. We exhibit status quo bias, preferring to stick with what we have rather than risk a change, even when change might benefit us. This helps explain why people stay in unsatisfying jobs, why companies resist innovation, and why customers stick with inferior products out of familiarity. Understanding loss aversion helps explain many behaviors that seem irrational from a traditional economic perspective but make perfect sense once we understand how the human mind actually processes gains and losses.</a:t>
            </a:r>
            <a:endParaRPr lang="en-US" dirty="0"/>
          </a:p>
        </p:txBody>
      </p:sp>
      <p:sp>
        <p:nvSpPr>
          <p:cNvPr id="4" name="Slide Number Placeholder 3">
            <a:extLst>
              <a:ext uri="{FF2B5EF4-FFF2-40B4-BE49-F238E27FC236}">
                <a16:creationId xmlns:a16="http://schemas.microsoft.com/office/drawing/2014/main" id="{D6DC66A4-5CD4-ED7B-14EC-588BD08A6B0E}"/>
              </a:ext>
            </a:extLst>
          </p:cNvPr>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4193913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88CB-BD86-6DA2-0961-1A24C5917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A541D-E5A1-CCD5-E445-23ED98348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5158F-5E72-EF6B-0F79-E4344618A21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Mental accounting is another fascinating behavioral economics concept that challenges traditional theory. Economists typically assume dollars are fungible—that $50 has the same value regardless of where it came from or what you plan to use it for. But behavioral research shows we mentally categorize money into different "accounts," and we treat these accounts differently. Imagine you're walking down the street and find $50, versus working an eight-hour shift to earn $50. Economically, these are identical—both add $50 to your wealth. But psychologically, many people treat them very differently. The found money might be considered "mad money" you spend frivolously on something fun, while the earned money goes toward necessities or savings. Here's a puzzling example that illustrates mental accounting: someone might carry $1,000 in credit card debt at 15% annual interest while simultaneously maintaining $2,000 in a savings account earning 2% interest. They're paying $150 annually in credit card interest while earning only $40 in savings interest—a net loss of $110 per year. A rational economist would say pay off the credit card! But people often resist because they treat savings as sacred and separate from debt. They don't view these dollars as fungible. While this might seem irrational, it reflects the psychological reality of how people manage money.</a:t>
            </a:r>
            <a:endParaRPr lang="en-US" dirty="0"/>
          </a:p>
        </p:txBody>
      </p:sp>
      <p:sp>
        <p:nvSpPr>
          <p:cNvPr id="4" name="Slide Number Placeholder 3">
            <a:extLst>
              <a:ext uri="{FF2B5EF4-FFF2-40B4-BE49-F238E27FC236}">
                <a16:creationId xmlns:a16="http://schemas.microsoft.com/office/drawing/2014/main" id="{DC8C6E8A-1D20-80CB-2A39-863FF7531211}"/>
              </a:ext>
            </a:extLst>
          </p:cNvPr>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2729908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E810-E982-5860-DE89-243181346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782C7-F426-B43A-D493-01C41FF79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8C031-4993-499F-F0E1-BDE9D8D47B8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summarize the key concepts from this chapter. First, consumers face a fundamental challenge: maximizing utility—satisfaction—given their budget constraints. We want unlimited things, but we have limited money. Second, the law of diminishing marginal utility is universal: each additional unit of consumption provides less extra satisfaction than the previous unit. Third, we found the optimization rule for utility maximization: the marginal utility per dollar should be equal across all goods purchased. When you've allocated your budget so that every good gives you the same bang for your buck on the margin, you've maximized utility. Fourth, income changes shift the budget constraint outward or inward, generally causing people to buy more normal goods and less inferior goods. Fifth, price changes cause the budget constraint to rotate, affecting consumption through both substitution effects and income effects. Finally, behavioral economics enriches our understanding by incorporating psychology, explaining behaviors that traditional economics might dismiss as irrational but which actually follow predictable patterns based on how the human mind works. These concepts provide the foundation for understanding demand in markets and consumer behavior throughout the economy.</a:t>
            </a:r>
            <a:endParaRPr lang="en-US" dirty="0"/>
          </a:p>
        </p:txBody>
      </p:sp>
      <p:sp>
        <p:nvSpPr>
          <p:cNvPr id="4" name="Slide Number Placeholder 3">
            <a:extLst>
              <a:ext uri="{FF2B5EF4-FFF2-40B4-BE49-F238E27FC236}">
                <a16:creationId xmlns:a16="http://schemas.microsoft.com/office/drawing/2014/main" id="{52A01680-7B37-C04A-72EE-FFC61ADC77DF}"/>
              </a:ext>
            </a:extLst>
          </p:cNvPr>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2618985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444479B-705B-4489-957E-7E8A228BDFA0}" type="datetime1">
              <a:rPr lang="en-US" smtClean="0"/>
              <a:t>3/25/2026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0072204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579ABC2-0180-4F3A-A895-A85BC724D472}" type="datetime1">
              <a:rPr lang="en-US" smtClean="0"/>
              <a:t>3/25/2026</a:t>
            </a:fld>
            <a:endParaRPr lang="en-US"/>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48662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590838"/>
          </a:xfrm>
        </p:spPr>
        <p:txBody>
          <a:bodyPr>
            <a:normAutofit/>
          </a:bodyPr>
          <a:lstStyle>
            <a:lvl1pPr>
              <a:defRPr sz="2800" b="0">
                <a:solidFill>
                  <a:schemeClr val="tx1"/>
                </a:solidFill>
              </a:defRPr>
            </a:lvl1pPr>
          </a:lstStyle>
          <a:p>
            <a:r>
              <a:rPr lang="en-US" dirty="0"/>
              <a:t>Title</a:t>
            </a:r>
          </a:p>
        </p:txBody>
      </p:sp>
      <p:sp>
        <p:nvSpPr>
          <p:cNvPr id="3" name="Content Placeholder 2"/>
          <p:cNvSpPr>
            <a:spLocks noGrp="1"/>
          </p:cNvSpPr>
          <p:nvPr>
            <p:ph idx="1"/>
          </p:nvPr>
        </p:nvSpPr>
        <p:spPr>
          <a:xfrm>
            <a:off x="838200" y="1443644"/>
            <a:ext cx="10515600" cy="3796145"/>
          </a:xfrm>
          <a:ln>
            <a:solidFill>
              <a:schemeClr val="tx1"/>
            </a:solidFill>
          </a:ln>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42739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7DA38F49-B3E2-4BF0-BEC7-C30D34ABBB8D}" type="datetime1">
              <a:rPr lang="en-US" smtClean="0"/>
              <a:t>3/25/2026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1392798635"/>
      </p:ext>
    </p:extLst>
  </p:cSld>
  <p:clrMap bg1="lt1" tx1="dk1" bg2="lt2" tx2="dk2" accent1="accent1" accent2="accent2" accent3="accent3" accent4="accent4" accent5="accent5" accent6="accent6" hlink="hlink" folHlink="folHlink"/>
  <p:sldLayoutIdLst>
    <p:sldLayoutId id="2147483689" r:id="rId1"/>
    <p:sldLayoutId id="2147483692" r:id="rId2"/>
    <p:sldLayoutId id="2147483700" r:id="rId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4"/>
            <a:ext cx="4308672" cy="1172409"/>
          </a:xfrm>
        </p:spPr>
        <p:txBody>
          <a:bodyPr anchor="b">
            <a:normAutofit/>
          </a:bodyPr>
          <a:lstStyle/>
          <a:p>
            <a:r>
              <a:rPr lang="en-US" sz="5400" dirty="0"/>
              <a:t>Chapter 6</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
        <p:nvSpPr>
          <p:cNvPr id="5" name="TextBox 4">
            <a:extLst>
              <a:ext uri="{FF2B5EF4-FFF2-40B4-BE49-F238E27FC236}">
                <a16:creationId xmlns:a16="http://schemas.microsoft.com/office/drawing/2014/main" id="{94488982-3395-8102-AF5A-5035187BF822}"/>
              </a:ext>
            </a:extLst>
          </p:cNvPr>
          <p:cNvSpPr txBox="1"/>
          <p:nvPr/>
        </p:nvSpPr>
        <p:spPr>
          <a:xfrm>
            <a:off x="8801066" y="2575775"/>
            <a:ext cx="1778051" cy="369332"/>
          </a:xfrm>
          <a:prstGeom prst="rect">
            <a:avLst/>
          </a:prstGeom>
          <a:noFill/>
          <a:ln>
            <a:solidFill>
              <a:schemeClr val="bg1"/>
            </a:solidFill>
          </a:ln>
        </p:spPr>
        <p:txBody>
          <a:bodyPr wrap="none" rtlCol="0">
            <a:spAutoFit/>
          </a:bodyPr>
          <a:lstStyle/>
          <a:p>
            <a:r>
              <a:rPr lang="en-US" i="1" dirty="0">
                <a:solidFill>
                  <a:schemeClr val="bg1"/>
                </a:solidFill>
              </a:rPr>
              <a:t>Consumer Choices</a:t>
            </a:r>
          </a:p>
        </p:txBody>
      </p:sp>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34C96-9607-D4DA-2A71-87383EC873D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D28273-6806-C844-D709-51B27A16BD35}"/>
              </a:ext>
            </a:extLst>
          </p:cNvPr>
          <p:cNvSpPr>
            <a:spLocks noGrp="1"/>
          </p:cNvSpPr>
          <p:nvPr>
            <p:ph type="title"/>
          </p:nvPr>
        </p:nvSpPr>
        <p:spPr>
          <a:xfrm>
            <a:off x="593103" y="374553"/>
            <a:ext cx="10515600" cy="528272"/>
          </a:xfrm>
        </p:spPr>
        <p:txBody>
          <a:bodyPr>
            <a:noAutofit/>
          </a:bodyPr>
          <a:lstStyle/>
          <a:p>
            <a:r>
              <a:rPr lang="en-US" b="0" dirty="0"/>
              <a:t>The Central Problem</a:t>
            </a:r>
          </a:p>
        </p:txBody>
      </p:sp>
      <p:sp>
        <p:nvSpPr>
          <p:cNvPr id="2" name="Content Placeholder 1">
            <a:extLst>
              <a:ext uri="{FF2B5EF4-FFF2-40B4-BE49-F238E27FC236}">
                <a16:creationId xmlns:a16="http://schemas.microsoft.com/office/drawing/2014/main" id="{01A8CA3B-EEEF-0C37-5E1A-1295E3C3B546}"/>
              </a:ext>
            </a:extLst>
          </p:cNvPr>
          <p:cNvSpPr>
            <a:spLocks noGrp="1"/>
          </p:cNvSpPr>
          <p:nvPr>
            <p:ph idx="1"/>
          </p:nvPr>
        </p:nvSpPr>
        <p:spPr>
          <a:xfrm>
            <a:off x="593103" y="1236529"/>
            <a:ext cx="10515600" cy="5246917"/>
          </a:xfrm>
          <a:ln>
            <a:solidFill>
              <a:schemeClr val="tx1"/>
            </a:solidFill>
          </a:ln>
        </p:spPr>
        <p:txBody>
          <a:bodyPr>
            <a:normAutofit/>
          </a:bodyPr>
          <a:lstStyle/>
          <a:p>
            <a:pPr marL="0" indent="0">
              <a:buNone/>
            </a:pPr>
            <a:r>
              <a:rPr lang="en-US" sz="2400" dirty="0"/>
              <a:t>The Consumer's Dilemma</a:t>
            </a:r>
          </a:p>
          <a:p>
            <a:pPr marL="0" indent="0">
              <a:buNone/>
            </a:pPr>
            <a:endParaRPr lang="en-US" sz="2400" b="1" dirty="0"/>
          </a:p>
          <a:p>
            <a:pPr marL="0" indent="0">
              <a:buNone/>
            </a:pPr>
            <a:r>
              <a:rPr lang="en-US" sz="2400" b="1" dirty="0"/>
              <a:t>Unlimited wants, limited budget</a:t>
            </a:r>
            <a:endParaRPr lang="en-US" sz="2400" dirty="0"/>
          </a:p>
          <a:p>
            <a:pPr lvl="1"/>
            <a:r>
              <a:rPr lang="en-US" sz="2400" dirty="0"/>
              <a:t>Consumers seek to </a:t>
            </a:r>
            <a:r>
              <a:rPr lang="en-US" sz="2400" b="1" dirty="0"/>
              <a:t>maximize total utility</a:t>
            </a:r>
            <a:r>
              <a:rPr lang="en-US" sz="2400" dirty="0"/>
              <a:t> (satisfaction)</a:t>
            </a:r>
          </a:p>
          <a:p>
            <a:pPr lvl="1"/>
            <a:r>
              <a:rPr lang="en-US" sz="2400" dirty="0"/>
              <a:t>Constrained by </a:t>
            </a:r>
            <a:r>
              <a:rPr lang="en-US" sz="2400" b="1" dirty="0"/>
              <a:t>income and prices</a:t>
            </a:r>
            <a:endParaRPr lang="en-US" sz="2400" dirty="0"/>
          </a:p>
          <a:p>
            <a:pPr lvl="1"/>
            <a:r>
              <a:rPr lang="en-US" sz="2400" dirty="0"/>
              <a:t>Every choice involves </a:t>
            </a:r>
            <a:r>
              <a:rPr lang="en-US" sz="2400" b="1" dirty="0"/>
              <a:t>trade-offs</a:t>
            </a:r>
            <a:endParaRPr lang="en-US" sz="2400" dirty="0"/>
          </a:p>
          <a:p>
            <a:pPr marL="0" indent="0">
              <a:buNone/>
            </a:pPr>
            <a:endParaRPr lang="en-US" sz="2400" b="1" dirty="0"/>
          </a:p>
          <a:p>
            <a:pPr marL="0" indent="0">
              <a:buNone/>
            </a:pPr>
            <a:r>
              <a:rPr lang="en-US" sz="2400" b="1" dirty="0"/>
              <a:t>Analogy:</a:t>
            </a:r>
            <a:r>
              <a:rPr lang="en-US" sz="2400" dirty="0"/>
              <a:t> Like packing for a trip with a weight limit—you want to bring everything, but must choose what gives you the most value within your constraint.</a:t>
            </a:r>
          </a:p>
        </p:txBody>
      </p:sp>
    </p:spTree>
    <p:extLst>
      <p:ext uri="{BB962C8B-B14F-4D97-AF65-F5344CB8AC3E}">
        <p14:creationId xmlns:p14="http://schemas.microsoft.com/office/powerpoint/2010/main" val="3961540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DE852-3673-ED2D-2398-AFDD70CAEF44}"/>
              </a:ext>
            </a:extLst>
          </p:cNvPr>
          <p:cNvSpPr>
            <a:spLocks noGrp="1"/>
          </p:cNvSpPr>
          <p:nvPr>
            <p:ph type="title"/>
          </p:nvPr>
        </p:nvSpPr>
        <p:spPr>
          <a:xfrm>
            <a:off x="838200" y="365126"/>
            <a:ext cx="10515600" cy="549274"/>
          </a:xfrm>
        </p:spPr>
        <p:txBody>
          <a:bodyPr>
            <a:noAutofit/>
          </a:bodyPr>
          <a:lstStyle/>
          <a:p>
            <a:r>
              <a:rPr lang="en-US" b="0" dirty="0"/>
              <a:t>Key concepts</a:t>
            </a:r>
          </a:p>
        </p:txBody>
      </p:sp>
      <p:sp>
        <p:nvSpPr>
          <p:cNvPr id="3" name="Content Placeholder 2">
            <a:extLst>
              <a:ext uri="{FF2B5EF4-FFF2-40B4-BE49-F238E27FC236}">
                <a16:creationId xmlns:a16="http://schemas.microsoft.com/office/drawing/2014/main" id="{676B54FC-CFFF-58F8-9390-B087B7A1A028}"/>
              </a:ext>
            </a:extLst>
          </p:cNvPr>
          <p:cNvSpPr>
            <a:spLocks noGrp="1"/>
          </p:cNvSpPr>
          <p:nvPr>
            <p:ph idx="1"/>
          </p:nvPr>
        </p:nvSpPr>
        <p:spPr>
          <a:xfrm>
            <a:off x="838200" y="1180618"/>
            <a:ext cx="10515600" cy="5081286"/>
          </a:xfrm>
          <a:ln>
            <a:solidFill>
              <a:schemeClr val="tx1"/>
            </a:solidFill>
          </a:ln>
        </p:spPr>
        <p:txBody>
          <a:bodyPr/>
          <a:lstStyle/>
          <a:p>
            <a:pPr marL="0" indent="0">
              <a:buNone/>
            </a:pPr>
            <a:r>
              <a:rPr lang="en-US" dirty="0"/>
              <a:t>Understanding Utility</a:t>
            </a:r>
          </a:p>
          <a:p>
            <a:pPr marL="0" indent="0">
              <a:buNone/>
            </a:pPr>
            <a:endParaRPr lang="en-US" b="1" dirty="0"/>
          </a:p>
          <a:p>
            <a:pPr marL="0" indent="0">
              <a:buNone/>
            </a:pPr>
            <a:r>
              <a:rPr lang="en-US" b="1" dirty="0"/>
              <a:t>Utility</a:t>
            </a:r>
            <a:r>
              <a:rPr lang="en-US" dirty="0"/>
              <a:t> = Satisfaction from consumption</a:t>
            </a:r>
          </a:p>
          <a:p>
            <a:pPr marL="0" indent="0">
              <a:buNone/>
            </a:pPr>
            <a:endParaRPr lang="en-US" b="1" dirty="0"/>
          </a:p>
          <a:p>
            <a:r>
              <a:rPr lang="en-US" b="1" dirty="0"/>
              <a:t>Total Utility (TU)</a:t>
            </a:r>
            <a:r>
              <a:rPr lang="en-US" dirty="0"/>
              <a:t> = Overall satisfaction from all units consumed</a:t>
            </a:r>
          </a:p>
          <a:p>
            <a:r>
              <a:rPr lang="en-US" b="1" dirty="0"/>
              <a:t>Marginal Utility (MU)</a:t>
            </a:r>
            <a:r>
              <a:rPr lang="en-US" dirty="0"/>
              <a:t> = Additional satisfaction from one more unit</a:t>
            </a:r>
          </a:p>
          <a:p>
            <a:r>
              <a:rPr lang="en-US" b="1" dirty="0"/>
              <a:t>MU = Change in TU ÷ Change in Quantity</a:t>
            </a:r>
            <a:endParaRPr lang="en-US" dirty="0"/>
          </a:p>
          <a:p>
            <a:pPr marL="0" indent="0">
              <a:buNone/>
            </a:pPr>
            <a:endParaRPr lang="en-US" b="1" dirty="0"/>
          </a:p>
          <a:p>
            <a:pPr marL="0" indent="0">
              <a:buNone/>
            </a:pPr>
            <a:r>
              <a:rPr lang="en-US" b="1" dirty="0"/>
              <a:t>Law of Diminishing Marginal Utility:</a:t>
            </a:r>
            <a:br>
              <a:rPr lang="en-US" dirty="0"/>
            </a:br>
            <a:r>
              <a:rPr lang="en-US" dirty="0"/>
              <a:t>Each additional unit provides </a:t>
            </a:r>
            <a:r>
              <a:rPr lang="en-US" i="1" dirty="0"/>
              <a:t>less</a:t>
            </a:r>
            <a:r>
              <a:rPr lang="en-US" dirty="0"/>
              <a:t> additional satisfaction</a:t>
            </a:r>
          </a:p>
          <a:p>
            <a:pPr marL="0" indent="0">
              <a:buNone/>
            </a:pPr>
            <a:endParaRPr lang="en-US" dirty="0"/>
          </a:p>
        </p:txBody>
      </p:sp>
    </p:spTree>
    <p:extLst>
      <p:ext uri="{BB962C8B-B14F-4D97-AF65-F5344CB8AC3E}">
        <p14:creationId xmlns:p14="http://schemas.microsoft.com/office/powerpoint/2010/main" val="2407473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F5930-A338-381F-9295-182C03F96187}"/>
              </a:ext>
            </a:extLst>
          </p:cNvPr>
          <p:cNvSpPr>
            <a:spLocks noGrp="1"/>
          </p:cNvSpPr>
          <p:nvPr>
            <p:ph type="title"/>
          </p:nvPr>
        </p:nvSpPr>
        <p:spPr>
          <a:xfrm>
            <a:off x="641023" y="419190"/>
            <a:ext cx="10515600" cy="580388"/>
          </a:xfrm>
        </p:spPr>
        <p:txBody>
          <a:bodyPr>
            <a:noAutofit/>
          </a:bodyPr>
          <a:lstStyle/>
          <a:p>
            <a:r>
              <a:rPr lang="en-US" b="0" dirty="0"/>
              <a:t>Diminishing Marginal Utility Example</a:t>
            </a:r>
          </a:p>
        </p:txBody>
      </p:sp>
      <p:sp>
        <p:nvSpPr>
          <p:cNvPr id="4" name="Content Placeholder 3">
            <a:extLst>
              <a:ext uri="{FF2B5EF4-FFF2-40B4-BE49-F238E27FC236}">
                <a16:creationId xmlns:a16="http://schemas.microsoft.com/office/drawing/2014/main" id="{167C812B-7E9A-3919-5658-36198ADF181A}"/>
              </a:ext>
            </a:extLst>
          </p:cNvPr>
          <p:cNvSpPr>
            <a:spLocks noGrp="1"/>
          </p:cNvSpPr>
          <p:nvPr>
            <p:ph idx="1"/>
          </p:nvPr>
        </p:nvSpPr>
        <p:spPr>
          <a:xfrm>
            <a:off x="641023" y="1530927"/>
            <a:ext cx="10515600" cy="4907883"/>
          </a:xfrm>
        </p:spPr>
        <p:txBody>
          <a:bodyPr/>
          <a:lstStyle/>
          <a:p>
            <a:pPr marL="0" indent="0">
              <a:buNone/>
            </a:pPr>
            <a:r>
              <a:rPr lang="en-US" sz="2400" dirty="0"/>
              <a:t>Real-World Example: Coffee Consumption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2000" dirty="0"/>
              <a:t>First coffee of the day = lifesaver (30 utils)</a:t>
            </a:r>
            <a:br>
              <a:rPr lang="en-US" sz="2000" dirty="0"/>
            </a:br>
            <a:r>
              <a:rPr lang="en-US" sz="2000" dirty="0"/>
              <a:t>Fifth coffee = jittery and unnecessary (5 utils)</a:t>
            </a:r>
          </a:p>
          <a:p>
            <a:endParaRPr lang="en-US" dirty="0"/>
          </a:p>
          <a:p>
            <a:pPr marL="0" indent="0">
              <a:buNone/>
            </a:pPr>
            <a:endParaRPr lang="en-US" dirty="0"/>
          </a:p>
        </p:txBody>
      </p:sp>
      <p:graphicFrame>
        <p:nvGraphicFramePr>
          <p:cNvPr id="8" name="Table 7">
            <a:extLst>
              <a:ext uri="{FF2B5EF4-FFF2-40B4-BE49-F238E27FC236}">
                <a16:creationId xmlns:a16="http://schemas.microsoft.com/office/drawing/2014/main" id="{E101AA09-4CDD-AE03-F6ED-22AB4B7DC252}"/>
              </a:ext>
            </a:extLst>
          </p:cNvPr>
          <p:cNvGraphicFramePr>
            <a:graphicFrameLocks noGrp="1"/>
          </p:cNvGraphicFramePr>
          <p:nvPr>
            <p:extLst>
              <p:ext uri="{D42A27DB-BD31-4B8C-83A1-F6EECF244321}">
                <p14:modId xmlns:p14="http://schemas.microsoft.com/office/powerpoint/2010/main" val="1724708053"/>
              </p:ext>
            </p:extLst>
          </p:nvPr>
        </p:nvGraphicFramePr>
        <p:xfrm>
          <a:off x="772028" y="2109442"/>
          <a:ext cx="7731126" cy="2377440"/>
        </p:xfrm>
        <a:graphic>
          <a:graphicData uri="http://schemas.openxmlformats.org/drawingml/2006/table">
            <a:tbl>
              <a:tblPr firstRow="1">
                <a:tableStyleId>{7E9639D4-E3E2-4D34-9284-5A2195B3D0D7}</a:tableStyleId>
              </a:tblPr>
              <a:tblGrid>
                <a:gridCol w="2577042">
                  <a:extLst>
                    <a:ext uri="{9D8B030D-6E8A-4147-A177-3AD203B41FA5}">
                      <a16:colId xmlns:a16="http://schemas.microsoft.com/office/drawing/2014/main" val="1425789248"/>
                    </a:ext>
                  </a:extLst>
                </a:gridCol>
                <a:gridCol w="2577042">
                  <a:extLst>
                    <a:ext uri="{9D8B030D-6E8A-4147-A177-3AD203B41FA5}">
                      <a16:colId xmlns:a16="http://schemas.microsoft.com/office/drawing/2014/main" val="1953032103"/>
                    </a:ext>
                  </a:extLst>
                </a:gridCol>
                <a:gridCol w="2577042">
                  <a:extLst>
                    <a:ext uri="{9D8B030D-6E8A-4147-A177-3AD203B41FA5}">
                      <a16:colId xmlns:a16="http://schemas.microsoft.com/office/drawing/2014/main" val="662330678"/>
                    </a:ext>
                  </a:extLst>
                </a:gridCol>
              </a:tblGrid>
              <a:tr h="396240">
                <a:tc>
                  <a:txBody>
                    <a:bodyPr/>
                    <a:lstStyle/>
                    <a:p>
                      <a:pPr algn="l">
                        <a:buNone/>
                      </a:pPr>
                      <a:r>
                        <a:rPr lang="en-US" sz="1800" dirty="0">
                          <a:effectLst/>
                        </a:rPr>
                        <a:t>Cup</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Total Utility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Marginal Utility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0348863"/>
                  </a:ext>
                </a:extLst>
              </a:tr>
              <a:tr h="396240">
                <a:tc>
                  <a:txBody>
                    <a:bodyPr/>
                    <a:lstStyle/>
                    <a:p>
                      <a:pPr algn="l">
                        <a:buNone/>
                      </a:pPr>
                      <a:r>
                        <a:rPr lang="en-US" sz="1800" dirty="0">
                          <a:effectLst/>
                        </a:rPr>
                        <a:t>1</a:t>
                      </a:r>
                      <a:r>
                        <a:rPr lang="en-US" sz="1800" baseline="30000" dirty="0">
                          <a:effectLst/>
                        </a:rPr>
                        <a:t>st</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30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30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1766862"/>
                  </a:ext>
                </a:extLst>
              </a:tr>
              <a:tr h="396240">
                <a:tc>
                  <a:txBody>
                    <a:bodyPr/>
                    <a:lstStyle/>
                    <a:p>
                      <a:pPr algn="l">
                        <a:buNone/>
                      </a:pPr>
                      <a:r>
                        <a:rPr lang="en-US" sz="1800" dirty="0">
                          <a:effectLst/>
                        </a:rPr>
                        <a:t>2</a:t>
                      </a:r>
                      <a:r>
                        <a:rPr lang="en-US" sz="1800" baseline="30000" dirty="0">
                          <a:effectLst/>
                        </a:rPr>
                        <a:t>nd</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50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20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0163098"/>
                  </a:ext>
                </a:extLst>
              </a:tr>
              <a:tr h="396240">
                <a:tc>
                  <a:txBody>
                    <a:bodyPr/>
                    <a:lstStyle/>
                    <a:p>
                      <a:pPr algn="l">
                        <a:buNone/>
                      </a:pPr>
                      <a:r>
                        <a:rPr lang="en-US" sz="1800">
                          <a:effectLst/>
                        </a:rPr>
                        <a:t>3rd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65</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15</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1549044"/>
                  </a:ext>
                </a:extLst>
              </a:tr>
              <a:tr h="396240">
                <a:tc>
                  <a:txBody>
                    <a:bodyPr/>
                    <a:lstStyle/>
                    <a:p>
                      <a:pPr algn="l">
                        <a:buNone/>
                      </a:pPr>
                      <a:r>
                        <a:rPr lang="en-US" sz="1800">
                          <a:effectLst/>
                        </a:rPr>
                        <a:t>4th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73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8</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1669559"/>
                  </a:ext>
                </a:extLst>
              </a:tr>
              <a:tr h="396240">
                <a:tc>
                  <a:txBody>
                    <a:bodyPr/>
                    <a:lstStyle/>
                    <a:p>
                      <a:pPr algn="l">
                        <a:buNone/>
                      </a:pPr>
                      <a:r>
                        <a:rPr lang="en-US" sz="1800">
                          <a:effectLst/>
                        </a:rPr>
                        <a:t>5th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78</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5</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231542"/>
                  </a:ext>
                </a:extLst>
              </a:tr>
            </a:tbl>
          </a:graphicData>
        </a:graphic>
      </p:graphicFrame>
    </p:spTree>
    <p:extLst>
      <p:ext uri="{BB962C8B-B14F-4D97-AF65-F5344CB8AC3E}">
        <p14:creationId xmlns:p14="http://schemas.microsoft.com/office/powerpoint/2010/main" val="223747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118B2-884F-E7C4-67DA-0C699286C948}"/>
              </a:ext>
            </a:extLst>
          </p:cNvPr>
          <p:cNvSpPr>
            <a:spLocks noGrp="1"/>
          </p:cNvSpPr>
          <p:nvPr>
            <p:ph type="title"/>
          </p:nvPr>
        </p:nvSpPr>
        <p:spPr>
          <a:xfrm>
            <a:off x="611956" y="365126"/>
            <a:ext cx="10515600" cy="424583"/>
          </a:xfrm>
        </p:spPr>
        <p:txBody>
          <a:bodyPr>
            <a:noAutofit/>
          </a:bodyPr>
          <a:lstStyle/>
          <a:p>
            <a:r>
              <a:rPr lang="en-US" b="0" dirty="0"/>
              <a:t>The Budget Constraint</a:t>
            </a:r>
          </a:p>
        </p:txBody>
      </p:sp>
      <p:sp>
        <p:nvSpPr>
          <p:cNvPr id="3" name="Content Placeholder 2">
            <a:extLst>
              <a:ext uri="{FF2B5EF4-FFF2-40B4-BE49-F238E27FC236}">
                <a16:creationId xmlns:a16="http://schemas.microsoft.com/office/drawing/2014/main" id="{459C7ED6-54AF-7B1D-19E2-E868D93A3E20}"/>
              </a:ext>
            </a:extLst>
          </p:cNvPr>
          <p:cNvSpPr>
            <a:spLocks noGrp="1"/>
          </p:cNvSpPr>
          <p:nvPr>
            <p:ph idx="1"/>
          </p:nvPr>
        </p:nvSpPr>
        <p:spPr>
          <a:xfrm>
            <a:off x="687371" y="1172781"/>
            <a:ext cx="10515600" cy="2333990"/>
          </a:xfrm>
        </p:spPr>
        <p:txBody>
          <a:bodyPr>
            <a:normAutofit fontScale="92500" lnSpcReduction="10000"/>
          </a:bodyPr>
          <a:lstStyle/>
          <a:p>
            <a:pPr marL="0" indent="0">
              <a:buNone/>
            </a:pPr>
            <a:r>
              <a:rPr lang="en-US" b="1" dirty="0"/>
              <a:t>Your Economic Reality Check</a:t>
            </a:r>
            <a:endParaRPr lang="en-US" dirty="0"/>
          </a:p>
          <a:p>
            <a:pPr lvl="1"/>
            <a:r>
              <a:rPr lang="en-US" dirty="0"/>
              <a:t>Shows </a:t>
            </a:r>
            <a:r>
              <a:rPr lang="en-US" b="1" dirty="0"/>
              <a:t>all affordable combinations</a:t>
            </a:r>
            <a:r>
              <a:rPr lang="en-US" dirty="0"/>
              <a:t> of two goods</a:t>
            </a:r>
          </a:p>
          <a:p>
            <a:pPr lvl="1"/>
            <a:r>
              <a:rPr lang="en-US" dirty="0"/>
              <a:t>Slope = </a:t>
            </a:r>
            <a:r>
              <a:rPr lang="en-US" b="1" dirty="0"/>
              <a:t>opportunity cost</a:t>
            </a:r>
            <a:r>
              <a:rPr lang="en-US" dirty="0"/>
              <a:t> (what you give up)</a:t>
            </a:r>
          </a:p>
          <a:p>
            <a:pPr lvl="1"/>
            <a:r>
              <a:rPr lang="en-US" dirty="0"/>
              <a:t>Any point on the line uses </a:t>
            </a:r>
            <a:r>
              <a:rPr lang="en-US" b="1" dirty="0"/>
              <a:t>entire budget</a:t>
            </a:r>
            <a:endParaRPr lang="en-US" dirty="0"/>
          </a:p>
          <a:p>
            <a:pPr lvl="1"/>
            <a:r>
              <a:rPr lang="en-US" dirty="0"/>
              <a:t>Points inside = under budget; outside = unaffordable</a:t>
            </a:r>
          </a:p>
          <a:p>
            <a:pPr marL="0" indent="0">
              <a:buNone/>
            </a:pPr>
            <a:r>
              <a:rPr lang="en-US" b="1" dirty="0"/>
              <a:t>Analogy:</a:t>
            </a:r>
            <a:r>
              <a:rPr lang="en-US" dirty="0"/>
              <a:t> Like a fence around your consumption possibilities—you can choose any point on or inside the fence, but can't jump over it</a:t>
            </a:r>
          </a:p>
          <a:p>
            <a:endParaRPr lang="en-US" dirty="0"/>
          </a:p>
        </p:txBody>
      </p:sp>
      <p:pic>
        <p:nvPicPr>
          <p:cNvPr id="5" name="Picture 4" descr="The points on the graph show how a budget is affected by spending choices. Spending more money at the movies (y-axis) means that José has less money to spend on T-shirts (x-axis).">
            <a:extLst>
              <a:ext uri="{FF2B5EF4-FFF2-40B4-BE49-F238E27FC236}">
                <a16:creationId xmlns:a16="http://schemas.microsoft.com/office/drawing/2014/main" id="{E3E41CC8-4623-E209-760D-59104BCD5777}"/>
              </a:ext>
            </a:extLst>
          </p:cNvPr>
          <p:cNvPicPr>
            <a:picLocks noChangeAspect="1"/>
          </p:cNvPicPr>
          <p:nvPr/>
        </p:nvPicPr>
        <p:blipFill>
          <a:blip r:embed="rId3"/>
          <a:stretch>
            <a:fillRect/>
          </a:stretch>
        </p:blipFill>
        <p:spPr>
          <a:xfrm>
            <a:off x="687371" y="3704737"/>
            <a:ext cx="5313881" cy="2727720"/>
          </a:xfrm>
          <a:prstGeom prst="rect">
            <a:avLst/>
          </a:prstGeom>
          <a:ln>
            <a:solidFill>
              <a:schemeClr val="tx1"/>
            </a:solidFill>
          </a:ln>
        </p:spPr>
      </p:pic>
      <p:sp>
        <p:nvSpPr>
          <p:cNvPr id="6" name="Content Placeholder 6">
            <a:extLst>
              <a:ext uri="{FF2B5EF4-FFF2-40B4-BE49-F238E27FC236}">
                <a16:creationId xmlns:a16="http://schemas.microsoft.com/office/drawing/2014/main" id="{69880461-8111-5829-E927-17D16AD56648}"/>
              </a:ext>
            </a:extLst>
          </p:cNvPr>
          <p:cNvSpPr txBox="1">
            <a:spLocks/>
          </p:cNvSpPr>
          <p:nvPr/>
        </p:nvSpPr>
        <p:spPr>
          <a:xfrm>
            <a:off x="6190750" y="3695311"/>
            <a:ext cx="5753011" cy="2737146"/>
          </a:xfrm>
          <a:prstGeom prst="rect">
            <a:avLst/>
          </a:prstGeom>
          <a:ln>
            <a:solidFill>
              <a:schemeClr val="tx1"/>
            </a:solidFill>
          </a:ln>
        </p:spPr>
        <p:txBody>
          <a:bodyPr vert="horz" lIns="91440" tIns="45720" rIns="91440" bIns="45720" rtlCol="0">
            <a:normAutofit fontScale="32500" lnSpcReduction="20000"/>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300" dirty="0">
                <a:latin typeface="Aptos" panose="020B0004020202020204" pitchFamily="34" charset="0"/>
              </a:rPr>
              <a:t>José has total income of $56. </a:t>
            </a:r>
          </a:p>
          <a:p>
            <a:r>
              <a:rPr lang="en-US" sz="4300" dirty="0">
                <a:latin typeface="Aptos" panose="020B0004020202020204" pitchFamily="34" charset="0"/>
              </a:rPr>
              <a:t>Movies cost $7 and T-shirts cost $14. </a:t>
            </a:r>
          </a:p>
          <a:p>
            <a:r>
              <a:rPr lang="en-US" sz="4300" dirty="0">
                <a:latin typeface="Aptos" panose="020B0004020202020204" pitchFamily="34" charset="0"/>
              </a:rPr>
              <a:t>The points on the budget constraint line show the combinations of movies and T-shirts that are affordable.</a:t>
            </a:r>
          </a:p>
          <a:p>
            <a:r>
              <a:rPr lang="en-US" sz="4300" dirty="0">
                <a:solidFill>
                  <a:srgbClr val="424242"/>
                </a:solidFill>
                <a:highlight>
                  <a:srgbClr val="FFFFFF"/>
                </a:highlight>
                <a:latin typeface="Aptos" panose="020B0004020202020204" pitchFamily="34" charset="0"/>
              </a:rPr>
              <a:t>Which combination does Jose actually choose?</a:t>
            </a:r>
          </a:p>
          <a:p>
            <a:r>
              <a:rPr lang="en-US" sz="4300" dirty="0">
                <a:solidFill>
                  <a:srgbClr val="424242"/>
                </a:solidFill>
                <a:highlight>
                  <a:srgbClr val="FFFFFF"/>
                </a:highlight>
                <a:latin typeface="Aptos" panose="020B0004020202020204" pitchFamily="34" charset="0"/>
              </a:rPr>
              <a:t>José wishes to choose the combination that will provide him with the greatest utility, which is the term economists use to describe a person’s level of satisfaction or happiness with their choices.</a:t>
            </a:r>
          </a:p>
          <a:p>
            <a:r>
              <a:rPr lang="en-US" sz="4300" dirty="0">
                <a:solidFill>
                  <a:srgbClr val="424242"/>
                </a:solidFill>
                <a:highlight>
                  <a:srgbClr val="FFFFFF"/>
                </a:highlight>
                <a:latin typeface="Aptos" panose="020B0004020202020204" pitchFamily="34" charset="0"/>
              </a:rPr>
              <a:t>How does that work?</a:t>
            </a:r>
          </a:p>
          <a:p>
            <a:endParaRPr lang="en-US" sz="2600" dirty="0"/>
          </a:p>
          <a:p>
            <a:endParaRPr lang="en-US" dirty="0"/>
          </a:p>
        </p:txBody>
      </p:sp>
    </p:spTree>
    <p:extLst>
      <p:ext uri="{BB962C8B-B14F-4D97-AF65-F5344CB8AC3E}">
        <p14:creationId xmlns:p14="http://schemas.microsoft.com/office/powerpoint/2010/main" val="2654566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33EA-E922-BDAA-31D2-70BB599DC7C9}"/>
              </a:ext>
            </a:extLst>
          </p:cNvPr>
          <p:cNvSpPr>
            <a:spLocks noGrp="1"/>
          </p:cNvSpPr>
          <p:nvPr>
            <p:ph type="title"/>
          </p:nvPr>
        </p:nvSpPr>
        <p:spPr>
          <a:xfrm>
            <a:off x="640237" y="408865"/>
            <a:ext cx="10515600" cy="644431"/>
          </a:xfrm>
        </p:spPr>
        <p:txBody>
          <a:bodyPr>
            <a:noAutofit/>
          </a:bodyPr>
          <a:lstStyle/>
          <a:p>
            <a:r>
              <a:rPr lang="en-US" b="0" dirty="0"/>
              <a:t>Jose’s Total and Marginal Utility</a:t>
            </a:r>
          </a:p>
        </p:txBody>
      </p:sp>
      <p:pic>
        <p:nvPicPr>
          <p:cNvPr id="6" name="Content Placeholder 5" descr="Table of Total and Marginal Utility">
            <a:extLst>
              <a:ext uri="{FF2B5EF4-FFF2-40B4-BE49-F238E27FC236}">
                <a16:creationId xmlns:a16="http://schemas.microsoft.com/office/drawing/2014/main" id="{AD7A657F-989D-91A7-0CE4-3B82A316BADF}"/>
              </a:ext>
            </a:extLst>
          </p:cNvPr>
          <p:cNvPicPr>
            <a:picLocks noGrp="1" noChangeAspect="1"/>
          </p:cNvPicPr>
          <p:nvPr>
            <p:ph idx="1"/>
          </p:nvPr>
        </p:nvPicPr>
        <p:blipFill>
          <a:blip r:embed="rId3"/>
          <a:stretch>
            <a:fillRect/>
          </a:stretch>
        </p:blipFill>
        <p:spPr>
          <a:xfrm>
            <a:off x="1789923" y="1577363"/>
            <a:ext cx="8216228" cy="5017697"/>
          </a:xfrm>
        </p:spPr>
      </p:pic>
    </p:spTree>
    <p:extLst>
      <p:ext uri="{BB962C8B-B14F-4D97-AF65-F5344CB8AC3E}">
        <p14:creationId xmlns:p14="http://schemas.microsoft.com/office/powerpoint/2010/main" val="3722923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94F0-23F2-C406-6508-EF53D6083714}"/>
              </a:ext>
            </a:extLst>
          </p:cNvPr>
          <p:cNvSpPr>
            <a:spLocks noGrp="1"/>
          </p:cNvSpPr>
          <p:nvPr>
            <p:ph type="title"/>
          </p:nvPr>
        </p:nvSpPr>
        <p:spPr/>
        <p:txBody>
          <a:bodyPr>
            <a:noAutofit/>
          </a:bodyPr>
          <a:lstStyle/>
          <a:p>
            <a:r>
              <a:rPr lang="en-US" dirty="0"/>
              <a:t>Jose’s Choice Problem</a:t>
            </a:r>
          </a:p>
        </p:txBody>
      </p:sp>
      <p:sp>
        <p:nvSpPr>
          <p:cNvPr id="3" name="Content Placeholder 2">
            <a:extLst>
              <a:ext uri="{FF2B5EF4-FFF2-40B4-BE49-F238E27FC236}">
                <a16:creationId xmlns:a16="http://schemas.microsoft.com/office/drawing/2014/main" id="{53529FC0-9B12-33D5-572D-3E4AF5A330EC}"/>
              </a:ext>
            </a:extLst>
          </p:cNvPr>
          <p:cNvSpPr>
            <a:spLocks noGrp="1"/>
          </p:cNvSpPr>
          <p:nvPr>
            <p:ph idx="1"/>
          </p:nvPr>
        </p:nvSpPr>
        <p:spPr>
          <a:xfrm>
            <a:off x="838200" y="1443644"/>
            <a:ext cx="10515600" cy="4806685"/>
          </a:xfrm>
        </p:spPr>
        <p:txBody>
          <a:bodyPr>
            <a:normAutofit/>
          </a:bodyPr>
          <a:lstStyle/>
          <a:p>
            <a:pPr marL="0" indent="0">
              <a:buNone/>
            </a:pPr>
            <a:r>
              <a:rPr lang="en-US" sz="2000" dirty="0"/>
              <a:t>Case Study: José's Decision</a:t>
            </a:r>
          </a:p>
          <a:p>
            <a:pPr marL="0" indent="0">
              <a:buNone/>
            </a:pPr>
            <a:r>
              <a:rPr lang="en-US" sz="2000" b="1" dirty="0"/>
              <a:t>Budget:</a:t>
            </a:r>
            <a:r>
              <a:rPr lang="en-US" sz="2000" dirty="0"/>
              <a:t> $56</a:t>
            </a:r>
            <a:br>
              <a:rPr lang="en-US" sz="2000" dirty="0"/>
            </a:br>
            <a:r>
              <a:rPr lang="en-US" sz="2000" b="1" dirty="0"/>
              <a:t>T-shirts:</a:t>
            </a:r>
            <a:r>
              <a:rPr lang="en-US" sz="2000" dirty="0"/>
              <a:t> $14 each | </a:t>
            </a:r>
            <a:r>
              <a:rPr lang="en-US" sz="2000" b="1" dirty="0"/>
              <a:t>Movies:</a:t>
            </a:r>
            <a:r>
              <a:rPr lang="en-US" sz="2000" dirty="0"/>
              <a:t> $7 each</a:t>
            </a:r>
          </a:p>
          <a:p>
            <a:pPr marL="0" indent="0">
              <a:buNone/>
            </a:pPr>
            <a:endParaRPr lang="en-US" sz="2000" b="1" dirty="0"/>
          </a:p>
          <a:p>
            <a:pPr marL="0" indent="0">
              <a:buNone/>
            </a:pPr>
            <a:r>
              <a:rPr lang="en-US" sz="2000" b="1" dirty="0"/>
              <a:t>Options on budget line:</a:t>
            </a:r>
            <a:endParaRPr lang="en-US" sz="2000" dirty="0"/>
          </a:p>
          <a:p>
            <a:pPr lvl="1"/>
            <a:r>
              <a:rPr lang="en-US" sz="2000" dirty="0"/>
              <a:t>4 T-shirts, 0 movies (Point P) → TU = 81</a:t>
            </a:r>
          </a:p>
          <a:p>
            <a:pPr lvl="1"/>
            <a:r>
              <a:rPr lang="en-US" sz="2000" dirty="0"/>
              <a:t>2 T-shirts, 4 movies (Point R) → TU = 101</a:t>
            </a:r>
          </a:p>
          <a:p>
            <a:pPr lvl="1"/>
            <a:r>
              <a:rPr lang="en-US" sz="2000" dirty="0"/>
              <a:t>1 T-shirt, 6 movies (Point S) → TU = </a:t>
            </a:r>
            <a:r>
              <a:rPr lang="en-US" sz="2000" b="1" dirty="0"/>
              <a:t>103</a:t>
            </a:r>
            <a:r>
              <a:rPr lang="en-US" sz="2000" dirty="0"/>
              <a:t> ✓</a:t>
            </a:r>
          </a:p>
          <a:p>
            <a:pPr lvl="1"/>
            <a:r>
              <a:rPr lang="en-US" sz="2000" dirty="0"/>
              <a:t>0 T-shirts, 8 movies (Point T) → TU = 100</a:t>
            </a:r>
          </a:p>
          <a:p>
            <a:pPr marL="0" indent="0">
              <a:buNone/>
            </a:pPr>
            <a:endParaRPr lang="en-US" sz="2000" b="1" dirty="0"/>
          </a:p>
          <a:p>
            <a:pPr marL="0" indent="0">
              <a:buNone/>
            </a:pPr>
            <a:r>
              <a:rPr lang="en-US" sz="2000" b="1" dirty="0"/>
              <a:t>José chooses Point S: maximum utility</a:t>
            </a:r>
            <a:endParaRPr lang="en-US" sz="2000" dirty="0"/>
          </a:p>
          <a:p>
            <a:endParaRPr lang="en-US" dirty="0"/>
          </a:p>
        </p:txBody>
      </p:sp>
      <p:pic>
        <p:nvPicPr>
          <p:cNvPr id="4" name="Content Placeholder 5" descr="Jose's Total Utility">
            <a:extLst>
              <a:ext uri="{FF2B5EF4-FFF2-40B4-BE49-F238E27FC236}">
                <a16:creationId xmlns:a16="http://schemas.microsoft.com/office/drawing/2014/main" id="{A1426DE5-8AD9-0DA5-9C51-E79981C695B6}"/>
              </a:ext>
            </a:extLst>
          </p:cNvPr>
          <p:cNvPicPr>
            <a:picLocks noChangeAspect="1"/>
          </p:cNvPicPr>
          <p:nvPr/>
        </p:nvPicPr>
        <p:blipFill>
          <a:blip r:embed="rId3"/>
          <a:stretch>
            <a:fillRect/>
          </a:stretch>
        </p:blipFill>
        <p:spPr>
          <a:xfrm>
            <a:off x="6096000" y="4169666"/>
            <a:ext cx="5364705" cy="2277263"/>
          </a:xfrm>
          <a:prstGeom prst="rect">
            <a:avLst/>
          </a:prstGeom>
          <a:ln>
            <a:solidFill>
              <a:schemeClr val="tx1"/>
            </a:solidFill>
          </a:ln>
        </p:spPr>
      </p:pic>
      <p:pic>
        <p:nvPicPr>
          <p:cNvPr id="5" name="Picture 4" descr="The points on the graph show how a budget is affected by spending choices. Spending more money at the movies (y-axis) means that José has less money to spend on T-shirts (x-axis).">
            <a:extLst>
              <a:ext uri="{FF2B5EF4-FFF2-40B4-BE49-F238E27FC236}">
                <a16:creationId xmlns:a16="http://schemas.microsoft.com/office/drawing/2014/main" id="{5A75E3F8-DD45-B938-1E12-B3B305B60963}"/>
              </a:ext>
            </a:extLst>
          </p:cNvPr>
          <p:cNvPicPr>
            <a:picLocks noChangeAspect="1"/>
          </p:cNvPicPr>
          <p:nvPr/>
        </p:nvPicPr>
        <p:blipFill>
          <a:blip r:embed="rId4"/>
          <a:stretch>
            <a:fillRect/>
          </a:stretch>
        </p:blipFill>
        <p:spPr>
          <a:xfrm>
            <a:off x="6039919" y="1245346"/>
            <a:ext cx="5420786" cy="2782596"/>
          </a:xfrm>
          <a:prstGeom prst="rect">
            <a:avLst/>
          </a:prstGeom>
          <a:ln>
            <a:solidFill>
              <a:schemeClr val="tx1"/>
            </a:solidFill>
          </a:ln>
        </p:spPr>
      </p:pic>
    </p:spTree>
    <p:extLst>
      <p:ext uri="{BB962C8B-B14F-4D97-AF65-F5344CB8AC3E}">
        <p14:creationId xmlns:p14="http://schemas.microsoft.com/office/powerpoint/2010/main" val="3832564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8AD7C3-FAC0-E872-D85C-05E442D06027}"/>
              </a:ext>
              <a:ext uri="{C183D7F6-B498-43B3-948B-1728B52AA6E4}">
                <adec:decorative xmlns:adec="http://schemas.microsoft.com/office/drawing/2017/decorative" val="1"/>
              </a:ext>
            </a:extLst>
          </p:cNvPr>
          <p:cNvSpPr>
            <a:spLocks noGrp="1"/>
          </p:cNvSpPr>
          <p:nvPr>
            <p:ph type="title"/>
          </p:nvPr>
        </p:nvSpPr>
        <p:spPr>
          <a:xfrm>
            <a:off x="649664" y="374553"/>
            <a:ext cx="10515600" cy="643223"/>
          </a:xfrm>
        </p:spPr>
        <p:txBody>
          <a:bodyPr>
            <a:noAutofit/>
          </a:bodyPr>
          <a:lstStyle/>
          <a:p>
            <a:r>
              <a:rPr lang="en-US" dirty="0"/>
              <a:t>The Decision rule</a:t>
            </a:r>
          </a:p>
        </p:txBody>
      </p:sp>
      <p:sp>
        <p:nvSpPr>
          <p:cNvPr id="5" name="Content Placeholder 4">
            <a:extLst>
              <a:ext uri="{FF2B5EF4-FFF2-40B4-BE49-F238E27FC236}">
                <a16:creationId xmlns:a16="http://schemas.microsoft.com/office/drawing/2014/main" id="{8A85D7CF-8C2B-82C8-2042-F6353162AC79}"/>
              </a:ext>
              <a:ext uri="{C183D7F6-B498-43B3-948B-1728B52AA6E4}">
                <adec:decorative xmlns:adec="http://schemas.microsoft.com/office/drawing/2017/decorative" val="1"/>
              </a:ext>
            </a:extLst>
          </p:cNvPr>
          <p:cNvSpPr>
            <a:spLocks noGrp="1"/>
          </p:cNvSpPr>
          <p:nvPr>
            <p:ph idx="1"/>
          </p:nvPr>
        </p:nvSpPr>
        <p:spPr>
          <a:xfrm>
            <a:off x="649664" y="1166851"/>
            <a:ext cx="10515600" cy="5210800"/>
          </a:xfrm>
        </p:spPr>
        <p:txBody>
          <a:bodyPr>
            <a:normAutofit lnSpcReduction="10000"/>
          </a:bodyPr>
          <a:lstStyle/>
          <a:p>
            <a:pPr marL="0" indent="0">
              <a:buNone/>
            </a:pPr>
            <a:r>
              <a:rPr lang="en-US" sz="2400" dirty="0"/>
              <a:t>Utility Maximization Rule</a:t>
            </a:r>
          </a:p>
          <a:p>
            <a:pPr marL="0" indent="0">
              <a:buNone/>
            </a:pPr>
            <a:r>
              <a:rPr lang="en-US" sz="2400" b="1" dirty="0"/>
              <a:t>Marginal Utility per Dollar:</a:t>
            </a:r>
            <a:br>
              <a:rPr lang="en-US" sz="2400" dirty="0"/>
            </a:br>
            <a:r>
              <a:rPr lang="en-US" sz="2400" dirty="0"/>
              <a:t>MU per $ = MU ÷ Price</a:t>
            </a:r>
          </a:p>
          <a:p>
            <a:pPr marL="0" indent="0">
              <a:buNone/>
            </a:pPr>
            <a:endParaRPr lang="en-US" sz="2400" b="1" dirty="0"/>
          </a:p>
          <a:p>
            <a:pPr marL="0" indent="0">
              <a:buNone/>
            </a:pPr>
            <a:r>
              <a:rPr lang="en-US" sz="2400" b="1" dirty="0"/>
              <a:t>Optimization Rule:</a:t>
            </a:r>
            <a:br>
              <a:rPr lang="en-US" sz="2400" dirty="0"/>
            </a:br>
            <a:r>
              <a:rPr lang="en-US" sz="2400" b="1" dirty="0"/>
              <a:t>MU₁/P₁ = MU₂/P₂</a:t>
            </a:r>
            <a:endParaRPr lang="en-US" sz="2400" dirty="0"/>
          </a:p>
          <a:p>
            <a:pPr marL="0" indent="0">
              <a:buNone/>
            </a:pPr>
            <a:endParaRPr lang="en-US" sz="2400" b="1" dirty="0"/>
          </a:p>
          <a:p>
            <a:pPr marL="0" indent="0">
              <a:buNone/>
            </a:pPr>
            <a:r>
              <a:rPr lang="en-US" sz="2400" b="1" dirty="0"/>
              <a:t>At optimal choice, last dollar spent on each good provides equal marginal utility</a:t>
            </a:r>
            <a:endParaRPr lang="en-US" sz="2400" dirty="0"/>
          </a:p>
          <a:p>
            <a:pPr marL="0" indent="0">
              <a:buNone/>
            </a:pPr>
            <a:endParaRPr lang="en-US" sz="2400" b="1" dirty="0"/>
          </a:p>
          <a:p>
            <a:pPr marL="0" indent="0">
              <a:buNone/>
            </a:pPr>
            <a:r>
              <a:rPr lang="en-US" sz="2400" b="1" dirty="0"/>
              <a:t>Analogy:</a:t>
            </a:r>
            <a:r>
              <a:rPr lang="en-US" sz="2400" dirty="0"/>
              <a:t> Like balancing a scale—keep shifting purchases until both sides give equal "bang for your buck"</a:t>
            </a:r>
          </a:p>
          <a:p>
            <a:endParaRPr lang="en-US" dirty="0"/>
          </a:p>
        </p:txBody>
      </p:sp>
    </p:spTree>
    <p:extLst>
      <p:ext uri="{BB962C8B-B14F-4D97-AF65-F5344CB8AC3E}">
        <p14:creationId xmlns:p14="http://schemas.microsoft.com/office/powerpoint/2010/main" val="2477407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B6545-C56E-1C37-210B-C857ACC5FD3D}"/>
              </a:ext>
              <a:ext uri="{C183D7F6-B498-43B3-948B-1728B52AA6E4}">
                <adec:decorative xmlns:adec="http://schemas.microsoft.com/office/drawing/2017/decorative" val="1"/>
              </a:ext>
            </a:extLst>
          </p:cNvPr>
          <p:cNvSpPr>
            <a:spLocks noGrp="1"/>
          </p:cNvSpPr>
          <p:nvPr>
            <p:ph type="title"/>
          </p:nvPr>
        </p:nvSpPr>
        <p:spPr>
          <a:xfrm>
            <a:off x="617302" y="355700"/>
            <a:ext cx="10515600" cy="651297"/>
          </a:xfrm>
        </p:spPr>
        <p:txBody>
          <a:bodyPr>
            <a:noAutofit/>
          </a:bodyPr>
          <a:lstStyle/>
          <a:p>
            <a:r>
              <a:rPr lang="en-US" dirty="0"/>
              <a:t>Jose’s optimal Choice</a:t>
            </a:r>
          </a:p>
        </p:txBody>
      </p:sp>
      <p:pic>
        <p:nvPicPr>
          <p:cNvPr id="7" name="Picture 6">
            <a:extLst>
              <a:ext uri="{FF2B5EF4-FFF2-40B4-BE49-F238E27FC236}">
                <a16:creationId xmlns:a16="http://schemas.microsoft.com/office/drawing/2014/main" id="{048BBF7F-2F69-F1CC-6D5A-EF19D6B5DA2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7302" y="1424627"/>
            <a:ext cx="6094583" cy="3058482"/>
          </a:xfrm>
          <a:prstGeom prst="rect">
            <a:avLst/>
          </a:prstGeom>
        </p:spPr>
      </p:pic>
      <p:sp>
        <p:nvSpPr>
          <p:cNvPr id="4" name="TextBox 3">
            <a:extLst>
              <a:ext uri="{FF2B5EF4-FFF2-40B4-BE49-F238E27FC236}">
                <a16:creationId xmlns:a16="http://schemas.microsoft.com/office/drawing/2014/main" id="{E93C04C5-3A03-DA01-36BF-8A958F6D5E10}"/>
              </a:ext>
            </a:extLst>
          </p:cNvPr>
          <p:cNvSpPr txBox="1"/>
          <p:nvPr/>
        </p:nvSpPr>
        <p:spPr>
          <a:xfrm>
            <a:off x="6711885" y="2139884"/>
            <a:ext cx="2596416" cy="307777"/>
          </a:xfrm>
          <a:prstGeom prst="rect">
            <a:avLst/>
          </a:prstGeom>
          <a:noFill/>
        </p:spPr>
        <p:txBody>
          <a:bodyPr wrap="none" rtlCol="0">
            <a:spAutoFit/>
          </a:bodyPr>
          <a:lstStyle/>
          <a:p>
            <a:r>
              <a:rPr lang="en-US" sz="1400" dirty="0">
                <a:latin typeface="Aptos" panose="020B0004020202020204" pitchFamily="34" charset="0"/>
              </a:rPr>
              <a:t>2.3 &gt; 1.6 so add another movie.</a:t>
            </a:r>
          </a:p>
        </p:txBody>
      </p:sp>
      <p:sp>
        <p:nvSpPr>
          <p:cNvPr id="5" name="TextBox 4">
            <a:extLst>
              <a:ext uri="{FF2B5EF4-FFF2-40B4-BE49-F238E27FC236}">
                <a16:creationId xmlns:a16="http://schemas.microsoft.com/office/drawing/2014/main" id="{504031A4-0944-4481-0761-976C9F4947C2}"/>
              </a:ext>
            </a:extLst>
          </p:cNvPr>
          <p:cNvSpPr txBox="1"/>
          <p:nvPr/>
        </p:nvSpPr>
        <p:spPr>
          <a:xfrm>
            <a:off x="6722880" y="2414835"/>
            <a:ext cx="2692597" cy="307777"/>
          </a:xfrm>
          <a:prstGeom prst="rect">
            <a:avLst/>
          </a:prstGeom>
          <a:noFill/>
        </p:spPr>
        <p:txBody>
          <a:bodyPr wrap="none" rtlCol="0">
            <a:spAutoFit/>
          </a:bodyPr>
          <a:lstStyle/>
          <a:p>
            <a:r>
              <a:rPr lang="en-US" sz="1400" dirty="0">
                <a:latin typeface="Aptos" panose="020B0004020202020204" pitchFamily="34" charset="0"/>
              </a:rPr>
              <a:t>2.14 &gt; 1.6 so add another movie.</a:t>
            </a:r>
          </a:p>
        </p:txBody>
      </p:sp>
      <p:sp>
        <p:nvSpPr>
          <p:cNvPr id="6" name="TextBox 5">
            <a:extLst>
              <a:ext uri="{FF2B5EF4-FFF2-40B4-BE49-F238E27FC236}">
                <a16:creationId xmlns:a16="http://schemas.microsoft.com/office/drawing/2014/main" id="{C7C43E1B-7F0A-E609-9FB1-7E581F883AF6}"/>
              </a:ext>
            </a:extLst>
          </p:cNvPr>
          <p:cNvSpPr txBox="1"/>
          <p:nvPr/>
        </p:nvSpPr>
        <p:spPr>
          <a:xfrm>
            <a:off x="6733875" y="2708640"/>
            <a:ext cx="2500236" cy="307777"/>
          </a:xfrm>
          <a:prstGeom prst="rect">
            <a:avLst/>
          </a:prstGeom>
          <a:noFill/>
        </p:spPr>
        <p:txBody>
          <a:bodyPr wrap="none" rtlCol="0">
            <a:spAutoFit/>
          </a:bodyPr>
          <a:lstStyle/>
          <a:p>
            <a:r>
              <a:rPr lang="en-US" sz="1400" dirty="0">
                <a:latin typeface="Aptos" panose="020B0004020202020204" pitchFamily="34" charset="0"/>
              </a:rPr>
              <a:t>2 &gt; 1.6 so add another movie.</a:t>
            </a:r>
          </a:p>
        </p:txBody>
      </p:sp>
      <p:sp>
        <p:nvSpPr>
          <p:cNvPr id="8" name="TextBox 7">
            <a:extLst>
              <a:ext uri="{FF2B5EF4-FFF2-40B4-BE49-F238E27FC236}">
                <a16:creationId xmlns:a16="http://schemas.microsoft.com/office/drawing/2014/main" id="{85D073BC-4DA7-23AF-665B-5F7CC976FF57}"/>
              </a:ext>
            </a:extLst>
          </p:cNvPr>
          <p:cNvSpPr txBox="1"/>
          <p:nvPr/>
        </p:nvSpPr>
        <p:spPr>
          <a:xfrm>
            <a:off x="6726016" y="3030726"/>
            <a:ext cx="2596416" cy="307777"/>
          </a:xfrm>
          <a:prstGeom prst="rect">
            <a:avLst/>
          </a:prstGeom>
          <a:noFill/>
        </p:spPr>
        <p:txBody>
          <a:bodyPr wrap="none" rtlCol="0">
            <a:spAutoFit/>
          </a:bodyPr>
          <a:lstStyle/>
          <a:p>
            <a:r>
              <a:rPr lang="en-US" sz="1400" dirty="0">
                <a:latin typeface="Aptos" panose="020B0004020202020204" pitchFamily="34" charset="0"/>
              </a:rPr>
              <a:t>1.9 &gt; 1.6 so add another movie.</a:t>
            </a:r>
          </a:p>
        </p:txBody>
      </p:sp>
      <p:sp>
        <p:nvSpPr>
          <p:cNvPr id="9" name="TextBox 8">
            <a:extLst>
              <a:ext uri="{FF2B5EF4-FFF2-40B4-BE49-F238E27FC236}">
                <a16:creationId xmlns:a16="http://schemas.microsoft.com/office/drawing/2014/main" id="{DB07F590-C146-D10E-ABDA-0889F215AF25}"/>
              </a:ext>
            </a:extLst>
          </p:cNvPr>
          <p:cNvSpPr txBox="1"/>
          <p:nvPr/>
        </p:nvSpPr>
        <p:spPr>
          <a:xfrm>
            <a:off x="6711885" y="3311496"/>
            <a:ext cx="2596416" cy="307777"/>
          </a:xfrm>
          <a:prstGeom prst="rect">
            <a:avLst/>
          </a:prstGeom>
          <a:noFill/>
        </p:spPr>
        <p:txBody>
          <a:bodyPr wrap="none" rtlCol="0">
            <a:spAutoFit/>
          </a:bodyPr>
          <a:lstStyle/>
          <a:p>
            <a:r>
              <a:rPr lang="en-US" sz="1400" dirty="0">
                <a:latin typeface="Aptos" panose="020B0004020202020204" pitchFamily="34" charset="0"/>
              </a:rPr>
              <a:t>1.7 &gt; 1.6 so add another movie.</a:t>
            </a:r>
          </a:p>
        </p:txBody>
      </p:sp>
      <p:sp>
        <p:nvSpPr>
          <p:cNvPr id="10" name="TextBox 9">
            <a:extLst>
              <a:ext uri="{FF2B5EF4-FFF2-40B4-BE49-F238E27FC236}">
                <a16:creationId xmlns:a16="http://schemas.microsoft.com/office/drawing/2014/main" id="{7B814B8F-EE32-4BD5-00DF-9032A815D953}"/>
              </a:ext>
            </a:extLst>
          </p:cNvPr>
          <p:cNvSpPr txBox="1"/>
          <p:nvPr/>
        </p:nvSpPr>
        <p:spPr>
          <a:xfrm>
            <a:off x="6704026" y="3605301"/>
            <a:ext cx="5028556" cy="307777"/>
          </a:xfrm>
          <a:prstGeom prst="rect">
            <a:avLst/>
          </a:prstGeom>
          <a:noFill/>
        </p:spPr>
        <p:txBody>
          <a:bodyPr wrap="none" rtlCol="0">
            <a:spAutoFit/>
          </a:bodyPr>
          <a:lstStyle/>
          <a:p>
            <a:r>
              <a:rPr lang="en-US" sz="1400" dirty="0">
                <a:latin typeface="Aptos" panose="020B0004020202020204" pitchFamily="34" charset="0"/>
              </a:rPr>
              <a:t>1.6 = 1.6 Stop!   Total Utility will be maxed at 1 T-Shirt, 6 Movies.</a:t>
            </a:r>
          </a:p>
        </p:txBody>
      </p:sp>
    </p:spTree>
    <p:extLst>
      <p:ext uri="{BB962C8B-B14F-4D97-AF65-F5344CB8AC3E}">
        <p14:creationId xmlns:p14="http://schemas.microsoft.com/office/powerpoint/2010/main" val="20456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8AD7C3-FAC0-E872-D85C-05E442D06027}"/>
              </a:ext>
            </a:extLst>
          </p:cNvPr>
          <p:cNvSpPr>
            <a:spLocks noGrp="1"/>
          </p:cNvSpPr>
          <p:nvPr>
            <p:ph type="title"/>
          </p:nvPr>
        </p:nvSpPr>
        <p:spPr>
          <a:xfrm>
            <a:off x="640237" y="365126"/>
            <a:ext cx="10515600" cy="688170"/>
          </a:xfrm>
        </p:spPr>
        <p:txBody>
          <a:bodyPr>
            <a:noAutofit/>
          </a:bodyPr>
          <a:lstStyle/>
          <a:p>
            <a:pPr lvl="0">
              <a:spcBef>
                <a:spcPts val="0"/>
              </a:spcBef>
            </a:pPr>
            <a:r>
              <a:rPr lang="en-US" b="0" dirty="0"/>
              <a:t>changes in income</a:t>
            </a:r>
          </a:p>
        </p:txBody>
      </p:sp>
      <p:sp>
        <p:nvSpPr>
          <p:cNvPr id="7" name="Content Placeholder 6">
            <a:extLst>
              <a:ext uri="{FF2B5EF4-FFF2-40B4-BE49-F238E27FC236}">
                <a16:creationId xmlns:a16="http://schemas.microsoft.com/office/drawing/2014/main" id="{AF56E1C2-C095-14EA-F9F9-5AD34442E1CA}"/>
              </a:ext>
            </a:extLst>
          </p:cNvPr>
          <p:cNvSpPr>
            <a:spLocks noGrp="1"/>
          </p:cNvSpPr>
          <p:nvPr>
            <p:ph idx="1"/>
          </p:nvPr>
        </p:nvSpPr>
        <p:spPr>
          <a:xfrm>
            <a:off x="640237" y="1267049"/>
            <a:ext cx="10515600" cy="5064303"/>
          </a:xfrm>
        </p:spPr>
        <p:txBody>
          <a:bodyPr/>
          <a:lstStyle/>
          <a:p>
            <a:pPr marL="0" indent="0">
              <a:buNone/>
            </a:pPr>
            <a:r>
              <a:rPr lang="en-US" sz="2400" b="1" dirty="0"/>
              <a:t>How Income Changes Affect Choices</a:t>
            </a:r>
          </a:p>
          <a:p>
            <a:pPr marL="0" indent="0">
              <a:buNone/>
            </a:pPr>
            <a:endParaRPr lang="en-US" sz="2400" b="1" dirty="0"/>
          </a:p>
          <a:p>
            <a:pPr marL="0" indent="0">
              <a:buNone/>
            </a:pPr>
            <a:r>
              <a:rPr lang="en-US" sz="2400" b="1" dirty="0"/>
              <a:t>Income Increase</a:t>
            </a:r>
            <a:r>
              <a:rPr lang="en-US" sz="2400" dirty="0"/>
              <a:t> → Budget constraint shifts </a:t>
            </a:r>
            <a:r>
              <a:rPr lang="en-US" sz="2400" b="1" dirty="0"/>
              <a:t>outward</a:t>
            </a:r>
            <a:endParaRPr lang="en-US" sz="2400" dirty="0"/>
          </a:p>
          <a:p>
            <a:pPr lvl="1"/>
            <a:r>
              <a:rPr lang="en-US" sz="2200" b="1" dirty="0"/>
              <a:t>Normal goods:</a:t>
            </a:r>
            <a:r>
              <a:rPr lang="en-US" sz="2200" dirty="0"/>
              <a:t> Buy </a:t>
            </a:r>
            <a:r>
              <a:rPr lang="en-US" sz="2200" b="1" dirty="0"/>
              <a:t>more</a:t>
            </a:r>
            <a:r>
              <a:rPr lang="en-US" sz="2200" dirty="0"/>
              <a:t> when income rises</a:t>
            </a:r>
            <a:br>
              <a:rPr lang="en-US" sz="2200" dirty="0"/>
            </a:br>
            <a:r>
              <a:rPr lang="en-US" sz="2200" i="1" dirty="0"/>
              <a:t>(Most goods: food, clothing, entertainment)</a:t>
            </a:r>
            <a:endParaRPr lang="en-US" sz="2200" dirty="0"/>
          </a:p>
          <a:p>
            <a:pPr lvl="1"/>
            <a:r>
              <a:rPr lang="en-US" sz="2200" b="1" dirty="0"/>
              <a:t>Inferior goods:</a:t>
            </a:r>
            <a:r>
              <a:rPr lang="en-US" sz="2200" dirty="0"/>
              <a:t> Buy </a:t>
            </a:r>
            <a:r>
              <a:rPr lang="en-US" sz="2200" b="1" dirty="0"/>
              <a:t>less</a:t>
            </a:r>
            <a:r>
              <a:rPr lang="en-US" sz="2200" dirty="0"/>
              <a:t> when income rises</a:t>
            </a:r>
            <a:br>
              <a:rPr lang="en-US" sz="2200" dirty="0"/>
            </a:br>
            <a:r>
              <a:rPr lang="en-US" sz="2200" i="1" dirty="0"/>
              <a:t>(Ramen noodles, used cars, bus tickets)</a:t>
            </a:r>
            <a:endParaRPr lang="en-US" sz="2200" dirty="0"/>
          </a:p>
          <a:p>
            <a:pPr marL="0" indent="0">
              <a:buNone/>
            </a:pPr>
            <a:endParaRPr lang="en-US" sz="2400" b="1" dirty="0"/>
          </a:p>
          <a:p>
            <a:pPr marL="0" indent="0">
              <a:buNone/>
            </a:pPr>
            <a:r>
              <a:rPr lang="en-US" sz="2400" b="1" dirty="0"/>
              <a:t>Analogy:</a:t>
            </a:r>
            <a:r>
              <a:rPr lang="en-US" sz="2400" dirty="0"/>
              <a:t> Getting a raise means upgrading from fast food to sit-down restaurants</a:t>
            </a:r>
          </a:p>
          <a:p>
            <a:endParaRPr lang="en-US" dirty="0"/>
          </a:p>
        </p:txBody>
      </p:sp>
    </p:spTree>
    <p:extLst>
      <p:ext uri="{BB962C8B-B14F-4D97-AF65-F5344CB8AC3E}">
        <p14:creationId xmlns:p14="http://schemas.microsoft.com/office/powerpoint/2010/main" val="3957052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8AD7C3-FAC0-E872-D85C-05E442D06027}"/>
              </a:ext>
            </a:extLst>
          </p:cNvPr>
          <p:cNvSpPr>
            <a:spLocks noGrp="1"/>
          </p:cNvSpPr>
          <p:nvPr>
            <p:ph type="title"/>
          </p:nvPr>
        </p:nvSpPr>
        <p:spPr>
          <a:xfrm>
            <a:off x="630810" y="365126"/>
            <a:ext cx="11397792" cy="896515"/>
          </a:xfrm>
        </p:spPr>
        <p:txBody>
          <a:bodyPr>
            <a:noAutofit/>
          </a:bodyPr>
          <a:lstStyle/>
          <a:p>
            <a:r>
              <a:rPr lang="en-US" b="0" dirty="0"/>
              <a:t>Example: Concert Tickets vs. Overnight Getaway, if Income Increases</a:t>
            </a:r>
          </a:p>
        </p:txBody>
      </p:sp>
      <p:pic>
        <p:nvPicPr>
          <p:cNvPr id="5" name="Picture 4" descr="A Change of Income affecting Consumer Choice">
            <a:extLst>
              <a:ext uri="{FF2B5EF4-FFF2-40B4-BE49-F238E27FC236}">
                <a16:creationId xmlns:a16="http://schemas.microsoft.com/office/drawing/2014/main" id="{FC9E8AB7-96EB-0288-644A-BA1BB9588EF7}"/>
              </a:ext>
            </a:extLst>
          </p:cNvPr>
          <p:cNvPicPr>
            <a:picLocks noChangeAspect="1"/>
          </p:cNvPicPr>
          <p:nvPr/>
        </p:nvPicPr>
        <p:blipFill>
          <a:blip r:embed="rId3"/>
          <a:stretch>
            <a:fillRect/>
          </a:stretch>
        </p:blipFill>
        <p:spPr>
          <a:xfrm>
            <a:off x="630811" y="1422340"/>
            <a:ext cx="4468373" cy="4013319"/>
          </a:xfrm>
          <a:prstGeom prst="rect">
            <a:avLst/>
          </a:prstGeom>
          <a:ln>
            <a:solidFill>
              <a:schemeClr val="tx1"/>
            </a:solidFill>
          </a:ln>
        </p:spPr>
      </p:pic>
      <p:sp>
        <p:nvSpPr>
          <p:cNvPr id="3" name="TextBox 2">
            <a:extLst>
              <a:ext uri="{FF2B5EF4-FFF2-40B4-BE49-F238E27FC236}">
                <a16:creationId xmlns:a16="http://schemas.microsoft.com/office/drawing/2014/main" id="{1C96E452-DA79-1E0F-DE85-FDED4F8E9BC7}"/>
              </a:ext>
            </a:extLst>
          </p:cNvPr>
          <p:cNvSpPr txBox="1"/>
          <p:nvPr/>
        </p:nvSpPr>
        <p:spPr>
          <a:xfrm>
            <a:off x="5238161" y="1422340"/>
            <a:ext cx="6535917" cy="3139321"/>
          </a:xfrm>
          <a:prstGeom prst="rect">
            <a:avLst/>
          </a:prstGeom>
          <a:noFill/>
          <a:ln>
            <a:solidFill>
              <a:schemeClr val="tx1"/>
            </a:solidFill>
          </a:ln>
        </p:spPr>
        <p:txBody>
          <a:bodyPr wrap="square">
            <a:spAutoFit/>
          </a:bodyPr>
          <a:lstStyle/>
          <a:p>
            <a:pPr marL="171450" indent="-171450">
              <a:buFont typeface="Arial" panose="020B0604020202020204" pitchFamily="34" charset="0"/>
              <a:buChar char="•"/>
            </a:pPr>
            <a:r>
              <a:rPr lang="en-US" dirty="0">
                <a:latin typeface="Aptos" panose="020B0004020202020204" pitchFamily="34" charset="0"/>
              </a:rPr>
              <a:t>An </a:t>
            </a:r>
            <a:r>
              <a:rPr lang="en-US" b="1" i="1" dirty="0">
                <a:latin typeface="Aptos" panose="020B0004020202020204" pitchFamily="34" charset="0"/>
              </a:rPr>
              <a:t>increase in income </a:t>
            </a:r>
            <a:r>
              <a:rPr lang="en-US" dirty="0">
                <a:latin typeface="Aptos" panose="020B0004020202020204" pitchFamily="34" charset="0"/>
              </a:rPr>
              <a:t>will move the budget constraint outward.  Points P, N, and Q are on the new budget constraint.</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On the new budget constraint, a choice like N will be made if </a:t>
            </a:r>
            <a:r>
              <a:rPr lang="en-US" u="sng" dirty="0">
                <a:latin typeface="Aptos" panose="020B0004020202020204" pitchFamily="34" charset="0"/>
              </a:rPr>
              <a:t>both</a:t>
            </a:r>
            <a:r>
              <a:rPr lang="en-US" dirty="0">
                <a:latin typeface="Aptos" panose="020B0004020202020204" pitchFamily="34" charset="0"/>
              </a:rPr>
              <a:t> goods are </a:t>
            </a:r>
            <a:r>
              <a:rPr lang="en-US" u="sng" dirty="0">
                <a:latin typeface="Aptos" panose="020B0004020202020204" pitchFamily="34" charset="0"/>
              </a:rPr>
              <a:t>normal</a:t>
            </a:r>
            <a:r>
              <a:rPr lang="en-US" dirty="0">
                <a:latin typeface="Aptos" panose="020B0004020202020204" pitchFamily="34" charset="0"/>
              </a:rPr>
              <a:t> goods.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If </a:t>
            </a:r>
            <a:r>
              <a:rPr lang="en-US" u="sng" dirty="0">
                <a:latin typeface="Aptos" panose="020B0004020202020204" pitchFamily="34" charset="0"/>
              </a:rPr>
              <a:t>overnight stays</a:t>
            </a:r>
            <a:r>
              <a:rPr lang="en-US" dirty="0">
                <a:latin typeface="Aptos" panose="020B0004020202020204" pitchFamily="34" charset="0"/>
              </a:rPr>
              <a:t> is an inferior good, a choice like P will be made.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If </a:t>
            </a:r>
            <a:r>
              <a:rPr lang="en-US" u="sng" dirty="0">
                <a:latin typeface="Aptos" panose="020B0004020202020204" pitchFamily="34" charset="0"/>
              </a:rPr>
              <a:t>concert tickets</a:t>
            </a:r>
            <a:r>
              <a:rPr lang="en-US" dirty="0">
                <a:latin typeface="Aptos" panose="020B0004020202020204" pitchFamily="34" charset="0"/>
              </a:rPr>
              <a:t> are an inferior good, a choice like Q will be made.</a:t>
            </a:r>
          </a:p>
        </p:txBody>
      </p:sp>
    </p:spTree>
    <p:extLst>
      <p:ext uri="{BB962C8B-B14F-4D97-AF65-F5344CB8AC3E}">
        <p14:creationId xmlns:p14="http://schemas.microsoft.com/office/powerpoint/2010/main" val="1710297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8AD7C3-FAC0-E872-D85C-05E442D06027}"/>
              </a:ext>
            </a:extLst>
          </p:cNvPr>
          <p:cNvSpPr>
            <a:spLocks noGrp="1"/>
          </p:cNvSpPr>
          <p:nvPr>
            <p:ph type="title"/>
          </p:nvPr>
        </p:nvSpPr>
        <p:spPr>
          <a:xfrm>
            <a:off x="627529" y="355764"/>
            <a:ext cx="10515600" cy="813279"/>
          </a:xfrm>
        </p:spPr>
        <p:txBody>
          <a:bodyPr>
            <a:noAutofit/>
          </a:bodyPr>
          <a:lstStyle/>
          <a:p>
            <a:pPr marL="0" marR="0" lvl="0" indent="0" rtl="0">
              <a:spcBef>
                <a:spcPts val="0"/>
              </a:spcBef>
            </a:pPr>
            <a:r>
              <a:rPr lang="en-US" b="0" dirty="0"/>
              <a:t>Changes in Price</a:t>
            </a:r>
          </a:p>
        </p:txBody>
      </p:sp>
      <p:pic>
        <p:nvPicPr>
          <p:cNvPr id="5" name="Picture 4" descr="This graph illustrates a budget constraint. The spending choices are between cameras, shown on the y-axis, and baseball bats, shown on the x-axis. The budget constraint is a downward-sloping line. In this example, the price of baseball bats has increased, and the budget constraint is shown shifting in. The original utility maximizing choice is point M on the original budget constraint, and the new budget constraint shows four different consumption possibilities, points H, J, K, and L.">
            <a:extLst>
              <a:ext uri="{FF2B5EF4-FFF2-40B4-BE49-F238E27FC236}">
                <a16:creationId xmlns:a16="http://schemas.microsoft.com/office/drawing/2014/main" id="{A37B5965-0017-067D-F2F8-D0F06CBDCB17}"/>
              </a:ext>
            </a:extLst>
          </p:cNvPr>
          <p:cNvPicPr>
            <a:picLocks noChangeAspect="1"/>
          </p:cNvPicPr>
          <p:nvPr/>
        </p:nvPicPr>
        <p:blipFill>
          <a:blip r:embed="rId3"/>
          <a:stretch>
            <a:fillRect/>
          </a:stretch>
        </p:blipFill>
        <p:spPr>
          <a:xfrm>
            <a:off x="627529" y="1595592"/>
            <a:ext cx="4245413" cy="1996562"/>
          </a:xfrm>
          <a:prstGeom prst="rect">
            <a:avLst/>
          </a:prstGeom>
          <a:ln>
            <a:solidFill>
              <a:schemeClr val="tx1"/>
            </a:solidFill>
          </a:ln>
        </p:spPr>
      </p:pic>
      <p:sp>
        <p:nvSpPr>
          <p:cNvPr id="3" name="TextBox 2">
            <a:extLst>
              <a:ext uri="{FF2B5EF4-FFF2-40B4-BE49-F238E27FC236}">
                <a16:creationId xmlns:a16="http://schemas.microsoft.com/office/drawing/2014/main" id="{28882D4A-BC8B-5AE9-F93E-40AB5FA81DFB}"/>
              </a:ext>
            </a:extLst>
          </p:cNvPr>
          <p:cNvSpPr txBox="1"/>
          <p:nvPr/>
        </p:nvSpPr>
        <p:spPr>
          <a:xfrm>
            <a:off x="5037970" y="1595592"/>
            <a:ext cx="6105159" cy="4906644"/>
          </a:xfrm>
          <a:prstGeom prst="rect">
            <a:avLst/>
          </a:prstGeom>
          <a:noFill/>
          <a:ln>
            <a:solidFill>
              <a:schemeClr val="tx1"/>
            </a:solidFill>
          </a:ln>
        </p:spPr>
        <p:txBody>
          <a:bodyPr wrap="square">
            <a:spAutoFit/>
          </a:bodyPr>
          <a:lstStyle/>
          <a:p>
            <a:r>
              <a:rPr lang="en-US" sz="2400" b="1" dirty="0"/>
              <a:t>How Price Changes Affect Choices</a:t>
            </a:r>
          </a:p>
          <a:p>
            <a:endParaRPr lang="en-US" sz="2400" b="1" dirty="0"/>
          </a:p>
          <a:p>
            <a:r>
              <a:rPr lang="en-US" sz="2400" b="1" dirty="0"/>
              <a:t>Price Increase</a:t>
            </a:r>
            <a:r>
              <a:rPr lang="en-US" sz="2400" dirty="0"/>
              <a:t> → Budget constraint </a:t>
            </a:r>
            <a:r>
              <a:rPr lang="en-US" sz="2400" b="1" dirty="0"/>
              <a:t>rotates inward</a:t>
            </a:r>
            <a:br>
              <a:rPr lang="en-US" sz="2400" dirty="0"/>
            </a:br>
            <a:r>
              <a:rPr lang="en-US" sz="2400" i="1" dirty="0"/>
              <a:t>(Pivots on the axis of the unchanged good)</a:t>
            </a:r>
            <a:endParaRPr lang="en-US" sz="2400" dirty="0"/>
          </a:p>
          <a:p>
            <a:endParaRPr lang="en-US" sz="2400" b="1" dirty="0"/>
          </a:p>
          <a:p>
            <a:r>
              <a:rPr lang="en-US" sz="2400" b="1" dirty="0"/>
              <a:t>Two effects occur simultaneously:</a:t>
            </a:r>
            <a:endParaRPr lang="en-US" sz="2400" dirty="0"/>
          </a:p>
          <a:p>
            <a:pPr marL="742950" lvl="1" indent="-285750">
              <a:buFont typeface="Arial" panose="020B0604020202020204" pitchFamily="34" charset="0"/>
              <a:buChar char="•"/>
            </a:pPr>
            <a:r>
              <a:rPr lang="en-US" sz="2400" b="1" dirty="0"/>
              <a:t>Substitution Effect:</a:t>
            </a:r>
            <a:r>
              <a:rPr lang="en-US" sz="2400" dirty="0"/>
              <a:t> Buy less of the expensive good, more of relatively cheaper alternatives</a:t>
            </a:r>
          </a:p>
          <a:p>
            <a:pPr marL="742950" lvl="1" indent="-285750">
              <a:buFont typeface="Arial" panose="020B0604020202020204" pitchFamily="34" charset="0"/>
              <a:buChar char="•"/>
            </a:pPr>
            <a:r>
              <a:rPr lang="en-US" sz="2400" b="1" dirty="0"/>
              <a:t>Income Effect:</a:t>
            </a:r>
            <a:r>
              <a:rPr lang="en-US" sz="2400" dirty="0"/>
              <a:t> Higher prices reduce purchasing power, so buy less (for normal goods)</a:t>
            </a:r>
          </a:p>
        </p:txBody>
      </p:sp>
    </p:spTree>
    <p:extLst>
      <p:ext uri="{BB962C8B-B14F-4D97-AF65-F5344CB8AC3E}">
        <p14:creationId xmlns:p14="http://schemas.microsoft.com/office/powerpoint/2010/main" val="3955474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8AD7C3-FAC0-E872-D85C-05E442D06027}"/>
              </a:ext>
            </a:extLst>
          </p:cNvPr>
          <p:cNvSpPr>
            <a:spLocks noGrp="1"/>
          </p:cNvSpPr>
          <p:nvPr>
            <p:ph type="title"/>
          </p:nvPr>
        </p:nvSpPr>
        <p:spPr>
          <a:xfrm>
            <a:off x="593103" y="336846"/>
            <a:ext cx="10515600" cy="424583"/>
          </a:xfrm>
        </p:spPr>
        <p:txBody>
          <a:bodyPr>
            <a:noAutofit/>
          </a:bodyPr>
          <a:lstStyle/>
          <a:p>
            <a:r>
              <a:rPr lang="en-US" dirty="0"/>
              <a:t>Foundations of Demand Curves</a:t>
            </a:r>
          </a:p>
        </p:txBody>
      </p:sp>
      <p:sp>
        <p:nvSpPr>
          <p:cNvPr id="7" name="Content Placeholder 6">
            <a:extLst>
              <a:ext uri="{FF2B5EF4-FFF2-40B4-BE49-F238E27FC236}">
                <a16:creationId xmlns:a16="http://schemas.microsoft.com/office/drawing/2014/main" id="{AF56E1C2-C095-14EA-F9F9-5AD34442E1CA}"/>
              </a:ext>
            </a:extLst>
          </p:cNvPr>
          <p:cNvSpPr>
            <a:spLocks noGrp="1"/>
          </p:cNvSpPr>
          <p:nvPr>
            <p:ph idx="1"/>
          </p:nvPr>
        </p:nvSpPr>
        <p:spPr>
          <a:xfrm>
            <a:off x="696797" y="1248195"/>
            <a:ext cx="10515600" cy="5175754"/>
          </a:xfrm>
        </p:spPr>
        <p:txBody>
          <a:bodyPr>
            <a:normAutofit/>
          </a:bodyPr>
          <a:lstStyle/>
          <a:p>
            <a:pPr marL="0" indent="0">
              <a:buNone/>
            </a:pPr>
            <a:r>
              <a:rPr lang="en-US" sz="2400" b="1" dirty="0"/>
              <a:t>From Utility to Demand</a:t>
            </a:r>
          </a:p>
          <a:p>
            <a:pPr marL="0" indent="0">
              <a:buNone/>
            </a:pPr>
            <a:endParaRPr lang="en-US" sz="2400" b="1" dirty="0"/>
          </a:p>
          <a:p>
            <a:pPr marL="0" indent="0">
              <a:buNone/>
            </a:pPr>
            <a:r>
              <a:rPr lang="en-US" sz="2400" b="1" dirty="0"/>
              <a:t>Price changes</a:t>
            </a:r>
            <a:r>
              <a:rPr lang="en-US" sz="2400" dirty="0"/>
              <a:t> → Budget constraint rotates → </a:t>
            </a:r>
            <a:r>
              <a:rPr lang="en-US" sz="2400" b="1" dirty="0"/>
              <a:t>Quantity demanded changes</a:t>
            </a:r>
            <a:endParaRPr lang="en-US" sz="2400" dirty="0"/>
          </a:p>
          <a:p>
            <a:pPr marL="0" indent="0">
              <a:buNone/>
            </a:pPr>
            <a:endParaRPr lang="en-US" sz="2400" b="1" dirty="0"/>
          </a:p>
          <a:p>
            <a:pPr marL="0" indent="0">
              <a:buNone/>
            </a:pPr>
            <a:r>
              <a:rPr lang="en-US" sz="2400" b="1" dirty="0"/>
              <a:t>As price rises:</a:t>
            </a:r>
            <a:br>
              <a:rPr lang="en-US" sz="2400" dirty="0"/>
            </a:br>
            <a:r>
              <a:rPr lang="en-US" sz="2400" dirty="0"/>
              <a:t>Consumers seeking maximum utility choose </a:t>
            </a:r>
            <a:r>
              <a:rPr lang="en-US" sz="2400" b="1" dirty="0"/>
              <a:t>less</a:t>
            </a:r>
            <a:r>
              <a:rPr lang="en-US" sz="2400" dirty="0"/>
              <a:t> of that good</a:t>
            </a:r>
          </a:p>
          <a:p>
            <a:pPr marL="0" indent="0">
              <a:buNone/>
            </a:pPr>
            <a:endParaRPr lang="en-US" sz="2400" b="1" dirty="0"/>
          </a:p>
          <a:p>
            <a:pPr marL="0" indent="0">
              <a:buNone/>
            </a:pPr>
            <a:r>
              <a:rPr lang="en-US" sz="2400" b="1" dirty="0"/>
              <a:t>This generates the demand curve:</a:t>
            </a:r>
            <a:br>
              <a:rPr lang="en-US" sz="2400" dirty="0"/>
            </a:br>
            <a:r>
              <a:rPr lang="en-US" sz="2400" dirty="0"/>
              <a:t>Price ↑ → Quantity demanded ↓ (</a:t>
            </a:r>
            <a:r>
              <a:rPr lang="en-US" sz="2400" i="1" dirty="0"/>
              <a:t>ceteris paribus</a:t>
            </a:r>
            <a:r>
              <a:rPr lang="en-US" sz="2400" dirty="0"/>
              <a:t>)</a:t>
            </a:r>
          </a:p>
          <a:p>
            <a:pPr marL="0" indent="0">
              <a:buNone/>
            </a:pPr>
            <a:endParaRPr lang="en-US" sz="2400" b="1" dirty="0"/>
          </a:p>
          <a:p>
            <a:pPr marL="0" indent="0">
              <a:buNone/>
            </a:pPr>
            <a:r>
              <a:rPr lang="en-US" sz="2400" b="1" dirty="0"/>
              <a:t>The logic of utility maximization creates the law of demand</a:t>
            </a:r>
            <a:endParaRPr lang="en-US" sz="2400" dirty="0"/>
          </a:p>
          <a:p>
            <a:endParaRPr lang="en-US" dirty="0"/>
          </a:p>
        </p:txBody>
      </p:sp>
    </p:spTree>
    <p:extLst>
      <p:ext uri="{BB962C8B-B14F-4D97-AF65-F5344CB8AC3E}">
        <p14:creationId xmlns:p14="http://schemas.microsoft.com/office/powerpoint/2010/main" val="256663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8AD7C3-FAC0-E872-D85C-05E442D06027}"/>
              </a:ext>
              <a:ext uri="{C183D7F6-B498-43B3-948B-1728B52AA6E4}">
                <adec:decorative xmlns:adec="http://schemas.microsoft.com/office/drawing/2017/decorative" val="0"/>
              </a:ext>
            </a:extLst>
          </p:cNvPr>
          <p:cNvSpPr>
            <a:spLocks noGrp="1"/>
          </p:cNvSpPr>
          <p:nvPr>
            <p:ph type="title"/>
          </p:nvPr>
        </p:nvSpPr>
        <p:spPr>
          <a:xfrm>
            <a:off x="574945" y="334653"/>
            <a:ext cx="10890929" cy="773547"/>
          </a:xfrm>
        </p:spPr>
        <p:txBody>
          <a:bodyPr>
            <a:noAutofit/>
          </a:bodyPr>
          <a:lstStyle/>
          <a:p>
            <a:r>
              <a:rPr lang="en-US" sz="2800" b="0" dirty="0"/>
              <a:t>Foundations of a Demand Curve: An Example </a:t>
            </a:r>
          </a:p>
        </p:txBody>
      </p:sp>
      <p:pic>
        <p:nvPicPr>
          <p:cNvPr id="8" name="Picture 7" descr="The two graphs show how budget constraints influence the demand curve.">
            <a:extLst>
              <a:ext uri="{FF2B5EF4-FFF2-40B4-BE49-F238E27FC236}">
                <a16:creationId xmlns:a16="http://schemas.microsoft.com/office/drawing/2014/main" id="{E8E12091-B602-6C62-5367-3DD43599F14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50360" y="1225485"/>
            <a:ext cx="3525714" cy="5516386"/>
          </a:xfrm>
          <a:prstGeom prst="rect">
            <a:avLst/>
          </a:prstGeom>
          <a:ln>
            <a:solidFill>
              <a:schemeClr val="tx1"/>
            </a:solidFill>
          </a:ln>
        </p:spPr>
      </p:pic>
      <p:sp>
        <p:nvSpPr>
          <p:cNvPr id="3" name="TextBox 2">
            <a:extLst>
              <a:ext uri="{FF2B5EF4-FFF2-40B4-BE49-F238E27FC236}">
                <a16:creationId xmlns:a16="http://schemas.microsoft.com/office/drawing/2014/main" id="{031074EF-70C2-4F40-BC9F-F43C1DEEA205}"/>
              </a:ext>
            </a:extLst>
          </p:cNvPr>
          <p:cNvSpPr txBox="1"/>
          <p:nvPr/>
        </p:nvSpPr>
        <p:spPr>
          <a:xfrm>
            <a:off x="4425800" y="1225485"/>
            <a:ext cx="7115839" cy="5355312"/>
          </a:xfrm>
          <a:prstGeom prst="rect">
            <a:avLst/>
          </a:prstGeom>
          <a:noFill/>
          <a:ln>
            <a:solidFill>
              <a:schemeClr val="tx1"/>
            </a:solidFill>
          </a:ln>
        </p:spPr>
        <p:txBody>
          <a:bodyPr wrap="square">
            <a:spAutoFit/>
          </a:bodyPr>
          <a:lstStyle/>
          <a:p>
            <a:pPr marL="171450" indent="-171450">
              <a:buFont typeface="Arial" panose="020B0604020202020204" pitchFamily="34" charset="0"/>
              <a:buChar char="•"/>
            </a:pPr>
            <a:r>
              <a:rPr lang="en-US" dirty="0">
                <a:latin typeface="Aptos" panose="020B0004020202020204" pitchFamily="34" charset="0"/>
              </a:rPr>
              <a:t>In (a) as the price increases from P</a:t>
            </a:r>
            <a:r>
              <a:rPr lang="en-US" baseline="-25000" dirty="0">
                <a:latin typeface="Aptos" panose="020B0004020202020204" pitchFamily="34" charset="0"/>
              </a:rPr>
              <a:t>0</a:t>
            </a:r>
            <a:r>
              <a:rPr lang="en-US" dirty="0">
                <a:latin typeface="Aptos" panose="020B0004020202020204" pitchFamily="34" charset="0"/>
              </a:rPr>
              <a:t> to P</a:t>
            </a:r>
            <a:r>
              <a:rPr lang="en-US" baseline="-25000" dirty="0">
                <a:latin typeface="Aptos" panose="020B0004020202020204" pitchFamily="34" charset="0"/>
              </a:rPr>
              <a:t>1</a:t>
            </a:r>
            <a:r>
              <a:rPr lang="en-US" dirty="0">
                <a:latin typeface="Aptos" panose="020B0004020202020204" pitchFamily="34" charset="0"/>
              </a:rPr>
              <a:t> to P</a:t>
            </a:r>
            <a:r>
              <a:rPr lang="en-US" baseline="-25000" dirty="0">
                <a:latin typeface="Aptos" panose="020B0004020202020204" pitchFamily="34" charset="0"/>
              </a:rPr>
              <a:t>2</a:t>
            </a:r>
            <a:r>
              <a:rPr lang="en-US" dirty="0">
                <a:latin typeface="Aptos" panose="020B0004020202020204" pitchFamily="34" charset="0"/>
              </a:rPr>
              <a:t> to P</a:t>
            </a:r>
            <a:r>
              <a:rPr lang="en-US" baseline="-25000" dirty="0">
                <a:latin typeface="Aptos" panose="020B0004020202020204" pitchFamily="34" charset="0"/>
              </a:rPr>
              <a:t>3</a:t>
            </a:r>
            <a:r>
              <a:rPr lang="en-US" dirty="0">
                <a:latin typeface="Aptos" panose="020B0004020202020204" pitchFamily="34" charset="0"/>
              </a:rPr>
              <a:t>, the budget constraint on the upper part of the diagram rotates inward.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The utility-maximizing choice changes from M</a:t>
            </a:r>
            <a:r>
              <a:rPr lang="en-US" baseline="-25000" dirty="0">
                <a:latin typeface="Aptos" panose="020B0004020202020204" pitchFamily="34" charset="0"/>
              </a:rPr>
              <a:t>0</a:t>
            </a:r>
            <a:r>
              <a:rPr lang="en-US" dirty="0">
                <a:latin typeface="Aptos" panose="020B0004020202020204" pitchFamily="34" charset="0"/>
              </a:rPr>
              <a:t> to M</a:t>
            </a:r>
            <a:r>
              <a:rPr lang="en-US" baseline="-25000" dirty="0">
                <a:latin typeface="Aptos" panose="020B0004020202020204" pitchFamily="34" charset="0"/>
              </a:rPr>
              <a:t>1</a:t>
            </a:r>
            <a:r>
              <a:rPr lang="en-US" dirty="0">
                <a:latin typeface="Aptos" panose="020B0004020202020204" pitchFamily="34" charset="0"/>
              </a:rPr>
              <a:t> to M</a:t>
            </a:r>
            <a:r>
              <a:rPr lang="en-US" baseline="-25000" dirty="0">
                <a:latin typeface="Aptos" panose="020B0004020202020204" pitchFamily="34" charset="0"/>
              </a:rPr>
              <a:t>2</a:t>
            </a:r>
            <a:r>
              <a:rPr lang="en-US" dirty="0">
                <a:latin typeface="Aptos" panose="020B0004020202020204" pitchFamily="34" charset="0"/>
              </a:rPr>
              <a:t> to M</a:t>
            </a:r>
            <a:r>
              <a:rPr lang="en-US" baseline="-25000" dirty="0">
                <a:latin typeface="Aptos" panose="020B0004020202020204" pitchFamily="34" charset="0"/>
              </a:rPr>
              <a:t>3</a:t>
            </a:r>
            <a:r>
              <a:rPr lang="en-US" dirty="0">
                <a:latin typeface="Aptos" panose="020B0004020202020204" pitchFamily="34" charset="0"/>
              </a:rPr>
              <a:t>.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As a result, the quantity demanded of housing shifts from Q</a:t>
            </a:r>
            <a:r>
              <a:rPr lang="en-US" baseline="-25000" dirty="0">
                <a:latin typeface="Aptos" panose="020B0004020202020204" pitchFamily="34" charset="0"/>
              </a:rPr>
              <a:t>0</a:t>
            </a:r>
            <a:r>
              <a:rPr lang="en-US" dirty="0">
                <a:latin typeface="Aptos" panose="020B0004020202020204" pitchFamily="34" charset="0"/>
              </a:rPr>
              <a:t> to Q</a:t>
            </a:r>
            <a:r>
              <a:rPr lang="en-US" baseline="-25000" dirty="0">
                <a:latin typeface="Aptos" panose="020B0004020202020204" pitchFamily="34" charset="0"/>
              </a:rPr>
              <a:t>1</a:t>
            </a:r>
            <a:r>
              <a:rPr lang="en-US" dirty="0">
                <a:latin typeface="Aptos" panose="020B0004020202020204" pitchFamily="34" charset="0"/>
              </a:rPr>
              <a:t> to Q</a:t>
            </a:r>
            <a:r>
              <a:rPr lang="en-US" baseline="-25000" dirty="0">
                <a:latin typeface="Aptos" panose="020B0004020202020204" pitchFamily="34" charset="0"/>
              </a:rPr>
              <a:t>2</a:t>
            </a:r>
            <a:r>
              <a:rPr lang="en-US" dirty="0">
                <a:latin typeface="Aptos" panose="020B0004020202020204" pitchFamily="34" charset="0"/>
              </a:rPr>
              <a:t> to Q</a:t>
            </a:r>
            <a:r>
              <a:rPr lang="en-US" baseline="-25000" dirty="0">
                <a:latin typeface="Aptos" panose="020B0004020202020204" pitchFamily="34" charset="0"/>
              </a:rPr>
              <a:t>3</a:t>
            </a:r>
            <a:r>
              <a:rPr lang="en-US" dirty="0">
                <a:latin typeface="Aptos" panose="020B0004020202020204" pitchFamily="34" charset="0"/>
              </a:rPr>
              <a:t>, </a:t>
            </a:r>
            <a:r>
              <a:rPr lang="en-US" i="1" dirty="0">
                <a:latin typeface="Aptos" panose="020B0004020202020204" pitchFamily="34" charset="0"/>
              </a:rPr>
              <a:t>ceteris paribus</a:t>
            </a:r>
            <a:r>
              <a:rPr lang="en-US" dirty="0">
                <a:latin typeface="Aptos" panose="020B0004020202020204" pitchFamily="34" charset="0"/>
              </a:rPr>
              <a:t>.</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The demand curve (b) graphs each combination of the price of housing and the quantity of housing demanded, </a:t>
            </a:r>
            <a:r>
              <a:rPr lang="en-US" i="1" dirty="0">
                <a:latin typeface="Aptos" panose="020B0004020202020204" pitchFamily="34" charset="0"/>
              </a:rPr>
              <a:t>ceteris paribus</a:t>
            </a:r>
            <a:r>
              <a:rPr lang="en-US" dirty="0">
                <a:latin typeface="Aptos" panose="020B0004020202020204" pitchFamily="34" charset="0"/>
              </a:rPr>
              <a:t>.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The quantities of housing are the same at the points on both (a) and (b).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Thus, the original price of housing (P</a:t>
            </a:r>
            <a:r>
              <a:rPr lang="en-US" baseline="-25000" dirty="0">
                <a:latin typeface="Aptos" panose="020B0004020202020204" pitchFamily="34" charset="0"/>
              </a:rPr>
              <a:t>0</a:t>
            </a:r>
            <a:r>
              <a:rPr lang="en-US" dirty="0">
                <a:latin typeface="Aptos" panose="020B0004020202020204" pitchFamily="34" charset="0"/>
              </a:rPr>
              <a:t>) and the original quantity of housing (Q</a:t>
            </a:r>
            <a:r>
              <a:rPr lang="en-US" baseline="-25000" dirty="0">
                <a:latin typeface="Aptos" panose="020B0004020202020204" pitchFamily="34" charset="0"/>
              </a:rPr>
              <a:t>0</a:t>
            </a:r>
            <a:r>
              <a:rPr lang="en-US" dirty="0">
                <a:latin typeface="Aptos" panose="020B0004020202020204" pitchFamily="34" charset="0"/>
              </a:rPr>
              <a:t>) appear on the demand curve as point E</a:t>
            </a:r>
            <a:r>
              <a:rPr lang="en-US" baseline="-25000" dirty="0">
                <a:latin typeface="Aptos" panose="020B0004020202020204" pitchFamily="34" charset="0"/>
              </a:rPr>
              <a:t>0</a:t>
            </a:r>
            <a:r>
              <a:rPr lang="en-US" dirty="0">
                <a:latin typeface="Aptos" panose="020B0004020202020204" pitchFamily="34" charset="0"/>
              </a:rPr>
              <a:t>. </a:t>
            </a:r>
          </a:p>
          <a:p>
            <a:pPr marL="171450" indent="-171450">
              <a:buFont typeface="Arial" panose="020B0604020202020204" pitchFamily="34" charset="0"/>
              <a:buChar char="•"/>
            </a:pPr>
            <a:endParaRPr lang="en-US" dirty="0">
              <a:latin typeface="Aptos" panose="020B0004020202020204" pitchFamily="34" charset="0"/>
            </a:endParaRPr>
          </a:p>
          <a:p>
            <a:pPr marL="171450" indent="-171450">
              <a:buFont typeface="Arial" panose="020B0604020202020204" pitchFamily="34" charset="0"/>
              <a:buChar char="•"/>
            </a:pPr>
            <a:r>
              <a:rPr lang="en-US" dirty="0">
                <a:latin typeface="Aptos" panose="020B0004020202020204" pitchFamily="34" charset="0"/>
              </a:rPr>
              <a:t>The higher price of housing (P</a:t>
            </a:r>
            <a:r>
              <a:rPr lang="en-US" baseline="-25000" dirty="0">
                <a:latin typeface="Aptos" panose="020B0004020202020204" pitchFamily="34" charset="0"/>
              </a:rPr>
              <a:t>1</a:t>
            </a:r>
            <a:r>
              <a:rPr lang="en-US" dirty="0">
                <a:latin typeface="Aptos" panose="020B0004020202020204" pitchFamily="34" charset="0"/>
              </a:rPr>
              <a:t>) and the corresponding lower quantity demanded of housing (Q</a:t>
            </a:r>
            <a:r>
              <a:rPr lang="en-US" baseline="-25000" dirty="0">
                <a:latin typeface="Aptos" panose="020B0004020202020204" pitchFamily="34" charset="0"/>
              </a:rPr>
              <a:t>1</a:t>
            </a:r>
            <a:r>
              <a:rPr lang="en-US" dirty="0">
                <a:latin typeface="Aptos" panose="020B0004020202020204" pitchFamily="34" charset="0"/>
              </a:rPr>
              <a:t>) appear on the demand curve as point E</a:t>
            </a:r>
            <a:r>
              <a:rPr lang="en-US" baseline="-25000" dirty="0">
                <a:latin typeface="Aptos" panose="020B0004020202020204" pitchFamily="34" charset="0"/>
              </a:rPr>
              <a:t>1</a:t>
            </a:r>
            <a:r>
              <a:rPr lang="en-US" dirty="0">
                <a:latin typeface="Aptos" panose="020B0004020202020204" pitchFamily="34" charset="0"/>
              </a:rPr>
              <a:t>.</a:t>
            </a:r>
          </a:p>
        </p:txBody>
      </p:sp>
    </p:spTree>
    <p:extLst>
      <p:ext uri="{BB962C8B-B14F-4D97-AF65-F5344CB8AC3E}">
        <p14:creationId xmlns:p14="http://schemas.microsoft.com/office/powerpoint/2010/main" val="374887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5397B-7B6B-888C-1D2C-6E56D78E4C71}"/>
              </a:ext>
            </a:extLst>
          </p:cNvPr>
          <p:cNvSpPr>
            <a:spLocks noGrp="1"/>
          </p:cNvSpPr>
          <p:nvPr>
            <p:ph type="title"/>
          </p:nvPr>
        </p:nvSpPr>
        <p:spPr/>
        <p:txBody>
          <a:bodyPr>
            <a:normAutofit fontScale="90000"/>
          </a:bodyPr>
          <a:lstStyle/>
          <a:p>
            <a:r>
              <a:rPr lang="en-US" dirty="0"/>
              <a:t>Behavioral Economics</a:t>
            </a:r>
          </a:p>
        </p:txBody>
      </p:sp>
      <p:sp>
        <p:nvSpPr>
          <p:cNvPr id="3" name="Content Placeholder 2">
            <a:extLst>
              <a:ext uri="{FF2B5EF4-FFF2-40B4-BE49-F238E27FC236}">
                <a16:creationId xmlns:a16="http://schemas.microsoft.com/office/drawing/2014/main" id="{ABF3B907-0747-C3D5-85F7-8A3BF2EECF23}"/>
              </a:ext>
            </a:extLst>
          </p:cNvPr>
          <p:cNvSpPr>
            <a:spLocks noGrp="1"/>
          </p:cNvSpPr>
          <p:nvPr>
            <p:ph idx="1"/>
          </p:nvPr>
        </p:nvSpPr>
        <p:spPr>
          <a:xfrm>
            <a:off x="838200" y="1443644"/>
            <a:ext cx="10515600" cy="5049230"/>
          </a:xfrm>
        </p:spPr>
        <p:txBody>
          <a:bodyPr>
            <a:normAutofit lnSpcReduction="10000"/>
          </a:bodyPr>
          <a:lstStyle/>
          <a:p>
            <a:pPr marL="0" indent="0">
              <a:buNone/>
            </a:pPr>
            <a:r>
              <a:rPr lang="en-US" sz="2400" b="1" dirty="0"/>
              <a:t>When "Irrational" Makes Sense</a:t>
            </a:r>
            <a:endParaRPr lang="en-US" sz="2400" dirty="0"/>
          </a:p>
          <a:p>
            <a:pPr marL="0" indent="0">
              <a:buNone/>
            </a:pPr>
            <a:endParaRPr lang="en-US" sz="2400" b="1" dirty="0"/>
          </a:p>
          <a:p>
            <a:pPr marL="0" indent="0">
              <a:buNone/>
            </a:pPr>
            <a:r>
              <a:rPr lang="en-US" sz="2400" b="1" dirty="0"/>
              <a:t>Traditional economics assumes:</a:t>
            </a:r>
            <a:endParaRPr lang="en-US" sz="2400" dirty="0"/>
          </a:p>
          <a:p>
            <a:pPr lvl="1"/>
            <a:r>
              <a:rPr lang="en-US" sz="2200" dirty="0"/>
              <a:t>Perfect rationality</a:t>
            </a:r>
          </a:p>
          <a:p>
            <a:pPr lvl="1"/>
            <a:r>
              <a:rPr lang="en-US" sz="2200" dirty="0"/>
              <a:t>Complete self-control</a:t>
            </a:r>
          </a:p>
          <a:p>
            <a:pPr lvl="1"/>
            <a:r>
              <a:rPr lang="en-US" sz="2200" dirty="0"/>
              <a:t>Dollars are fungible (interchangeable)</a:t>
            </a:r>
          </a:p>
          <a:p>
            <a:pPr marL="0" indent="0">
              <a:buNone/>
            </a:pPr>
            <a:endParaRPr lang="en-US" sz="2400" b="1" dirty="0"/>
          </a:p>
          <a:p>
            <a:pPr marL="0" indent="0">
              <a:buNone/>
            </a:pPr>
            <a:r>
              <a:rPr lang="en-US" sz="2400" b="1" dirty="0"/>
              <a:t>Behavioral economics recognizes:</a:t>
            </a:r>
            <a:endParaRPr lang="en-US" sz="2400" dirty="0"/>
          </a:p>
          <a:p>
            <a:pPr lvl="1"/>
            <a:r>
              <a:rPr lang="en-US" sz="2200" dirty="0"/>
              <a:t>Emotions and mental states affect decisions</a:t>
            </a:r>
          </a:p>
          <a:p>
            <a:pPr lvl="1"/>
            <a:r>
              <a:rPr lang="en-US" sz="2200" dirty="0"/>
              <a:t>Predictable "irrational" patterns exist</a:t>
            </a:r>
          </a:p>
          <a:p>
            <a:pPr lvl="1"/>
            <a:r>
              <a:rPr lang="en-US" sz="2200" dirty="0"/>
              <a:t>Context matters</a:t>
            </a:r>
          </a:p>
        </p:txBody>
      </p:sp>
    </p:spTree>
    <p:extLst>
      <p:ext uri="{BB962C8B-B14F-4D97-AF65-F5344CB8AC3E}">
        <p14:creationId xmlns:p14="http://schemas.microsoft.com/office/powerpoint/2010/main" val="406263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16DF1-33CF-2CB5-C29F-2840C6CE8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DB615-8D65-67A1-D31E-0291769685E6}"/>
              </a:ext>
            </a:extLst>
          </p:cNvPr>
          <p:cNvSpPr>
            <a:spLocks noGrp="1"/>
          </p:cNvSpPr>
          <p:nvPr>
            <p:ph type="title"/>
          </p:nvPr>
        </p:nvSpPr>
        <p:spPr/>
        <p:txBody>
          <a:bodyPr>
            <a:normAutofit fontScale="90000"/>
          </a:bodyPr>
          <a:lstStyle/>
          <a:p>
            <a:r>
              <a:rPr lang="en-US" dirty="0"/>
              <a:t>Loss Aversion</a:t>
            </a:r>
          </a:p>
        </p:txBody>
      </p:sp>
      <p:sp>
        <p:nvSpPr>
          <p:cNvPr id="3" name="Content Placeholder 2">
            <a:extLst>
              <a:ext uri="{FF2B5EF4-FFF2-40B4-BE49-F238E27FC236}">
                <a16:creationId xmlns:a16="http://schemas.microsoft.com/office/drawing/2014/main" id="{27AAF906-8044-5333-8DA7-CFD727B149A2}"/>
              </a:ext>
            </a:extLst>
          </p:cNvPr>
          <p:cNvSpPr>
            <a:spLocks noGrp="1"/>
          </p:cNvSpPr>
          <p:nvPr>
            <p:ph idx="1"/>
          </p:nvPr>
        </p:nvSpPr>
        <p:spPr>
          <a:xfrm>
            <a:off x="838200" y="1443644"/>
            <a:ext cx="10515600" cy="5049230"/>
          </a:xfrm>
        </p:spPr>
        <p:txBody>
          <a:bodyPr>
            <a:normAutofit lnSpcReduction="10000"/>
          </a:bodyPr>
          <a:lstStyle/>
          <a:p>
            <a:pPr marL="0" indent="0">
              <a:buNone/>
            </a:pPr>
            <a:r>
              <a:rPr lang="en-US" sz="2400" b="1" dirty="0"/>
              <a:t>Losses Hurt More Than Gains Help</a:t>
            </a:r>
            <a:endParaRPr lang="en-US" sz="2400" dirty="0"/>
          </a:p>
          <a:p>
            <a:pPr marL="0" indent="0">
              <a:buNone/>
            </a:pPr>
            <a:endParaRPr lang="en-US" sz="2400" b="1" dirty="0"/>
          </a:p>
          <a:p>
            <a:pPr marL="0" indent="0">
              <a:buNone/>
            </a:pPr>
            <a:r>
              <a:rPr lang="en-US" sz="2400" b="1" dirty="0"/>
              <a:t>Research finding (Kahneman &amp; Tversky):</a:t>
            </a:r>
            <a:br>
              <a:rPr lang="en-US" sz="2400" dirty="0"/>
            </a:br>
            <a:r>
              <a:rPr lang="en-US" sz="2400" dirty="0"/>
              <a:t>A $1 loss causes </a:t>
            </a:r>
            <a:r>
              <a:rPr lang="en-US" sz="2400" b="1" dirty="0"/>
              <a:t>2.25 times</a:t>
            </a:r>
            <a:r>
              <a:rPr lang="en-US" sz="2400" dirty="0"/>
              <a:t> more pain than a $1 gain causes pleasure</a:t>
            </a:r>
          </a:p>
          <a:p>
            <a:pPr marL="0" indent="0">
              <a:buNone/>
            </a:pPr>
            <a:endParaRPr lang="en-US" sz="2400" b="1" dirty="0"/>
          </a:p>
          <a:p>
            <a:pPr marL="0" indent="0">
              <a:buNone/>
            </a:pPr>
            <a:r>
              <a:rPr lang="en-US" sz="2400" b="1" dirty="0"/>
              <a:t>Real-world implications:</a:t>
            </a:r>
            <a:endParaRPr lang="en-US" sz="2400" dirty="0"/>
          </a:p>
          <a:p>
            <a:pPr lvl="1"/>
            <a:r>
              <a:rPr lang="en-US" sz="2200" dirty="0"/>
              <a:t>Investors overreact to market losses</a:t>
            </a:r>
          </a:p>
          <a:p>
            <a:pPr lvl="1"/>
            <a:r>
              <a:rPr lang="en-US" sz="2200" dirty="0"/>
              <a:t>People avoid risks even with positive expected value</a:t>
            </a:r>
          </a:p>
          <a:p>
            <a:pPr lvl="1"/>
            <a:r>
              <a:rPr lang="en-US" sz="2200" dirty="0"/>
              <a:t>Status quo bias ("better safe than sorry")</a:t>
            </a:r>
          </a:p>
          <a:p>
            <a:pPr marL="0" indent="0">
              <a:buNone/>
            </a:pPr>
            <a:endParaRPr lang="en-US" sz="2400" b="1" dirty="0"/>
          </a:p>
          <a:p>
            <a:pPr marL="0" indent="0">
              <a:buNone/>
            </a:pPr>
            <a:r>
              <a:rPr lang="en-US" sz="2400" b="1" dirty="0"/>
              <a:t>Analogy:</a:t>
            </a:r>
            <a:r>
              <a:rPr lang="en-US" sz="2400" dirty="0"/>
              <a:t> Losing a $20 bill feels worse than the joy of finding $20</a:t>
            </a:r>
          </a:p>
        </p:txBody>
      </p:sp>
    </p:spTree>
    <p:extLst>
      <p:ext uri="{BB962C8B-B14F-4D97-AF65-F5344CB8AC3E}">
        <p14:creationId xmlns:p14="http://schemas.microsoft.com/office/powerpoint/2010/main" val="3577440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EF95A-C02A-A5D6-2709-9155C21C3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ACDA4-0A59-F220-85E2-343F87BABD00}"/>
              </a:ext>
            </a:extLst>
          </p:cNvPr>
          <p:cNvSpPr>
            <a:spLocks noGrp="1"/>
          </p:cNvSpPr>
          <p:nvPr>
            <p:ph type="title"/>
          </p:nvPr>
        </p:nvSpPr>
        <p:spPr/>
        <p:txBody>
          <a:bodyPr>
            <a:normAutofit fontScale="90000"/>
          </a:bodyPr>
          <a:lstStyle/>
          <a:p>
            <a:r>
              <a:rPr lang="en-US" dirty="0"/>
              <a:t>Mental accounting</a:t>
            </a:r>
          </a:p>
        </p:txBody>
      </p:sp>
      <p:sp>
        <p:nvSpPr>
          <p:cNvPr id="3" name="Content Placeholder 2">
            <a:extLst>
              <a:ext uri="{FF2B5EF4-FFF2-40B4-BE49-F238E27FC236}">
                <a16:creationId xmlns:a16="http://schemas.microsoft.com/office/drawing/2014/main" id="{252AD965-2899-10CF-9819-EA723502EFDC}"/>
              </a:ext>
            </a:extLst>
          </p:cNvPr>
          <p:cNvSpPr>
            <a:spLocks noGrp="1"/>
          </p:cNvSpPr>
          <p:nvPr>
            <p:ph idx="1"/>
          </p:nvPr>
        </p:nvSpPr>
        <p:spPr>
          <a:xfrm>
            <a:off x="838200" y="1443644"/>
            <a:ext cx="10515600" cy="5049230"/>
          </a:xfrm>
        </p:spPr>
        <p:txBody>
          <a:bodyPr>
            <a:normAutofit/>
          </a:bodyPr>
          <a:lstStyle/>
          <a:p>
            <a:pPr marL="0" indent="0">
              <a:buNone/>
            </a:pPr>
            <a:r>
              <a:rPr lang="en-US" sz="2400" b="1" dirty="0"/>
              <a:t>Not All Dollars Are Equal</a:t>
            </a:r>
            <a:endParaRPr lang="en-US" sz="2400" dirty="0"/>
          </a:p>
          <a:p>
            <a:pPr marL="0" indent="0">
              <a:buNone/>
            </a:pPr>
            <a:endParaRPr lang="en-US" sz="2400" b="1" dirty="0"/>
          </a:p>
          <a:p>
            <a:pPr marL="0" indent="0">
              <a:buNone/>
            </a:pPr>
            <a:r>
              <a:rPr lang="en-US" sz="2400" b="1" dirty="0"/>
              <a:t>Traditional view:</a:t>
            </a:r>
            <a:r>
              <a:rPr lang="en-US" sz="2400" dirty="0"/>
              <a:t> All dollars have equal value (fungible)</a:t>
            </a:r>
          </a:p>
          <a:p>
            <a:pPr marL="0" indent="0">
              <a:buNone/>
            </a:pPr>
            <a:endParaRPr lang="en-US" sz="2400" b="1" dirty="0"/>
          </a:p>
          <a:p>
            <a:pPr marL="0" indent="0">
              <a:buNone/>
            </a:pPr>
            <a:r>
              <a:rPr lang="en-US" sz="2400" b="1" dirty="0"/>
              <a:t>Behavioral reality:</a:t>
            </a:r>
            <a:r>
              <a:rPr lang="en-US" sz="2400" dirty="0"/>
              <a:t> We categorize money differently</a:t>
            </a:r>
          </a:p>
          <a:p>
            <a:pPr marL="0" indent="0">
              <a:buNone/>
            </a:pPr>
            <a:endParaRPr lang="en-US" sz="2400" b="1" dirty="0"/>
          </a:p>
          <a:p>
            <a:pPr marL="0" indent="0">
              <a:buNone/>
            </a:pPr>
            <a:r>
              <a:rPr lang="en-US" sz="2400" b="1" dirty="0"/>
              <a:t>Examples:</a:t>
            </a:r>
            <a:endParaRPr lang="en-US" sz="2400" dirty="0"/>
          </a:p>
          <a:p>
            <a:pPr lvl="1"/>
            <a:r>
              <a:rPr lang="en-US" sz="2200" dirty="0"/>
              <a:t>"Found money" vs. "earned money"</a:t>
            </a:r>
          </a:p>
          <a:p>
            <a:pPr lvl="1"/>
            <a:r>
              <a:rPr lang="en-US" sz="2200" dirty="0"/>
              <a:t>Carrying credit card debt while maintaining savings</a:t>
            </a:r>
          </a:p>
          <a:p>
            <a:pPr lvl="1"/>
            <a:r>
              <a:rPr lang="en-US" sz="2200" dirty="0"/>
              <a:t>Not mixing "vacation fund" with "emergency fund"</a:t>
            </a:r>
          </a:p>
        </p:txBody>
      </p:sp>
    </p:spTree>
    <p:extLst>
      <p:ext uri="{BB962C8B-B14F-4D97-AF65-F5344CB8AC3E}">
        <p14:creationId xmlns:p14="http://schemas.microsoft.com/office/powerpoint/2010/main" val="1248380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D29F9-96EC-0FE6-6BBE-D22AB94EE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74E70-D835-EF87-7588-0C9D04C93CA5}"/>
              </a:ext>
            </a:extLst>
          </p:cNvPr>
          <p:cNvSpPr>
            <a:spLocks noGrp="1"/>
          </p:cNvSpPr>
          <p:nvPr>
            <p:ph type="title"/>
          </p:nvPr>
        </p:nvSpPr>
        <p:spPr/>
        <p:txBody>
          <a:bodyPr>
            <a:normAutofit fontScale="90000"/>
          </a:bodyPr>
          <a:lstStyle/>
          <a:p>
            <a:r>
              <a:rPr lang="en-US" dirty="0"/>
              <a:t>Key Takeaways</a:t>
            </a:r>
          </a:p>
        </p:txBody>
      </p:sp>
      <p:sp>
        <p:nvSpPr>
          <p:cNvPr id="3" name="Content Placeholder 2">
            <a:extLst>
              <a:ext uri="{FF2B5EF4-FFF2-40B4-BE49-F238E27FC236}">
                <a16:creationId xmlns:a16="http://schemas.microsoft.com/office/drawing/2014/main" id="{A391A23C-6EA0-346C-CC0B-229BF5F36373}"/>
              </a:ext>
            </a:extLst>
          </p:cNvPr>
          <p:cNvSpPr>
            <a:spLocks noGrp="1"/>
          </p:cNvSpPr>
          <p:nvPr>
            <p:ph idx="1"/>
          </p:nvPr>
        </p:nvSpPr>
        <p:spPr>
          <a:xfrm>
            <a:off x="838200" y="1443644"/>
            <a:ext cx="10515600" cy="5049230"/>
          </a:xfrm>
        </p:spPr>
        <p:txBody>
          <a:bodyPr>
            <a:normAutofit/>
          </a:bodyPr>
          <a:lstStyle/>
          <a:p>
            <a:pPr marL="0" indent="0">
              <a:buNone/>
            </a:pPr>
            <a:r>
              <a:rPr lang="en-US" sz="2400" b="1" dirty="0"/>
              <a:t>Chapter 6 Summary</a:t>
            </a:r>
          </a:p>
          <a:p>
            <a:pPr marL="685800" lvl="1" indent="-457200">
              <a:buFont typeface="+mj-lt"/>
              <a:buAutoNum type="arabicPeriod"/>
            </a:pPr>
            <a:r>
              <a:rPr lang="en-US" sz="2200" dirty="0"/>
              <a:t>Consumers maximize utility given budget constraints</a:t>
            </a:r>
          </a:p>
          <a:p>
            <a:pPr marL="685800" lvl="1" indent="-457200">
              <a:buFont typeface="+mj-lt"/>
              <a:buAutoNum type="arabicPeriod"/>
            </a:pPr>
            <a:r>
              <a:rPr lang="en-US" sz="2200" dirty="0"/>
              <a:t>Marginal utility diminishes with each additional unit</a:t>
            </a:r>
          </a:p>
          <a:p>
            <a:pPr marL="685800" lvl="1" indent="-457200">
              <a:buFont typeface="+mj-lt"/>
              <a:buAutoNum type="arabicPeriod"/>
            </a:pPr>
            <a:r>
              <a:rPr lang="en-US" sz="2200" dirty="0"/>
              <a:t>Optimal choice: MU₁/P₁ = MU₂/P₂</a:t>
            </a:r>
          </a:p>
          <a:p>
            <a:pPr marL="685800" lvl="1" indent="-457200">
              <a:buFont typeface="+mj-lt"/>
              <a:buAutoNum type="arabicPeriod"/>
            </a:pPr>
            <a:r>
              <a:rPr lang="en-US" sz="2200" dirty="0"/>
              <a:t>Income changes shift budget constraint</a:t>
            </a:r>
          </a:p>
          <a:p>
            <a:pPr marL="685800" lvl="1" indent="-457200">
              <a:buFont typeface="+mj-lt"/>
              <a:buAutoNum type="arabicPeriod"/>
            </a:pPr>
            <a:r>
              <a:rPr lang="en-US" sz="2200" dirty="0"/>
              <a:t>Price changes rotate budget constraint</a:t>
            </a:r>
          </a:p>
          <a:p>
            <a:pPr marL="685800" lvl="1" indent="-457200">
              <a:buFont typeface="+mj-lt"/>
              <a:buAutoNum type="arabicPeriod"/>
            </a:pPr>
            <a:r>
              <a:rPr lang="en-US" sz="2200" dirty="0"/>
              <a:t>Behavioral economics explains "irrational" patterns</a:t>
            </a:r>
          </a:p>
          <a:p>
            <a:pPr marL="0" indent="0">
              <a:buNone/>
            </a:pPr>
            <a:endParaRPr lang="en-US" sz="2400" b="1" dirty="0"/>
          </a:p>
          <a:p>
            <a:pPr marL="0" indent="0">
              <a:buNone/>
            </a:pPr>
            <a:r>
              <a:rPr lang="en-US" sz="2400" b="1" dirty="0"/>
              <a:t>Understanding consumer choice is the foundation of demand analysis</a:t>
            </a:r>
            <a:endParaRPr lang="en-US" sz="2400" dirty="0"/>
          </a:p>
        </p:txBody>
      </p:sp>
    </p:spTree>
    <p:extLst>
      <p:ext uri="{BB962C8B-B14F-4D97-AF65-F5344CB8AC3E}">
        <p14:creationId xmlns:p14="http://schemas.microsoft.com/office/powerpoint/2010/main" val="227740629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670</TotalTime>
  <Words>4147</Words>
  <Application>Microsoft Office PowerPoint</Application>
  <PresentationFormat>Widescreen</PresentationFormat>
  <Paragraphs>226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Gill Sans MT</vt:lpstr>
      <vt:lpstr>Neue Helvetica W01</vt:lpstr>
      <vt:lpstr>Parcel</vt:lpstr>
      <vt:lpstr>Chapter 6</vt:lpstr>
      <vt:lpstr>The Central Problem</vt:lpstr>
      <vt:lpstr>Key concepts</vt:lpstr>
      <vt:lpstr>Diminishing Marginal Utility Example</vt:lpstr>
      <vt:lpstr>The Budget Constraint</vt:lpstr>
      <vt:lpstr>Jose’s Total and Marginal Utility</vt:lpstr>
      <vt:lpstr>Jose’s Choice Problem</vt:lpstr>
      <vt:lpstr>The Decision rule</vt:lpstr>
      <vt:lpstr>Jose’s optimal Choice</vt:lpstr>
      <vt:lpstr>changes in income</vt:lpstr>
      <vt:lpstr>Example: Concert Tickets vs. Overnight Getaway, if Income Increases</vt:lpstr>
      <vt:lpstr>Changes in Price</vt:lpstr>
      <vt:lpstr>Foundations of Demand Curves</vt:lpstr>
      <vt:lpstr>Foundations of a Demand Curve: An Example </vt:lpstr>
      <vt:lpstr>Behavioral Economics</vt:lpstr>
      <vt:lpstr>Loss Aversion</vt:lpstr>
      <vt:lpstr>Mental accounting</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2026-03-25T14:55:53Z</dcterms:modified>
</cp:coreProperties>
</file>