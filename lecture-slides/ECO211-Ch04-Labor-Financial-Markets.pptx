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21"/>
  </p:notesMasterIdLst>
  <p:sldIdLst>
    <p:sldId id="256" r:id="rId2"/>
    <p:sldId id="260" r:id="rId3"/>
    <p:sldId id="261" r:id="rId4"/>
    <p:sldId id="262" r:id="rId5"/>
    <p:sldId id="263" r:id="rId6"/>
    <p:sldId id="264" r:id="rId7"/>
    <p:sldId id="265" r:id="rId8"/>
    <p:sldId id="266" r:id="rId9"/>
    <p:sldId id="279" r:id="rId10"/>
    <p:sldId id="270" r:id="rId11"/>
    <p:sldId id="272" r:id="rId12"/>
    <p:sldId id="273" r:id="rId13"/>
    <p:sldId id="274" r:id="rId14"/>
    <p:sldId id="280" r:id="rId15"/>
    <p:sldId id="281" r:id="rId16"/>
    <p:sldId id="282" r:id="rId17"/>
    <p:sldId id="277" r:id="rId18"/>
    <p:sldId id="283" r:id="rId19"/>
    <p:sldId id="28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21" autoAdjust="0"/>
    <p:restoredTop sz="67217" autoAdjust="0"/>
  </p:normalViewPr>
  <p:slideViewPr>
    <p:cSldViewPr snapToGrid="0">
      <p:cViewPr varScale="1">
        <p:scale>
          <a:sx n="61" d="100"/>
          <a:sy n="61" d="100"/>
        </p:scale>
        <p:origin x="816" y="53"/>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2FF3E2E3-7818-4E76-9C63-7C10A568D9B9}"/>
    <pc:docChg chg="undo custSel addSld delSld modSld modMainMaster">
      <pc:chgData name="Scott T Lane" userId="c97bbaa9-35da-4a3b-a646-d12e455ac46e" providerId="ADAL" clId="{2FF3E2E3-7818-4E76-9C63-7C10A568D9B9}" dt="2026-04-02T12:05:45.088" v="769" actId="20577"/>
      <pc:docMkLst>
        <pc:docMk/>
      </pc:docMkLst>
      <pc:sldChg chg="delSp modSp mod setBg delDesignElem">
        <pc:chgData name="Scott T Lane" userId="c97bbaa9-35da-4a3b-a646-d12e455ac46e" providerId="ADAL" clId="{2FF3E2E3-7818-4E76-9C63-7C10A568D9B9}" dt="2026-03-23T18:43:42.411" v="76" actId="114"/>
        <pc:sldMkLst>
          <pc:docMk/>
          <pc:sldMk cId="2946475127" sldId="256"/>
        </pc:sldMkLst>
        <pc:spChg chg="mod">
          <ac:chgData name="Scott T Lane" userId="c97bbaa9-35da-4a3b-a646-d12e455ac46e" providerId="ADAL" clId="{2FF3E2E3-7818-4E76-9C63-7C10A568D9B9}" dt="2026-03-23T18:43:30.216" v="73" actId="14100"/>
          <ac:spMkLst>
            <pc:docMk/>
            <pc:sldMk cId="2946475127" sldId="256"/>
            <ac:spMk id="2" creationId="{E63B7D4F-ED2B-026B-3DCC-FC25D75BF3F3}"/>
          </ac:spMkLst>
        </pc:spChg>
        <pc:spChg chg="mod">
          <ac:chgData name="Scott T Lane" userId="c97bbaa9-35da-4a3b-a646-d12e455ac46e" providerId="ADAL" clId="{2FF3E2E3-7818-4E76-9C63-7C10A568D9B9}" dt="2026-03-23T18:43:42.411" v="76" actId="114"/>
          <ac:spMkLst>
            <pc:docMk/>
            <pc:sldMk cId="2946475127" sldId="256"/>
            <ac:spMk id="3" creationId="{046F5DC3-0C75-250B-266C-A3F19543BE11}"/>
          </ac:spMkLst>
        </pc:spChg>
      </pc:sldChg>
      <pc:sldChg chg="delSp modSp mod">
        <pc:chgData name="Scott T Lane" userId="c97bbaa9-35da-4a3b-a646-d12e455ac46e" providerId="ADAL" clId="{2FF3E2E3-7818-4E76-9C63-7C10A568D9B9}" dt="2026-03-23T18:47:41.392" v="178" actId="20577"/>
        <pc:sldMkLst>
          <pc:docMk/>
          <pc:sldMk cId="1337185280" sldId="260"/>
        </pc:sldMkLst>
        <pc:spChg chg="mod">
          <ac:chgData name="Scott T Lane" userId="c97bbaa9-35da-4a3b-a646-d12e455ac46e" providerId="ADAL" clId="{2FF3E2E3-7818-4E76-9C63-7C10A568D9B9}" dt="2026-03-23T18:46:53.150" v="151" actId="20577"/>
          <ac:spMkLst>
            <pc:docMk/>
            <pc:sldMk cId="1337185280" sldId="260"/>
            <ac:spMk id="6" creationId="{BD85E2A4-455B-454C-C023-0F3C9E6D749C}"/>
          </ac:spMkLst>
        </pc:spChg>
        <pc:spChg chg="mod">
          <ac:chgData name="Scott T Lane" userId="c97bbaa9-35da-4a3b-a646-d12e455ac46e" providerId="ADAL" clId="{2FF3E2E3-7818-4E76-9C63-7C10A568D9B9}" dt="2026-03-23T18:47:41.392" v="178" actId="20577"/>
          <ac:spMkLst>
            <pc:docMk/>
            <pc:sldMk cId="1337185280" sldId="260"/>
            <ac:spMk id="7" creationId="{5B3A9016-5DE2-FDFA-EA79-C208A47D1030}"/>
          </ac:spMkLst>
        </pc:spChg>
      </pc:sldChg>
      <pc:sldChg chg="delSp modSp mod">
        <pc:chgData name="Scott T Lane" userId="c97bbaa9-35da-4a3b-a646-d12e455ac46e" providerId="ADAL" clId="{2FF3E2E3-7818-4E76-9C63-7C10A568D9B9}" dt="2026-03-23T18:50:59.919" v="226" actId="14100"/>
        <pc:sldMkLst>
          <pc:docMk/>
          <pc:sldMk cId="1682671172" sldId="261"/>
        </pc:sldMkLst>
        <pc:spChg chg="mod">
          <ac:chgData name="Scott T Lane" userId="c97bbaa9-35da-4a3b-a646-d12e455ac46e" providerId="ADAL" clId="{2FF3E2E3-7818-4E76-9C63-7C10A568D9B9}" dt="2026-03-23T18:50:59.919" v="226" actId="14100"/>
          <ac:spMkLst>
            <pc:docMk/>
            <pc:sldMk cId="1682671172" sldId="261"/>
            <ac:spMk id="6" creationId="{BD85E2A4-455B-454C-C023-0F3C9E6D749C}"/>
          </ac:spMkLst>
        </pc:spChg>
        <pc:spChg chg="mod">
          <ac:chgData name="Scott T Lane" userId="c97bbaa9-35da-4a3b-a646-d12e455ac46e" providerId="ADAL" clId="{2FF3E2E3-7818-4E76-9C63-7C10A568D9B9}" dt="2026-03-23T18:49:14.654" v="220"/>
          <ac:spMkLst>
            <pc:docMk/>
            <pc:sldMk cId="1682671172" sldId="261"/>
            <ac:spMk id="7" creationId="{5B3A9016-5DE2-FDFA-EA79-C208A47D1030}"/>
          </ac:spMkLst>
        </pc:spChg>
      </pc:sldChg>
      <pc:sldChg chg="addSp modSp mod">
        <pc:chgData name="Scott T Lane" userId="c97bbaa9-35da-4a3b-a646-d12e455ac46e" providerId="ADAL" clId="{2FF3E2E3-7818-4E76-9C63-7C10A568D9B9}" dt="2026-03-23T18:52:12.590" v="250" actId="1076"/>
        <pc:sldMkLst>
          <pc:docMk/>
          <pc:sldMk cId="16996332" sldId="262"/>
        </pc:sldMkLst>
        <pc:spChg chg="mod">
          <ac:chgData name="Scott T Lane" userId="c97bbaa9-35da-4a3b-a646-d12e455ac46e" providerId="ADAL" clId="{2FF3E2E3-7818-4E76-9C63-7C10A568D9B9}" dt="2026-03-23T18:51:15.040" v="239" actId="20577"/>
          <ac:spMkLst>
            <pc:docMk/>
            <pc:sldMk cId="16996332" sldId="262"/>
            <ac:spMk id="6" creationId="{BD85E2A4-455B-454C-C023-0F3C9E6D749C}"/>
          </ac:spMkLst>
        </pc:spChg>
        <pc:spChg chg="mod">
          <ac:chgData name="Scott T Lane" userId="c97bbaa9-35da-4a3b-a646-d12e455ac46e" providerId="ADAL" clId="{2FF3E2E3-7818-4E76-9C63-7C10A568D9B9}" dt="2026-03-23T18:51:32.130" v="244" actId="20577"/>
          <ac:spMkLst>
            <pc:docMk/>
            <pc:sldMk cId="16996332" sldId="262"/>
            <ac:spMk id="7" creationId="{5B3A9016-5DE2-FDFA-EA79-C208A47D1030}"/>
          </ac:spMkLst>
        </pc:spChg>
        <pc:graphicFrameChg chg="add mod modGraphic">
          <ac:chgData name="Scott T Lane" userId="c97bbaa9-35da-4a3b-a646-d12e455ac46e" providerId="ADAL" clId="{2FF3E2E3-7818-4E76-9C63-7C10A568D9B9}" dt="2026-03-23T18:52:12.590" v="250" actId="1076"/>
          <ac:graphicFrameMkLst>
            <pc:docMk/>
            <pc:sldMk cId="16996332" sldId="262"/>
            <ac:graphicFrameMk id="2" creationId="{70C8B9E0-870C-70CB-F2BA-B6FD83735172}"/>
          </ac:graphicFrameMkLst>
        </pc:graphicFrameChg>
      </pc:sldChg>
      <pc:sldChg chg="addSp delSp modSp mod">
        <pc:chgData name="Scott T Lane" userId="c97bbaa9-35da-4a3b-a646-d12e455ac46e" providerId="ADAL" clId="{2FF3E2E3-7818-4E76-9C63-7C10A568D9B9}" dt="2026-03-23T18:54:32.671" v="292" actId="12"/>
        <pc:sldMkLst>
          <pc:docMk/>
          <pc:sldMk cId="3001307255" sldId="263"/>
        </pc:sldMkLst>
        <pc:spChg chg="mod">
          <ac:chgData name="Scott T Lane" userId="c97bbaa9-35da-4a3b-a646-d12e455ac46e" providerId="ADAL" clId="{2FF3E2E3-7818-4E76-9C63-7C10A568D9B9}" dt="2026-03-23T18:53:07.984" v="263" actId="20577"/>
          <ac:spMkLst>
            <pc:docMk/>
            <pc:sldMk cId="3001307255" sldId="263"/>
            <ac:spMk id="6" creationId="{BD85E2A4-455B-454C-C023-0F3C9E6D749C}"/>
          </ac:spMkLst>
        </pc:spChg>
        <pc:spChg chg="mod">
          <ac:chgData name="Scott T Lane" userId="c97bbaa9-35da-4a3b-a646-d12e455ac46e" providerId="ADAL" clId="{2FF3E2E3-7818-4E76-9C63-7C10A568D9B9}" dt="2026-03-23T18:54:32.671" v="292" actId="12"/>
          <ac:spMkLst>
            <pc:docMk/>
            <pc:sldMk cId="3001307255" sldId="263"/>
            <ac:spMk id="7" creationId="{5B3A9016-5DE2-FDFA-EA79-C208A47D1030}"/>
          </ac:spMkLst>
        </pc:spChg>
        <pc:graphicFrameChg chg="add mod modGraphic">
          <ac:chgData name="Scott T Lane" userId="c97bbaa9-35da-4a3b-a646-d12e455ac46e" providerId="ADAL" clId="{2FF3E2E3-7818-4E76-9C63-7C10A568D9B9}" dt="2026-03-23T18:53:48.344" v="274" actId="1076"/>
          <ac:graphicFrameMkLst>
            <pc:docMk/>
            <pc:sldMk cId="3001307255" sldId="263"/>
            <ac:graphicFrameMk id="2" creationId="{49E3F160-9E49-BA77-9FB9-7CA463304C76}"/>
          </ac:graphicFrameMkLst>
        </pc:graphicFrameChg>
      </pc:sldChg>
      <pc:sldChg chg="addSp modSp mod">
        <pc:chgData name="Scott T Lane" userId="c97bbaa9-35da-4a3b-a646-d12e455ac46e" providerId="ADAL" clId="{2FF3E2E3-7818-4E76-9C63-7C10A568D9B9}" dt="2026-03-23T18:56:54.657" v="330" actId="255"/>
        <pc:sldMkLst>
          <pc:docMk/>
          <pc:sldMk cId="182810813" sldId="264"/>
        </pc:sldMkLst>
        <pc:spChg chg="mod">
          <ac:chgData name="Scott T Lane" userId="c97bbaa9-35da-4a3b-a646-d12e455ac46e" providerId="ADAL" clId="{2FF3E2E3-7818-4E76-9C63-7C10A568D9B9}" dt="2026-03-23T18:55:18.548" v="294" actId="14100"/>
          <ac:spMkLst>
            <pc:docMk/>
            <pc:sldMk cId="182810813" sldId="264"/>
            <ac:spMk id="6" creationId="{BD85E2A4-455B-454C-C023-0F3C9E6D749C}"/>
          </ac:spMkLst>
        </pc:spChg>
        <pc:spChg chg="mod">
          <ac:chgData name="Scott T Lane" userId="c97bbaa9-35da-4a3b-a646-d12e455ac46e" providerId="ADAL" clId="{2FF3E2E3-7818-4E76-9C63-7C10A568D9B9}" dt="2026-03-23T18:56:54.657" v="330" actId="255"/>
          <ac:spMkLst>
            <pc:docMk/>
            <pc:sldMk cId="182810813" sldId="264"/>
            <ac:spMk id="7" creationId="{5B3A9016-5DE2-FDFA-EA79-C208A47D1030}"/>
          </ac:spMkLst>
        </pc:spChg>
        <pc:graphicFrameChg chg="add mod modGraphic">
          <ac:chgData name="Scott T Lane" userId="c97bbaa9-35da-4a3b-a646-d12e455ac46e" providerId="ADAL" clId="{2FF3E2E3-7818-4E76-9C63-7C10A568D9B9}" dt="2026-03-23T18:56:10.831" v="306"/>
          <ac:graphicFrameMkLst>
            <pc:docMk/>
            <pc:sldMk cId="182810813" sldId="264"/>
            <ac:graphicFrameMk id="2" creationId="{4761E9B4-CC42-A9CB-93C8-53D3522A1034}"/>
          </ac:graphicFrameMkLst>
        </pc:graphicFrameChg>
      </pc:sldChg>
      <pc:sldChg chg="modSp mod">
        <pc:chgData name="Scott T Lane" userId="c97bbaa9-35da-4a3b-a646-d12e455ac46e" providerId="ADAL" clId="{2FF3E2E3-7818-4E76-9C63-7C10A568D9B9}" dt="2026-03-23T18:57:47.277" v="356" actId="208"/>
        <pc:sldMkLst>
          <pc:docMk/>
          <pc:sldMk cId="889398648" sldId="265"/>
        </pc:sldMkLst>
        <pc:spChg chg="mod">
          <ac:chgData name="Scott T Lane" userId="c97bbaa9-35da-4a3b-a646-d12e455ac46e" providerId="ADAL" clId="{2FF3E2E3-7818-4E76-9C63-7C10A568D9B9}" dt="2026-03-23T18:57:44.516" v="355" actId="14100"/>
          <ac:spMkLst>
            <pc:docMk/>
            <pc:sldMk cId="889398648" sldId="265"/>
            <ac:spMk id="6" creationId="{BD85E2A4-455B-454C-C023-0F3C9E6D749C}"/>
          </ac:spMkLst>
        </pc:spChg>
        <pc:spChg chg="mod">
          <ac:chgData name="Scott T Lane" userId="c97bbaa9-35da-4a3b-a646-d12e455ac46e" providerId="ADAL" clId="{2FF3E2E3-7818-4E76-9C63-7C10A568D9B9}" dt="2026-03-23T18:42:41.728" v="62" actId="27636"/>
          <ac:spMkLst>
            <pc:docMk/>
            <pc:sldMk cId="889398648" sldId="265"/>
            <ac:spMk id="8" creationId="{851AE448-5E04-E5A5-BA0B-2F7C9676068A}"/>
          </ac:spMkLst>
        </pc:spChg>
        <pc:picChg chg="mod">
          <ac:chgData name="Scott T Lane" userId="c97bbaa9-35da-4a3b-a646-d12e455ac46e" providerId="ADAL" clId="{2FF3E2E3-7818-4E76-9C63-7C10A568D9B9}" dt="2026-03-23T18:57:47.277" v="356" actId="208"/>
          <ac:picMkLst>
            <pc:docMk/>
            <pc:sldMk cId="889398648" sldId="265"/>
            <ac:picMk id="4" creationId="{49F693CA-6EBD-7689-418B-2941BFB25845}"/>
          </ac:picMkLst>
        </pc:picChg>
      </pc:sldChg>
      <pc:sldChg chg="addSp modSp mod modNotesTx">
        <pc:chgData name="Scott T Lane" userId="c97bbaa9-35da-4a3b-a646-d12e455ac46e" providerId="ADAL" clId="{2FF3E2E3-7818-4E76-9C63-7C10A568D9B9}" dt="2026-03-23T19:00:24.189" v="394" actId="208"/>
        <pc:sldMkLst>
          <pc:docMk/>
          <pc:sldMk cId="218088662" sldId="266"/>
        </pc:sldMkLst>
        <pc:spChg chg="mod">
          <ac:chgData name="Scott T Lane" userId="c97bbaa9-35da-4a3b-a646-d12e455ac46e" providerId="ADAL" clId="{2FF3E2E3-7818-4E76-9C63-7C10A568D9B9}" dt="2026-03-23T18:58:21.749" v="359" actId="14100"/>
          <ac:spMkLst>
            <pc:docMk/>
            <pc:sldMk cId="218088662" sldId="266"/>
            <ac:spMk id="6" creationId="{BD85E2A4-455B-454C-C023-0F3C9E6D749C}"/>
          </ac:spMkLst>
        </pc:spChg>
        <pc:spChg chg="mod">
          <ac:chgData name="Scott T Lane" userId="c97bbaa9-35da-4a3b-a646-d12e455ac46e" providerId="ADAL" clId="{2FF3E2E3-7818-4E76-9C63-7C10A568D9B9}" dt="2026-03-23T18:59:04.289" v="372" actId="20577"/>
          <ac:spMkLst>
            <pc:docMk/>
            <pc:sldMk cId="218088662" sldId="266"/>
            <ac:spMk id="7" creationId="{5B3A9016-5DE2-FDFA-EA79-C208A47D1030}"/>
          </ac:spMkLst>
        </pc:spChg>
        <pc:picChg chg="add mod">
          <ac:chgData name="Scott T Lane" userId="c97bbaa9-35da-4a3b-a646-d12e455ac46e" providerId="ADAL" clId="{2FF3E2E3-7818-4E76-9C63-7C10A568D9B9}" dt="2026-03-23T19:00:24.189" v="394" actId="208"/>
          <ac:picMkLst>
            <pc:docMk/>
            <pc:sldMk cId="218088662" sldId="266"/>
            <ac:picMk id="2" creationId="{20CBAA08-85FB-EC41-CE5E-5CCF6860FBD1}"/>
          </ac:picMkLst>
        </pc:picChg>
      </pc:sldChg>
      <pc:sldChg chg="modSp mod">
        <pc:chgData name="Scott T Lane" userId="c97bbaa9-35da-4a3b-a646-d12e455ac46e" providerId="ADAL" clId="{2FF3E2E3-7818-4E76-9C63-7C10A568D9B9}" dt="2026-03-23T19:29:35.484" v="469" actId="15"/>
        <pc:sldMkLst>
          <pc:docMk/>
          <pc:sldMk cId="3474834280" sldId="270"/>
        </pc:sldMkLst>
        <pc:spChg chg="mod">
          <ac:chgData name="Scott T Lane" userId="c97bbaa9-35da-4a3b-a646-d12e455ac46e" providerId="ADAL" clId="{2FF3E2E3-7818-4E76-9C63-7C10A568D9B9}" dt="2026-03-23T19:04:02.306" v="460" actId="14100"/>
          <ac:spMkLst>
            <pc:docMk/>
            <pc:sldMk cId="3474834280" sldId="270"/>
            <ac:spMk id="6" creationId="{BD85E2A4-455B-454C-C023-0F3C9E6D749C}"/>
          </ac:spMkLst>
        </pc:spChg>
        <pc:spChg chg="mod">
          <ac:chgData name="Scott T Lane" userId="c97bbaa9-35da-4a3b-a646-d12e455ac46e" providerId="ADAL" clId="{2FF3E2E3-7818-4E76-9C63-7C10A568D9B9}" dt="2026-03-23T19:29:35.484" v="469" actId="15"/>
          <ac:spMkLst>
            <pc:docMk/>
            <pc:sldMk cId="3474834280" sldId="270"/>
            <ac:spMk id="7" creationId="{5B3A9016-5DE2-FDFA-EA79-C208A47D1030}"/>
          </ac:spMkLst>
        </pc:spChg>
      </pc:sldChg>
      <pc:sldChg chg="modSp mod">
        <pc:chgData name="Scott T Lane" userId="c97bbaa9-35da-4a3b-a646-d12e455ac46e" providerId="ADAL" clId="{2FF3E2E3-7818-4E76-9C63-7C10A568D9B9}" dt="2026-03-23T19:31:58.286" v="484" actId="14100"/>
        <pc:sldMkLst>
          <pc:docMk/>
          <pc:sldMk cId="2485136806" sldId="272"/>
        </pc:sldMkLst>
        <pc:spChg chg="mod">
          <ac:chgData name="Scott T Lane" userId="c97bbaa9-35da-4a3b-a646-d12e455ac46e" providerId="ADAL" clId="{2FF3E2E3-7818-4E76-9C63-7C10A568D9B9}" dt="2026-03-23T19:31:11.092" v="472" actId="14100"/>
          <ac:spMkLst>
            <pc:docMk/>
            <pc:sldMk cId="2485136806" sldId="272"/>
            <ac:spMk id="6" creationId="{BD85E2A4-455B-454C-C023-0F3C9E6D749C}"/>
          </ac:spMkLst>
        </pc:spChg>
        <pc:spChg chg="mod">
          <ac:chgData name="Scott T Lane" userId="c97bbaa9-35da-4a3b-a646-d12e455ac46e" providerId="ADAL" clId="{2FF3E2E3-7818-4E76-9C63-7C10A568D9B9}" dt="2026-03-23T19:31:48.267" v="483" actId="255"/>
          <ac:spMkLst>
            <pc:docMk/>
            <pc:sldMk cId="2485136806" sldId="272"/>
            <ac:spMk id="7" creationId="{5B3A9016-5DE2-FDFA-EA79-C208A47D1030}"/>
          </ac:spMkLst>
        </pc:spChg>
        <pc:picChg chg="mod">
          <ac:chgData name="Scott T Lane" userId="c97bbaa9-35da-4a3b-a646-d12e455ac46e" providerId="ADAL" clId="{2FF3E2E3-7818-4E76-9C63-7C10A568D9B9}" dt="2026-03-23T19:31:58.286" v="484" actId="14100"/>
          <ac:picMkLst>
            <pc:docMk/>
            <pc:sldMk cId="2485136806" sldId="272"/>
            <ac:picMk id="3" creationId="{7F3FC64E-7B66-9B3C-AFFD-DC2242076840}"/>
          </ac:picMkLst>
        </pc:picChg>
      </pc:sldChg>
      <pc:sldChg chg="modSp mod">
        <pc:chgData name="Scott T Lane" userId="c97bbaa9-35da-4a3b-a646-d12e455ac46e" providerId="ADAL" clId="{2FF3E2E3-7818-4E76-9C63-7C10A568D9B9}" dt="2026-04-02T12:05:45.088" v="769" actId="20577"/>
        <pc:sldMkLst>
          <pc:docMk/>
          <pc:sldMk cId="2213051613" sldId="273"/>
        </pc:sldMkLst>
        <pc:spChg chg="mod">
          <ac:chgData name="Scott T Lane" userId="c97bbaa9-35da-4a3b-a646-d12e455ac46e" providerId="ADAL" clId="{2FF3E2E3-7818-4E76-9C63-7C10A568D9B9}" dt="2026-04-02T12:05:45.088" v="769" actId="20577"/>
          <ac:spMkLst>
            <pc:docMk/>
            <pc:sldMk cId="2213051613" sldId="273"/>
            <ac:spMk id="6" creationId="{BD85E2A4-455B-454C-C023-0F3C9E6D749C}"/>
          </ac:spMkLst>
        </pc:spChg>
        <pc:spChg chg="mod">
          <ac:chgData name="Scott T Lane" userId="c97bbaa9-35da-4a3b-a646-d12e455ac46e" providerId="ADAL" clId="{2FF3E2E3-7818-4E76-9C63-7C10A568D9B9}" dt="2026-03-23T19:33:24.174" v="499" actId="27636"/>
          <ac:spMkLst>
            <pc:docMk/>
            <pc:sldMk cId="2213051613" sldId="273"/>
            <ac:spMk id="7" creationId="{5B3A9016-5DE2-FDFA-EA79-C208A47D1030}"/>
          </ac:spMkLst>
        </pc:spChg>
        <pc:picChg chg="mod">
          <ac:chgData name="Scott T Lane" userId="c97bbaa9-35da-4a3b-a646-d12e455ac46e" providerId="ADAL" clId="{2FF3E2E3-7818-4E76-9C63-7C10A568D9B9}" dt="2026-03-23T19:33:34.045" v="503" actId="14100"/>
          <ac:picMkLst>
            <pc:docMk/>
            <pc:sldMk cId="2213051613" sldId="273"/>
            <ac:picMk id="4" creationId="{2BEB69CF-1DC6-4986-A3F6-38EEFED71976}"/>
          </ac:picMkLst>
        </pc:picChg>
      </pc:sldChg>
      <pc:sldChg chg="addSp modSp mod">
        <pc:chgData name="Scott T Lane" userId="c97bbaa9-35da-4a3b-a646-d12e455ac46e" providerId="ADAL" clId="{2FF3E2E3-7818-4E76-9C63-7C10A568D9B9}" dt="2026-03-23T19:37:04.991" v="558" actId="27636"/>
        <pc:sldMkLst>
          <pc:docMk/>
          <pc:sldMk cId="1564473355" sldId="274"/>
        </pc:sldMkLst>
        <pc:spChg chg="mod">
          <ac:chgData name="Scott T Lane" userId="c97bbaa9-35da-4a3b-a646-d12e455ac46e" providerId="ADAL" clId="{2FF3E2E3-7818-4E76-9C63-7C10A568D9B9}" dt="2026-03-23T19:34:31.150" v="515" actId="255"/>
          <ac:spMkLst>
            <pc:docMk/>
            <pc:sldMk cId="1564473355" sldId="274"/>
            <ac:spMk id="6" creationId="{BD85E2A4-455B-454C-C023-0F3C9E6D749C}"/>
          </ac:spMkLst>
        </pc:spChg>
        <pc:spChg chg="mod">
          <ac:chgData name="Scott T Lane" userId="c97bbaa9-35da-4a3b-a646-d12e455ac46e" providerId="ADAL" clId="{2FF3E2E3-7818-4E76-9C63-7C10A568D9B9}" dt="2026-03-23T19:37:04.991" v="558" actId="27636"/>
          <ac:spMkLst>
            <pc:docMk/>
            <pc:sldMk cId="1564473355" sldId="274"/>
            <ac:spMk id="7" creationId="{5B3A9016-5DE2-FDFA-EA79-C208A47D1030}"/>
          </ac:spMkLst>
        </pc:spChg>
        <pc:graphicFrameChg chg="add mod modGraphic">
          <ac:chgData name="Scott T Lane" userId="c97bbaa9-35da-4a3b-a646-d12e455ac46e" providerId="ADAL" clId="{2FF3E2E3-7818-4E76-9C63-7C10A568D9B9}" dt="2026-03-23T19:36:49.288" v="552" actId="1076"/>
          <ac:graphicFrameMkLst>
            <pc:docMk/>
            <pc:sldMk cId="1564473355" sldId="274"/>
            <ac:graphicFrameMk id="5" creationId="{B23638EF-C6E0-95DB-F37B-3929F24D862C}"/>
          </ac:graphicFrameMkLst>
        </pc:graphicFrameChg>
      </pc:sldChg>
      <pc:sldChg chg="addSp modSp mod">
        <pc:chgData name="Scott T Lane" userId="c97bbaa9-35da-4a3b-a646-d12e455ac46e" providerId="ADAL" clId="{2FF3E2E3-7818-4E76-9C63-7C10A568D9B9}" dt="2026-03-23T19:48:48.103" v="705" actId="27636"/>
        <pc:sldMkLst>
          <pc:docMk/>
          <pc:sldMk cId="595715421" sldId="277"/>
        </pc:sldMkLst>
        <pc:spChg chg="mod">
          <ac:chgData name="Scott T Lane" userId="c97bbaa9-35da-4a3b-a646-d12e455ac46e" providerId="ADAL" clId="{2FF3E2E3-7818-4E76-9C63-7C10A568D9B9}" dt="2026-03-23T19:46:52.102" v="672" actId="20577"/>
          <ac:spMkLst>
            <pc:docMk/>
            <pc:sldMk cId="595715421" sldId="277"/>
            <ac:spMk id="6" creationId="{BD85E2A4-455B-454C-C023-0F3C9E6D749C}"/>
          </ac:spMkLst>
        </pc:spChg>
        <pc:spChg chg="mod">
          <ac:chgData name="Scott T Lane" userId="c97bbaa9-35da-4a3b-a646-d12e455ac46e" providerId="ADAL" clId="{2FF3E2E3-7818-4E76-9C63-7C10A568D9B9}" dt="2026-03-23T19:48:48.103" v="705" actId="27636"/>
          <ac:spMkLst>
            <pc:docMk/>
            <pc:sldMk cId="595715421" sldId="277"/>
            <ac:spMk id="7" creationId="{5B3A9016-5DE2-FDFA-EA79-C208A47D1030}"/>
          </ac:spMkLst>
        </pc:spChg>
        <pc:graphicFrameChg chg="add mod modGraphic">
          <ac:chgData name="Scott T Lane" userId="c97bbaa9-35da-4a3b-a646-d12e455ac46e" providerId="ADAL" clId="{2FF3E2E3-7818-4E76-9C63-7C10A568D9B9}" dt="2026-03-23T19:48:40.608" v="701" actId="14100"/>
          <ac:graphicFrameMkLst>
            <pc:docMk/>
            <pc:sldMk cId="595715421" sldId="277"/>
            <ac:graphicFrameMk id="2" creationId="{A2ACBAB6-E534-5548-A0E9-9E7C8CBE02B4}"/>
          </ac:graphicFrameMkLst>
        </pc:graphicFrameChg>
      </pc:sldChg>
      <pc:sldChg chg="addSp modSp new mod">
        <pc:chgData name="Scott T Lane" userId="c97bbaa9-35da-4a3b-a646-d12e455ac46e" providerId="ADAL" clId="{2FF3E2E3-7818-4E76-9C63-7C10A568D9B9}" dt="2026-03-23T19:03:14.535" v="426" actId="27636"/>
        <pc:sldMkLst>
          <pc:docMk/>
          <pc:sldMk cId="2025642297" sldId="279"/>
        </pc:sldMkLst>
        <pc:spChg chg="mod">
          <ac:chgData name="Scott T Lane" userId="c97bbaa9-35da-4a3b-a646-d12e455ac46e" providerId="ADAL" clId="{2FF3E2E3-7818-4E76-9C63-7C10A568D9B9}" dt="2026-03-23T19:01:30.684" v="401" actId="113"/>
          <ac:spMkLst>
            <pc:docMk/>
            <pc:sldMk cId="2025642297" sldId="279"/>
            <ac:spMk id="2" creationId="{8EF89825-30A1-BF1C-BB46-FADFCBE623FF}"/>
          </ac:spMkLst>
        </pc:spChg>
        <pc:spChg chg="mod">
          <ac:chgData name="Scott T Lane" userId="c97bbaa9-35da-4a3b-a646-d12e455ac46e" providerId="ADAL" clId="{2FF3E2E3-7818-4E76-9C63-7C10A568D9B9}" dt="2026-03-23T19:03:14.535" v="426" actId="27636"/>
          <ac:spMkLst>
            <pc:docMk/>
            <pc:sldMk cId="2025642297" sldId="279"/>
            <ac:spMk id="3" creationId="{A80137A6-7B68-FC86-4532-6BB9C07468D6}"/>
          </ac:spMkLst>
        </pc:spChg>
        <pc:graphicFrameChg chg="add mod modGraphic">
          <ac:chgData name="Scott T Lane" userId="c97bbaa9-35da-4a3b-a646-d12e455ac46e" providerId="ADAL" clId="{2FF3E2E3-7818-4E76-9C63-7C10A568D9B9}" dt="2026-03-23T19:03:12.057" v="424" actId="1076"/>
          <ac:graphicFrameMkLst>
            <pc:docMk/>
            <pc:sldMk cId="2025642297" sldId="279"/>
            <ac:graphicFrameMk id="4" creationId="{113B045D-D77B-4E71-D42A-C5346EE4ED29}"/>
          </ac:graphicFrameMkLst>
        </pc:graphicFrameChg>
      </pc:sldChg>
      <pc:sldChg chg="addSp modSp new mod">
        <pc:chgData name="Scott T Lane" userId="c97bbaa9-35da-4a3b-a646-d12e455ac46e" providerId="ADAL" clId="{2FF3E2E3-7818-4E76-9C63-7C10A568D9B9}" dt="2026-03-23T19:40:45.794" v="598" actId="20577"/>
        <pc:sldMkLst>
          <pc:docMk/>
          <pc:sldMk cId="2497804823" sldId="280"/>
        </pc:sldMkLst>
        <pc:spChg chg="mod">
          <ac:chgData name="Scott T Lane" userId="c97bbaa9-35da-4a3b-a646-d12e455ac46e" providerId="ADAL" clId="{2FF3E2E3-7818-4E76-9C63-7C10A568D9B9}" dt="2026-03-23T19:38:48.940" v="564" actId="113"/>
          <ac:spMkLst>
            <pc:docMk/>
            <pc:sldMk cId="2497804823" sldId="280"/>
            <ac:spMk id="2" creationId="{73730F48-7564-7C9B-218F-7DB103019964}"/>
          </ac:spMkLst>
        </pc:spChg>
        <pc:spChg chg="mod">
          <ac:chgData name="Scott T Lane" userId="c97bbaa9-35da-4a3b-a646-d12e455ac46e" providerId="ADAL" clId="{2FF3E2E3-7818-4E76-9C63-7C10A568D9B9}" dt="2026-03-23T19:40:45.794" v="598" actId="20577"/>
          <ac:spMkLst>
            <pc:docMk/>
            <pc:sldMk cId="2497804823" sldId="280"/>
            <ac:spMk id="3" creationId="{DFD720B8-9DC2-5777-CE9C-8E0F5E8323C3}"/>
          </ac:spMkLst>
        </pc:spChg>
        <pc:graphicFrameChg chg="add mod modGraphic">
          <ac:chgData name="Scott T Lane" userId="c97bbaa9-35da-4a3b-a646-d12e455ac46e" providerId="ADAL" clId="{2FF3E2E3-7818-4E76-9C63-7C10A568D9B9}" dt="2026-03-23T19:40:23.052" v="592" actId="14100"/>
          <ac:graphicFrameMkLst>
            <pc:docMk/>
            <pc:sldMk cId="2497804823" sldId="280"/>
            <ac:graphicFrameMk id="4" creationId="{4F4C010C-26CA-64C5-D038-BCBF63F759FF}"/>
          </ac:graphicFrameMkLst>
        </pc:graphicFrameChg>
        <pc:graphicFrameChg chg="add mod modGraphic">
          <ac:chgData name="Scott T Lane" userId="c97bbaa9-35da-4a3b-a646-d12e455ac46e" providerId="ADAL" clId="{2FF3E2E3-7818-4E76-9C63-7C10A568D9B9}" dt="2026-03-23T19:40:42.853" v="597" actId="14100"/>
          <ac:graphicFrameMkLst>
            <pc:docMk/>
            <pc:sldMk cId="2497804823" sldId="280"/>
            <ac:graphicFrameMk id="5" creationId="{B0AAE946-46E6-4E8A-4D14-A6525AE2B02B}"/>
          </ac:graphicFrameMkLst>
        </pc:graphicFrameChg>
      </pc:sldChg>
      <pc:sldChg chg="addSp modSp new mod">
        <pc:chgData name="Scott T Lane" userId="c97bbaa9-35da-4a3b-a646-d12e455ac46e" providerId="ADAL" clId="{2FF3E2E3-7818-4E76-9C63-7C10A568D9B9}" dt="2026-03-23T19:44:07.635" v="634" actId="20577"/>
        <pc:sldMkLst>
          <pc:docMk/>
          <pc:sldMk cId="2947762421" sldId="281"/>
        </pc:sldMkLst>
        <pc:spChg chg="mod">
          <ac:chgData name="Scott T Lane" userId="c97bbaa9-35da-4a3b-a646-d12e455ac46e" providerId="ADAL" clId="{2FF3E2E3-7818-4E76-9C63-7C10A568D9B9}" dt="2026-03-23T19:42:24.996" v="604" actId="113"/>
          <ac:spMkLst>
            <pc:docMk/>
            <pc:sldMk cId="2947762421" sldId="281"/>
            <ac:spMk id="2" creationId="{4FD4F2A8-6D90-6801-0925-9B4D69E42C00}"/>
          </ac:spMkLst>
        </pc:spChg>
        <pc:spChg chg="mod">
          <ac:chgData name="Scott T Lane" userId="c97bbaa9-35da-4a3b-a646-d12e455ac46e" providerId="ADAL" clId="{2FF3E2E3-7818-4E76-9C63-7C10A568D9B9}" dt="2026-03-23T19:44:07.635" v="634" actId="20577"/>
          <ac:spMkLst>
            <pc:docMk/>
            <pc:sldMk cId="2947762421" sldId="281"/>
            <ac:spMk id="3" creationId="{ECD523CC-A556-159A-3BAA-E3DD3EF8E55F}"/>
          </ac:spMkLst>
        </pc:spChg>
        <pc:graphicFrameChg chg="add mod modGraphic">
          <ac:chgData name="Scott T Lane" userId="c97bbaa9-35da-4a3b-a646-d12e455ac46e" providerId="ADAL" clId="{2FF3E2E3-7818-4E76-9C63-7C10A568D9B9}" dt="2026-03-23T19:44:02.742" v="633" actId="14100"/>
          <ac:graphicFrameMkLst>
            <pc:docMk/>
            <pc:sldMk cId="2947762421" sldId="281"/>
            <ac:graphicFrameMk id="4" creationId="{F28A52BD-2829-82C0-517D-234186F8A8EA}"/>
          </ac:graphicFrameMkLst>
        </pc:graphicFrameChg>
      </pc:sldChg>
      <pc:sldChg chg="modSp new mod">
        <pc:chgData name="Scott T Lane" userId="c97bbaa9-35da-4a3b-a646-d12e455ac46e" providerId="ADAL" clId="{2FF3E2E3-7818-4E76-9C63-7C10A568D9B9}" dt="2026-03-23T19:45:50.806" v="651" actId="27636"/>
        <pc:sldMkLst>
          <pc:docMk/>
          <pc:sldMk cId="3564647960" sldId="282"/>
        </pc:sldMkLst>
        <pc:spChg chg="mod">
          <ac:chgData name="Scott T Lane" userId="c97bbaa9-35da-4a3b-a646-d12e455ac46e" providerId="ADAL" clId="{2FF3E2E3-7818-4E76-9C63-7C10A568D9B9}" dt="2026-03-23T19:45:15.151" v="638" actId="113"/>
          <ac:spMkLst>
            <pc:docMk/>
            <pc:sldMk cId="3564647960" sldId="282"/>
            <ac:spMk id="2" creationId="{1BB479DC-856A-B01F-79F6-879ABD6A862C}"/>
          </ac:spMkLst>
        </pc:spChg>
        <pc:spChg chg="mod">
          <ac:chgData name="Scott T Lane" userId="c97bbaa9-35da-4a3b-a646-d12e455ac46e" providerId="ADAL" clId="{2FF3E2E3-7818-4E76-9C63-7C10A568D9B9}" dt="2026-03-23T19:45:50.806" v="651" actId="27636"/>
          <ac:spMkLst>
            <pc:docMk/>
            <pc:sldMk cId="3564647960" sldId="282"/>
            <ac:spMk id="3" creationId="{2206246F-3431-A55C-3B67-5BD67523F38C}"/>
          </ac:spMkLst>
        </pc:spChg>
      </pc:sldChg>
      <pc:sldChg chg="addSp modSp new mod">
        <pc:chgData name="Scott T Lane" userId="c97bbaa9-35da-4a3b-a646-d12e455ac46e" providerId="ADAL" clId="{2FF3E2E3-7818-4E76-9C63-7C10A568D9B9}" dt="2026-03-23T19:52:23.563" v="746" actId="1076"/>
        <pc:sldMkLst>
          <pc:docMk/>
          <pc:sldMk cId="610706876" sldId="283"/>
        </pc:sldMkLst>
        <pc:spChg chg="mod">
          <ac:chgData name="Scott T Lane" userId="c97bbaa9-35da-4a3b-a646-d12e455ac46e" providerId="ADAL" clId="{2FF3E2E3-7818-4E76-9C63-7C10A568D9B9}" dt="2026-03-23T19:49:52.446" v="710" actId="113"/>
          <ac:spMkLst>
            <pc:docMk/>
            <pc:sldMk cId="610706876" sldId="283"/>
            <ac:spMk id="2" creationId="{49271E66-71C7-875C-C512-9D7F4B6C662C}"/>
          </ac:spMkLst>
        </pc:spChg>
        <pc:spChg chg="mod">
          <ac:chgData name="Scott T Lane" userId="c97bbaa9-35da-4a3b-a646-d12e455ac46e" providerId="ADAL" clId="{2FF3E2E3-7818-4E76-9C63-7C10A568D9B9}" dt="2026-03-23T19:52:16.407" v="745" actId="27636"/>
          <ac:spMkLst>
            <pc:docMk/>
            <pc:sldMk cId="610706876" sldId="283"/>
            <ac:spMk id="3" creationId="{9D3D6955-9CCD-0AF7-5A8C-5D0DCF93CAA0}"/>
          </ac:spMkLst>
        </pc:spChg>
        <pc:graphicFrameChg chg="add mod modGraphic">
          <ac:chgData name="Scott T Lane" userId="c97bbaa9-35da-4a3b-a646-d12e455ac46e" providerId="ADAL" clId="{2FF3E2E3-7818-4E76-9C63-7C10A568D9B9}" dt="2026-03-23T19:52:23.563" v="746" actId="1076"/>
          <ac:graphicFrameMkLst>
            <pc:docMk/>
            <pc:sldMk cId="610706876" sldId="283"/>
            <ac:graphicFrameMk id="4" creationId="{00094EA0-4491-B42D-FA14-8ED57999AF63}"/>
          </ac:graphicFrameMkLst>
        </pc:graphicFrameChg>
      </pc:sldChg>
      <pc:sldChg chg="addSp delSp modSp new mod">
        <pc:chgData name="Scott T Lane" userId="c97bbaa9-35da-4a3b-a646-d12e455ac46e" providerId="ADAL" clId="{2FF3E2E3-7818-4E76-9C63-7C10A568D9B9}" dt="2026-03-23T19:53:43.168" v="762" actId="113"/>
        <pc:sldMkLst>
          <pc:docMk/>
          <pc:sldMk cId="3005979817" sldId="284"/>
        </pc:sldMkLst>
        <pc:spChg chg="mod">
          <ac:chgData name="Scott T Lane" userId="c97bbaa9-35da-4a3b-a646-d12e455ac46e" providerId="ADAL" clId="{2FF3E2E3-7818-4E76-9C63-7C10A568D9B9}" dt="2026-03-23T19:52:46.692" v="751" actId="113"/>
          <ac:spMkLst>
            <pc:docMk/>
            <pc:sldMk cId="3005979817" sldId="284"/>
            <ac:spMk id="2" creationId="{BA5B5689-CD7B-46C9-09A6-9524D4C5D513}"/>
          </ac:spMkLst>
        </pc:spChg>
        <pc:spChg chg="mod">
          <ac:chgData name="Scott T Lane" userId="c97bbaa9-35da-4a3b-a646-d12e455ac46e" providerId="ADAL" clId="{2FF3E2E3-7818-4E76-9C63-7C10A568D9B9}" dt="2026-03-23T19:53:43.168" v="762" actId="113"/>
          <ac:spMkLst>
            <pc:docMk/>
            <pc:sldMk cId="3005979817" sldId="284"/>
            <ac:spMk id="3" creationId="{11C1F323-D4B5-B2D9-126D-A893C25EDCF5}"/>
          </ac:spMkLst>
        </pc:spChg>
      </pc:sldChg>
      <pc:sldMasterChg chg="delSp modSp mod modSldLayout">
        <pc:chgData name="Scott T Lane" userId="c97bbaa9-35da-4a3b-a646-d12e455ac46e" providerId="ADAL" clId="{2FF3E2E3-7818-4E76-9C63-7C10A568D9B9}" dt="2026-03-23T18:45:39.330" v="89" actId="14100"/>
        <pc:sldMasterMkLst>
          <pc:docMk/>
          <pc:sldMasterMk cId="2966437356" sldId="2147483688"/>
        </pc:sldMasterMkLst>
        <pc:spChg chg="mod">
          <ac:chgData name="Scott T Lane" userId="c97bbaa9-35da-4a3b-a646-d12e455ac46e" providerId="ADAL" clId="{2FF3E2E3-7818-4E76-9C63-7C10A568D9B9}" dt="2026-03-23T18:44:59.667" v="81" actId="208"/>
          <ac:spMkLst>
            <pc:docMk/>
            <pc:sldMasterMk cId="2966437356" sldId="2147483688"/>
            <ac:spMk id="3" creationId="{00000000-0000-0000-0000-000000000000}"/>
          </ac:spMkLst>
        </pc:spChg>
        <pc:sldLayoutChg chg="delSp modSp mod">
          <pc:chgData name="Scott T Lane" userId="c97bbaa9-35da-4a3b-a646-d12e455ac46e" providerId="ADAL" clId="{2FF3E2E3-7818-4E76-9C63-7C10A568D9B9}" dt="2026-03-23T18:45:39.330" v="89" actId="14100"/>
          <pc:sldLayoutMkLst>
            <pc:docMk/>
            <pc:sldMasterMk cId="2966437356" sldId="2147483688"/>
            <pc:sldLayoutMk cId="1609803304" sldId="2147483700"/>
          </pc:sldLayoutMkLst>
          <pc:spChg chg="mod">
            <ac:chgData name="Scott T Lane" userId="c97bbaa9-35da-4a3b-a646-d12e455ac46e" providerId="ADAL" clId="{2FF3E2E3-7818-4E76-9C63-7C10A568D9B9}" dt="2026-03-23T18:45:36.569" v="88" actId="14100"/>
            <ac:spMkLst>
              <pc:docMk/>
              <pc:sldMasterMk cId="2966437356" sldId="2147483688"/>
              <pc:sldLayoutMk cId="1609803304" sldId="2147483700"/>
              <ac:spMk id="2" creationId="{00000000-0000-0000-0000-000000000000}"/>
            </ac:spMkLst>
          </pc:spChg>
          <pc:spChg chg="mod">
            <ac:chgData name="Scott T Lane" userId="c97bbaa9-35da-4a3b-a646-d12e455ac46e" providerId="ADAL" clId="{2FF3E2E3-7818-4E76-9C63-7C10A568D9B9}" dt="2026-03-23T18:45:39.330" v="89" actId="14100"/>
            <ac:spMkLst>
              <pc:docMk/>
              <pc:sldMasterMk cId="2966437356" sldId="2147483688"/>
              <pc:sldLayoutMk cId="1609803304" sldId="2147483700"/>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Chapter 4, where we apply supply and demand analysis beyond the goods market. Today we'll explore how labor markets determine your salary and how financial markets determine interest rates. These principles affect whether you get that job interview, how much student loan interest you'll pay, and even your future retirement.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1451512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Think of markets like dating apps—different platforms for different exchanges. Just as Tinder connects people romantically, labor markets connect workers with employers, and financial markets connect those with extra money to those who need it. The same fundamental laws apply: scarcity, competition, and price signals. When you applied for your part-time job, you entered a labor market. When you took out student loans, you entered a financial market as a borrower.</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4216339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Labor markets are like a sophisticated matching system. The "price" is your wage or salary. Think of nurses in Minneapolis: at $85,000/year equilibrium, exactly 41,000 nurses want to work AND exactly 41,000 positions are available—a perfect match. If hospitals offered $90,000, suddenly 45,000 people want nursing jobs but only 40,000 positions exist—creating a surplus. Conversely, at $70,000, only 27,000 want to be nurses but 52,000 positions need filling—a shortage that pushes wages up.</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1072570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Here's the crucial insight: employers don't hire workers for fun—they hire because consumers want products. This is "derived demand." If Tesla sells more cars, they need more assembly workers. The demand curve shifts right. But here's where it gets interesting: technology can be a double-edged sword. Word processing software </a:t>
            </a:r>
            <a:r>
              <a:rPr lang="en-US" sz="1200" b="0" i="1" kern="1200" dirty="0">
                <a:solidFill>
                  <a:schemeClr val="tx1"/>
                </a:solidFill>
                <a:effectLst/>
                <a:latin typeface="+mn-lt"/>
                <a:ea typeface="+mn-ea"/>
                <a:cs typeface="+mn-cs"/>
              </a:rPr>
              <a:t>replaced</a:t>
            </a:r>
            <a:r>
              <a:rPr lang="en-US" sz="1200" b="0" i="0" kern="1200" dirty="0">
                <a:solidFill>
                  <a:schemeClr val="tx1"/>
                </a:solidFill>
                <a:effectLst/>
                <a:latin typeface="+mn-lt"/>
                <a:ea typeface="+mn-ea"/>
                <a:cs typeface="+mn-cs"/>
              </a:rPr>
              <a:t> typists (substitute—demand shifted left), but it </a:t>
            </a:r>
            <a:r>
              <a:rPr lang="en-US" sz="1200" b="0" i="1" kern="1200" dirty="0">
                <a:solidFill>
                  <a:schemeClr val="tx1"/>
                </a:solidFill>
                <a:effectLst/>
                <a:latin typeface="+mn-lt"/>
                <a:ea typeface="+mn-ea"/>
                <a:cs typeface="+mn-cs"/>
              </a:rPr>
              <a:t>created</a:t>
            </a:r>
            <a:r>
              <a:rPr lang="en-US" sz="1200" b="0" i="0" kern="1200" dirty="0">
                <a:solidFill>
                  <a:schemeClr val="tx1"/>
                </a:solidFill>
                <a:effectLst/>
                <a:latin typeface="+mn-lt"/>
                <a:ea typeface="+mn-ea"/>
                <a:cs typeface="+mn-cs"/>
              </a:rPr>
              <a:t> demand for IT support (complement—demand shifted right). This explains wage inequality we'll discuss later.</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2874644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Supply shifts when the number of available workers changes. Think about the pandemic's impact: millions left service jobs for remote work or early retirement—supply shifted left, creating those "help wanted" signs everywhere. Employers had to raise wages to attract workers back. Alternatively, when TikTok makes a career look glamorous, supply floods in. Government can manipulate supply too: subsidize nursing schools, and you get more nurses. Require expensive licenses, and supply shrinks.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3292452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one of the most important economic trends of our lifetime. Technology doesn't affect all workers equally. If you're a file clerk, computers replaced you—demand shifted left, wages fell. But if you're a manager, computers made you more productive—you can oversee more people, analyze more data—demand shifted right, wages rose. This is why your parents constantly tell you to get skills that complement technology, not compete with it. The gap isn't narrowing—it's widening.</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1765451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be clear-eyed about minimum wage economics. It's a price floor—a legal minimum price. When set above equilibrium, it creates unemployment. But who loses their job? Those with least experience, skills, and education—often the very people the law intended to help. Employers respond in predictable ways: cut hours, eliminate benefits, automate (hello, McDonald's kiosks), raise prices or close entirely. The true minimum wage is always zero if you can't find a job. Now, economics can't tell us whether we </a:t>
            </a:r>
            <a:r>
              <a:rPr lang="en-US" sz="1200" b="0" i="1" kern="1200" dirty="0">
                <a:solidFill>
                  <a:schemeClr val="tx1"/>
                </a:solidFill>
                <a:effectLst/>
                <a:latin typeface="+mn-lt"/>
                <a:ea typeface="+mn-ea"/>
                <a:cs typeface="+mn-cs"/>
              </a:rPr>
              <a:t>should</a:t>
            </a:r>
            <a:r>
              <a:rPr lang="en-US" sz="1200" b="0" i="0" kern="1200" dirty="0">
                <a:solidFill>
                  <a:schemeClr val="tx1"/>
                </a:solidFill>
                <a:effectLst/>
                <a:latin typeface="+mn-lt"/>
                <a:ea typeface="+mn-ea"/>
                <a:cs typeface="+mn-cs"/>
              </a:rPr>
              <a:t> have a minimum wage—that's a values question. But it can clarify the tradeoffs: some win, more lose. About 1.5% of workers earn minimum wage, so for most workers, market forces determine pay.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1003648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Students often worry about employer exploitation. Legitimate concern, but monopsony—a single employer—is rare. Most workers have options, and employers compete for talent. In fact, many employers voluntarily pay </a:t>
            </a:r>
            <a:r>
              <a:rPr lang="en-US" sz="1200" b="0" i="1" kern="1200" dirty="0">
                <a:solidFill>
                  <a:schemeClr val="tx1"/>
                </a:solidFill>
                <a:effectLst/>
                <a:latin typeface="+mn-lt"/>
                <a:ea typeface="+mn-ea"/>
                <a:cs typeface="+mn-cs"/>
              </a:rPr>
              <a:t>above</a:t>
            </a:r>
            <a:r>
              <a:rPr lang="en-US" sz="1200" b="0" i="0" kern="1200" dirty="0">
                <a:solidFill>
                  <a:schemeClr val="tx1"/>
                </a:solidFill>
                <a:effectLst/>
                <a:latin typeface="+mn-lt"/>
                <a:ea typeface="+mn-ea"/>
                <a:cs typeface="+mn-cs"/>
              </a:rPr>
              <a:t> market rates through "efficiency wages." Why? Costco is the perfect example: they pay checkout workers significantly more than Walmart. Result? Lower turnover saves money on recruiting and training. Workers are more motivated and productive. It's not charity—it's smart business, especially in tight labor markets where unemployment is low.</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1120073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Financial markets are just money rental markets. When you put money in a savings account, you're "renting" it to the bank, and they pay you rent called interest. When you borrow for a car, you're renting money from the lender, and you pay them rent. The interest rate is simply the price of renting money. Higher rates? Fewer people want to borrow (law of demand), but more people want to save (law of supply). At 15% for credit cards, the market clears at $600 billion—that's where the amount people want to borrow equals the amount credit card companies want to lend.</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2413807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one of the most important concepts in personal finance. You're making intertemporal choices constantly, whether you realize it or not. Taking student loans? You're borrowing against your future higher income. Saving for retirement? You're sacrificing consumption today for comfort later. Here's a controversy: some economists argue Social Security reduces private saving because people think, "Government will take care of me in retirement, so why save?" Businesses make these choices too: Apple invests billions in R&amp;D today for products that won't generate revenue for years. The interest rate is crucial—it's the "price" of moving money through time.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13</a:t>
            </a:fld>
            <a:endParaRPr lang="en-US"/>
          </a:p>
        </p:txBody>
      </p:sp>
    </p:spTree>
    <p:extLst>
      <p:ext uri="{BB962C8B-B14F-4D97-AF65-F5344CB8AC3E}">
        <p14:creationId xmlns:p14="http://schemas.microsoft.com/office/powerpoint/2010/main" val="826472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Financial markets shift based on confidence and expectations. Think about the late 1990s internet boom—businesses were wildly optimistic about tech investments. Demand for loans surged right, pushing interest rates up. Then 2008 hit—confidence collapsed, demand shifted left, and even with lower interest rates, businesses weren't borrowing. On the supply side, if you get a raise, you'll probably save more (supply shifts right). If the stock market crashes, people move savings from stocks to safer bonds—that's a shift in supply across different financial instruments.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14</a:t>
            </a:fld>
            <a:endParaRPr lang="en-US"/>
          </a:p>
        </p:txBody>
      </p:sp>
    </p:spTree>
    <p:extLst>
      <p:ext uri="{BB962C8B-B14F-4D97-AF65-F5344CB8AC3E}">
        <p14:creationId xmlns:p14="http://schemas.microsoft.com/office/powerpoint/2010/main" val="3231229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a huge macroeconomic vulnerability. The U.S. runs on foreign capital—we borrow more from abroad than we lend. Why do foreigners invest here? Historically, the U.S. has been seen as stable, safe, and profitable. But what if that changes? Say foreign investors worry about U.S. government debt levels and pull their money out. Supply of financial capital shifts left—now there's less money available to borrow. Basic supply and demand: interest rates rise, quantity of investment falls. Every American trying to buy a house, finance a car, or start a business faces higher costs. This is why fiscal responsibility matters at the national level.</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15</a:t>
            </a:fld>
            <a:endParaRPr lang="en-US"/>
          </a:p>
        </p:txBody>
      </p:sp>
    </p:spTree>
    <p:extLst>
      <p:ext uri="{BB962C8B-B14F-4D97-AF65-F5344CB8AC3E}">
        <p14:creationId xmlns:p14="http://schemas.microsoft.com/office/powerpoint/2010/main" val="330487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 ceilings in financial markets are called usury laws—caps on interest rates. Sounds consumer-friendly, right? But let's apply supply and demand. At below-equilibrium rates, quantity demanded exceeds quantity supplied—a shortage. Credit card companies simply deny more applications. They'll lend to the safest borrowers but reject riskier ones. The people who most need access to credit—those with imperfect credit histories—are shut out entirely. Ironically, the law intended to help them may hurt them most. Most usury laws are set so high they don't bind anyway—30% is common, well above typical market rates.</a:t>
            </a:r>
          </a:p>
          <a:p>
            <a:br>
              <a:rPr lang="en-US" dirty="0"/>
            </a:b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16</a:t>
            </a:fld>
            <a:endParaRPr lang="en-US"/>
          </a:p>
        </p:txBody>
      </p:sp>
    </p:spTree>
    <p:extLst>
      <p:ext uri="{BB962C8B-B14F-4D97-AF65-F5344CB8AC3E}">
        <p14:creationId xmlns:p14="http://schemas.microsoft.com/office/powerpoint/2010/main" val="443006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perhaps the most profound economic insight: prices are information. You don't need to know </a:t>
            </a:r>
            <a:r>
              <a:rPr lang="en-US" sz="1200" b="0" i="1" kern="1200" dirty="0">
                <a:solidFill>
                  <a:schemeClr val="tx1"/>
                </a:solidFill>
                <a:effectLst/>
                <a:latin typeface="+mn-lt"/>
                <a:ea typeface="+mn-ea"/>
                <a:cs typeface="+mn-cs"/>
              </a:rPr>
              <a:t>why</a:t>
            </a:r>
            <a:r>
              <a:rPr lang="en-US" sz="1200" b="0" i="0" kern="1200" dirty="0">
                <a:solidFill>
                  <a:schemeClr val="tx1"/>
                </a:solidFill>
                <a:effectLst/>
                <a:latin typeface="+mn-lt"/>
                <a:ea typeface="+mn-ea"/>
                <a:cs typeface="+mn-cs"/>
              </a:rPr>
              <a:t> plane tickets are expensive during Thanksgiving—maybe fuel costs rose, maybe demand spiked. You just see the price and adjust your behavior. Same for producers—the oat farmer doesn't need a committee to tell him to plant more oats. The price signal tells him everything he needs to know. Price controls—whether floors or ceilings—silence these signals. China's Great Leap Forward is a tragic example: the government kept food prices low to look pro-worker. Result? Farmers stopped producing because it wasn't profitable. 30-40 million people starved. Prices aren't optional suggestions—they're critical information systems.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17</a:t>
            </a:fld>
            <a:endParaRPr lang="en-US"/>
          </a:p>
        </p:txBody>
      </p:sp>
    </p:spTree>
    <p:extLst>
      <p:ext uri="{BB962C8B-B14F-4D97-AF65-F5344CB8AC3E}">
        <p14:creationId xmlns:p14="http://schemas.microsoft.com/office/powerpoint/2010/main" val="2263266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apply everything we've learned to a real-world case. Baby boomers—that massive generation born after WWII—are aging. They need healthcare. Demand for nurses shifts right. Simultaneously, current nurses are retiring, and nursing school is expensive, so supply shifts left. What happens to wages? Definitely rise—both shifts push wages up. But what about the quantity of nurses? That's ambiguous—depends on which shift is larger. If demand increases more than supply decreases, we'll have more nurses (but at higher salaries). If supply decreases more than demand increases, fewer nurses (also at higher salaries). Either way, nursing is a great career choice from a supply-demand perspective!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18</a:t>
            </a:fld>
            <a:endParaRPr lang="en-US"/>
          </a:p>
        </p:txBody>
      </p:sp>
    </p:spTree>
    <p:extLst>
      <p:ext uri="{BB962C8B-B14F-4D97-AF65-F5344CB8AC3E}">
        <p14:creationId xmlns:p14="http://schemas.microsoft.com/office/powerpoint/2010/main" val="326926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aren't just abstract graphs—these are the tools that will help you understand your salary negotiations, your student loan terms, your investment choices, and the economic news you read every day. When politicians propose minimum wage hikes, you can analyze the tradeoffs. When the Fed raises interest rates, you understand the impact on your ability to borrow. When you choose a career, you can think about supply and demand for those skills. Master these principles, and you have a lifetime analytical toolkit.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19</a:t>
            </a:fld>
            <a:endParaRPr lang="en-US"/>
          </a:p>
        </p:txBody>
      </p:sp>
    </p:spTree>
    <p:extLst>
      <p:ext uri="{BB962C8B-B14F-4D97-AF65-F5344CB8AC3E}">
        <p14:creationId xmlns:p14="http://schemas.microsoft.com/office/powerpoint/2010/main" val="2896629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7821429" y="6238816"/>
            <a:ext cx="2753746" cy="323968"/>
          </a:xfrm>
          <a:prstGeom prst="rect">
            <a:avLst/>
          </a:prstGeom>
        </p:spPr>
        <p:txBody>
          <a:bodyPr/>
          <a:lstStyle/>
          <a:p>
            <a:fld id="{6444479B-705B-4489-957E-7E8A228BDFA0}" type="datetime1">
              <a:rPr lang="en-US" smtClean="0"/>
              <a:t>4/2/2026</a:t>
            </a:fld>
            <a:endParaRPr lang="en-US"/>
          </a:p>
        </p:txBody>
      </p:sp>
      <p:sp>
        <p:nvSpPr>
          <p:cNvPr id="8" name="Footer Placeholder 7"/>
          <p:cNvSpPr>
            <a:spLocks noGrp="1"/>
          </p:cNvSpPr>
          <p:nvPr>
            <p:ph type="ftr" sz="quarter" idx="11"/>
          </p:nvPr>
        </p:nvSpPr>
        <p:spPr>
          <a:xfrm>
            <a:off x="1600200" y="6236208"/>
            <a:ext cx="5901189" cy="320040"/>
          </a:xfrm>
          <a:prstGeom prst="rect">
            <a:avLst/>
          </a:prstGeom>
        </p:spPr>
        <p:txBody>
          <a:bodyPr/>
          <a:lstStyle/>
          <a:p>
            <a:endParaRPr lang="en-US" dirty="0"/>
          </a:p>
        </p:txBody>
      </p:sp>
      <p:sp>
        <p:nvSpPr>
          <p:cNvPr id="9" name="Slide Number Placeholder 8"/>
          <p:cNvSpPr>
            <a:spLocks noGrp="1"/>
          </p:cNvSpPr>
          <p:nvPr>
            <p:ph type="sldNum" sz="quarter" idx="12"/>
          </p:nvPr>
        </p:nvSpPr>
        <p:spPr>
          <a:xfrm>
            <a:off x="10758922" y="6217920"/>
            <a:ext cx="365760" cy="365760"/>
          </a:xfrm>
          <a:prstGeom prst="ellipse">
            <a:avLst/>
          </a:prstGeo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0236024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590838"/>
          </a:xfrm>
        </p:spPr>
        <p:txBody>
          <a:bodyPr>
            <a:noAutofit/>
          </a:bodyPr>
          <a:lstStyle>
            <a:lvl1pPr>
              <a:defRPr sz="2800" b="0">
                <a:solidFill>
                  <a:schemeClr val="tx1"/>
                </a:solidFill>
              </a:defRPr>
            </a:lvl1pPr>
          </a:lstStyle>
          <a:p>
            <a:r>
              <a:rPr lang="en-US" dirty="0"/>
              <a:t>Title</a:t>
            </a:r>
          </a:p>
        </p:txBody>
      </p:sp>
      <p:sp>
        <p:nvSpPr>
          <p:cNvPr id="3" name="Content Placeholder 2"/>
          <p:cNvSpPr>
            <a:spLocks noGrp="1"/>
          </p:cNvSpPr>
          <p:nvPr>
            <p:ph idx="1"/>
          </p:nvPr>
        </p:nvSpPr>
        <p:spPr>
          <a:xfrm>
            <a:off x="838200" y="1341120"/>
            <a:ext cx="10515600" cy="5225143"/>
          </a:xfrm>
          <a:ln>
            <a:solidFill>
              <a:schemeClr val="tx1"/>
            </a:solid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980330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a:ln>
            <a:solidFill>
              <a:schemeClr val="tx1"/>
            </a:solidFill>
          </a:ln>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6437356"/>
      </p:ext>
    </p:extLst>
  </p:cSld>
  <p:clrMap bg1="lt1" tx1="dk1" bg2="lt2" tx2="dk2" accent1="accent1" accent2="accent2" accent3="accent3" accent4="accent4" accent5="accent5" accent6="accent6" hlink="hlink" folHlink="folHlink"/>
  <p:sldLayoutIdLst>
    <p:sldLayoutId id="2147483689" r:id="rId1"/>
    <p:sldLayoutId id="2147483700" r:id="rId2"/>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Tx/>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7528" y="1032765"/>
            <a:ext cx="4308672" cy="1405636"/>
          </a:xfrm>
        </p:spPr>
        <p:txBody>
          <a:bodyPr anchor="b">
            <a:normAutofit/>
          </a:bodyPr>
          <a:lstStyle/>
          <a:p>
            <a:r>
              <a:rPr lang="en-US" sz="5400" dirty="0"/>
              <a:t>Chapter 4</a:t>
            </a:r>
          </a:p>
        </p:txBody>
      </p:sp>
      <p:sp>
        <p:nvSpPr>
          <p:cNvPr id="3" name="Subtitle 2">
            <a:extLst>
              <a:ext uri="{FF2B5EF4-FFF2-40B4-BE49-F238E27FC236}">
                <a16:creationId xmlns:a16="http://schemas.microsoft.com/office/drawing/2014/main" id="{046F5DC3-0C75-250B-266C-A3F19543BE11}"/>
              </a:ext>
            </a:extLst>
          </p:cNvPr>
          <p:cNvSpPr>
            <a:spLocks noGrp="1"/>
          </p:cNvSpPr>
          <p:nvPr>
            <p:ph type="subTitle" idx="1"/>
          </p:nvPr>
        </p:nvSpPr>
        <p:spPr>
          <a:xfrm>
            <a:off x="7537528" y="2869138"/>
            <a:ext cx="4308672" cy="559862"/>
          </a:xfrm>
          <a:ln>
            <a:solidFill>
              <a:schemeClr val="bg1"/>
            </a:solidFill>
          </a:ln>
        </p:spPr>
        <p:txBody>
          <a:bodyPr anchor="t">
            <a:normAutofit/>
          </a:bodyPr>
          <a:lstStyle/>
          <a:p>
            <a:r>
              <a:rPr lang="en-US" i="1" dirty="0">
                <a:solidFill>
                  <a:schemeClr val="bg1"/>
                </a:solidFill>
              </a:rPr>
              <a:t>Labor &amp; Financial Markets</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545969" y="382219"/>
            <a:ext cx="10515600" cy="581877"/>
          </a:xfrm>
        </p:spPr>
        <p:txBody>
          <a:bodyPr>
            <a:noAutofit/>
          </a:bodyPr>
          <a:lstStyle/>
          <a:p>
            <a:r>
              <a:rPr lang="en-US" dirty="0"/>
              <a:t>MARKETS BEYOND GOODS &amp; Services</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696798" y="1336483"/>
            <a:ext cx="10515600" cy="4425933"/>
          </a:xfrm>
        </p:spPr>
        <p:txBody>
          <a:bodyPr>
            <a:normAutofit/>
          </a:bodyPr>
          <a:lstStyle/>
          <a:p>
            <a:pPr marL="0" indent="0">
              <a:buNone/>
            </a:pPr>
            <a:r>
              <a:rPr lang="en-US" sz="2400" b="1" dirty="0"/>
              <a:t>Key Insight:</a:t>
            </a:r>
            <a:r>
              <a:rPr lang="en-US" sz="2400" dirty="0"/>
              <a:t> Supply and demand work in </a:t>
            </a:r>
            <a:r>
              <a:rPr lang="en-US" sz="2400" i="1" dirty="0"/>
              <a:t>all</a:t>
            </a:r>
            <a:r>
              <a:rPr lang="en-US" sz="2400" dirty="0"/>
              <a:t> markets—not just for products.</a:t>
            </a:r>
          </a:p>
          <a:p>
            <a:pPr marL="0" indent="0">
              <a:buNone/>
            </a:pPr>
            <a:r>
              <a:rPr lang="en-US" sz="2200" b="1" dirty="0"/>
              <a:t>Three Market Types:</a:t>
            </a:r>
            <a:endParaRPr lang="en-US" sz="2200" dirty="0"/>
          </a:p>
          <a:p>
            <a:pPr lvl="1"/>
            <a:r>
              <a:rPr lang="en-US" sz="2200" b="1" dirty="0"/>
              <a:t>Goods &amp; Services Markets:</a:t>
            </a:r>
            <a:r>
              <a:rPr lang="en-US" sz="2200" dirty="0"/>
              <a:t> Businesses supply, households demand</a:t>
            </a:r>
          </a:p>
          <a:p>
            <a:pPr lvl="1"/>
            <a:r>
              <a:rPr lang="en-US" sz="2200" b="1" dirty="0"/>
              <a:t>Labor Markets:</a:t>
            </a:r>
            <a:r>
              <a:rPr lang="en-US" sz="2200" dirty="0"/>
              <a:t> Workers supply, employers demand</a:t>
            </a:r>
          </a:p>
          <a:p>
            <a:pPr lvl="1"/>
            <a:r>
              <a:rPr lang="en-US" sz="2400" b="1" dirty="0"/>
              <a:t>Financial Markets:</a:t>
            </a:r>
            <a:r>
              <a:rPr lang="en-US" sz="2400" dirty="0"/>
              <a:t> Savers supply, borrowers demand</a:t>
            </a:r>
          </a:p>
          <a:p>
            <a:pPr marL="0" indent="0">
              <a:buNone/>
            </a:pPr>
            <a:endParaRPr lang="en-US" sz="2400" b="1" dirty="0"/>
          </a:p>
          <a:p>
            <a:pPr marL="0" indent="0">
              <a:buNone/>
            </a:pPr>
            <a:r>
              <a:rPr lang="en-US" sz="2400" b="1" dirty="0"/>
              <a:t>Real-World Connection:</a:t>
            </a:r>
            <a:r>
              <a:rPr lang="en-US" sz="2400" dirty="0"/>
              <a:t> As college students, you're already in both markets—43% of full-time students work (labor market) and 43% borrow for education (financial market).</a:t>
            </a:r>
          </a:p>
          <a:p>
            <a:endParaRPr lang="en-US" dirty="0"/>
          </a:p>
        </p:txBody>
      </p:sp>
    </p:spTree>
    <p:extLst>
      <p:ext uri="{BB962C8B-B14F-4D97-AF65-F5344CB8AC3E}">
        <p14:creationId xmlns:p14="http://schemas.microsoft.com/office/powerpoint/2010/main" val="1337185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630811" y="373007"/>
            <a:ext cx="10515600" cy="511576"/>
          </a:xfrm>
        </p:spPr>
        <p:txBody>
          <a:bodyPr>
            <a:noAutofit/>
          </a:bodyPr>
          <a:lstStyle/>
          <a:p>
            <a:pPr marL="0" marR="0" lvl="0" indent="0" rtl="0">
              <a:spcBef>
                <a:spcPts val="0"/>
              </a:spcBef>
            </a:pPr>
            <a:r>
              <a:rPr lang="en-US" dirty="0"/>
              <a:t>Labor Market Fundamentals</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630811" y="1038497"/>
            <a:ext cx="10515600" cy="4616868"/>
          </a:xfrm>
        </p:spPr>
        <p:txBody>
          <a:bodyPr>
            <a:normAutofit/>
          </a:bodyPr>
          <a:lstStyle/>
          <a:p>
            <a:pPr marL="0" indent="0">
              <a:buNone/>
            </a:pPr>
            <a:r>
              <a:rPr lang="en-US" sz="2400" b="1" dirty="0"/>
              <a:t>The "Jobs Tinder" Analogy:</a:t>
            </a:r>
            <a:endParaRPr lang="en-US" sz="2400" dirty="0"/>
          </a:p>
          <a:p>
            <a:r>
              <a:rPr lang="en-US" sz="2400" b="1" dirty="0"/>
              <a:t>Supply side:</a:t>
            </a:r>
            <a:r>
              <a:rPr lang="en-US" sz="2400" dirty="0"/>
              <a:t> Job seekers (you're "swiping right" on employers)</a:t>
            </a:r>
          </a:p>
          <a:p>
            <a:r>
              <a:rPr lang="en-US" sz="2400" b="1" dirty="0"/>
              <a:t>Demand side:</a:t>
            </a:r>
            <a:r>
              <a:rPr lang="en-US" sz="2400" dirty="0"/>
              <a:t> Employers (they're "swiping right" on qualified workers)</a:t>
            </a:r>
          </a:p>
          <a:p>
            <a:r>
              <a:rPr lang="en-US" sz="2400" b="1" dirty="0"/>
              <a:t>Match (equilibrium):</a:t>
            </a:r>
            <a:r>
              <a:rPr lang="en-US" sz="2400" dirty="0"/>
              <a:t> When wage clears the market</a:t>
            </a:r>
          </a:p>
          <a:p>
            <a:pPr marL="0" indent="0">
              <a:buNone/>
            </a:pPr>
            <a:endParaRPr lang="en-US" sz="2400" b="1" dirty="0"/>
          </a:p>
          <a:p>
            <a:pPr marL="0" indent="0">
              <a:buNone/>
            </a:pPr>
            <a:r>
              <a:rPr lang="en-US" sz="2400" b="1" dirty="0"/>
              <a:t>Laws in Action:</a:t>
            </a:r>
            <a:endParaRPr lang="en-US" sz="2400" dirty="0"/>
          </a:p>
          <a:p>
            <a:r>
              <a:rPr lang="en-US" sz="2400" dirty="0"/>
              <a:t>↑ Wage → employers hire fewer workers, more people want jobs</a:t>
            </a:r>
          </a:p>
          <a:p>
            <a:r>
              <a:rPr lang="en-US" sz="2400" dirty="0"/>
              <a:t>↓ Wage → employers hire more workers, fewer people want jobs</a:t>
            </a:r>
          </a:p>
          <a:p>
            <a:endParaRPr lang="en-US" dirty="0"/>
          </a:p>
        </p:txBody>
      </p:sp>
    </p:spTree>
    <p:extLst>
      <p:ext uri="{BB962C8B-B14F-4D97-AF65-F5344CB8AC3E}">
        <p14:creationId xmlns:p14="http://schemas.microsoft.com/office/powerpoint/2010/main" val="1682671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602530" y="365126"/>
            <a:ext cx="10515600" cy="424583"/>
          </a:xfrm>
        </p:spPr>
        <p:txBody>
          <a:bodyPr>
            <a:noAutofit/>
          </a:bodyPr>
          <a:lstStyle/>
          <a:p>
            <a:r>
              <a:rPr lang="en-US" dirty="0"/>
              <a:t>What Shifts Labor Demand?</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677944" y="1295329"/>
            <a:ext cx="10515600" cy="4907508"/>
          </a:xfrm>
        </p:spPr>
        <p:txBody>
          <a:bodyPr>
            <a:normAutofit/>
          </a:bodyPr>
          <a:lstStyle/>
          <a:p>
            <a:pPr marL="0" indent="0">
              <a:buNone/>
            </a:pPr>
            <a:r>
              <a:rPr lang="en-US" b="1" dirty="0"/>
              <a:t>Remember: Demand for labor is "derived demand"</a:t>
            </a:r>
            <a:r>
              <a:rPr lang="en-US" dirty="0"/>
              <a:t> </a:t>
            </a:r>
            <a:r>
              <a:rPr lang="en-US" i="1" dirty="0"/>
              <a:t>(depends on demand for the product)</a:t>
            </a:r>
          </a:p>
          <a:p>
            <a:pPr marL="0" indent="0">
              <a:buNone/>
            </a:pPr>
            <a:endParaRPr lang="en-US" sz="1700" i="1" dirty="0">
              <a:latin typeface="Aptos" panose="020B0004020202020204" pitchFamily="34" charset="0"/>
            </a:endParaRPr>
          </a:p>
          <a:p>
            <a:pPr marL="0" indent="0">
              <a:buNone/>
            </a:pPr>
            <a:endParaRPr lang="en-US" sz="1700" dirty="0">
              <a:latin typeface="Aptos" panose="020B0004020202020204" pitchFamily="34" charset="0"/>
            </a:endParaRPr>
          </a:p>
        </p:txBody>
      </p:sp>
      <p:graphicFrame>
        <p:nvGraphicFramePr>
          <p:cNvPr id="2" name="Table 1">
            <a:extLst>
              <a:ext uri="{FF2B5EF4-FFF2-40B4-BE49-F238E27FC236}">
                <a16:creationId xmlns:a16="http://schemas.microsoft.com/office/drawing/2014/main" id="{70C8B9E0-870C-70CB-F2BA-B6FD83735172}"/>
              </a:ext>
            </a:extLst>
          </p:cNvPr>
          <p:cNvGraphicFramePr>
            <a:graphicFrameLocks noGrp="1"/>
          </p:cNvGraphicFramePr>
          <p:nvPr>
            <p:extLst>
              <p:ext uri="{D42A27DB-BD31-4B8C-83A1-F6EECF244321}">
                <p14:modId xmlns:p14="http://schemas.microsoft.com/office/powerpoint/2010/main" val="3343179889"/>
              </p:ext>
            </p:extLst>
          </p:nvPr>
        </p:nvGraphicFramePr>
        <p:xfrm>
          <a:off x="775253" y="1838739"/>
          <a:ext cx="7109523" cy="3808749"/>
        </p:xfrm>
        <a:graphic>
          <a:graphicData uri="http://schemas.openxmlformats.org/drawingml/2006/table">
            <a:tbl>
              <a:tblPr firstRow="1">
                <a:tableStyleId>{9D7B26C5-4107-4FEC-AEDC-1716B250A1EF}</a:tableStyleId>
              </a:tblPr>
              <a:tblGrid>
                <a:gridCol w="2369841">
                  <a:extLst>
                    <a:ext uri="{9D8B030D-6E8A-4147-A177-3AD203B41FA5}">
                      <a16:colId xmlns:a16="http://schemas.microsoft.com/office/drawing/2014/main" val="3159044577"/>
                    </a:ext>
                  </a:extLst>
                </a:gridCol>
                <a:gridCol w="2369841">
                  <a:extLst>
                    <a:ext uri="{9D8B030D-6E8A-4147-A177-3AD203B41FA5}">
                      <a16:colId xmlns:a16="http://schemas.microsoft.com/office/drawing/2014/main" val="3640997252"/>
                    </a:ext>
                  </a:extLst>
                </a:gridCol>
                <a:gridCol w="2369841">
                  <a:extLst>
                    <a:ext uri="{9D8B030D-6E8A-4147-A177-3AD203B41FA5}">
                      <a16:colId xmlns:a16="http://schemas.microsoft.com/office/drawing/2014/main" val="2181074317"/>
                    </a:ext>
                  </a:extLst>
                </a:gridCol>
              </a:tblGrid>
              <a:tr h="340365">
                <a:tc>
                  <a:txBody>
                    <a:bodyPr/>
                    <a:lstStyle/>
                    <a:p>
                      <a:pPr algn="l">
                        <a:buNone/>
                      </a:pPr>
                      <a:r>
                        <a:rPr lang="en-US" sz="1300" dirty="0">
                          <a:effectLst/>
                        </a:rPr>
                        <a:t>Factor</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Example</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Effect on Demand</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6727473"/>
                  </a:ext>
                </a:extLst>
              </a:tr>
              <a:tr h="578064">
                <a:tc>
                  <a:txBody>
                    <a:bodyPr/>
                    <a:lstStyle/>
                    <a:p>
                      <a:pPr algn="l">
                        <a:buNone/>
                      </a:pPr>
                      <a:r>
                        <a:rPr lang="en-US" sz="1300" b="1" dirty="0">
                          <a:effectLst/>
                        </a:rPr>
                        <a:t>Product demand</a:t>
                      </a:r>
                      <a:endParaRPr lang="en-US" sz="1300" dirty="0">
                        <a:effectLst/>
                      </a:endParaRP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Taylor Swift concert boom</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 demand for venue staff</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922389"/>
                  </a:ext>
                </a:extLst>
              </a:tr>
              <a:tr h="578064">
                <a:tc>
                  <a:txBody>
                    <a:bodyPr/>
                    <a:lstStyle/>
                    <a:p>
                      <a:pPr algn="l">
                        <a:buNone/>
                      </a:pPr>
                      <a:r>
                        <a:rPr lang="en-US" sz="1300" b="1" dirty="0">
                          <a:effectLst/>
                        </a:rPr>
                        <a:t>Worker productivity</a:t>
                      </a:r>
                      <a:endParaRPr lang="en-US" sz="1300" dirty="0">
                        <a:effectLst/>
                      </a:endParaRP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Well-trained coders</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 demand for skilled workers</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4541466"/>
                  </a:ext>
                </a:extLst>
              </a:tr>
              <a:tr h="578064">
                <a:tc>
                  <a:txBody>
                    <a:bodyPr/>
                    <a:lstStyle/>
                    <a:p>
                      <a:pPr algn="l">
                        <a:buNone/>
                      </a:pPr>
                      <a:r>
                        <a:rPr lang="en-US" sz="1300" b="1" dirty="0">
                          <a:effectLst/>
                        </a:rPr>
                        <a:t>Technology (substitute)</a:t>
                      </a:r>
                      <a:endParaRPr lang="en-US" sz="1300" dirty="0">
                        <a:effectLst/>
                      </a:endParaRP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AI chatbots</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 demand for customer service reps</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962991"/>
                  </a:ext>
                </a:extLst>
              </a:tr>
              <a:tr h="578064">
                <a:tc>
                  <a:txBody>
                    <a:bodyPr/>
                    <a:lstStyle/>
                    <a:p>
                      <a:pPr algn="l">
                        <a:buNone/>
                      </a:pPr>
                      <a:r>
                        <a:rPr lang="en-US" sz="1300" b="1" dirty="0">
                          <a:effectLst/>
                        </a:rPr>
                        <a:t>Technology (complement)</a:t>
                      </a:r>
                      <a:endParaRPr lang="en-US" sz="1300" dirty="0">
                        <a:effectLst/>
                      </a:endParaRP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Data analytics tools</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 demand for data scientists</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3103087"/>
                  </a:ext>
                </a:extLst>
              </a:tr>
              <a:tr h="578064">
                <a:tc>
                  <a:txBody>
                    <a:bodyPr/>
                    <a:lstStyle/>
                    <a:p>
                      <a:pPr algn="l">
                        <a:buNone/>
                      </a:pPr>
                      <a:r>
                        <a:rPr lang="en-US" sz="1300" b="1" dirty="0">
                          <a:effectLst/>
                        </a:rPr>
                        <a:t>Number of firms</a:t>
                      </a:r>
                      <a:endParaRPr lang="en-US" sz="1300" dirty="0">
                        <a:effectLst/>
                      </a:endParaRP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New Amazon warehouse</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a:effectLst/>
                        </a:rPr>
                        <a:t>↑ demand for warehouse workers</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078834"/>
                  </a:ext>
                </a:extLst>
              </a:tr>
              <a:tr h="578064">
                <a:tc>
                  <a:txBody>
                    <a:bodyPr/>
                    <a:lstStyle/>
                    <a:p>
                      <a:pPr algn="l">
                        <a:buNone/>
                      </a:pPr>
                      <a:r>
                        <a:rPr lang="en-US" sz="1300" b="1" dirty="0">
                          <a:effectLst/>
                        </a:rPr>
                        <a:t>Government rules</a:t>
                      </a:r>
                      <a:endParaRPr lang="en-US" sz="1300" dirty="0">
                        <a:effectLst/>
                      </a:endParaRP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dirty="0">
                          <a:effectLst/>
                        </a:rPr>
                        <a:t>Nursing license requirements</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300" dirty="0">
                          <a:effectLst/>
                        </a:rPr>
                        <a:t>↑ demand for licensed nurses</a:t>
                      </a:r>
                    </a:p>
                  </a:txBody>
                  <a:tcPr marL="42786" marR="42786" marT="42786" marB="427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3571458"/>
                  </a:ext>
                </a:extLst>
              </a:tr>
            </a:tbl>
          </a:graphicData>
        </a:graphic>
      </p:graphicFrame>
    </p:spTree>
    <p:extLst>
      <p:ext uri="{BB962C8B-B14F-4D97-AF65-F5344CB8AC3E}">
        <p14:creationId xmlns:p14="http://schemas.microsoft.com/office/powerpoint/2010/main" val="16996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677945" y="365126"/>
            <a:ext cx="10515600" cy="424583"/>
          </a:xfrm>
        </p:spPr>
        <p:txBody>
          <a:bodyPr>
            <a:noAutofit/>
          </a:bodyPr>
          <a:lstStyle/>
          <a:p>
            <a:r>
              <a:rPr lang="en-US" dirty="0"/>
              <a:t>What Shifts Labor Supply?</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753359" y="1276475"/>
            <a:ext cx="10515600" cy="5369422"/>
          </a:xfrm>
        </p:spPr>
        <p:txBody>
          <a:bodyPr>
            <a:normAutofit/>
          </a:bodyPr>
          <a:lstStyle/>
          <a:p>
            <a:pPr marL="0" indent="0">
              <a:buNone/>
            </a:pPr>
            <a:r>
              <a:rPr lang="en-US" b="1" dirty="0"/>
              <a:t>The "Talent Pool" Changes:</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Modern Twist - The "TikTok Effect":</a:t>
            </a:r>
            <a:br>
              <a:rPr lang="en-US" dirty="0"/>
            </a:br>
            <a:endParaRPr lang="en-US" dirty="0"/>
          </a:p>
          <a:p>
            <a:r>
              <a:rPr lang="en-US" dirty="0"/>
              <a:t>Finance influencer posts "easy money in freelance design" → Gen Z floods Fiverr → supply surges right → wages fall unless demand also rises</a:t>
            </a:r>
            <a:endParaRPr lang="en-US" b="1" dirty="0"/>
          </a:p>
          <a:p>
            <a:pPr marL="0" indent="0">
              <a:buNone/>
            </a:pPr>
            <a:endParaRPr lang="en-US" b="1" dirty="0">
              <a:latin typeface="Aptos" panose="020B0004020202020204" pitchFamily="34" charset="0"/>
            </a:endParaRPr>
          </a:p>
          <a:p>
            <a:pPr marL="0" indent="0">
              <a:buNone/>
            </a:pPr>
            <a:endParaRPr lang="en-US" dirty="0">
              <a:latin typeface="Aptos" panose="020B0004020202020204" pitchFamily="34" charset="0"/>
            </a:endParaRPr>
          </a:p>
          <a:p>
            <a:endParaRPr lang="en-US" dirty="0"/>
          </a:p>
        </p:txBody>
      </p:sp>
      <p:graphicFrame>
        <p:nvGraphicFramePr>
          <p:cNvPr id="2" name="Table 1">
            <a:extLst>
              <a:ext uri="{FF2B5EF4-FFF2-40B4-BE49-F238E27FC236}">
                <a16:creationId xmlns:a16="http://schemas.microsoft.com/office/drawing/2014/main" id="{49E3F160-9E49-BA77-9FB9-7CA463304C76}"/>
              </a:ext>
            </a:extLst>
          </p:cNvPr>
          <p:cNvGraphicFramePr>
            <a:graphicFrameLocks noGrp="1"/>
          </p:cNvGraphicFramePr>
          <p:nvPr>
            <p:extLst>
              <p:ext uri="{D42A27DB-BD31-4B8C-83A1-F6EECF244321}">
                <p14:modId xmlns:p14="http://schemas.microsoft.com/office/powerpoint/2010/main" val="1053458712"/>
              </p:ext>
            </p:extLst>
          </p:nvPr>
        </p:nvGraphicFramePr>
        <p:xfrm>
          <a:off x="848899" y="1733784"/>
          <a:ext cx="7731126" cy="2804160"/>
        </p:xfrm>
        <a:graphic>
          <a:graphicData uri="http://schemas.openxmlformats.org/drawingml/2006/table">
            <a:tbl>
              <a:tblPr firstRow="1">
                <a:tableStyleId>{9D7B26C5-4107-4FEC-AEDC-1716B250A1EF}</a:tableStyleId>
              </a:tblPr>
              <a:tblGrid>
                <a:gridCol w="2577042">
                  <a:extLst>
                    <a:ext uri="{9D8B030D-6E8A-4147-A177-3AD203B41FA5}">
                      <a16:colId xmlns:a16="http://schemas.microsoft.com/office/drawing/2014/main" val="2051262626"/>
                    </a:ext>
                  </a:extLst>
                </a:gridCol>
                <a:gridCol w="2577042">
                  <a:extLst>
                    <a:ext uri="{9D8B030D-6E8A-4147-A177-3AD203B41FA5}">
                      <a16:colId xmlns:a16="http://schemas.microsoft.com/office/drawing/2014/main" val="1187514821"/>
                    </a:ext>
                  </a:extLst>
                </a:gridCol>
                <a:gridCol w="2577042">
                  <a:extLst>
                    <a:ext uri="{9D8B030D-6E8A-4147-A177-3AD203B41FA5}">
                      <a16:colId xmlns:a16="http://schemas.microsoft.com/office/drawing/2014/main" val="4264674013"/>
                    </a:ext>
                  </a:extLst>
                </a:gridCol>
              </a:tblGrid>
              <a:tr h="396240">
                <a:tc>
                  <a:txBody>
                    <a:bodyPr/>
                    <a:lstStyle/>
                    <a:p>
                      <a:pPr algn="l">
                        <a:buNone/>
                      </a:pPr>
                      <a:r>
                        <a:rPr lang="en-US" sz="1800" dirty="0">
                          <a:effectLst/>
                        </a:rPr>
                        <a:t>Factor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Viral Example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Effect on Supply</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0384412"/>
                  </a:ext>
                </a:extLst>
              </a:tr>
              <a:tr h="670560">
                <a:tc>
                  <a:txBody>
                    <a:bodyPr/>
                    <a:lstStyle/>
                    <a:p>
                      <a:pPr algn="l">
                        <a:buNone/>
                      </a:pPr>
                      <a:r>
                        <a:rPr lang="en-US" sz="1800" b="1" dirty="0">
                          <a:effectLst/>
                        </a:rPr>
                        <a:t>More workers</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Immigration reform passes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 supply shifts right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0303443"/>
                  </a:ext>
                </a:extLst>
              </a:tr>
              <a:tr h="670560">
                <a:tc>
                  <a:txBody>
                    <a:bodyPr/>
                    <a:lstStyle/>
                    <a:p>
                      <a:pPr algn="l">
                        <a:buNone/>
                      </a:pPr>
                      <a:r>
                        <a:rPr lang="en-US" sz="1800" b="1" dirty="0">
                          <a:effectLst/>
                        </a:rPr>
                        <a:t>Fewer workers</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#GreatResignation / "QuitTok" trend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 supply shifts left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5641326"/>
                  </a:ext>
                </a:extLst>
              </a:tr>
              <a:tr h="670560">
                <a:tc>
                  <a:txBody>
                    <a:bodyPr/>
                    <a:lstStyle/>
                    <a:p>
                      <a:pPr algn="l">
                        <a:buNone/>
                      </a:pPr>
                      <a:r>
                        <a:rPr lang="en-US" sz="1800" b="1" dirty="0">
                          <a:effectLst/>
                        </a:rPr>
                        <a:t>Education barriers</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Requiring PhD vs. high school</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 supply (fewer qualified)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682214"/>
                  </a:ext>
                </a:extLst>
              </a:tr>
              <a:tr h="396240">
                <a:tc>
                  <a:txBody>
                    <a:bodyPr/>
                    <a:lstStyle/>
                    <a:p>
                      <a:pPr algn="l">
                        <a:buNone/>
                      </a:pPr>
                      <a:r>
                        <a:rPr lang="en-US" sz="1800" b="1">
                          <a:effectLst/>
                        </a:rPr>
                        <a:t>Government policy</a:t>
                      </a:r>
                      <a:endParaRPr lang="en-US" sz="180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Nursing school subsidies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 supply shifts right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165443"/>
                  </a:ext>
                </a:extLst>
              </a:tr>
            </a:tbl>
          </a:graphicData>
        </a:graphic>
      </p:graphicFrame>
    </p:spTree>
    <p:extLst>
      <p:ext uri="{BB962C8B-B14F-4D97-AF65-F5344CB8AC3E}">
        <p14:creationId xmlns:p14="http://schemas.microsoft.com/office/powerpoint/2010/main" val="3001307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649664" y="289712"/>
            <a:ext cx="10515600" cy="515358"/>
          </a:xfrm>
        </p:spPr>
        <p:txBody>
          <a:bodyPr>
            <a:noAutofit/>
          </a:bodyPr>
          <a:lstStyle/>
          <a:p>
            <a:r>
              <a:rPr lang="en-US" dirty="0"/>
              <a:t>Technology and Wage Inequality</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649664" y="1219915"/>
            <a:ext cx="10515600" cy="5459181"/>
          </a:xfrm>
        </p:spPr>
        <p:txBody>
          <a:bodyPr>
            <a:normAutofit/>
          </a:bodyPr>
          <a:lstStyle/>
          <a:p>
            <a:pPr marL="0" indent="0">
              <a:buNone/>
            </a:pPr>
            <a:r>
              <a:rPr lang="en-US" b="1" dirty="0"/>
              <a:t>The Skills Premium Story (1980-2019):</a:t>
            </a:r>
            <a:endParaRPr lang="en-US" dirty="0"/>
          </a:p>
          <a:p>
            <a:pPr lvl="1"/>
            <a:r>
              <a:rPr lang="en-US" sz="1800" dirty="0"/>
              <a:t>1980: College grad earned </a:t>
            </a:r>
            <a:r>
              <a:rPr lang="en-US" sz="1800" b="1" dirty="0"/>
              <a:t>30% more</a:t>
            </a:r>
            <a:r>
              <a:rPr lang="en-US" sz="1800" dirty="0"/>
              <a:t> than high school grad</a:t>
            </a:r>
          </a:p>
          <a:p>
            <a:pPr lvl="1"/>
            <a:r>
              <a:rPr lang="en-US" sz="1800" dirty="0"/>
              <a:t>2019: College grad earned </a:t>
            </a:r>
            <a:r>
              <a:rPr lang="en-US" sz="1800" b="1" dirty="0"/>
              <a:t>59% more</a:t>
            </a:r>
            <a:r>
              <a:rPr lang="en-US" sz="1800" dirty="0"/>
              <a:t> than high school grad</a:t>
            </a:r>
          </a:p>
          <a:p>
            <a:pPr marL="0" indent="0">
              <a:buNone/>
            </a:pPr>
            <a:endParaRPr lang="en-US" b="1" dirty="0"/>
          </a:p>
          <a:p>
            <a:pPr marL="0" indent="0">
              <a:buNone/>
            </a:pPr>
            <a:r>
              <a:rPr lang="en-US" b="1" dirty="0"/>
              <a:t>Why? Technology's Dual Impact:</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Analogy:</a:t>
            </a:r>
            <a:r>
              <a:rPr lang="en-US" dirty="0"/>
              <a:t> Technology is like a corporate ladder with a broken middle—it elevates those at the top while removing rungs for those climbing up</a:t>
            </a:r>
            <a:endParaRPr lang="en-US" b="1" dirty="0"/>
          </a:p>
          <a:p>
            <a:pPr marL="0" indent="0">
              <a:buNone/>
            </a:pPr>
            <a:endParaRPr lang="en-US" dirty="0"/>
          </a:p>
          <a:p>
            <a:endParaRPr lang="en-US" dirty="0"/>
          </a:p>
        </p:txBody>
      </p:sp>
      <p:graphicFrame>
        <p:nvGraphicFramePr>
          <p:cNvPr id="2" name="Table 1">
            <a:extLst>
              <a:ext uri="{FF2B5EF4-FFF2-40B4-BE49-F238E27FC236}">
                <a16:creationId xmlns:a16="http://schemas.microsoft.com/office/drawing/2014/main" id="{4761E9B4-CC42-A9CB-93C8-53D3522A1034}"/>
              </a:ext>
            </a:extLst>
          </p:cNvPr>
          <p:cNvGraphicFramePr>
            <a:graphicFrameLocks noGrp="1"/>
          </p:cNvGraphicFramePr>
          <p:nvPr>
            <p:extLst>
              <p:ext uri="{D42A27DB-BD31-4B8C-83A1-F6EECF244321}">
                <p14:modId xmlns:p14="http://schemas.microsoft.com/office/powerpoint/2010/main" val="2158016972"/>
              </p:ext>
            </p:extLst>
          </p:nvPr>
        </p:nvGraphicFramePr>
        <p:xfrm>
          <a:off x="759447" y="3205438"/>
          <a:ext cx="7731124" cy="2560320"/>
        </p:xfrm>
        <a:graphic>
          <a:graphicData uri="http://schemas.openxmlformats.org/drawingml/2006/table">
            <a:tbl>
              <a:tblPr firstRow="1">
                <a:tableStyleId>{9D7B26C5-4107-4FEC-AEDC-1716B250A1EF}</a:tableStyleId>
              </a:tblPr>
              <a:tblGrid>
                <a:gridCol w="1932781">
                  <a:extLst>
                    <a:ext uri="{9D8B030D-6E8A-4147-A177-3AD203B41FA5}">
                      <a16:colId xmlns:a16="http://schemas.microsoft.com/office/drawing/2014/main" val="2702194403"/>
                    </a:ext>
                  </a:extLst>
                </a:gridCol>
                <a:gridCol w="1932781">
                  <a:extLst>
                    <a:ext uri="{9D8B030D-6E8A-4147-A177-3AD203B41FA5}">
                      <a16:colId xmlns:a16="http://schemas.microsoft.com/office/drawing/2014/main" val="1145407278"/>
                    </a:ext>
                  </a:extLst>
                </a:gridCol>
                <a:gridCol w="1932781">
                  <a:extLst>
                    <a:ext uri="{9D8B030D-6E8A-4147-A177-3AD203B41FA5}">
                      <a16:colId xmlns:a16="http://schemas.microsoft.com/office/drawing/2014/main" val="129032923"/>
                    </a:ext>
                  </a:extLst>
                </a:gridCol>
                <a:gridCol w="1932781">
                  <a:extLst>
                    <a:ext uri="{9D8B030D-6E8A-4147-A177-3AD203B41FA5}">
                      <a16:colId xmlns:a16="http://schemas.microsoft.com/office/drawing/2014/main" val="235773550"/>
                    </a:ext>
                  </a:extLst>
                </a:gridCol>
              </a:tblGrid>
              <a:tr h="0">
                <a:tc>
                  <a:txBody>
                    <a:bodyPr/>
                    <a:lstStyle/>
                    <a:p>
                      <a:pPr algn="l">
                        <a:buNone/>
                      </a:pPr>
                      <a:r>
                        <a:rPr lang="en-US" dirty="0">
                          <a:effectLst/>
                        </a:rPr>
                        <a:t>Worker Type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a:effectLst/>
                        </a:rPr>
                        <a:t>Technology Acts As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a:effectLst/>
                        </a:rPr>
                        <a:t>Demand Shift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a:effectLst/>
                        </a:rPr>
                        <a:t>Wage Change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4696588"/>
                  </a:ext>
                </a:extLst>
              </a:tr>
              <a:tr h="0">
                <a:tc>
                  <a:txBody>
                    <a:bodyPr/>
                    <a:lstStyle/>
                    <a:p>
                      <a:pPr algn="l">
                        <a:buNone/>
                      </a:pPr>
                      <a:r>
                        <a:rPr lang="en-US" b="1" dirty="0">
                          <a:effectLst/>
                        </a:rPr>
                        <a:t>Low-skill</a:t>
                      </a:r>
                      <a:endParaRPr lang="en-US"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a:effectLst/>
                        </a:rPr>
                        <a:t>Substitute (replaces file clerks)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a:effectLst/>
                        </a:rPr>
                        <a:t>← Left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a:effectLst/>
                        </a:rPr>
                        <a:t>↓ Wages fall</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9956835"/>
                  </a:ext>
                </a:extLst>
              </a:tr>
              <a:tr h="0">
                <a:tc>
                  <a:txBody>
                    <a:bodyPr/>
                    <a:lstStyle/>
                    <a:p>
                      <a:pPr algn="l">
                        <a:buNone/>
                      </a:pPr>
                      <a:r>
                        <a:rPr lang="en-US" b="1" dirty="0">
                          <a:effectLst/>
                        </a:rPr>
                        <a:t>High-skill</a:t>
                      </a:r>
                      <a:endParaRPr lang="en-US"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effectLst/>
                        </a:rPr>
                        <a:t>Complement (enhances managers)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effectLst/>
                        </a:rPr>
                        <a:t>Right →</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effectLst/>
                        </a:rPr>
                        <a:t>↑ Wages rise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9774449"/>
                  </a:ext>
                </a:extLst>
              </a:tr>
            </a:tbl>
          </a:graphicData>
        </a:graphic>
      </p:graphicFrame>
    </p:spTree>
    <p:extLst>
      <p:ext uri="{BB962C8B-B14F-4D97-AF65-F5344CB8AC3E}">
        <p14:creationId xmlns:p14="http://schemas.microsoft.com/office/powerpoint/2010/main" val="182810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677944" y="307001"/>
            <a:ext cx="10515600" cy="676973"/>
          </a:xfrm>
        </p:spPr>
        <p:txBody>
          <a:bodyPr>
            <a:noAutofit/>
          </a:bodyPr>
          <a:lstStyle/>
          <a:p>
            <a:r>
              <a:rPr lang="en-US" dirty="0"/>
              <a:t>Applying Demand and Supply</a:t>
            </a:r>
          </a:p>
        </p:txBody>
      </p:sp>
      <p:sp>
        <p:nvSpPr>
          <p:cNvPr id="8" name="Content Placeholder 7">
            <a:extLst>
              <a:ext uri="{FF2B5EF4-FFF2-40B4-BE49-F238E27FC236}">
                <a16:creationId xmlns:a16="http://schemas.microsoft.com/office/drawing/2014/main" id="{851AE448-5E04-E5A5-BA0B-2F7C9676068A}"/>
              </a:ext>
            </a:extLst>
          </p:cNvPr>
          <p:cNvSpPr>
            <a:spLocks noGrp="1"/>
          </p:cNvSpPr>
          <p:nvPr>
            <p:ph idx="1"/>
          </p:nvPr>
        </p:nvSpPr>
        <p:spPr>
          <a:xfrm>
            <a:off x="838199" y="5279268"/>
            <a:ext cx="10515600" cy="1271731"/>
          </a:xfrm>
        </p:spPr>
        <p:txBody>
          <a:bodyPr>
            <a:normAutofit lnSpcReduction="10000"/>
          </a:bodyPr>
          <a:lstStyle/>
          <a:p>
            <a:r>
              <a:rPr lang="en-US" sz="1800" dirty="0">
                <a:solidFill>
                  <a:srgbClr val="0070C0"/>
                </a:solidFill>
                <a:latin typeface="Aptos" panose="020B0004020202020204" pitchFamily="34" charset="0"/>
              </a:rPr>
              <a:t>(a) </a:t>
            </a:r>
            <a:r>
              <a:rPr lang="en-US" sz="1800" dirty="0">
                <a:latin typeface="Aptos" panose="020B0004020202020204" pitchFamily="34" charset="0"/>
              </a:rPr>
              <a:t>The demand for low-skill labor shifts to the left when technology can do the job previously done by these workers. </a:t>
            </a:r>
          </a:p>
          <a:p>
            <a:r>
              <a:rPr lang="en-US" sz="1800" dirty="0">
                <a:solidFill>
                  <a:srgbClr val="0070C0"/>
                </a:solidFill>
                <a:latin typeface="Aptos" panose="020B0004020202020204" pitchFamily="34" charset="0"/>
              </a:rPr>
              <a:t>(b) </a:t>
            </a:r>
            <a:r>
              <a:rPr lang="en-US" sz="1800" dirty="0">
                <a:latin typeface="Aptos" panose="020B0004020202020204" pitchFamily="34" charset="0"/>
              </a:rPr>
              <a:t>New technologies can also increase the demand for high-skill labor in fields such as information technology and network administration.</a:t>
            </a:r>
          </a:p>
        </p:txBody>
      </p:sp>
      <p:pic>
        <p:nvPicPr>
          <p:cNvPr id="4" name="Picture 3" descr="Two graphs are illustrated. The one on the left (a) is the labor market for low-skill labor, and the one on the right (b) is for high-skill labor. As new technologies arrive, the demand for low-skill labor decreases, so in the graph on the left, the labor demand curve moves to the left, and the result is a lower equilibrium wage rate and quantity, meaning fewer workers hired. In the graph on the right, the labor demand curve moves to the right, and the result is a higher equilibrium wage rate and quantity, meaning more workers hired.">
            <a:extLst>
              <a:ext uri="{FF2B5EF4-FFF2-40B4-BE49-F238E27FC236}">
                <a16:creationId xmlns:a16="http://schemas.microsoft.com/office/drawing/2014/main" id="{49F693CA-6EBD-7689-418B-2941BFB25845}"/>
              </a:ext>
            </a:extLst>
          </p:cNvPr>
          <p:cNvPicPr>
            <a:picLocks noChangeAspect="1"/>
          </p:cNvPicPr>
          <p:nvPr/>
        </p:nvPicPr>
        <p:blipFill>
          <a:blip r:embed="rId2"/>
          <a:stretch>
            <a:fillRect/>
          </a:stretch>
        </p:blipFill>
        <p:spPr>
          <a:xfrm>
            <a:off x="1901904" y="1349561"/>
            <a:ext cx="8388191" cy="3684352"/>
          </a:xfrm>
          <a:prstGeom prst="rect">
            <a:avLst/>
          </a:prstGeom>
          <a:ln>
            <a:solidFill>
              <a:schemeClr val="tx1"/>
            </a:solidFill>
          </a:ln>
        </p:spPr>
      </p:pic>
    </p:spTree>
    <p:extLst>
      <p:ext uri="{BB962C8B-B14F-4D97-AF65-F5344CB8AC3E}">
        <p14:creationId xmlns:p14="http://schemas.microsoft.com/office/powerpoint/2010/main" val="889398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659090" y="355699"/>
            <a:ext cx="10515600" cy="598458"/>
          </a:xfrm>
        </p:spPr>
        <p:txBody>
          <a:bodyPr>
            <a:noAutofit/>
          </a:bodyPr>
          <a:lstStyle/>
          <a:p>
            <a:r>
              <a:rPr lang="en-US" dirty="0"/>
              <a:t>MINIMUM WAGE AS PRICE FLOOR</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659090" y="1238768"/>
            <a:ext cx="10515600" cy="5430389"/>
          </a:xfrm>
        </p:spPr>
        <p:txBody>
          <a:bodyPr>
            <a:normAutofit/>
          </a:bodyPr>
          <a:lstStyle/>
          <a:p>
            <a:pPr marL="0" indent="0">
              <a:buNone/>
            </a:pPr>
            <a:r>
              <a:rPr lang="en-US" b="1" dirty="0"/>
              <a:t>Living Wage Example:</a:t>
            </a:r>
            <a:r>
              <a:rPr lang="en-US" dirty="0"/>
              <a:t> City requires $12/hour (equilibrium is $10/hour)</a:t>
            </a:r>
          </a:p>
          <a:p>
            <a:pPr marL="0" indent="0">
              <a:buNone/>
            </a:pPr>
            <a:r>
              <a:rPr lang="en-US" b="1" dirty="0"/>
              <a:t>Outcome:</a:t>
            </a:r>
            <a:endParaRPr lang="en-US" dirty="0"/>
          </a:p>
          <a:p>
            <a:pPr lvl="1"/>
            <a:r>
              <a:rPr lang="en-US" b="1" dirty="0"/>
              <a:t>Quantity demanded:</a:t>
            </a:r>
            <a:r>
              <a:rPr lang="en-US" dirty="0"/>
              <a:t> 700 workers (employers cut hiring)</a:t>
            </a:r>
          </a:p>
          <a:p>
            <a:pPr lvl="1"/>
            <a:r>
              <a:rPr lang="en-US" b="1" dirty="0"/>
              <a:t>Quantity supplied:</a:t>
            </a:r>
            <a:r>
              <a:rPr lang="en-US" dirty="0"/>
              <a:t> 1,600 workers (more want jobs)</a:t>
            </a:r>
          </a:p>
          <a:p>
            <a:pPr lvl="1"/>
            <a:r>
              <a:rPr lang="en-US" b="1" dirty="0"/>
              <a:t>Result:</a:t>
            </a:r>
            <a:r>
              <a:rPr lang="en-US" dirty="0"/>
              <a:t> 900 worker </a:t>
            </a:r>
            <a:r>
              <a:rPr lang="en-US" i="1" dirty="0"/>
              <a:t>surplus</a:t>
            </a:r>
            <a:r>
              <a:rPr lang="en-US" dirty="0"/>
              <a:t> = unemployment</a:t>
            </a:r>
          </a:p>
          <a:p>
            <a:pPr marL="0" indent="0">
              <a:buNone/>
            </a:pPr>
            <a:endParaRPr lang="en-US" b="1" dirty="0"/>
          </a:p>
          <a:p>
            <a:pPr marL="0" indent="0">
              <a:buNone/>
            </a:pPr>
            <a:r>
              <a:rPr lang="en-US" b="1" dirty="0"/>
              <a:t>Winners &amp; Losers:</a:t>
            </a:r>
            <a:endParaRPr lang="en-US" dirty="0"/>
          </a:p>
          <a:p>
            <a:pPr lvl="1"/>
            <a:r>
              <a:rPr lang="en-US" dirty="0"/>
              <a:t>✅ </a:t>
            </a:r>
            <a:r>
              <a:rPr lang="en-US" b="1" dirty="0"/>
              <a:t>Winners:</a:t>
            </a:r>
            <a:r>
              <a:rPr lang="en-US" dirty="0"/>
              <a:t> 700 workers who keep jobs at higher pay</a:t>
            </a:r>
          </a:p>
          <a:p>
            <a:pPr lvl="1"/>
            <a:r>
              <a:rPr lang="en-US" dirty="0"/>
              <a:t>❌ </a:t>
            </a:r>
            <a:r>
              <a:rPr lang="en-US" b="1" dirty="0"/>
              <a:t>Losers:</a:t>
            </a:r>
            <a:r>
              <a:rPr lang="en-US" dirty="0"/>
              <a:t> 900 workers who wanted jobs but can't find them</a:t>
            </a:r>
          </a:p>
          <a:p>
            <a:pPr marL="0" indent="0">
              <a:buNone/>
            </a:pPr>
            <a:endParaRPr lang="en-US" b="1" dirty="0"/>
          </a:p>
          <a:p>
            <a:pPr marL="0" indent="0">
              <a:buNone/>
            </a:pPr>
            <a:r>
              <a:rPr lang="en-US" b="1" dirty="0"/>
              <a:t>The Restaurant Math:</a:t>
            </a:r>
            <a:endParaRPr lang="en-US" dirty="0"/>
          </a:p>
          <a:p>
            <a:pPr lvl="1"/>
            <a:r>
              <a:rPr lang="en-US" dirty="0"/>
              <a:t>Before: 10 workers × 40 </a:t>
            </a:r>
            <a:r>
              <a:rPr lang="en-US" dirty="0" err="1"/>
              <a:t>hrs</a:t>
            </a:r>
            <a:r>
              <a:rPr lang="en-US" dirty="0"/>
              <a:t> × $12/</a:t>
            </a:r>
            <a:r>
              <a:rPr lang="en-US" dirty="0" err="1"/>
              <a:t>hr</a:t>
            </a:r>
            <a:r>
              <a:rPr lang="en-US" dirty="0"/>
              <a:t> = </a:t>
            </a:r>
            <a:r>
              <a:rPr lang="en-US" b="1" dirty="0"/>
              <a:t>$4,800/week</a:t>
            </a:r>
            <a:endParaRPr lang="en-US" dirty="0"/>
          </a:p>
          <a:p>
            <a:pPr lvl="1"/>
            <a:r>
              <a:rPr lang="en-US" dirty="0"/>
              <a:t>After: 10 workers × 40 </a:t>
            </a:r>
            <a:r>
              <a:rPr lang="en-US" dirty="0" err="1"/>
              <a:t>hrs</a:t>
            </a:r>
            <a:r>
              <a:rPr lang="en-US" dirty="0"/>
              <a:t> × $20/</a:t>
            </a:r>
            <a:r>
              <a:rPr lang="en-US" dirty="0" err="1"/>
              <a:t>hr</a:t>
            </a:r>
            <a:r>
              <a:rPr lang="en-US" dirty="0"/>
              <a:t> = </a:t>
            </a:r>
            <a:r>
              <a:rPr lang="en-US" b="1" dirty="0"/>
              <a:t>$8,000/week</a:t>
            </a:r>
            <a:endParaRPr lang="en-US" dirty="0"/>
          </a:p>
          <a:p>
            <a:pPr lvl="1"/>
            <a:r>
              <a:rPr lang="en-US" b="1" dirty="0"/>
              <a:t>Challenge:</a:t>
            </a:r>
            <a:r>
              <a:rPr lang="en-US" dirty="0"/>
              <a:t> Cover $3,200 extra weekly cost</a:t>
            </a:r>
          </a:p>
          <a:p>
            <a:endParaRPr lang="en-US" dirty="0"/>
          </a:p>
        </p:txBody>
      </p:sp>
      <p:pic>
        <p:nvPicPr>
          <p:cNvPr id="2" name="Picture 1" descr="The graph shows how a price floor results from an excess supply of labor.">
            <a:extLst>
              <a:ext uri="{FF2B5EF4-FFF2-40B4-BE49-F238E27FC236}">
                <a16:creationId xmlns:a16="http://schemas.microsoft.com/office/drawing/2014/main" id="{20CBAA08-85FB-EC41-CE5E-5CCF6860FBD1}"/>
              </a:ext>
            </a:extLst>
          </p:cNvPr>
          <p:cNvPicPr>
            <a:picLocks noChangeAspect="1"/>
          </p:cNvPicPr>
          <p:nvPr/>
        </p:nvPicPr>
        <p:blipFill>
          <a:blip r:embed="rId3"/>
          <a:stretch>
            <a:fillRect/>
          </a:stretch>
        </p:blipFill>
        <p:spPr>
          <a:xfrm>
            <a:off x="6954913" y="2162789"/>
            <a:ext cx="4675752" cy="3582345"/>
          </a:xfrm>
          <a:prstGeom prst="rect">
            <a:avLst/>
          </a:prstGeom>
          <a:ln>
            <a:solidFill>
              <a:schemeClr val="tx1"/>
            </a:solidFill>
          </a:ln>
        </p:spPr>
      </p:pic>
    </p:spTree>
    <p:extLst>
      <p:ext uri="{BB962C8B-B14F-4D97-AF65-F5344CB8AC3E}">
        <p14:creationId xmlns:p14="http://schemas.microsoft.com/office/powerpoint/2010/main" val="218088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89825-30A1-BF1C-BB46-FADFCBE623FF}"/>
              </a:ext>
            </a:extLst>
          </p:cNvPr>
          <p:cNvSpPr>
            <a:spLocks noGrp="1"/>
          </p:cNvSpPr>
          <p:nvPr>
            <p:ph type="title"/>
          </p:nvPr>
        </p:nvSpPr>
        <p:spPr>
          <a:xfrm>
            <a:off x="838200" y="365126"/>
            <a:ext cx="10515600" cy="712112"/>
          </a:xfrm>
        </p:spPr>
        <p:txBody>
          <a:bodyPr/>
          <a:lstStyle/>
          <a:p>
            <a:r>
              <a:rPr lang="en-US" dirty="0"/>
              <a:t>MONOPSONY VS. EFFICIENCY WAGES</a:t>
            </a:r>
          </a:p>
        </p:txBody>
      </p:sp>
      <p:sp>
        <p:nvSpPr>
          <p:cNvPr id="3" name="Content Placeholder 2">
            <a:extLst>
              <a:ext uri="{FF2B5EF4-FFF2-40B4-BE49-F238E27FC236}">
                <a16:creationId xmlns:a16="http://schemas.microsoft.com/office/drawing/2014/main" id="{A80137A6-7B68-FC86-4532-6BB9C07468D6}"/>
              </a:ext>
            </a:extLst>
          </p:cNvPr>
          <p:cNvSpPr>
            <a:spLocks noGrp="1"/>
          </p:cNvSpPr>
          <p:nvPr>
            <p:ph idx="1"/>
          </p:nvPr>
        </p:nvSpPr>
        <p:spPr/>
        <p:txBody>
          <a:bodyPr>
            <a:normAutofit fontScale="92500" lnSpcReduction="10000"/>
          </a:bodyPr>
          <a:lstStyle/>
          <a:p>
            <a:pPr marL="0" indent="0">
              <a:buNone/>
            </a:pPr>
            <a:r>
              <a:rPr lang="en-US" sz="2000" b="1" dirty="0"/>
              <a:t>Rare Case - Monopsony</a:t>
            </a:r>
            <a:r>
              <a:rPr lang="en-US" sz="2000" dirty="0"/>
              <a:t> </a:t>
            </a:r>
            <a:r>
              <a:rPr lang="en-US" sz="2000" i="1" dirty="0"/>
              <a:t>(single employer in town)</a:t>
            </a:r>
            <a:endParaRPr lang="en-US" sz="2000" dirty="0"/>
          </a:p>
          <a:p>
            <a:pPr lvl="1"/>
            <a:r>
              <a:rPr lang="en-US" sz="2000" dirty="0"/>
              <a:t>Example: Only hospital in rural area</a:t>
            </a:r>
          </a:p>
          <a:p>
            <a:pPr lvl="1"/>
            <a:r>
              <a:rPr lang="en-US" sz="2000" dirty="0"/>
              <a:t>Power imbalance: employer sets low wages</a:t>
            </a:r>
          </a:p>
          <a:p>
            <a:pPr lvl="1"/>
            <a:r>
              <a:rPr lang="en-US" sz="2000" dirty="0"/>
              <a:t>Solution: Competition is best regulator</a:t>
            </a:r>
          </a:p>
          <a:p>
            <a:pPr marL="0" indent="0">
              <a:buNone/>
            </a:pPr>
            <a:r>
              <a:rPr lang="en-US" sz="2000" b="1" dirty="0"/>
              <a:t>Common Case - Efficiency Wages</a:t>
            </a:r>
            <a:r>
              <a:rPr lang="en-US" sz="2000" dirty="0"/>
              <a:t> </a:t>
            </a:r>
            <a:r>
              <a:rPr lang="en-US" sz="2000" i="1" dirty="0"/>
              <a:t>(above-market pay)</a:t>
            </a:r>
            <a:endParaRPr lang="en-US" sz="2000" dirty="0"/>
          </a:p>
          <a:p>
            <a:pPr marL="0" indent="0">
              <a:buNone/>
            </a:pPr>
            <a:r>
              <a:rPr lang="en-US" sz="2000" b="1" dirty="0"/>
              <a:t>Why pay more than you have to?</a:t>
            </a:r>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b="1" dirty="0"/>
          </a:p>
          <a:p>
            <a:pPr marL="0" indent="0">
              <a:buNone/>
            </a:pPr>
            <a:r>
              <a:rPr lang="en-US" b="1" dirty="0"/>
              <a:t>Analogy:</a:t>
            </a:r>
            <a:r>
              <a:rPr lang="en-US" dirty="0"/>
              <a:t> Costco vs. Walmart strategy—Costco pays above market and gets lower turnover, higher productivity</a:t>
            </a:r>
            <a:endParaRPr lang="en-US" sz="2000" dirty="0"/>
          </a:p>
          <a:p>
            <a:pPr marL="0" indent="0">
              <a:buNone/>
            </a:pPr>
            <a:endParaRPr lang="en-US" dirty="0"/>
          </a:p>
        </p:txBody>
      </p:sp>
      <p:graphicFrame>
        <p:nvGraphicFramePr>
          <p:cNvPr id="4" name="Table 3">
            <a:extLst>
              <a:ext uri="{FF2B5EF4-FFF2-40B4-BE49-F238E27FC236}">
                <a16:creationId xmlns:a16="http://schemas.microsoft.com/office/drawing/2014/main" id="{113B045D-D77B-4E71-D42A-C5346EE4ED29}"/>
              </a:ext>
            </a:extLst>
          </p:cNvPr>
          <p:cNvGraphicFramePr>
            <a:graphicFrameLocks noGrp="1"/>
          </p:cNvGraphicFramePr>
          <p:nvPr>
            <p:extLst>
              <p:ext uri="{D42A27DB-BD31-4B8C-83A1-F6EECF244321}">
                <p14:modId xmlns:p14="http://schemas.microsoft.com/office/powerpoint/2010/main" val="4012049625"/>
              </p:ext>
            </p:extLst>
          </p:nvPr>
        </p:nvGraphicFramePr>
        <p:xfrm>
          <a:off x="952783" y="3762483"/>
          <a:ext cx="7731124" cy="1981200"/>
        </p:xfrm>
        <a:graphic>
          <a:graphicData uri="http://schemas.openxmlformats.org/drawingml/2006/table">
            <a:tbl>
              <a:tblPr firstRow="1">
                <a:tableStyleId>{9D7B26C5-4107-4FEC-AEDC-1716B250A1EF}</a:tableStyleId>
              </a:tblPr>
              <a:tblGrid>
                <a:gridCol w="3865562">
                  <a:extLst>
                    <a:ext uri="{9D8B030D-6E8A-4147-A177-3AD203B41FA5}">
                      <a16:colId xmlns:a16="http://schemas.microsoft.com/office/drawing/2014/main" val="1786768717"/>
                    </a:ext>
                  </a:extLst>
                </a:gridCol>
                <a:gridCol w="3865562">
                  <a:extLst>
                    <a:ext uri="{9D8B030D-6E8A-4147-A177-3AD203B41FA5}">
                      <a16:colId xmlns:a16="http://schemas.microsoft.com/office/drawing/2014/main" val="1585545363"/>
                    </a:ext>
                  </a:extLst>
                </a:gridCol>
              </a:tblGrid>
              <a:tr h="396240">
                <a:tc>
                  <a:txBody>
                    <a:bodyPr/>
                    <a:lstStyle/>
                    <a:p>
                      <a:pPr algn="l">
                        <a:buNone/>
                      </a:pPr>
                      <a:r>
                        <a:rPr lang="en-US" sz="1800" dirty="0">
                          <a:effectLst/>
                        </a:rPr>
                        <a:t>Reason</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Business Benefit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038976"/>
                  </a:ext>
                </a:extLst>
              </a:tr>
              <a:tr h="396240">
                <a:tc>
                  <a:txBody>
                    <a:bodyPr/>
                    <a:lstStyle/>
                    <a:p>
                      <a:pPr algn="l">
                        <a:buNone/>
                      </a:pPr>
                      <a:r>
                        <a:rPr lang="en-US" sz="1800" dirty="0">
                          <a:effectLst/>
                        </a:rPr>
                        <a:t>Higher productivity</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Workers exert more effort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0316264"/>
                  </a:ext>
                </a:extLst>
              </a:tr>
              <a:tr h="396240">
                <a:tc>
                  <a:txBody>
                    <a:bodyPr/>
                    <a:lstStyle/>
                    <a:p>
                      <a:pPr algn="l">
                        <a:buNone/>
                      </a:pPr>
                      <a:r>
                        <a:rPr lang="en-US" sz="1800" dirty="0">
                          <a:effectLst/>
                        </a:rPr>
                        <a:t>Lower turnover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Saves hiring/training costs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067505"/>
                  </a:ext>
                </a:extLst>
              </a:tr>
              <a:tr h="396240">
                <a:tc>
                  <a:txBody>
                    <a:bodyPr/>
                    <a:lstStyle/>
                    <a:p>
                      <a:pPr algn="l">
                        <a:buNone/>
                      </a:pPr>
                      <a:r>
                        <a:rPr lang="en-US" sz="1800" dirty="0">
                          <a:effectLst/>
                        </a:rPr>
                        <a:t>Better applicants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Attracts top talent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4404977"/>
                  </a:ext>
                </a:extLst>
              </a:tr>
              <a:tr h="396240">
                <a:tc>
                  <a:txBody>
                    <a:bodyPr/>
                    <a:lstStyle/>
                    <a:p>
                      <a:pPr algn="l">
                        <a:buNone/>
                      </a:pPr>
                      <a:r>
                        <a:rPr lang="en-US" sz="1800" dirty="0">
                          <a:effectLst/>
                        </a:rPr>
                        <a:t>Reduced shirking</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Job too valuable to lose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836774"/>
                  </a:ext>
                </a:extLst>
              </a:tr>
            </a:tbl>
          </a:graphicData>
        </a:graphic>
      </p:graphicFrame>
    </p:spTree>
    <p:extLst>
      <p:ext uri="{BB962C8B-B14F-4D97-AF65-F5344CB8AC3E}">
        <p14:creationId xmlns:p14="http://schemas.microsoft.com/office/powerpoint/2010/main" val="2025642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838200" y="365126"/>
            <a:ext cx="10515600" cy="699586"/>
          </a:xfrm>
        </p:spPr>
        <p:txBody>
          <a:bodyPr>
            <a:noAutofit/>
          </a:bodyPr>
          <a:lstStyle/>
          <a:p>
            <a:pPr lvl="0">
              <a:spcBef>
                <a:spcPts val="0"/>
              </a:spcBef>
            </a:pPr>
            <a:r>
              <a:rPr lang="en-US" dirty="0"/>
              <a:t>Financial Market Fundamentals</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838200" y="1394374"/>
            <a:ext cx="10515600" cy="5206841"/>
          </a:xfrm>
        </p:spPr>
        <p:txBody>
          <a:bodyPr>
            <a:normAutofit/>
          </a:bodyPr>
          <a:lstStyle/>
          <a:p>
            <a:pPr marL="0" indent="0">
              <a:buNone/>
            </a:pPr>
            <a:r>
              <a:rPr lang="en-US" sz="2400" b="1" dirty="0"/>
              <a:t>The Money Exchange:</a:t>
            </a:r>
            <a:endParaRPr lang="en-US" sz="2400" dirty="0"/>
          </a:p>
          <a:p>
            <a:pPr lvl="1"/>
            <a:r>
              <a:rPr lang="en-US" sz="2200" b="1" dirty="0"/>
              <a:t>Supply side:</a:t>
            </a:r>
            <a:r>
              <a:rPr lang="en-US" sz="2200" dirty="0"/>
              <a:t> Savers (you deposit $1,000 in savings)</a:t>
            </a:r>
          </a:p>
          <a:p>
            <a:pPr lvl="1"/>
            <a:r>
              <a:rPr lang="en-US" sz="2200" b="1" dirty="0"/>
              <a:t>Demand side:</a:t>
            </a:r>
            <a:r>
              <a:rPr lang="en-US" sz="2200" dirty="0"/>
              <a:t> Borrowers (you take out car loan)</a:t>
            </a:r>
          </a:p>
          <a:p>
            <a:pPr lvl="1"/>
            <a:r>
              <a:rPr lang="en-US" sz="2200" b="1" dirty="0"/>
              <a:t>Price:</a:t>
            </a:r>
            <a:r>
              <a:rPr lang="en-US" sz="2200" dirty="0"/>
              <a:t> Interest rate (% return for savers / % cost for borrowers)</a:t>
            </a:r>
          </a:p>
          <a:p>
            <a:pPr marL="0" indent="0">
              <a:buNone/>
            </a:pPr>
            <a:endParaRPr lang="en-US" sz="2400" b="1" dirty="0"/>
          </a:p>
          <a:p>
            <a:pPr marL="0" indent="0">
              <a:buNone/>
            </a:pPr>
            <a:r>
              <a:rPr lang="en-US" sz="2400" b="1" dirty="0"/>
              <a:t>Credit Card Market Example (2021):</a:t>
            </a:r>
            <a:endParaRPr lang="en-US" sz="2400" dirty="0"/>
          </a:p>
          <a:p>
            <a:pPr lvl="1"/>
            <a:r>
              <a:rPr lang="en-US" sz="2200" dirty="0"/>
              <a:t>200 million cardholders</a:t>
            </a:r>
          </a:p>
          <a:p>
            <a:pPr lvl="1"/>
            <a:r>
              <a:rPr lang="en-US" sz="2200" dirty="0"/>
              <a:t>$807 billion outstanding debt</a:t>
            </a:r>
          </a:p>
          <a:p>
            <a:pPr lvl="1"/>
            <a:r>
              <a:rPr lang="en-US" sz="2200" dirty="0"/>
              <a:t>15% average interest rate</a:t>
            </a:r>
          </a:p>
          <a:p>
            <a:pPr lvl="1"/>
            <a:r>
              <a:rPr lang="en-US" sz="2200" dirty="0"/>
              <a:t>Equilibrium: $600 billion borrowed/lent</a:t>
            </a:r>
          </a:p>
          <a:p>
            <a:endParaRPr lang="en-US" dirty="0"/>
          </a:p>
        </p:txBody>
      </p:sp>
    </p:spTree>
    <p:extLst>
      <p:ext uri="{BB962C8B-B14F-4D97-AF65-F5344CB8AC3E}">
        <p14:creationId xmlns:p14="http://schemas.microsoft.com/office/powerpoint/2010/main" val="3474834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838200" y="365126"/>
            <a:ext cx="10515600" cy="662008"/>
          </a:xfrm>
        </p:spPr>
        <p:txBody>
          <a:bodyPr>
            <a:noAutofit/>
          </a:bodyPr>
          <a:lstStyle/>
          <a:p>
            <a:pPr marL="0" marR="0" lvl="0" indent="0" rtl="0">
              <a:spcBef>
                <a:spcPts val="0"/>
              </a:spcBef>
            </a:pPr>
            <a:r>
              <a:rPr lang="en-US" dirty="0"/>
              <a:t>Demand and Supply for Borrowing Money</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838200" y="1177447"/>
            <a:ext cx="5512496" cy="5517353"/>
          </a:xfrm>
        </p:spPr>
        <p:txBody>
          <a:bodyPr>
            <a:normAutofit/>
          </a:bodyPr>
          <a:lstStyle/>
          <a:p>
            <a:r>
              <a:rPr lang="en-US" sz="2000" dirty="0"/>
              <a:t>In this market for credit card borrowing, the demand curve (D) for borrowing financial capital intersects the supply curve (S) for lending financial capital at equilibrium (E). </a:t>
            </a:r>
          </a:p>
          <a:p>
            <a:r>
              <a:rPr lang="en-US" sz="2000" dirty="0"/>
              <a:t>At the </a:t>
            </a:r>
            <a:r>
              <a:rPr lang="en-US" sz="2000" u="sng" dirty="0"/>
              <a:t>equilibrium</a:t>
            </a:r>
            <a:r>
              <a:rPr lang="en-US" sz="2000" dirty="0"/>
              <a:t>, the interest rate (the “price” in this market) is 15% and the quantity of financial capital being loaned and borrowed is $600 billion. </a:t>
            </a:r>
          </a:p>
          <a:p>
            <a:r>
              <a:rPr lang="en-US" sz="2000" dirty="0"/>
              <a:t>At an </a:t>
            </a:r>
            <a:r>
              <a:rPr lang="en-US" sz="2000" u="sng" dirty="0"/>
              <a:t>above-equilibrium</a:t>
            </a:r>
            <a:r>
              <a:rPr lang="en-US" sz="2000" dirty="0"/>
              <a:t> interest rate like 21%, the quantity of financial capital supplied would increase to $750 billion, but the quantity demanded would decrease to $480 billion.</a:t>
            </a:r>
          </a:p>
          <a:p>
            <a:r>
              <a:rPr lang="en-US" sz="2000" dirty="0"/>
              <a:t>At a </a:t>
            </a:r>
            <a:r>
              <a:rPr lang="en-US" sz="2000" u="sng" dirty="0"/>
              <a:t>below-equilibrium</a:t>
            </a:r>
            <a:r>
              <a:rPr lang="en-US" sz="2000" dirty="0"/>
              <a:t> interest rate like 13%, the quantity of financial capital demanded would increase to $700 billion, but the quantity of financial capital supplied would decrease to $510 billion.</a:t>
            </a:r>
          </a:p>
        </p:txBody>
      </p:sp>
      <p:pic>
        <p:nvPicPr>
          <p:cNvPr id="3" name="Picture 2" descr="The graph shows how a price set below equilibrium causes a shortage of credit and how one set above the equilibrium creates a surplus of credit.">
            <a:extLst>
              <a:ext uri="{FF2B5EF4-FFF2-40B4-BE49-F238E27FC236}">
                <a16:creationId xmlns:a16="http://schemas.microsoft.com/office/drawing/2014/main" id="{7F3FC64E-7B66-9B3C-AFFD-DC2242076840}"/>
              </a:ext>
            </a:extLst>
          </p:cNvPr>
          <p:cNvPicPr>
            <a:picLocks noChangeAspect="1"/>
          </p:cNvPicPr>
          <p:nvPr/>
        </p:nvPicPr>
        <p:blipFill>
          <a:blip r:embed="rId2"/>
          <a:stretch>
            <a:fillRect/>
          </a:stretch>
        </p:blipFill>
        <p:spPr>
          <a:xfrm>
            <a:off x="6513534" y="1177447"/>
            <a:ext cx="4808013" cy="2492679"/>
          </a:xfrm>
          <a:prstGeom prst="rect">
            <a:avLst/>
          </a:prstGeom>
          <a:ln>
            <a:solidFill>
              <a:schemeClr val="tx1"/>
            </a:solidFill>
          </a:ln>
        </p:spPr>
      </p:pic>
    </p:spTree>
    <p:extLst>
      <p:ext uri="{BB962C8B-B14F-4D97-AF65-F5344CB8AC3E}">
        <p14:creationId xmlns:p14="http://schemas.microsoft.com/office/powerpoint/2010/main" val="2485136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838200" y="365125"/>
            <a:ext cx="10515600" cy="837373"/>
          </a:xfrm>
        </p:spPr>
        <p:txBody>
          <a:bodyPr>
            <a:noAutofit/>
          </a:bodyPr>
          <a:lstStyle/>
          <a:p>
            <a:r>
              <a:rPr lang="en-US" dirty="0"/>
              <a:t>Cap on Credit Card Interest Rates: Price Ceiling</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838200" y="1490597"/>
            <a:ext cx="5257800" cy="4776804"/>
          </a:xfrm>
        </p:spPr>
        <p:txBody>
          <a:bodyPr>
            <a:normAutofit/>
          </a:bodyPr>
          <a:lstStyle/>
          <a:p>
            <a:r>
              <a:rPr lang="en-US" dirty="0"/>
              <a:t>The original intersection of demand D and supply S occurs at equilibrium E</a:t>
            </a:r>
            <a:r>
              <a:rPr lang="en-US" baseline="-25000" dirty="0"/>
              <a:t>0</a:t>
            </a:r>
            <a:r>
              <a:rPr lang="en-US" dirty="0"/>
              <a:t>. </a:t>
            </a:r>
          </a:p>
          <a:p>
            <a:r>
              <a:rPr lang="en-US" dirty="0"/>
              <a:t>However, a </a:t>
            </a:r>
            <a:r>
              <a:rPr lang="en-US" u="sng" dirty="0"/>
              <a:t>price ceiling</a:t>
            </a:r>
            <a:r>
              <a:rPr lang="en-US" dirty="0"/>
              <a:t> is set at the interest rate </a:t>
            </a:r>
            <a:r>
              <a:rPr lang="en-US" dirty="0" err="1"/>
              <a:t>R</a:t>
            </a:r>
            <a:r>
              <a:rPr lang="en-US" baseline="-25000" dirty="0" err="1"/>
              <a:t>c</a:t>
            </a:r>
            <a:r>
              <a:rPr lang="en-US" dirty="0"/>
              <a:t>, </a:t>
            </a:r>
            <a:r>
              <a:rPr lang="en-US" i="1" dirty="0"/>
              <a:t>below</a:t>
            </a:r>
            <a:r>
              <a:rPr lang="en-US" dirty="0"/>
              <a:t> the equilibrium interest rate R</a:t>
            </a:r>
            <a:r>
              <a:rPr lang="en-US" baseline="-25000" dirty="0"/>
              <a:t>0</a:t>
            </a:r>
            <a:r>
              <a:rPr lang="en-US" dirty="0"/>
              <a:t>, and so the interest rate cannot adjust upward to the equilibrium. </a:t>
            </a:r>
          </a:p>
          <a:p>
            <a:r>
              <a:rPr lang="en-US" dirty="0"/>
              <a:t>At the price ceiling, the quantity demanded, </a:t>
            </a:r>
            <a:r>
              <a:rPr lang="en-US" dirty="0" err="1"/>
              <a:t>Q</a:t>
            </a:r>
            <a:r>
              <a:rPr lang="en-US" baseline="-25000" dirty="0" err="1"/>
              <a:t>d</a:t>
            </a:r>
            <a:r>
              <a:rPr lang="en-US" dirty="0"/>
              <a:t>, exceeds the quantity supplied, Q</a:t>
            </a:r>
            <a:r>
              <a:rPr lang="en-US" baseline="-25000" dirty="0"/>
              <a:t>s</a:t>
            </a:r>
            <a:r>
              <a:rPr lang="en-US" dirty="0"/>
              <a:t>. There is </a:t>
            </a:r>
            <a:r>
              <a:rPr lang="en-US" u="sng" dirty="0"/>
              <a:t>excess demand</a:t>
            </a:r>
            <a:r>
              <a:rPr lang="en-US" dirty="0"/>
              <a:t>, also called a </a:t>
            </a:r>
            <a:r>
              <a:rPr lang="en-US" u="sng" dirty="0"/>
              <a:t>shortage</a:t>
            </a:r>
            <a:r>
              <a:rPr lang="en-US" dirty="0"/>
              <a:t>.</a:t>
            </a:r>
          </a:p>
          <a:p>
            <a:endParaRPr lang="en-US" dirty="0"/>
          </a:p>
        </p:txBody>
      </p:sp>
      <p:pic>
        <p:nvPicPr>
          <p:cNvPr id="4" name="Picture 3" descr="This graph illustrates the market for credit card borrowing and lending.  It shows what happens when there is a price ceiling on credit card interest rates, set below the equilibrium credit card interest rate. A shortage of or excess demand for credit card borrowing is illustrated as the horizontal distance between the now higher quantity demanded of credit card borrowing, and the now lower quantity supplied of credit card lending.">
            <a:extLst>
              <a:ext uri="{FF2B5EF4-FFF2-40B4-BE49-F238E27FC236}">
                <a16:creationId xmlns:a16="http://schemas.microsoft.com/office/drawing/2014/main" id="{2BEB69CF-1DC6-4986-A3F6-38EEFED71976}"/>
              </a:ext>
            </a:extLst>
          </p:cNvPr>
          <p:cNvPicPr>
            <a:picLocks noChangeAspect="1"/>
          </p:cNvPicPr>
          <p:nvPr/>
        </p:nvPicPr>
        <p:blipFill>
          <a:blip r:embed="rId2"/>
          <a:stretch>
            <a:fillRect/>
          </a:stretch>
        </p:blipFill>
        <p:spPr>
          <a:xfrm>
            <a:off x="6401429" y="1490597"/>
            <a:ext cx="4952371" cy="3839992"/>
          </a:xfrm>
          <a:prstGeom prst="rect">
            <a:avLst/>
          </a:prstGeom>
          <a:ln>
            <a:solidFill>
              <a:schemeClr val="tx1"/>
            </a:solidFill>
          </a:ln>
        </p:spPr>
      </p:pic>
    </p:spTree>
    <p:extLst>
      <p:ext uri="{BB962C8B-B14F-4D97-AF65-F5344CB8AC3E}">
        <p14:creationId xmlns:p14="http://schemas.microsoft.com/office/powerpoint/2010/main" val="2213051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a:xfrm>
            <a:off x="838200" y="365126"/>
            <a:ext cx="10515600" cy="749690"/>
          </a:xfrm>
        </p:spPr>
        <p:txBody>
          <a:bodyPr>
            <a:noAutofit/>
          </a:bodyPr>
          <a:lstStyle/>
          <a:p>
            <a:r>
              <a:rPr lang="en-US" dirty="0"/>
              <a:t>INTERTEMPORAL CHOICES</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838200" y="1341120"/>
            <a:ext cx="10515600" cy="5335253"/>
          </a:xfrm>
        </p:spPr>
        <p:txBody>
          <a:bodyPr>
            <a:normAutofit fontScale="62500" lnSpcReduction="20000"/>
          </a:bodyPr>
          <a:lstStyle/>
          <a:p>
            <a:pPr marL="0" indent="0">
              <a:buNone/>
            </a:pPr>
            <a:r>
              <a:rPr lang="en-US" sz="2900" b="1" dirty="0"/>
              <a:t>Definition:</a:t>
            </a:r>
            <a:r>
              <a:rPr lang="en-US" sz="2900" dirty="0"/>
              <a:t> Deciding when to consume—now or later</a:t>
            </a:r>
          </a:p>
          <a:p>
            <a:pPr marL="0" indent="0">
              <a:buNone/>
            </a:pPr>
            <a:r>
              <a:rPr lang="en-US" sz="2900" b="1" dirty="0"/>
              <a:t>Examples Across Your Life:</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r>
              <a:rPr lang="en-US" sz="2900" b="1" dirty="0"/>
              <a:t>Key Insight:</a:t>
            </a:r>
            <a:r>
              <a:rPr lang="en-US" sz="2900" dirty="0"/>
              <a:t> Your decision to save or borrow depends on:</a:t>
            </a:r>
          </a:p>
          <a:p>
            <a:r>
              <a:rPr lang="en-US" sz="2900" dirty="0"/>
              <a:t>Current vs. expected future income</a:t>
            </a:r>
          </a:p>
          <a:p>
            <a:r>
              <a:rPr lang="en-US" sz="2900" dirty="0"/>
              <a:t>Confidence in ability to repay</a:t>
            </a:r>
          </a:p>
          <a:p>
            <a:r>
              <a:rPr lang="en-US" sz="2900" dirty="0"/>
              <a:t>Interest rates (opportunity cost)</a:t>
            </a:r>
          </a:p>
          <a:p>
            <a:pPr marL="0" indent="0">
              <a:buNone/>
            </a:pPr>
            <a:endParaRPr lang="en-US" sz="2400" dirty="0"/>
          </a:p>
          <a:p>
            <a:endParaRPr lang="en-US" dirty="0"/>
          </a:p>
        </p:txBody>
      </p:sp>
      <p:graphicFrame>
        <p:nvGraphicFramePr>
          <p:cNvPr id="5" name="Table 4">
            <a:extLst>
              <a:ext uri="{FF2B5EF4-FFF2-40B4-BE49-F238E27FC236}">
                <a16:creationId xmlns:a16="http://schemas.microsoft.com/office/drawing/2014/main" id="{B23638EF-C6E0-95DB-F37B-3929F24D862C}"/>
              </a:ext>
            </a:extLst>
          </p:cNvPr>
          <p:cNvGraphicFramePr>
            <a:graphicFrameLocks noGrp="1"/>
          </p:cNvGraphicFramePr>
          <p:nvPr>
            <p:extLst>
              <p:ext uri="{D42A27DB-BD31-4B8C-83A1-F6EECF244321}">
                <p14:modId xmlns:p14="http://schemas.microsoft.com/office/powerpoint/2010/main" val="885741534"/>
              </p:ext>
            </p:extLst>
          </p:nvPr>
        </p:nvGraphicFramePr>
        <p:xfrm>
          <a:off x="985783" y="2178700"/>
          <a:ext cx="10220434" cy="2804160"/>
        </p:xfrm>
        <a:graphic>
          <a:graphicData uri="http://schemas.openxmlformats.org/drawingml/2006/table">
            <a:tbl>
              <a:tblPr firstRow="1">
                <a:tableStyleId>{9D7B26C5-4107-4FEC-AEDC-1716B250A1EF}</a:tableStyleId>
              </a:tblPr>
              <a:tblGrid>
                <a:gridCol w="5110217">
                  <a:extLst>
                    <a:ext uri="{9D8B030D-6E8A-4147-A177-3AD203B41FA5}">
                      <a16:colId xmlns:a16="http://schemas.microsoft.com/office/drawing/2014/main" val="2235554753"/>
                    </a:ext>
                  </a:extLst>
                </a:gridCol>
                <a:gridCol w="5110217">
                  <a:extLst>
                    <a:ext uri="{9D8B030D-6E8A-4147-A177-3AD203B41FA5}">
                      <a16:colId xmlns:a16="http://schemas.microsoft.com/office/drawing/2014/main" val="2417986829"/>
                    </a:ext>
                  </a:extLst>
                </a:gridCol>
              </a:tblGrid>
              <a:tr h="316336">
                <a:tc>
                  <a:txBody>
                    <a:bodyPr/>
                    <a:lstStyle/>
                    <a:p>
                      <a:pPr algn="l">
                        <a:buNone/>
                      </a:pPr>
                      <a:r>
                        <a:rPr lang="en-US" sz="1800" dirty="0">
                          <a:effectLst/>
                        </a:rPr>
                        <a:t>Life Stage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Intertemporal Decision</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5285587"/>
                  </a:ext>
                </a:extLst>
              </a:tr>
              <a:tr h="535337">
                <a:tc>
                  <a:txBody>
                    <a:bodyPr/>
                    <a:lstStyle/>
                    <a:p>
                      <a:pPr algn="l">
                        <a:buNone/>
                      </a:pPr>
                      <a:r>
                        <a:rPr lang="en-US" sz="1800" b="1" dirty="0">
                          <a:effectLst/>
                        </a:rPr>
                        <a:t>College</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Borrow now (consume education) → Pay later with higher income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8438714"/>
                  </a:ext>
                </a:extLst>
              </a:tr>
              <a:tr h="535337">
                <a:tc>
                  <a:txBody>
                    <a:bodyPr/>
                    <a:lstStyle/>
                    <a:p>
                      <a:pPr algn="l">
                        <a:buNone/>
                      </a:pPr>
                      <a:r>
                        <a:rPr lang="en-US" sz="1800" b="1" dirty="0">
                          <a:effectLst/>
                        </a:rPr>
                        <a:t>Working years</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Save now (delay consumption) → Spend in retirement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1468413"/>
                  </a:ext>
                </a:extLst>
              </a:tr>
              <a:tr h="535337">
                <a:tc>
                  <a:txBody>
                    <a:bodyPr/>
                    <a:lstStyle/>
                    <a:p>
                      <a:pPr algn="l">
                        <a:buNone/>
                      </a:pPr>
                      <a:r>
                        <a:rPr lang="en-US" sz="1800" b="1" dirty="0">
                          <a:effectLst/>
                        </a:rPr>
                        <a:t>Social Security effect</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Government promise of future income → People save less now</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870883"/>
                  </a:ext>
                </a:extLst>
              </a:tr>
              <a:tr h="379942">
                <a:tc>
                  <a:txBody>
                    <a:bodyPr/>
                    <a:lstStyle/>
                    <a:p>
                      <a:pPr algn="l">
                        <a:buNone/>
                      </a:pPr>
                      <a:r>
                        <a:rPr lang="en-US" sz="1800" b="1" dirty="0">
                          <a:effectLst/>
                        </a:rPr>
                        <a:t>Business</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Invest in R&amp;D now → Profit in 5-10 years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376876"/>
                  </a:ext>
                </a:extLst>
              </a:tr>
            </a:tbl>
          </a:graphicData>
        </a:graphic>
      </p:graphicFrame>
    </p:spTree>
    <p:extLst>
      <p:ext uri="{BB962C8B-B14F-4D97-AF65-F5344CB8AC3E}">
        <p14:creationId xmlns:p14="http://schemas.microsoft.com/office/powerpoint/2010/main" val="1564473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0F48-7564-7C9B-218F-7DB103019964}"/>
              </a:ext>
            </a:extLst>
          </p:cNvPr>
          <p:cNvSpPr>
            <a:spLocks noGrp="1"/>
          </p:cNvSpPr>
          <p:nvPr>
            <p:ph type="title"/>
          </p:nvPr>
        </p:nvSpPr>
        <p:spPr/>
        <p:txBody>
          <a:bodyPr/>
          <a:lstStyle/>
          <a:p>
            <a:r>
              <a:rPr lang="en-US" dirty="0"/>
              <a:t>SHIFTS IN FINANCIAL MARKETS</a:t>
            </a:r>
          </a:p>
        </p:txBody>
      </p:sp>
      <p:sp>
        <p:nvSpPr>
          <p:cNvPr id="3" name="Content Placeholder 2">
            <a:extLst>
              <a:ext uri="{FF2B5EF4-FFF2-40B4-BE49-F238E27FC236}">
                <a16:creationId xmlns:a16="http://schemas.microsoft.com/office/drawing/2014/main" id="{DFD720B8-9DC2-5777-CE9C-8E0F5E8323C3}"/>
              </a:ext>
            </a:extLst>
          </p:cNvPr>
          <p:cNvSpPr>
            <a:spLocks noGrp="1"/>
          </p:cNvSpPr>
          <p:nvPr>
            <p:ph idx="1"/>
          </p:nvPr>
        </p:nvSpPr>
        <p:spPr/>
        <p:txBody>
          <a:bodyPr/>
          <a:lstStyle/>
          <a:p>
            <a:pPr marL="0" indent="0">
              <a:buNone/>
            </a:pPr>
            <a:r>
              <a:rPr lang="en-US" b="1" dirty="0"/>
              <a:t>What Shifts Demand for Financial Capital?</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What Shifts Supply of Financial Capital?</a:t>
            </a:r>
          </a:p>
          <a:p>
            <a:pPr marL="0" indent="0">
              <a:buNone/>
            </a:pPr>
            <a:endParaRPr lang="en-US" b="1" dirty="0"/>
          </a:p>
          <a:p>
            <a:pPr marL="0" indent="0">
              <a:buNone/>
            </a:pPr>
            <a:endParaRPr lang="en-US" dirty="0"/>
          </a:p>
        </p:txBody>
      </p:sp>
      <p:graphicFrame>
        <p:nvGraphicFramePr>
          <p:cNvPr id="4" name="Table 3">
            <a:extLst>
              <a:ext uri="{FF2B5EF4-FFF2-40B4-BE49-F238E27FC236}">
                <a16:creationId xmlns:a16="http://schemas.microsoft.com/office/drawing/2014/main" id="{4F4C010C-26CA-64C5-D038-BCBF63F759FF}"/>
              </a:ext>
            </a:extLst>
          </p:cNvPr>
          <p:cNvGraphicFramePr>
            <a:graphicFrameLocks noGrp="1"/>
          </p:cNvGraphicFramePr>
          <p:nvPr>
            <p:extLst>
              <p:ext uri="{D42A27DB-BD31-4B8C-83A1-F6EECF244321}">
                <p14:modId xmlns:p14="http://schemas.microsoft.com/office/powerpoint/2010/main" val="1977402769"/>
              </p:ext>
            </p:extLst>
          </p:nvPr>
        </p:nvGraphicFramePr>
        <p:xfrm>
          <a:off x="977836" y="1945165"/>
          <a:ext cx="10207905" cy="1725176"/>
        </p:xfrm>
        <a:graphic>
          <a:graphicData uri="http://schemas.openxmlformats.org/drawingml/2006/table">
            <a:tbl>
              <a:tblPr firstRow="1">
                <a:tableStyleId>{9D7B26C5-4107-4FEC-AEDC-1716B250A1EF}</a:tableStyleId>
              </a:tblPr>
              <a:tblGrid>
                <a:gridCol w="3402635">
                  <a:extLst>
                    <a:ext uri="{9D8B030D-6E8A-4147-A177-3AD203B41FA5}">
                      <a16:colId xmlns:a16="http://schemas.microsoft.com/office/drawing/2014/main" val="2143124262"/>
                    </a:ext>
                  </a:extLst>
                </a:gridCol>
                <a:gridCol w="3402635">
                  <a:extLst>
                    <a:ext uri="{9D8B030D-6E8A-4147-A177-3AD203B41FA5}">
                      <a16:colId xmlns:a16="http://schemas.microsoft.com/office/drawing/2014/main" val="4179529729"/>
                    </a:ext>
                  </a:extLst>
                </a:gridCol>
                <a:gridCol w="3402635">
                  <a:extLst>
                    <a:ext uri="{9D8B030D-6E8A-4147-A177-3AD203B41FA5}">
                      <a16:colId xmlns:a16="http://schemas.microsoft.com/office/drawing/2014/main" val="2161985635"/>
                    </a:ext>
                  </a:extLst>
                </a:gridCol>
              </a:tblGrid>
              <a:tr h="275569">
                <a:tc>
                  <a:txBody>
                    <a:bodyPr/>
                    <a:lstStyle/>
                    <a:p>
                      <a:pPr algn="l">
                        <a:buNone/>
                      </a:pPr>
                      <a:r>
                        <a:rPr lang="en-US" sz="1800" dirty="0">
                          <a:effectLst/>
                        </a:rPr>
                        <a:t>Factor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Example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Demand Shift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0244864"/>
                  </a:ext>
                </a:extLst>
              </a:tr>
              <a:tr h="466348">
                <a:tc>
                  <a:txBody>
                    <a:bodyPr/>
                    <a:lstStyle/>
                    <a:p>
                      <a:pPr algn="l">
                        <a:buNone/>
                      </a:pPr>
                      <a:r>
                        <a:rPr lang="en-US" sz="1800" b="1">
                          <a:effectLst/>
                        </a:rPr>
                        <a:t>Business confidence ↑</a:t>
                      </a:r>
                      <a:endParaRPr lang="en-US" sz="180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Late 1990s tech boom</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 Right (more borrowing)</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8079864"/>
                  </a:ext>
                </a:extLst>
              </a:tr>
              <a:tr h="275569">
                <a:tc>
                  <a:txBody>
                    <a:bodyPr/>
                    <a:lstStyle/>
                    <a:p>
                      <a:pPr algn="l">
                        <a:buNone/>
                      </a:pPr>
                      <a:r>
                        <a:rPr lang="en-US" sz="1800" b="1">
                          <a:effectLst/>
                        </a:rPr>
                        <a:t>Business confidence ↓</a:t>
                      </a:r>
                      <a:endParaRPr lang="en-US" sz="180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2008-09 recession</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 Left (less borrowing)</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3055749"/>
                  </a:ext>
                </a:extLst>
              </a:tr>
              <a:tr h="466348">
                <a:tc>
                  <a:txBody>
                    <a:bodyPr/>
                    <a:lstStyle/>
                    <a:p>
                      <a:pPr algn="l">
                        <a:buNone/>
                      </a:pPr>
                      <a:r>
                        <a:rPr lang="en-US" sz="1800" b="1" dirty="0">
                          <a:effectLst/>
                        </a:rPr>
                        <a:t>Consumer confidence ↑</a:t>
                      </a:r>
                      <a:endParaRPr lang="en-US" sz="1800"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Strong job market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 Right (borrow for homes/cars)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863593"/>
                  </a:ext>
                </a:extLst>
              </a:tr>
            </a:tbl>
          </a:graphicData>
        </a:graphic>
      </p:graphicFrame>
      <p:graphicFrame>
        <p:nvGraphicFramePr>
          <p:cNvPr id="5" name="Table 4">
            <a:extLst>
              <a:ext uri="{FF2B5EF4-FFF2-40B4-BE49-F238E27FC236}">
                <a16:creationId xmlns:a16="http://schemas.microsoft.com/office/drawing/2014/main" id="{B0AAE946-46E6-4E8A-4D14-A6525AE2B02B}"/>
              </a:ext>
            </a:extLst>
          </p:cNvPr>
          <p:cNvGraphicFramePr>
            <a:graphicFrameLocks noGrp="1"/>
          </p:cNvGraphicFramePr>
          <p:nvPr>
            <p:extLst>
              <p:ext uri="{D42A27DB-BD31-4B8C-83A1-F6EECF244321}">
                <p14:modId xmlns:p14="http://schemas.microsoft.com/office/powerpoint/2010/main" val="1879873501"/>
              </p:ext>
            </p:extLst>
          </p:nvPr>
        </p:nvGraphicFramePr>
        <p:xfrm>
          <a:off x="977835" y="4596037"/>
          <a:ext cx="10207905" cy="1860503"/>
        </p:xfrm>
        <a:graphic>
          <a:graphicData uri="http://schemas.openxmlformats.org/drawingml/2006/table">
            <a:tbl>
              <a:tblPr firstRow="1">
                <a:tableStyleId>{9D7B26C5-4107-4FEC-AEDC-1716B250A1EF}</a:tableStyleId>
              </a:tblPr>
              <a:tblGrid>
                <a:gridCol w="3402635">
                  <a:extLst>
                    <a:ext uri="{9D8B030D-6E8A-4147-A177-3AD203B41FA5}">
                      <a16:colId xmlns:a16="http://schemas.microsoft.com/office/drawing/2014/main" val="2136128002"/>
                    </a:ext>
                  </a:extLst>
                </a:gridCol>
                <a:gridCol w="3402635">
                  <a:extLst>
                    <a:ext uri="{9D8B030D-6E8A-4147-A177-3AD203B41FA5}">
                      <a16:colId xmlns:a16="http://schemas.microsoft.com/office/drawing/2014/main" val="2719813226"/>
                    </a:ext>
                  </a:extLst>
                </a:gridCol>
                <a:gridCol w="3402635">
                  <a:extLst>
                    <a:ext uri="{9D8B030D-6E8A-4147-A177-3AD203B41FA5}">
                      <a16:colId xmlns:a16="http://schemas.microsoft.com/office/drawing/2014/main" val="1556238771"/>
                    </a:ext>
                  </a:extLst>
                </a:gridCol>
              </a:tblGrid>
              <a:tr h="290468">
                <a:tc>
                  <a:txBody>
                    <a:bodyPr/>
                    <a:lstStyle/>
                    <a:p>
                      <a:pPr algn="l">
                        <a:buNone/>
                      </a:pPr>
                      <a:r>
                        <a:rPr lang="en-US" sz="1800" dirty="0">
                          <a:effectLst/>
                        </a:rPr>
                        <a:t>Factor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Example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Supply Shift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3777792"/>
                  </a:ext>
                </a:extLst>
              </a:tr>
              <a:tr h="290468">
                <a:tc>
                  <a:txBody>
                    <a:bodyPr/>
                    <a:lstStyle/>
                    <a:p>
                      <a:pPr algn="l">
                        <a:buNone/>
                      </a:pPr>
                      <a:r>
                        <a:rPr lang="en-US" sz="1800" b="1">
                          <a:effectLst/>
                        </a:rPr>
                        <a:t>Income increases</a:t>
                      </a:r>
                      <a:endParaRPr lang="en-US" sz="180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Workers earn more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 Right (more saving)</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5532053"/>
                  </a:ext>
                </a:extLst>
              </a:tr>
              <a:tr h="397463">
                <a:tc>
                  <a:txBody>
                    <a:bodyPr/>
                    <a:lstStyle/>
                    <a:p>
                      <a:pPr algn="l">
                        <a:buNone/>
                      </a:pPr>
                      <a:r>
                        <a:rPr lang="en-US" sz="1800" b="1">
                          <a:effectLst/>
                        </a:rPr>
                        <a:t>Future uncertainty ↑</a:t>
                      </a:r>
                      <a:endParaRPr lang="en-US" sz="180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Recession fears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 Right (precautionary saving)</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1918381"/>
                  </a:ext>
                </a:extLst>
              </a:tr>
              <a:tr h="491560">
                <a:tc>
                  <a:txBody>
                    <a:bodyPr/>
                    <a:lstStyle/>
                    <a:p>
                      <a:pPr algn="l">
                        <a:buNone/>
                      </a:pPr>
                      <a:r>
                        <a:rPr lang="en-US" sz="1800" b="1">
                          <a:effectLst/>
                        </a:rPr>
                        <a:t>Investment becomes riskier</a:t>
                      </a:r>
                      <a:endParaRPr lang="en-US" sz="180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a:effectLst/>
                        </a:rPr>
                        <a:t>Stock market crash</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800" dirty="0">
                          <a:effectLst/>
                        </a:rPr>
                        <a:t>← Left (shift from stocks to bonds)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4078436"/>
                  </a:ext>
                </a:extLst>
              </a:tr>
            </a:tbl>
          </a:graphicData>
        </a:graphic>
      </p:graphicFrame>
    </p:spTree>
    <p:extLst>
      <p:ext uri="{BB962C8B-B14F-4D97-AF65-F5344CB8AC3E}">
        <p14:creationId xmlns:p14="http://schemas.microsoft.com/office/powerpoint/2010/main" val="2497804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4F2A8-6D90-6801-0925-9B4D69E42C00}"/>
              </a:ext>
            </a:extLst>
          </p:cNvPr>
          <p:cNvSpPr>
            <a:spLocks noGrp="1"/>
          </p:cNvSpPr>
          <p:nvPr>
            <p:ph type="title"/>
          </p:nvPr>
        </p:nvSpPr>
        <p:spPr/>
        <p:txBody>
          <a:bodyPr/>
          <a:lstStyle/>
          <a:p>
            <a:r>
              <a:rPr lang="en-US" dirty="0"/>
              <a:t>U.S. AS GLOBAL BORROWER</a:t>
            </a:r>
          </a:p>
        </p:txBody>
      </p:sp>
      <p:sp>
        <p:nvSpPr>
          <p:cNvPr id="3" name="Content Placeholder 2">
            <a:extLst>
              <a:ext uri="{FF2B5EF4-FFF2-40B4-BE49-F238E27FC236}">
                <a16:creationId xmlns:a16="http://schemas.microsoft.com/office/drawing/2014/main" id="{ECD523CC-A556-159A-3BAA-E3DD3EF8E55F}"/>
              </a:ext>
            </a:extLst>
          </p:cNvPr>
          <p:cNvSpPr>
            <a:spLocks noGrp="1"/>
          </p:cNvSpPr>
          <p:nvPr>
            <p:ph idx="1"/>
          </p:nvPr>
        </p:nvSpPr>
        <p:spPr/>
        <p:txBody>
          <a:bodyPr>
            <a:normAutofit fontScale="92500" lnSpcReduction="20000"/>
          </a:bodyPr>
          <a:lstStyle/>
          <a:p>
            <a:pPr marL="0" indent="0">
              <a:buNone/>
            </a:pPr>
            <a:r>
              <a:rPr lang="en-US" b="1" dirty="0"/>
              <a:t>The Foreign Investment Story:</a:t>
            </a:r>
            <a:endParaRPr lang="en-US" dirty="0"/>
          </a:p>
          <a:p>
            <a:pPr marL="0" indent="0">
              <a:buNone/>
            </a:pPr>
            <a:r>
              <a:rPr lang="en-US" b="1" dirty="0"/>
              <a:t>Current Reality (Q3 2021):</a:t>
            </a:r>
            <a:endParaRPr lang="en-US" dirty="0"/>
          </a:p>
          <a:p>
            <a:pPr lvl="1"/>
            <a:r>
              <a:rPr lang="en-US" sz="1800" dirty="0"/>
              <a:t>Foreign investors own </a:t>
            </a:r>
            <a:r>
              <a:rPr lang="en-US" sz="1800" b="1" dirty="0"/>
              <a:t>$50.53 trillion</a:t>
            </a:r>
            <a:r>
              <a:rPr lang="en-US" sz="1800" dirty="0"/>
              <a:t> of U.S. assets</a:t>
            </a:r>
          </a:p>
          <a:p>
            <a:pPr lvl="1"/>
            <a:r>
              <a:rPr lang="en-US" sz="1800" dirty="0"/>
              <a:t>U.S. investors own </a:t>
            </a:r>
            <a:r>
              <a:rPr lang="en-US" sz="1800" b="1" dirty="0"/>
              <a:t>$34.45 trillion</a:t>
            </a:r>
            <a:r>
              <a:rPr lang="en-US" sz="1800" dirty="0"/>
              <a:t> of foreign assets</a:t>
            </a:r>
          </a:p>
          <a:p>
            <a:pPr lvl="1"/>
            <a:r>
              <a:rPr lang="en-US" sz="1800" dirty="0"/>
              <a:t>Net: U.S. depends on </a:t>
            </a:r>
            <a:r>
              <a:rPr lang="en-US" sz="1800" b="1" dirty="0"/>
              <a:t>$16 trillion</a:t>
            </a:r>
            <a:r>
              <a:rPr lang="en-US" sz="1800" dirty="0"/>
              <a:t> foreign capital inflow</a:t>
            </a:r>
          </a:p>
          <a:p>
            <a:pPr marL="0" indent="0">
              <a:buNone/>
            </a:pPr>
            <a:r>
              <a:rPr lang="en-US" b="1" dirty="0"/>
              <a:t>What if Foreign Confidence Falls?</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Analogy:</a:t>
            </a:r>
            <a:r>
              <a:rPr lang="en-US" dirty="0"/>
              <a:t> Like a restaurant that depends on one major supplier—if that supplier leaves, you're scrambling and paying premium prices to others.</a:t>
            </a:r>
          </a:p>
          <a:p>
            <a:pPr marL="0" indent="0">
              <a:buNone/>
            </a:pPr>
            <a:endParaRPr lang="en-US" dirty="0"/>
          </a:p>
        </p:txBody>
      </p:sp>
      <p:graphicFrame>
        <p:nvGraphicFramePr>
          <p:cNvPr id="4" name="Table 3">
            <a:extLst>
              <a:ext uri="{FF2B5EF4-FFF2-40B4-BE49-F238E27FC236}">
                <a16:creationId xmlns:a16="http://schemas.microsoft.com/office/drawing/2014/main" id="{F28A52BD-2829-82C0-517D-234186F8A8EA}"/>
              </a:ext>
            </a:extLst>
          </p:cNvPr>
          <p:cNvGraphicFramePr>
            <a:graphicFrameLocks noGrp="1"/>
          </p:cNvGraphicFramePr>
          <p:nvPr>
            <p:extLst>
              <p:ext uri="{D42A27DB-BD31-4B8C-83A1-F6EECF244321}">
                <p14:modId xmlns:p14="http://schemas.microsoft.com/office/powerpoint/2010/main" val="1224374893"/>
              </p:ext>
            </p:extLst>
          </p:nvPr>
        </p:nvGraphicFramePr>
        <p:xfrm>
          <a:off x="963804" y="3328792"/>
          <a:ext cx="10264392" cy="2522580"/>
        </p:xfrm>
        <a:graphic>
          <a:graphicData uri="http://schemas.openxmlformats.org/drawingml/2006/table">
            <a:tbl>
              <a:tblPr firstRow="1">
                <a:tableStyleId>{9D7B26C5-4107-4FEC-AEDC-1716B250A1EF}</a:tableStyleId>
              </a:tblPr>
              <a:tblGrid>
                <a:gridCol w="5132196">
                  <a:extLst>
                    <a:ext uri="{9D8B030D-6E8A-4147-A177-3AD203B41FA5}">
                      <a16:colId xmlns:a16="http://schemas.microsoft.com/office/drawing/2014/main" val="3578313791"/>
                    </a:ext>
                  </a:extLst>
                </a:gridCol>
                <a:gridCol w="5132196">
                  <a:extLst>
                    <a:ext uri="{9D8B030D-6E8A-4147-A177-3AD203B41FA5}">
                      <a16:colId xmlns:a16="http://schemas.microsoft.com/office/drawing/2014/main" val="2545396494"/>
                    </a:ext>
                  </a:extLst>
                </a:gridCol>
              </a:tblGrid>
              <a:tr h="303936">
                <a:tc>
                  <a:txBody>
                    <a:bodyPr/>
                    <a:lstStyle/>
                    <a:p>
                      <a:pPr algn="l">
                        <a:buNone/>
                      </a:pPr>
                      <a:r>
                        <a:rPr lang="en-US" sz="1700" dirty="0">
                          <a:effectLst/>
                        </a:rPr>
                        <a:t>Step</a:t>
                      </a: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700">
                          <a:effectLst/>
                        </a:rPr>
                        <a:t>Analysis</a:t>
                      </a: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1000295"/>
                  </a:ext>
                </a:extLst>
              </a:tr>
              <a:tr h="303936">
                <a:tc>
                  <a:txBody>
                    <a:bodyPr/>
                    <a:lstStyle/>
                    <a:p>
                      <a:pPr algn="l">
                        <a:buNone/>
                      </a:pPr>
                      <a:r>
                        <a:rPr lang="en-US" sz="1700" dirty="0">
                          <a:effectLst/>
                        </a:rPr>
                        <a:t>1. </a:t>
                      </a:r>
                      <a:r>
                        <a:rPr lang="en-US" sz="1700" b="1" dirty="0">
                          <a:effectLst/>
                        </a:rPr>
                        <a:t>Scenario</a:t>
                      </a:r>
                      <a:endParaRPr lang="en-US" sz="1700" dirty="0">
                        <a:effectLst/>
                      </a:endParaRP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700">
                          <a:effectLst/>
                        </a:rPr>
                        <a:t>Investors fear growing U.S. debt</a:t>
                      </a: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0039045"/>
                  </a:ext>
                </a:extLst>
              </a:tr>
              <a:tr h="303936">
                <a:tc>
                  <a:txBody>
                    <a:bodyPr/>
                    <a:lstStyle/>
                    <a:p>
                      <a:pPr algn="l">
                        <a:buNone/>
                      </a:pPr>
                      <a:r>
                        <a:rPr lang="en-US" sz="1700" dirty="0">
                          <a:effectLst/>
                        </a:rPr>
                        <a:t>2. </a:t>
                      </a:r>
                      <a:r>
                        <a:rPr lang="en-US" sz="1700" b="1" dirty="0">
                          <a:effectLst/>
                        </a:rPr>
                        <a:t>Which curve?</a:t>
                      </a:r>
                      <a:endParaRPr lang="en-US" sz="1700" dirty="0">
                        <a:effectLst/>
                      </a:endParaRP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700">
                          <a:effectLst/>
                        </a:rPr>
                        <a:t>Supply of capital shifts (foreign lenders pull out)</a:t>
                      </a: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231028"/>
                  </a:ext>
                </a:extLst>
              </a:tr>
              <a:tr h="303936">
                <a:tc>
                  <a:txBody>
                    <a:bodyPr/>
                    <a:lstStyle/>
                    <a:p>
                      <a:pPr algn="l">
                        <a:buNone/>
                      </a:pPr>
                      <a:r>
                        <a:rPr lang="en-US" sz="1700" dirty="0">
                          <a:effectLst/>
                        </a:rPr>
                        <a:t>3. </a:t>
                      </a:r>
                      <a:r>
                        <a:rPr lang="en-US" sz="1700" b="1" dirty="0">
                          <a:effectLst/>
                        </a:rPr>
                        <a:t>Direction?</a:t>
                      </a:r>
                      <a:endParaRPr lang="en-US" sz="1700" dirty="0">
                        <a:effectLst/>
                      </a:endParaRP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700">
                          <a:effectLst/>
                        </a:rPr>
                        <a:t>← Left (less capital available)</a:t>
                      </a: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6208252"/>
                  </a:ext>
                </a:extLst>
              </a:tr>
              <a:tr h="303936">
                <a:tc>
                  <a:txBody>
                    <a:bodyPr/>
                    <a:lstStyle/>
                    <a:p>
                      <a:pPr algn="l">
                        <a:buNone/>
                      </a:pPr>
                      <a:r>
                        <a:rPr lang="en-US" sz="1700" dirty="0">
                          <a:effectLst/>
                        </a:rPr>
                        <a:t>4. </a:t>
                      </a:r>
                      <a:r>
                        <a:rPr lang="en-US" sz="1700" b="1" dirty="0">
                          <a:effectLst/>
                        </a:rPr>
                        <a:t>New equilibrium</a:t>
                      </a:r>
                      <a:endParaRPr lang="en-US" sz="1700" dirty="0">
                        <a:effectLst/>
                      </a:endParaRP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700">
                          <a:effectLst/>
                        </a:rPr>
                        <a:t>↑ Higher interest rates, ↓ Less investment</a:t>
                      </a: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1989528"/>
                  </a:ext>
                </a:extLst>
              </a:tr>
              <a:tr h="512667">
                <a:tc>
                  <a:txBody>
                    <a:bodyPr/>
                    <a:lstStyle/>
                    <a:p>
                      <a:pPr algn="l">
                        <a:buNone/>
                      </a:pPr>
                      <a:r>
                        <a:rPr lang="en-US" sz="1700" dirty="0">
                          <a:effectLst/>
                        </a:rPr>
                        <a:t>5. </a:t>
                      </a:r>
                      <a:r>
                        <a:rPr lang="en-US" sz="1700" b="1" dirty="0">
                          <a:effectLst/>
                        </a:rPr>
                        <a:t>Impact</a:t>
                      </a:r>
                      <a:endParaRPr lang="en-US" sz="1700" dirty="0">
                        <a:effectLst/>
                      </a:endParaRP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700" dirty="0">
                          <a:effectLst/>
                        </a:rPr>
                        <a:t>U.S. borrowers pay more; harder to finance homes, cars, businesses</a:t>
                      </a:r>
                    </a:p>
                  </a:txBody>
                  <a:tcPr marL="59085" marR="59085" marT="59085" marB="590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7919200"/>
                  </a:ext>
                </a:extLst>
              </a:tr>
            </a:tbl>
          </a:graphicData>
        </a:graphic>
      </p:graphicFrame>
    </p:spTree>
    <p:extLst>
      <p:ext uri="{BB962C8B-B14F-4D97-AF65-F5344CB8AC3E}">
        <p14:creationId xmlns:p14="http://schemas.microsoft.com/office/powerpoint/2010/main" val="2947762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79DC-856A-B01F-79F6-879ABD6A862C}"/>
              </a:ext>
            </a:extLst>
          </p:cNvPr>
          <p:cNvSpPr>
            <a:spLocks noGrp="1"/>
          </p:cNvSpPr>
          <p:nvPr>
            <p:ph type="title"/>
          </p:nvPr>
        </p:nvSpPr>
        <p:spPr/>
        <p:txBody>
          <a:bodyPr/>
          <a:lstStyle/>
          <a:p>
            <a:r>
              <a:rPr lang="en-US" dirty="0"/>
              <a:t>USURY LAWS (PRICE CEILING)</a:t>
            </a:r>
          </a:p>
        </p:txBody>
      </p:sp>
      <p:sp>
        <p:nvSpPr>
          <p:cNvPr id="3" name="Content Placeholder 2">
            <a:extLst>
              <a:ext uri="{FF2B5EF4-FFF2-40B4-BE49-F238E27FC236}">
                <a16:creationId xmlns:a16="http://schemas.microsoft.com/office/drawing/2014/main" id="{2206246F-3431-A55C-3B67-5BD67523F38C}"/>
              </a:ext>
            </a:extLst>
          </p:cNvPr>
          <p:cNvSpPr>
            <a:spLocks noGrp="1"/>
          </p:cNvSpPr>
          <p:nvPr>
            <p:ph idx="1"/>
          </p:nvPr>
        </p:nvSpPr>
        <p:spPr/>
        <p:txBody>
          <a:bodyPr>
            <a:normAutofit fontScale="92500" lnSpcReduction="10000"/>
          </a:bodyPr>
          <a:lstStyle/>
          <a:p>
            <a:pPr marL="0" indent="0">
              <a:buNone/>
            </a:pPr>
            <a:r>
              <a:rPr lang="en-US" sz="2000" b="1" dirty="0"/>
              <a:t>Price Ceiling on Interest Rates:</a:t>
            </a:r>
            <a:endParaRPr lang="en-US" sz="2000" dirty="0"/>
          </a:p>
          <a:p>
            <a:pPr marL="0" indent="0">
              <a:buNone/>
            </a:pPr>
            <a:r>
              <a:rPr lang="en-US" sz="2000" b="1" dirty="0"/>
              <a:t>Market Without Control:</a:t>
            </a:r>
            <a:endParaRPr lang="en-US" sz="2000" dirty="0"/>
          </a:p>
          <a:p>
            <a:pPr lvl="1"/>
            <a:r>
              <a:rPr lang="en-US" sz="1800" dirty="0"/>
              <a:t>Equilibrium: 15% interest rate, $600B borrowed</a:t>
            </a:r>
          </a:p>
          <a:p>
            <a:pPr marL="0" indent="0">
              <a:buNone/>
            </a:pPr>
            <a:endParaRPr lang="en-US" sz="2000" b="1" dirty="0"/>
          </a:p>
          <a:p>
            <a:pPr marL="0" indent="0">
              <a:buNone/>
            </a:pPr>
            <a:r>
              <a:rPr lang="en-US" sz="2000" b="1" dirty="0"/>
              <a:t>With Usury Law at 13%:</a:t>
            </a:r>
            <a:endParaRPr lang="en-US" sz="2000" dirty="0"/>
          </a:p>
          <a:p>
            <a:pPr lvl="1"/>
            <a:r>
              <a:rPr lang="en-US" sz="1800" dirty="0"/>
              <a:t>Quantity demanded: $700B (more want to borrow at lower rate)</a:t>
            </a:r>
          </a:p>
          <a:p>
            <a:pPr lvl="1"/>
            <a:r>
              <a:rPr lang="en-US" sz="1800" dirty="0"/>
              <a:t>Quantity supplied: $510B (lenders offer less at lower rate)</a:t>
            </a:r>
          </a:p>
          <a:p>
            <a:pPr lvl="1"/>
            <a:r>
              <a:rPr lang="en-US" sz="1800" b="1" dirty="0"/>
              <a:t>Result:</a:t>
            </a:r>
            <a:r>
              <a:rPr lang="en-US" sz="1800" dirty="0"/>
              <a:t> $190B credit shortage</a:t>
            </a:r>
          </a:p>
          <a:p>
            <a:pPr marL="0" indent="0">
              <a:buNone/>
            </a:pPr>
            <a:r>
              <a:rPr lang="en-US" sz="2000" b="1" dirty="0"/>
              <a:t>Who's Affected?</a:t>
            </a:r>
            <a:endParaRPr lang="en-US" sz="2000" dirty="0"/>
          </a:p>
          <a:p>
            <a:pPr lvl="1"/>
            <a:r>
              <a:rPr lang="en-US" sz="1800" dirty="0"/>
              <a:t>❌ People denied credit cards despite willingness to pay market rate</a:t>
            </a:r>
          </a:p>
          <a:p>
            <a:pPr lvl="1"/>
            <a:r>
              <a:rPr lang="en-US" sz="1800" dirty="0"/>
              <a:t>✅ Those who get cards at lower rate benefit</a:t>
            </a:r>
          </a:p>
          <a:p>
            <a:pPr marL="0" indent="0">
              <a:buNone/>
            </a:pPr>
            <a:endParaRPr lang="en-US" sz="2000" b="1" dirty="0"/>
          </a:p>
          <a:p>
            <a:pPr marL="0" indent="0">
              <a:buNone/>
            </a:pPr>
            <a:r>
              <a:rPr lang="en-US" sz="2000" b="1" dirty="0"/>
              <a:t>Reality Check:</a:t>
            </a:r>
            <a:r>
              <a:rPr lang="en-US" sz="2000" dirty="0"/>
              <a:t> Most state usury laws set limits well above market rates (e.g., 30%), making them non-binding.</a:t>
            </a:r>
          </a:p>
          <a:p>
            <a:endParaRPr lang="en-US" dirty="0"/>
          </a:p>
        </p:txBody>
      </p:sp>
    </p:spTree>
    <p:extLst>
      <p:ext uri="{BB962C8B-B14F-4D97-AF65-F5344CB8AC3E}">
        <p14:creationId xmlns:p14="http://schemas.microsoft.com/office/powerpoint/2010/main" val="3564647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5E2A4-455B-454C-C023-0F3C9E6D749C}"/>
              </a:ext>
            </a:extLst>
          </p:cNvPr>
          <p:cNvSpPr>
            <a:spLocks noGrp="1"/>
          </p:cNvSpPr>
          <p:nvPr>
            <p:ph type="title"/>
          </p:nvPr>
        </p:nvSpPr>
        <p:spPr/>
        <p:txBody>
          <a:bodyPr>
            <a:normAutofit fontScale="90000"/>
          </a:bodyPr>
          <a:lstStyle/>
          <a:p>
            <a:r>
              <a:rPr lang="en-US" dirty="0"/>
              <a:t>Prices as information</a:t>
            </a:r>
          </a:p>
        </p:txBody>
      </p:sp>
      <p:sp>
        <p:nvSpPr>
          <p:cNvPr id="7" name="Content Placeholder 6">
            <a:extLst>
              <a:ext uri="{FF2B5EF4-FFF2-40B4-BE49-F238E27FC236}">
                <a16:creationId xmlns:a16="http://schemas.microsoft.com/office/drawing/2014/main" id="{5B3A9016-5DE2-FDFA-EA79-C208A47D1030}"/>
              </a:ext>
            </a:extLst>
          </p:cNvPr>
          <p:cNvSpPr>
            <a:spLocks noGrp="1"/>
          </p:cNvSpPr>
          <p:nvPr>
            <p:ph idx="1"/>
          </p:nvPr>
        </p:nvSpPr>
        <p:spPr>
          <a:xfrm>
            <a:off x="838200" y="1178667"/>
            <a:ext cx="10515600" cy="5510232"/>
          </a:xfrm>
        </p:spPr>
        <p:txBody>
          <a:bodyPr>
            <a:normAutofit/>
          </a:bodyPr>
          <a:lstStyle/>
          <a:p>
            <a:pPr marL="0" indent="0">
              <a:buNone/>
            </a:pPr>
            <a:r>
              <a:rPr lang="en-US" sz="2000" b="1" dirty="0"/>
              <a:t>Markets as Decentralized Information Processors</a:t>
            </a:r>
            <a:endParaRPr lang="en-US" sz="2000" dirty="0"/>
          </a:p>
          <a:p>
            <a:pPr marL="0" indent="0">
              <a:buNone/>
            </a:pPr>
            <a:r>
              <a:rPr lang="en-US" sz="2000" b="1" dirty="0"/>
              <a:t>How Prices Communicate:</a:t>
            </a:r>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b="1" dirty="0"/>
          </a:p>
          <a:p>
            <a:pPr marL="0" indent="0">
              <a:buNone/>
            </a:pPr>
            <a:r>
              <a:rPr lang="en-US" b="1" dirty="0"/>
              <a:t>The Danger of Price Controls:</a:t>
            </a:r>
            <a:endParaRPr lang="en-US" dirty="0"/>
          </a:p>
          <a:p>
            <a:pPr lvl="1"/>
            <a:r>
              <a:rPr lang="en-US" sz="2000" dirty="0"/>
              <a:t>Like killing the messenger—doesn't change underlying reality</a:t>
            </a:r>
          </a:p>
          <a:p>
            <a:pPr lvl="1"/>
            <a:r>
              <a:rPr lang="en-US" sz="2000" dirty="0"/>
              <a:t>Deprives buyers and sellers of critical market information</a:t>
            </a:r>
          </a:p>
          <a:p>
            <a:pPr lvl="1"/>
            <a:r>
              <a:rPr lang="en-US" sz="2000" dirty="0"/>
              <a:t>Historic example: China's Great Leap Forward (1950s) kept food prices artificially low → 30-40 million starved</a:t>
            </a:r>
          </a:p>
          <a:p>
            <a:pPr marL="0" indent="0">
              <a:buNone/>
            </a:pPr>
            <a:endParaRPr lang="en-US" sz="2000" dirty="0"/>
          </a:p>
          <a:p>
            <a:pPr marL="0" indent="0">
              <a:buNone/>
            </a:pPr>
            <a:endParaRPr lang="en-US" dirty="0"/>
          </a:p>
        </p:txBody>
      </p:sp>
      <p:graphicFrame>
        <p:nvGraphicFramePr>
          <p:cNvPr id="2" name="Table 1">
            <a:extLst>
              <a:ext uri="{FF2B5EF4-FFF2-40B4-BE49-F238E27FC236}">
                <a16:creationId xmlns:a16="http://schemas.microsoft.com/office/drawing/2014/main" id="{A2ACBAB6-E534-5548-A0E9-9E7C8CBE02B4}"/>
              </a:ext>
            </a:extLst>
          </p:cNvPr>
          <p:cNvGraphicFramePr>
            <a:graphicFrameLocks noGrp="1"/>
          </p:cNvGraphicFramePr>
          <p:nvPr>
            <p:extLst>
              <p:ext uri="{D42A27DB-BD31-4B8C-83A1-F6EECF244321}">
                <p14:modId xmlns:p14="http://schemas.microsoft.com/office/powerpoint/2010/main" val="1661922411"/>
              </p:ext>
            </p:extLst>
          </p:nvPr>
        </p:nvGraphicFramePr>
        <p:xfrm>
          <a:off x="927730" y="2096105"/>
          <a:ext cx="10182855" cy="2020212"/>
        </p:xfrm>
        <a:graphic>
          <a:graphicData uri="http://schemas.openxmlformats.org/drawingml/2006/table">
            <a:tbl>
              <a:tblPr firstRow="1"/>
              <a:tblGrid>
                <a:gridCol w="3394285">
                  <a:extLst>
                    <a:ext uri="{9D8B030D-6E8A-4147-A177-3AD203B41FA5}">
                      <a16:colId xmlns:a16="http://schemas.microsoft.com/office/drawing/2014/main" val="2433621470"/>
                    </a:ext>
                  </a:extLst>
                </a:gridCol>
                <a:gridCol w="3394285">
                  <a:extLst>
                    <a:ext uri="{9D8B030D-6E8A-4147-A177-3AD203B41FA5}">
                      <a16:colId xmlns:a16="http://schemas.microsoft.com/office/drawing/2014/main" val="3084674165"/>
                    </a:ext>
                  </a:extLst>
                </a:gridCol>
                <a:gridCol w="3394285">
                  <a:extLst>
                    <a:ext uri="{9D8B030D-6E8A-4147-A177-3AD203B41FA5}">
                      <a16:colId xmlns:a16="http://schemas.microsoft.com/office/drawing/2014/main" val="1596621754"/>
                    </a:ext>
                  </a:extLst>
                </a:gridCol>
              </a:tblGrid>
              <a:tr h="281690">
                <a:tc>
                  <a:txBody>
                    <a:bodyPr/>
                    <a:lstStyle/>
                    <a:p>
                      <a:pPr algn="l">
                        <a:buNone/>
                      </a:pPr>
                      <a:r>
                        <a:rPr lang="en-US" sz="1800" dirty="0">
                          <a:effectLst/>
                        </a:rPr>
                        <a:t>Price Signal</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US" sz="1800" dirty="0">
                          <a:effectLst/>
                        </a:rPr>
                        <a:t>Consumer Response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US" sz="1800" dirty="0">
                          <a:effectLst/>
                        </a:rPr>
                        <a:t>Producer Response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527727562"/>
                  </a:ext>
                </a:extLst>
              </a:tr>
              <a:tr h="476706">
                <a:tc>
                  <a:txBody>
                    <a:bodyPr/>
                    <a:lstStyle/>
                    <a:p>
                      <a:pPr algn="l">
                        <a:buNone/>
                      </a:pPr>
                      <a:r>
                        <a:rPr lang="en-US" sz="1800" b="1">
                          <a:effectLst/>
                        </a:rPr>
                        <a:t>High plane ticket</a:t>
                      </a:r>
                      <a:endParaRPr lang="en-US" sz="180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"Maybe I'll travel different week"</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"Let's add more flights—demand is strong!"</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972921"/>
                  </a:ext>
                </a:extLst>
              </a:tr>
              <a:tr h="476706">
                <a:tc>
                  <a:txBody>
                    <a:bodyPr/>
                    <a:lstStyle/>
                    <a:p>
                      <a:pPr algn="l">
                        <a:buNone/>
                      </a:pPr>
                      <a:r>
                        <a:rPr lang="en-US" sz="1800" b="1">
                          <a:effectLst/>
                        </a:rPr>
                        <a:t>High oat prices</a:t>
                      </a:r>
                      <a:endParaRPr lang="en-US" sz="180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"I'll switch to wheat cereal"</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"I'll plant more oats this season"</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7594593"/>
                  </a:ext>
                </a:extLst>
              </a:tr>
              <a:tr h="476706">
                <a:tc>
                  <a:txBody>
                    <a:bodyPr/>
                    <a:lstStyle/>
                    <a:p>
                      <a:pPr algn="l">
                        <a:buNone/>
                      </a:pPr>
                      <a:r>
                        <a:rPr lang="en-US" sz="1800" b="1">
                          <a:effectLst/>
                        </a:rPr>
                        <a:t>High wages for nurses</a:t>
                      </a:r>
                      <a:endParaRPr lang="en-US" sz="180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"Maybe I'll go to nursing school"</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"Let's hire more nurses"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8717295"/>
                  </a:ext>
                </a:extLst>
              </a:tr>
            </a:tbl>
          </a:graphicData>
        </a:graphic>
      </p:graphicFrame>
    </p:spTree>
    <p:extLst>
      <p:ext uri="{BB962C8B-B14F-4D97-AF65-F5344CB8AC3E}">
        <p14:creationId xmlns:p14="http://schemas.microsoft.com/office/powerpoint/2010/main" val="595715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71E66-71C7-875C-C512-9D7F4B6C662C}"/>
              </a:ext>
            </a:extLst>
          </p:cNvPr>
          <p:cNvSpPr>
            <a:spLocks noGrp="1"/>
          </p:cNvSpPr>
          <p:nvPr>
            <p:ph type="title"/>
          </p:nvPr>
        </p:nvSpPr>
        <p:spPr/>
        <p:txBody>
          <a:bodyPr/>
          <a:lstStyle/>
          <a:p>
            <a:r>
              <a:rPr lang="en-US" dirty="0"/>
              <a:t>BABY BOOMERS &amp; HEALTHCARE CASE</a:t>
            </a:r>
          </a:p>
        </p:txBody>
      </p:sp>
      <p:sp>
        <p:nvSpPr>
          <p:cNvPr id="3" name="Content Placeholder 2">
            <a:extLst>
              <a:ext uri="{FF2B5EF4-FFF2-40B4-BE49-F238E27FC236}">
                <a16:creationId xmlns:a16="http://schemas.microsoft.com/office/drawing/2014/main" id="{9D3D6955-9CCD-0AF7-5A8C-5D0DCF93CAA0}"/>
              </a:ext>
            </a:extLst>
          </p:cNvPr>
          <p:cNvSpPr>
            <a:spLocks noGrp="1"/>
          </p:cNvSpPr>
          <p:nvPr>
            <p:ph idx="1"/>
          </p:nvPr>
        </p:nvSpPr>
        <p:spPr/>
        <p:txBody>
          <a:bodyPr>
            <a:normAutofit lnSpcReduction="10000"/>
          </a:bodyPr>
          <a:lstStyle/>
          <a:p>
            <a:pPr marL="0" indent="0">
              <a:buNone/>
            </a:pPr>
            <a:r>
              <a:rPr lang="en-US" b="1" dirty="0"/>
              <a:t>The Aging America Challenge:</a:t>
            </a:r>
            <a:endParaRPr lang="en-US" dirty="0"/>
          </a:p>
          <a:p>
            <a:pPr marL="0" indent="0">
              <a:buNone/>
            </a:pPr>
            <a:r>
              <a:rPr lang="en-US" b="1" dirty="0"/>
              <a:t>Demographics:</a:t>
            </a:r>
            <a:endParaRPr lang="en-US" dirty="0"/>
          </a:p>
          <a:p>
            <a:pPr lvl="1"/>
            <a:r>
              <a:rPr lang="en-US" dirty="0"/>
              <a:t>22% of U.S. population is 60+ (74 million people)</a:t>
            </a:r>
          </a:p>
          <a:p>
            <a:pPr lvl="1"/>
            <a:r>
              <a:rPr lang="en-US" dirty="0"/>
              <a:t>71 million baby boomers (born 1946-1964) at/near retirement</a:t>
            </a:r>
          </a:p>
          <a:p>
            <a:pPr lvl="1"/>
            <a:r>
              <a:rPr lang="en-US" dirty="0"/>
              <a:t>Increased need: heart conditions, arthritis, Alzheimer's</a:t>
            </a:r>
          </a:p>
          <a:p>
            <a:pPr marL="0" indent="0">
              <a:buNone/>
            </a:pPr>
            <a:r>
              <a:rPr lang="en-US" b="1" dirty="0"/>
              <a:t>Supply &amp; Demand Analysis on Nursing:</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Prediction:</a:t>
            </a:r>
            <a:r>
              <a:rPr lang="en-US" dirty="0"/>
              <a:t> Higher nursing salaries (both curves shift), but uncertain quantity (depends on relative shifts)</a:t>
            </a:r>
          </a:p>
          <a:p>
            <a:endParaRPr lang="en-US" dirty="0"/>
          </a:p>
        </p:txBody>
      </p:sp>
      <p:graphicFrame>
        <p:nvGraphicFramePr>
          <p:cNvPr id="4" name="Table 3">
            <a:extLst>
              <a:ext uri="{FF2B5EF4-FFF2-40B4-BE49-F238E27FC236}">
                <a16:creationId xmlns:a16="http://schemas.microsoft.com/office/drawing/2014/main" id="{00094EA0-4491-B42D-FA14-8ED57999AF63}"/>
              </a:ext>
            </a:extLst>
          </p:cNvPr>
          <p:cNvGraphicFramePr>
            <a:graphicFrameLocks noGrp="1"/>
          </p:cNvGraphicFramePr>
          <p:nvPr>
            <p:extLst>
              <p:ext uri="{D42A27DB-BD31-4B8C-83A1-F6EECF244321}">
                <p14:modId xmlns:p14="http://schemas.microsoft.com/office/powerpoint/2010/main" val="1926757294"/>
              </p:ext>
            </p:extLst>
          </p:nvPr>
        </p:nvGraphicFramePr>
        <p:xfrm>
          <a:off x="965310" y="3429000"/>
          <a:ext cx="9982437" cy="2529840"/>
        </p:xfrm>
        <a:graphic>
          <a:graphicData uri="http://schemas.openxmlformats.org/drawingml/2006/table">
            <a:tbl>
              <a:tblPr firstRow="1"/>
              <a:tblGrid>
                <a:gridCol w="3327479">
                  <a:extLst>
                    <a:ext uri="{9D8B030D-6E8A-4147-A177-3AD203B41FA5}">
                      <a16:colId xmlns:a16="http://schemas.microsoft.com/office/drawing/2014/main" val="92763722"/>
                    </a:ext>
                  </a:extLst>
                </a:gridCol>
                <a:gridCol w="3327479">
                  <a:extLst>
                    <a:ext uri="{9D8B030D-6E8A-4147-A177-3AD203B41FA5}">
                      <a16:colId xmlns:a16="http://schemas.microsoft.com/office/drawing/2014/main" val="2213111951"/>
                    </a:ext>
                  </a:extLst>
                </a:gridCol>
                <a:gridCol w="3327479">
                  <a:extLst>
                    <a:ext uri="{9D8B030D-6E8A-4147-A177-3AD203B41FA5}">
                      <a16:colId xmlns:a16="http://schemas.microsoft.com/office/drawing/2014/main" val="1872779931"/>
                    </a:ext>
                  </a:extLst>
                </a:gridCol>
              </a:tblGrid>
              <a:tr h="396240">
                <a:tc>
                  <a:txBody>
                    <a:bodyPr/>
                    <a:lstStyle/>
                    <a:p>
                      <a:pPr algn="l">
                        <a:buNone/>
                      </a:pPr>
                      <a:r>
                        <a:rPr lang="en-US" sz="1800" dirty="0">
                          <a:effectLst/>
                        </a:rPr>
                        <a:t>Factor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US" sz="1800" dirty="0">
                          <a:effectLst/>
                        </a:rPr>
                        <a:t>Effect on Demand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US" sz="1800" dirty="0">
                          <a:effectLst/>
                        </a:rPr>
                        <a:t>Effect on Supply</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117887083"/>
                  </a:ext>
                </a:extLst>
              </a:tr>
              <a:tr h="670560">
                <a:tc>
                  <a:txBody>
                    <a:bodyPr/>
                    <a:lstStyle/>
                    <a:p>
                      <a:pPr algn="l">
                        <a:buNone/>
                      </a:pPr>
                      <a:r>
                        <a:rPr lang="en-US" sz="1800">
                          <a:effectLst/>
                        </a:rPr>
                        <a:t>Aging population</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 Right (more care needed)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No change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015977"/>
                  </a:ext>
                </a:extLst>
              </a:tr>
              <a:tr h="396240">
                <a:tc>
                  <a:txBody>
                    <a:bodyPr/>
                    <a:lstStyle/>
                    <a:p>
                      <a:pPr algn="l">
                        <a:buNone/>
                      </a:pPr>
                      <a:r>
                        <a:rPr lang="en-US" sz="1800">
                          <a:effectLst/>
                        </a:rPr>
                        <a:t>Affordable Care Act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 Right (more access)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No change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772797"/>
                  </a:ext>
                </a:extLst>
              </a:tr>
              <a:tr h="396240">
                <a:tc>
                  <a:txBody>
                    <a:bodyPr/>
                    <a:lstStyle/>
                    <a:p>
                      <a:pPr algn="l">
                        <a:buNone/>
                      </a:pPr>
                      <a:r>
                        <a:rPr lang="en-US" sz="1800">
                          <a:effectLst/>
                        </a:rPr>
                        <a:t>Nurses retiring</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No change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 Left (fewer available)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1642800"/>
                  </a:ext>
                </a:extLst>
              </a:tr>
              <a:tr h="670560">
                <a:tc>
                  <a:txBody>
                    <a:bodyPr/>
                    <a:lstStyle/>
                    <a:p>
                      <a:pPr algn="l">
                        <a:buNone/>
                      </a:pPr>
                      <a:r>
                        <a:rPr lang="en-US" sz="1800" dirty="0">
                          <a:effectLst/>
                        </a:rPr>
                        <a:t>Rising tuition</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No change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 Left (fewer new nurses)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6242897"/>
                  </a:ext>
                </a:extLst>
              </a:tr>
            </a:tbl>
          </a:graphicData>
        </a:graphic>
      </p:graphicFrame>
    </p:spTree>
    <p:extLst>
      <p:ext uri="{BB962C8B-B14F-4D97-AF65-F5344CB8AC3E}">
        <p14:creationId xmlns:p14="http://schemas.microsoft.com/office/powerpoint/2010/main" val="610706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5689-CD7B-46C9-09A6-9524D4C5D513}"/>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11C1F323-D4B5-B2D9-126D-A893C25EDCF5}"/>
              </a:ext>
            </a:extLst>
          </p:cNvPr>
          <p:cNvSpPr>
            <a:spLocks noGrp="1"/>
          </p:cNvSpPr>
          <p:nvPr>
            <p:ph idx="1"/>
          </p:nvPr>
        </p:nvSpPr>
        <p:spPr/>
        <p:txBody>
          <a:bodyPr/>
          <a:lstStyle/>
          <a:p>
            <a:pPr marL="0" indent="0">
              <a:buNone/>
            </a:pPr>
            <a:r>
              <a:rPr lang="en-US" sz="2000" b="1" dirty="0"/>
              <a:t>Universal Principles:</a:t>
            </a:r>
            <a:endParaRPr lang="en-US" sz="2000" dirty="0"/>
          </a:p>
          <a:p>
            <a:pPr marL="571500" lvl="1" indent="-342900">
              <a:buFont typeface="+mj-lt"/>
              <a:buAutoNum type="arabicPeriod"/>
            </a:pPr>
            <a:r>
              <a:rPr lang="en-US" sz="2000" dirty="0"/>
              <a:t>Supply &amp; demand apply to ALL markets (goods, labor, financial)</a:t>
            </a:r>
          </a:p>
          <a:p>
            <a:pPr marL="571500" lvl="1" indent="-342900">
              <a:buFont typeface="+mj-lt"/>
              <a:buAutoNum type="arabicPeriod"/>
            </a:pPr>
            <a:r>
              <a:rPr lang="en-US" sz="2000" dirty="0"/>
              <a:t>Equilibrium prices coordinate millions of independent decisions</a:t>
            </a:r>
          </a:p>
          <a:p>
            <a:pPr marL="571500" lvl="1" indent="-342900">
              <a:buFont typeface="+mj-lt"/>
              <a:buAutoNum type="arabicPeriod"/>
            </a:pPr>
            <a:r>
              <a:rPr lang="en-US" sz="2000" dirty="0"/>
              <a:t>Price controls create predictable distortions (shortages, surpluses, unemployment)</a:t>
            </a:r>
          </a:p>
          <a:p>
            <a:pPr marL="571500" lvl="1" indent="-342900">
              <a:buFont typeface="+mj-lt"/>
              <a:buAutoNum type="arabicPeriod"/>
            </a:pPr>
            <a:r>
              <a:rPr lang="en-US" sz="2000" dirty="0"/>
              <a:t>Technology reshapes markets unevenly (winners &amp; losers)</a:t>
            </a:r>
          </a:p>
          <a:p>
            <a:pPr marL="571500" lvl="1" indent="-342900">
              <a:buFont typeface="+mj-lt"/>
              <a:buAutoNum type="arabicPeriod"/>
            </a:pPr>
            <a:r>
              <a:rPr lang="en-US" sz="2000" dirty="0"/>
              <a:t>Information matters more than intentions in policy design</a:t>
            </a:r>
          </a:p>
          <a:p>
            <a:pPr marL="0" indent="0">
              <a:buNone/>
            </a:pPr>
            <a:endParaRPr lang="en-US" sz="2000" b="1" dirty="0"/>
          </a:p>
          <a:p>
            <a:pPr marL="0" indent="0">
              <a:buNone/>
            </a:pPr>
            <a:r>
              <a:rPr lang="en-US" sz="2000" b="1" dirty="0"/>
              <a:t>Your Economic Toolkit:</a:t>
            </a:r>
            <a:endParaRPr lang="en-US" sz="2000" dirty="0"/>
          </a:p>
          <a:p>
            <a:pPr lvl="1"/>
            <a:r>
              <a:rPr lang="en-US" sz="2000" dirty="0"/>
              <a:t>Identify demanders vs. suppliers in ANY market</a:t>
            </a:r>
          </a:p>
          <a:p>
            <a:pPr lvl="1"/>
            <a:r>
              <a:rPr lang="en-US" sz="2000" dirty="0"/>
              <a:t>Predict effects of shifts in demand or supply</a:t>
            </a:r>
          </a:p>
          <a:p>
            <a:pPr lvl="1"/>
            <a:r>
              <a:rPr lang="en-US" sz="2000" dirty="0"/>
              <a:t>Analyze price floors (minimum wage) and ceilings (usury laws)</a:t>
            </a:r>
          </a:p>
          <a:p>
            <a:pPr lvl="1"/>
            <a:r>
              <a:rPr lang="en-US" sz="2000" dirty="0"/>
              <a:t>Understand labor markets (your career) and financial markets (your loans)</a:t>
            </a:r>
          </a:p>
          <a:p>
            <a:endParaRPr lang="en-US" dirty="0"/>
          </a:p>
        </p:txBody>
      </p:sp>
    </p:spTree>
    <p:extLst>
      <p:ext uri="{BB962C8B-B14F-4D97-AF65-F5344CB8AC3E}">
        <p14:creationId xmlns:p14="http://schemas.microsoft.com/office/powerpoint/2010/main" val="300597981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759</TotalTime>
  <Words>3563</Words>
  <Application>Microsoft Office PowerPoint</Application>
  <PresentationFormat>Widescreen</PresentationFormat>
  <Paragraphs>362</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Gill Sans MT</vt:lpstr>
      <vt:lpstr>Parcel</vt:lpstr>
      <vt:lpstr>Chapter 4</vt:lpstr>
      <vt:lpstr>MARKETS BEYOND GOODS &amp; Services</vt:lpstr>
      <vt:lpstr>Labor Market Fundamentals</vt:lpstr>
      <vt:lpstr>What Shifts Labor Demand?</vt:lpstr>
      <vt:lpstr>What Shifts Labor Supply?</vt:lpstr>
      <vt:lpstr>Technology and Wage Inequality</vt:lpstr>
      <vt:lpstr>Applying Demand and Supply</vt:lpstr>
      <vt:lpstr>MINIMUM WAGE AS PRICE FLOOR</vt:lpstr>
      <vt:lpstr>MONOPSONY VS. EFFICIENCY WAGES</vt:lpstr>
      <vt:lpstr>Financial Market Fundamentals</vt:lpstr>
      <vt:lpstr>Demand and Supply for Borrowing Money</vt:lpstr>
      <vt:lpstr>Cap on Credit Card Interest Rates: Price Ceiling</vt:lpstr>
      <vt:lpstr>INTERTEMPORAL CHOICES</vt:lpstr>
      <vt:lpstr>SHIFTS IN FINANCIAL MARKETS</vt:lpstr>
      <vt:lpstr>U.S. AS GLOBAL BORROWER</vt:lpstr>
      <vt:lpstr>USURY LAWS (PRICE CEILING)</vt:lpstr>
      <vt:lpstr>Prices as information</vt:lpstr>
      <vt:lpstr>BABY BOOMERS &amp; HEALTHCARE CASE</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2026-04-02T12:05:47Z</dcterms:modified>
</cp:coreProperties>
</file>