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4"/>
  </p:notesMasterIdLst>
  <p:sldIdLst>
    <p:sldId id="256" r:id="rId2"/>
    <p:sldId id="268" r:id="rId3"/>
    <p:sldId id="269" r:id="rId4"/>
    <p:sldId id="270" r:id="rId5"/>
    <p:sldId id="271" r:id="rId6"/>
    <p:sldId id="272" r:id="rId7"/>
    <p:sldId id="273" r:id="rId8"/>
    <p:sldId id="274" r:id="rId9"/>
    <p:sldId id="275" r:id="rId10"/>
    <p:sldId id="276" r:id="rId11"/>
    <p:sldId id="277" r:id="rId12"/>
    <p:sldId id="27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97" autoAdjust="0"/>
    <p:restoredTop sz="90656" autoAdjust="0"/>
  </p:normalViewPr>
  <p:slideViewPr>
    <p:cSldViewPr snapToGrid="0">
      <p:cViewPr varScale="1">
        <p:scale>
          <a:sx n="86" d="100"/>
          <a:sy n="86" d="100"/>
        </p:scale>
        <p:origin x="156"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C8D54B54-DE85-4E6D-BD51-09B0B006B76A}"/>
    <pc:docChg chg="modSld">
      <pc:chgData name="Scott T Lane" userId="c97bbaa9-35da-4a3b-a646-d12e455ac46e" providerId="ADAL" clId="{C8D54B54-DE85-4E6D-BD51-09B0B006B76A}" dt="2026-03-26T12:26:13.575" v="7" actId="1076"/>
      <pc:docMkLst>
        <pc:docMk/>
      </pc:docMkLst>
      <pc:sldChg chg="delSp modTransition modAnim">
        <pc:chgData name="Scott T Lane" userId="c97bbaa9-35da-4a3b-a646-d12e455ac46e" providerId="ADAL" clId="{C8D54B54-DE85-4E6D-BD51-09B0B006B76A}" dt="2026-03-24T12:29:37.136" v="0"/>
        <pc:sldMkLst>
          <pc:docMk/>
          <pc:sldMk cId="2946475127" sldId="256"/>
        </pc:sldMkLst>
      </pc:sldChg>
      <pc:sldChg chg="delSp modTransition modAnim">
        <pc:chgData name="Scott T Lane" userId="c97bbaa9-35da-4a3b-a646-d12e455ac46e" providerId="ADAL" clId="{C8D54B54-DE85-4E6D-BD51-09B0B006B76A}" dt="2026-03-24T12:29:37.136" v="0"/>
        <pc:sldMkLst>
          <pc:docMk/>
          <pc:sldMk cId="2049473089" sldId="268"/>
        </pc:sldMkLst>
      </pc:sldChg>
      <pc:sldChg chg="delSp modSp mod modTransition modAnim">
        <pc:chgData name="Scott T Lane" userId="c97bbaa9-35da-4a3b-a646-d12e455ac46e" providerId="ADAL" clId="{C8D54B54-DE85-4E6D-BD51-09B0B006B76A}" dt="2026-03-26T12:26:13.575" v="7" actId="1076"/>
        <pc:sldMkLst>
          <pc:docMk/>
          <pc:sldMk cId="3446690791" sldId="269"/>
        </pc:sldMkLst>
        <pc:picChg chg="mod">
          <ac:chgData name="Scott T Lane" userId="c97bbaa9-35da-4a3b-a646-d12e455ac46e" providerId="ADAL" clId="{C8D54B54-DE85-4E6D-BD51-09B0B006B76A}" dt="2026-03-26T12:26:13.575" v="7" actId="1076"/>
          <ac:picMkLst>
            <pc:docMk/>
            <pc:sldMk cId="3446690791" sldId="269"/>
            <ac:picMk id="4" creationId="{61891D1C-9E09-369A-5EE8-A2CF19A9EC6D}"/>
          </ac:picMkLst>
        </pc:picChg>
      </pc:sldChg>
      <pc:sldChg chg="delSp modSp mod modTransition modAnim">
        <pc:chgData name="Scott T Lane" userId="c97bbaa9-35da-4a3b-a646-d12e455ac46e" providerId="ADAL" clId="{C8D54B54-DE85-4E6D-BD51-09B0B006B76A}" dt="2026-03-26T12:26:01.592" v="4" actId="14100"/>
        <pc:sldMkLst>
          <pc:docMk/>
          <pc:sldMk cId="1934532997" sldId="270"/>
        </pc:sldMkLst>
        <pc:picChg chg="mod">
          <ac:chgData name="Scott T Lane" userId="c97bbaa9-35da-4a3b-a646-d12e455ac46e" providerId="ADAL" clId="{C8D54B54-DE85-4E6D-BD51-09B0B006B76A}" dt="2026-03-26T12:26:01.592" v="4" actId="14100"/>
          <ac:picMkLst>
            <pc:docMk/>
            <pc:sldMk cId="1934532997" sldId="270"/>
            <ac:picMk id="4" creationId="{21645CF1-4BC3-2F18-14D4-3C5430AFA285}"/>
          </ac:picMkLst>
        </pc:picChg>
      </pc:sldChg>
      <pc:sldChg chg="delSp modTransition modAnim">
        <pc:chgData name="Scott T Lane" userId="c97bbaa9-35da-4a3b-a646-d12e455ac46e" providerId="ADAL" clId="{C8D54B54-DE85-4E6D-BD51-09B0B006B76A}" dt="2026-03-24T12:29:37.136" v="0"/>
        <pc:sldMkLst>
          <pc:docMk/>
          <pc:sldMk cId="2840426571" sldId="271"/>
        </pc:sldMkLst>
      </pc:sldChg>
      <pc:sldChg chg="delSp modTransition modAnim">
        <pc:chgData name="Scott T Lane" userId="c97bbaa9-35da-4a3b-a646-d12e455ac46e" providerId="ADAL" clId="{C8D54B54-DE85-4E6D-BD51-09B0B006B76A}" dt="2026-03-24T12:29:37.136" v="0"/>
        <pc:sldMkLst>
          <pc:docMk/>
          <pc:sldMk cId="2239841200" sldId="272"/>
        </pc:sldMkLst>
      </pc:sldChg>
      <pc:sldChg chg="delSp modTransition modAnim">
        <pc:chgData name="Scott T Lane" userId="c97bbaa9-35da-4a3b-a646-d12e455ac46e" providerId="ADAL" clId="{C8D54B54-DE85-4E6D-BD51-09B0B006B76A}" dt="2026-03-24T12:29:37.136" v="0"/>
        <pc:sldMkLst>
          <pc:docMk/>
          <pc:sldMk cId="2080972010" sldId="273"/>
        </pc:sldMkLst>
      </pc:sldChg>
      <pc:sldChg chg="delSp modTransition modAnim">
        <pc:chgData name="Scott T Lane" userId="c97bbaa9-35da-4a3b-a646-d12e455ac46e" providerId="ADAL" clId="{C8D54B54-DE85-4E6D-BD51-09B0B006B76A}" dt="2026-03-24T12:29:37.136" v="0"/>
        <pc:sldMkLst>
          <pc:docMk/>
          <pc:sldMk cId="2317121058" sldId="274"/>
        </pc:sldMkLst>
      </pc:sldChg>
      <pc:sldChg chg="delSp modTransition modAnim">
        <pc:chgData name="Scott T Lane" userId="c97bbaa9-35da-4a3b-a646-d12e455ac46e" providerId="ADAL" clId="{C8D54B54-DE85-4E6D-BD51-09B0B006B76A}" dt="2026-03-24T12:29:37.136" v="0"/>
        <pc:sldMkLst>
          <pc:docMk/>
          <pc:sldMk cId="844826748" sldId="275"/>
        </pc:sldMkLst>
      </pc:sldChg>
      <pc:sldChg chg="delSp modTransition modAnim">
        <pc:chgData name="Scott T Lane" userId="c97bbaa9-35da-4a3b-a646-d12e455ac46e" providerId="ADAL" clId="{C8D54B54-DE85-4E6D-BD51-09B0B006B76A}" dt="2026-03-24T12:29:37.136" v="0"/>
        <pc:sldMkLst>
          <pc:docMk/>
          <pc:sldMk cId="270140742" sldId="276"/>
        </pc:sldMkLst>
      </pc:sldChg>
      <pc:sldChg chg="delSp modTransition modAnim">
        <pc:chgData name="Scott T Lane" userId="c97bbaa9-35da-4a3b-a646-d12e455ac46e" providerId="ADAL" clId="{C8D54B54-DE85-4E6D-BD51-09B0B006B76A}" dt="2026-03-24T12:29:37.136" v="0"/>
        <pc:sldMkLst>
          <pc:docMk/>
          <pc:sldMk cId="2358887246" sldId="277"/>
        </pc:sldMkLst>
      </pc:sldChg>
      <pc:sldChg chg="delSp modTransition modAnim">
        <pc:chgData name="Scott T Lane" userId="c97bbaa9-35da-4a3b-a646-d12e455ac46e" providerId="ADAL" clId="{C8D54B54-DE85-4E6D-BD51-09B0B006B76A}" dt="2026-03-24T12:29:37.136" v="0"/>
        <pc:sldMkLst>
          <pc:docMk/>
          <pc:sldMk cId="359699556" sldId="278"/>
        </pc:sldMkLst>
      </pc:sldChg>
    </pc:docChg>
  </pc:docChgLst>
  <pc:docChgLst>
    <pc:chgData name="Scott T Lane" userId="c97bbaa9-35da-4a3b-a646-d12e455ac46e" providerId="ADAL" clId="{7E70BB95-7D27-52BD-BFCA-66981E18D4F3}"/>
    <pc:docChg chg="custSel modSld">
      <pc:chgData name="Scott T Lane" userId="c97bbaa9-35da-4a3b-a646-d12e455ac46e" providerId="ADAL" clId="{7E70BB95-7D27-52BD-BFCA-66981E18D4F3}" dt="2026-03-19T18:37:07.500" v="4"/>
      <pc:docMkLst>
        <pc:docMk/>
      </pc:docMkLst>
      <pc:sldChg chg="addSp delSp modSp mod modTransition modAnim">
        <pc:chgData name="Scott T Lane" userId="c97bbaa9-35da-4a3b-a646-d12e455ac46e" providerId="ADAL" clId="{7E70BB95-7D27-52BD-BFCA-66981E18D4F3}" dt="2026-03-19T18:37:07.500" v="4"/>
        <pc:sldMkLst>
          <pc:docMk/>
          <pc:sldMk cId="2946475127" sldId="256"/>
        </pc:sldMkLst>
      </pc:sldChg>
      <pc:sldChg chg="addSp modSp modTransition">
        <pc:chgData name="Scott T Lane" userId="c97bbaa9-35da-4a3b-a646-d12e455ac46e" providerId="ADAL" clId="{7E70BB95-7D27-52BD-BFCA-66981E18D4F3}" dt="2026-03-19T18:37:07.500" v="4"/>
        <pc:sldMkLst>
          <pc:docMk/>
          <pc:sldMk cId="2049473089" sldId="268"/>
        </pc:sldMkLst>
      </pc:sldChg>
      <pc:sldChg chg="addSp modSp modTransition">
        <pc:chgData name="Scott T Lane" userId="c97bbaa9-35da-4a3b-a646-d12e455ac46e" providerId="ADAL" clId="{7E70BB95-7D27-52BD-BFCA-66981E18D4F3}" dt="2026-03-19T18:37:07.500" v="4"/>
        <pc:sldMkLst>
          <pc:docMk/>
          <pc:sldMk cId="3446690791" sldId="269"/>
        </pc:sldMkLst>
      </pc:sldChg>
      <pc:sldChg chg="addSp modSp modTransition">
        <pc:chgData name="Scott T Lane" userId="c97bbaa9-35da-4a3b-a646-d12e455ac46e" providerId="ADAL" clId="{7E70BB95-7D27-52BD-BFCA-66981E18D4F3}" dt="2026-03-19T18:37:07.500" v="4"/>
        <pc:sldMkLst>
          <pc:docMk/>
          <pc:sldMk cId="1934532997" sldId="270"/>
        </pc:sldMkLst>
      </pc:sldChg>
      <pc:sldChg chg="addSp modSp modTransition">
        <pc:chgData name="Scott T Lane" userId="c97bbaa9-35da-4a3b-a646-d12e455ac46e" providerId="ADAL" clId="{7E70BB95-7D27-52BD-BFCA-66981E18D4F3}" dt="2026-03-19T18:37:07.500" v="4"/>
        <pc:sldMkLst>
          <pc:docMk/>
          <pc:sldMk cId="2840426571" sldId="271"/>
        </pc:sldMkLst>
      </pc:sldChg>
      <pc:sldChg chg="addSp modSp modTransition">
        <pc:chgData name="Scott T Lane" userId="c97bbaa9-35da-4a3b-a646-d12e455ac46e" providerId="ADAL" clId="{7E70BB95-7D27-52BD-BFCA-66981E18D4F3}" dt="2026-03-19T18:37:07.500" v="4"/>
        <pc:sldMkLst>
          <pc:docMk/>
          <pc:sldMk cId="2239841200" sldId="272"/>
        </pc:sldMkLst>
      </pc:sldChg>
      <pc:sldChg chg="addSp modSp modTransition">
        <pc:chgData name="Scott T Lane" userId="c97bbaa9-35da-4a3b-a646-d12e455ac46e" providerId="ADAL" clId="{7E70BB95-7D27-52BD-BFCA-66981E18D4F3}" dt="2026-03-19T18:37:07.500" v="4"/>
        <pc:sldMkLst>
          <pc:docMk/>
          <pc:sldMk cId="2080972010" sldId="273"/>
        </pc:sldMkLst>
      </pc:sldChg>
      <pc:sldChg chg="addSp modSp modTransition">
        <pc:chgData name="Scott T Lane" userId="c97bbaa9-35da-4a3b-a646-d12e455ac46e" providerId="ADAL" clId="{7E70BB95-7D27-52BD-BFCA-66981E18D4F3}" dt="2026-03-19T18:37:07.500" v="4"/>
        <pc:sldMkLst>
          <pc:docMk/>
          <pc:sldMk cId="2317121058" sldId="274"/>
        </pc:sldMkLst>
      </pc:sldChg>
      <pc:sldChg chg="addSp modSp modTransition">
        <pc:chgData name="Scott T Lane" userId="c97bbaa9-35da-4a3b-a646-d12e455ac46e" providerId="ADAL" clId="{7E70BB95-7D27-52BD-BFCA-66981E18D4F3}" dt="2026-03-19T18:37:07.500" v="4"/>
        <pc:sldMkLst>
          <pc:docMk/>
          <pc:sldMk cId="844826748" sldId="275"/>
        </pc:sldMkLst>
      </pc:sldChg>
      <pc:sldChg chg="addSp modSp modTransition">
        <pc:chgData name="Scott T Lane" userId="c97bbaa9-35da-4a3b-a646-d12e455ac46e" providerId="ADAL" clId="{7E70BB95-7D27-52BD-BFCA-66981E18D4F3}" dt="2026-03-19T18:37:07.500" v="4"/>
        <pc:sldMkLst>
          <pc:docMk/>
          <pc:sldMk cId="270140742" sldId="276"/>
        </pc:sldMkLst>
      </pc:sldChg>
      <pc:sldChg chg="addSp modSp modTransition">
        <pc:chgData name="Scott T Lane" userId="c97bbaa9-35da-4a3b-a646-d12e455ac46e" providerId="ADAL" clId="{7E70BB95-7D27-52BD-BFCA-66981E18D4F3}" dt="2026-03-19T18:37:07.500" v="4"/>
        <pc:sldMkLst>
          <pc:docMk/>
          <pc:sldMk cId="2358887246" sldId="277"/>
        </pc:sldMkLst>
      </pc:sldChg>
      <pc:sldChg chg="addSp modSp modTransition">
        <pc:chgData name="Scott T Lane" userId="c97bbaa9-35da-4a3b-a646-d12e455ac46e" providerId="ADAL" clId="{7E70BB95-7D27-52BD-BFCA-66981E18D4F3}" dt="2026-03-19T18:37:07.500" v="4"/>
        <pc:sldMkLst>
          <pc:docMk/>
          <pc:sldMk cId="359699556" sldId="278"/>
        </pc:sldMkLst>
      </pc:sldChg>
    </pc:docChg>
  </pc:docChgLst>
  <pc:docChgLst>
    <pc:chgData name="Scott T Lane" userId="c97bbaa9-35da-4a3b-a646-d12e455ac46e" providerId="ADAL" clId="{2FF3E2E3-7818-4E76-9C63-7C10A568D9B9}"/>
    <pc:docChg chg="undo custSel addSld delSld modSld modMainMaster">
      <pc:chgData name="Scott T Lane" userId="c97bbaa9-35da-4a3b-a646-d12e455ac46e" providerId="ADAL" clId="{2FF3E2E3-7818-4E76-9C63-7C10A568D9B9}" dt="2026-03-18T19:48:40.865" v="651" actId="47"/>
      <pc:docMkLst>
        <pc:docMk/>
      </pc:docMkLst>
      <pc:sldChg chg="addSp delSp modSp mod setBg delDesignElem">
        <pc:chgData name="Scott T Lane" userId="c97bbaa9-35da-4a3b-a646-d12e455ac46e" providerId="ADAL" clId="{2FF3E2E3-7818-4E76-9C63-7C10A568D9B9}" dt="2026-03-18T19:00:07.381" v="283" actId="14100"/>
        <pc:sldMkLst>
          <pc:docMk/>
          <pc:sldMk cId="2946475127" sldId="256"/>
        </pc:sldMkLst>
        <pc:spChg chg="mod">
          <ac:chgData name="Scott T Lane" userId="c97bbaa9-35da-4a3b-a646-d12e455ac46e" providerId="ADAL" clId="{2FF3E2E3-7818-4E76-9C63-7C10A568D9B9}" dt="2026-03-18T19:00:07.381" v="283" actId="14100"/>
          <ac:spMkLst>
            <pc:docMk/>
            <pc:sldMk cId="2946475127" sldId="256"/>
            <ac:spMk id="2" creationId="{E63B7D4F-ED2B-026B-3DCC-FC25D75BF3F3}"/>
          </ac:spMkLst>
        </pc:spChg>
      </pc:sldChg>
      <pc:sldChg chg="addSp delSp modSp new mod">
        <pc:chgData name="Scott T Lane" userId="c97bbaa9-35da-4a3b-a646-d12e455ac46e" providerId="ADAL" clId="{2FF3E2E3-7818-4E76-9C63-7C10A568D9B9}" dt="2026-03-18T19:01:22.170" v="297" actId="15"/>
        <pc:sldMkLst>
          <pc:docMk/>
          <pc:sldMk cId="2049473089" sldId="268"/>
        </pc:sldMkLst>
        <pc:spChg chg="mod">
          <ac:chgData name="Scott T Lane" userId="c97bbaa9-35da-4a3b-a646-d12e455ac46e" providerId="ADAL" clId="{2FF3E2E3-7818-4E76-9C63-7C10A568D9B9}" dt="2026-03-18T19:00:36.164" v="286" actId="27636"/>
          <ac:spMkLst>
            <pc:docMk/>
            <pc:sldMk cId="2049473089" sldId="268"/>
            <ac:spMk id="2" creationId="{4C8247AA-54F6-BFA7-8D39-541199F21EC5}"/>
          </ac:spMkLst>
        </pc:spChg>
        <pc:spChg chg="mod">
          <ac:chgData name="Scott T Lane" userId="c97bbaa9-35da-4a3b-a646-d12e455ac46e" providerId="ADAL" clId="{2FF3E2E3-7818-4E76-9C63-7C10A568D9B9}" dt="2026-03-18T19:01:22.170" v="297" actId="15"/>
          <ac:spMkLst>
            <pc:docMk/>
            <pc:sldMk cId="2049473089" sldId="268"/>
            <ac:spMk id="3" creationId="{1DA51C42-323B-6E6F-9FD7-908B5DCA19FC}"/>
          </ac:spMkLst>
        </pc:spChg>
      </pc:sldChg>
      <pc:sldChg chg="addSp modSp new mod">
        <pc:chgData name="Scott T Lane" userId="c97bbaa9-35da-4a3b-a646-d12e455ac46e" providerId="ADAL" clId="{2FF3E2E3-7818-4E76-9C63-7C10A568D9B9}" dt="2026-03-18T19:25:54.777" v="327" actId="1076"/>
        <pc:sldMkLst>
          <pc:docMk/>
          <pc:sldMk cId="3446690791" sldId="269"/>
        </pc:sldMkLst>
        <pc:spChg chg="mod">
          <ac:chgData name="Scott T Lane" userId="c97bbaa9-35da-4a3b-a646-d12e455ac46e" providerId="ADAL" clId="{2FF3E2E3-7818-4E76-9C63-7C10A568D9B9}" dt="2026-03-18T19:22:32.169" v="307"/>
          <ac:spMkLst>
            <pc:docMk/>
            <pc:sldMk cId="3446690791" sldId="269"/>
            <ac:spMk id="2" creationId="{63D72B4F-6D12-C965-6F01-BBD7C11CBCB0}"/>
          </ac:spMkLst>
        </pc:spChg>
        <pc:spChg chg="mod">
          <ac:chgData name="Scott T Lane" userId="c97bbaa9-35da-4a3b-a646-d12e455ac46e" providerId="ADAL" clId="{2FF3E2E3-7818-4E76-9C63-7C10A568D9B9}" dt="2026-03-18T19:25:45.003" v="324" actId="255"/>
          <ac:spMkLst>
            <pc:docMk/>
            <pc:sldMk cId="3446690791" sldId="269"/>
            <ac:spMk id="3" creationId="{AA5D402C-3C2F-596E-95C4-B05E39F832A6}"/>
          </ac:spMkLst>
        </pc:spChg>
        <pc:picChg chg="add mod">
          <ac:chgData name="Scott T Lane" userId="c97bbaa9-35da-4a3b-a646-d12e455ac46e" providerId="ADAL" clId="{2FF3E2E3-7818-4E76-9C63-7C10A568D9B9}" dt="2026-03-18T19:25:54.777" v="327" actId="1076"/>
          <ac:picMkLst>
            <pc:docMk/>
            <pc:sldMk cId="3446690791" sldId="269"/>
            <ac:picMk id="4" creationId="{61891D1C-9E09-369A-5EE8-A2CF19A9EC6D}"/>
          </ac:picMkLst>
        </pc:picChg>
      </pc:sldChg>
      <pc:sldChg chg="addSp modSp new mod">
        <pc:chgData name="Scott T Lane" userId="c97bbaa9-35da-4a3b-a646-d12e455ac46e" providerId="ADAL" clId="{2FF3E2E3-7818-4E76-9C63-7C10A568D9B9}" dt="2026-03-18T19:28:34.707" v="373" actId="208"/>
        <pc:sldMkLst>
          <pc:docMk/>
          <pc:sldMk cId="1934532997" sldId="270"/>
        </pc:sldMkLst>
        <pc:spChg chg="mod">
          <ac:chgData name="Scott T Lane" userId="c97bbaa9-35da-4a3b-a646-d12e455ac46e" providerId="ADAL" clId="{2FF3E2E3-7818-4E76-9C63-7C10A568D9B9}" dt="2026-03-18T19:26:32.416" v="347" actId="20577"/>
          <ac:spMkLst>
            <pc:docMk/>
            <pc:sldMk cId="1934532997" sldId="270"/>
            <ac:spMk id="2" creationId="{E8CDEFF0-1E08-C389-3644-778483AC8AF0}"/>
          </ac:spMkLst>
        </pc:spChg>
        <pc:spChg chg="mod">
          <ac:chgData name="Scott T Lane" userId="c97bbaa9-35da-4a3b-a646-d12e455ac46e" providerId="ADAL" clId="{2FF3E2E3-7818-4E76-9C63-7C10A568D9B9}" dt="2026-03-18T19:27:16.633" v="366" actId="27636"/>
          <ac:spMkLst>
            <pc:docMk/>
            <pc:sldMk cId="1934532997" sldId="270"/>
            <ac:spMk id="3" creationId="{215ACA81-E0C9-C3E5-3933-26090170268C}"/>
          </ac:spMkLst>
        </pc:spChg>
        <pc:picChg chg="add mod">
          <ac:chgData name="Scott T Lane" userId="c97bbaa9-35da-4a3b-a646-d12e455ac46e" providerId="ADAL" clId="{2FF3E2E3-7818-4E76-9C63-7C10A568D9B9}" dt="2026-03-18T19:28:34.707" v="373" actId="208"/>
          <ac:picMkLst>
            <pc:docMk/>
            <pc:sldMk cId="1934532997" sldId="270"/>
            <ac:picMk id="4" creationId="{21645CF1-4BC3-2F18-14D4-3C5430AFA285}"/>
          </ac:picMkLst>
        </pc:picChg>
      </pc:sldChg>
      <pc:sldChg chg="addSp modSp new mod">
        <pc:chgData name="Scott T Lane" userId="c97bbaa9-35da-4a3b-a646-d12e455ac46e" providerId="ADAL" clId="{2FF3E2E3-7818-4E76-9C63-7C10A568D9B9}" dt="2026-03-18T19:33:48.220" v="409" actId="208"/>
        <pc:sldMkLst>
          <pc:docMk/>
          <pc:sldMk cId="2840426571" sldId="271"/>
        </pc:sldMkLst>
        <pc:spChg chg="mod">
          <ac:chgData name="Scott T Lane" userId="c97bbaa9-35da-4a3b-a646-d12e455ac46e" providerId="ADAL" clId="{2FF3E2E3-7818-4E76-9C63-7C10A568D9B9}" dt="2026-03-18T19:32:21.915" v="393" actId="20577"/>
          <ac:spMkLst>
            <pc:docMk/>
            <pc:sldMk cId="2840426571" sldId="271"/>
            <ac:spMk id="2" creationId="{A7885855-3E87-C438-6718-24E18E2B378D}"/>
          </ac:spMkLst>
        </pc:spChg>
        <pc:spChg chg="mod">
          <ac:chgData name="Scott T Lane" userId="c97bbaa9-35da-4a3b-a646-d12e455ac46e" providerId="ADAL" clId="{2FF3E2E3-7818-4E76-9C63-7C10A568D9B9}" dt="2026-03-18T19:33:18.036" v="404" actId="15"/>
          <ac:spMkLst>
            <pc:docMk/>
            <pc:sldMk cId="2840426571" sldId="271"/>
            <ac:spMk id="3" creationId="{7626A030-C7D5-1DF3-F631-87688E1C74B3}"/>
          </ac:spMkLst>
        </pc:spChg>
        <pc:picChg chg="add mod">
          <ac:chgData name="Scott T Lane" userId="c97bbaa9-35da-4a3b-a646-d12e455ac46e" providerId="ADAL" clId="{2FF3E2E3-7818-4E76-9C63-7C10A568D9B9}" dt="2026-03-18T19:33:48.220" v="409" actId="208"/>
          <ac:picMkLst>
            <pc:docMk/>
            <pc:sldMk cId="2840426571" sldId="271"/>
            <ac:picMk id="4" creationId="{546356E6-2FC1-0AEC-C17E-B86C7A1089C8}"/>
          </ac:picMkLst>
        </pc:picChg>
      </pc:sldChg>
      <pc:sldChg chg="addSp modSp new mod">
        <pc:chgData name="Scott T Lane" userId="c97bbaa9-35da-4a3b-a646-d12e455ac46e" providerId="ADAL" clId="{2FF3E2E3-7818-4E76-9C63-7C10A568D9B9}" dt="2026-03-18T19:36:55.814" v="452" actId="14100"/>
        <pc:sldMkLst>
          <pc:docMk/>
          <pc:sldMk cId="2239841200" sldId="272"/>
        </pc:sldMkLst>
        <pc:spChg chg="mod">
          <ac:chgData name="Scott T Lane" userId="c97bbaa9-35da-4a3b-a646-d12e455ac46e" providerId="ADAL" clId="{2FF3E2E3-7818-4E76-9C63-7C10A568D9B9}" dt="2026-03-18T19:34:39.293" v="429" actId="20577"/>
          <ac:spMkLst>
            <pc:docMk/>
            <pc:sldMk cId="2239841200" sldId="272"/>
            <ac:spMk id="2" creationId="{1B5377D4-5F13-A9F2-3AED-0ADD4F5D868A}"/>
          </ac:spMkLst>
        </pc:spChg>
        <pc:spChg chg="mod">
          <ac:chgData name="Scott T Lane" userId="c97bbaa9-35da-4a3b-a646-d12e455ac46e" providerId="ADAL" clId="{2FF3E2E3-7818-4E76-9C63-7C10A568D9B9}" dt="2026-03-18T19:35:35.494" v="444" actId="15"/>
          <ac:spMkLst>
            <pc:docMk/>
            <pc:sldMk cId="2239841200" sldId="272"/>
            <ac:spMk id="3" creationId="{7F9BCD5D-F991-5796-953C-5A11594F1790}"/>
          </ac:spMkLst>
        </pc:spChg>
        <pc:picChg chg="add mod">
          <ac:chgData name="Scott T Lane" userId="c97bbaa9-35da-4a3b-a646-d12e455ac46e" providerId="ADAL" clId="{2FF3E2E3-7818-4E76-9C63-7C10A568D9B9}" dt="2026-03-18T19:36:55.814" v="452" actId="14100"/>
          <ac:picMkLst>
            <pc:docMk/>
            <pc:sldMk cId="2239841200" sldId="272"/>
            <ac:picMk id="4" creationId="{1B97777E-8A7F-54C6-CEE5-9A99D862BFB9}"/>
          </ac:picMkLst>
        </pc:picChg>
      </pc:sldChg>
      <pc:sldChg chg="addSp modSp new mod">
        <pc:chgData name="Scott T Lane" userId="c97bbaa9-35da-4a3b-a646-d12e455ac46e" providerId="ADAL" clId="{2FF3E2E3-7818-4E76-9C63-7C10A568D9B9}" dt="2026-03-18T19:40:43.334" v="491" actId="208"/>
        <pc:sldMkLst>
          <pc:docMk/>
          <pc:sldMk cId="2080972010" sldId="273"/>
        </pc:sldMkLst>
        <pc:spChg chg="mod">
          <ac:chgData name="Scott T Lane" userId="c97bbaa9-35da-4a3b-a646-d12e455ac46e" providerId="ADAL" clId="{2FF3E2E3-7818-4E76-9C63-7C10A568D9B9}" dt="2026-03-18T19:39:34.423" v="476"/>
          <ac:spMkLst>
            <pc:docMk/>
            <pc:sldMk cId="2080972010" sldId="273"/>
            <ac:spMk id="2" creationId="{FBC5F47E-C49A-63A6-3A1A-49C9247B7E14}"/>
          </ac:spMkLst>
        </pc:spChg>
        <pc:spChg chg="mod">
          <ac:chgData name="Scott T Lane" userId="c97bbaa9-35da-4a3b-a646-d12e455ac46e" providerId="ADAL" clId="{2FF3E2E3-7818-4E76-9C63-7C10A568D9B9}" dt="2026-03-18T19:40:03.235" v="484" actId="12"/>
          <ac:spMkLst>
            <pc:docMk/>
            <pc:sldMk cId="2080972010" sldId="273"/>
            <ac:spMk id="3" creationId="{BD710408-823C-6B7F-6C9A-D4BCBFCEB9F7}"/>
          </ac:spMkLst>
        </pc:spChg>
        <pc:picChg chg="add mod">
          <ac:chgData name="Scott T Lane" userId="c97bbaa9-35da-4a3b-a646-d12e455ac46e" providerId="ADAL" clId="{2FF3E2E3-7818-4E76-9C63-7C10A568D9B9}" dt="2026-03-18T19:40:43.334" v="491" actId="208"/>
          <ac:picMkLst>
            <pc:docMk/>
            <pc:sldMk cId="2080972010" sldId="273"/>
            <ac:picMk id="4" creationId="{C9A05BDE-F47F-E508-DC0E-EE1319F49849}"/>
          </ac:picMkLst>
        </pc:picChg>
      </pc:sldChg>
      <pc:sldChg chg="modSp new mod">
        <pc:chgData name="Scott T Lane" userId="c97bbaa9-35da-4a3b-a646-d12e455ac46e" providerId="ADAL" clId="{2FF3E2E3-7818-4E76-9C63-7C10A568D9B9}" dt="2026-03-18T19:42:27.801" v="521" actId="12"/>
        <pc:sldMkLst>
          <pc:docMk/>
          <pc:sldMk cId="2317121058" sldId="274"/>
        </pc:sldMkLst>
        <pc:spChg chg="mod">
          <ac:chgData name="Scott T Lane" userId="c97bbaa9-35da-4a3b-a646-d12e455ac46e" providerId="ADAL" clId="{2FF3E2E3-7818-4E76-9C63-7C10A568D9B9}" dt="2026-03-18T19:42:02.285" v="514" actId="20577"/>
          <ac:spMkLst>
            <pc:docMk/>
            <pc:sldMk cId="2317121058" sldId="274"/>
            <ac:spMk id="2" creationId="{86082A10-63BF-A961-82DF-28FA410EDC73}"/>
          </ac:spMkLst>
        </pc:spChg>
        <pc:spChg chg="mod">
          <ac:chgData name="Scott T Lane" userId="c97bbaa9-35da-4a3b-a646-d12e455ac46e" providerId="ADAL" clId="{2FF3E2E3-7818-4E76-9C63-7C10A568D9B9}" dt="2026-03-18T19:42:27.801" v="521" actId="12"/>
          <ac:spMkLst>
            <pc:docMk/>
            <pc:sldMk cId="2317121058" sldId="274"/>
            <ac:spMk id="3" creationId="{45465D81-0548-97A7-73E1-9ABD2E3899C8}"/>
          </ac:spMkLst>
        </pc:spChg>
      </pc:sldChg>
      <pc:sldChg chg="modSp new mod">
        <pc:chgData name="Scott T Lane" userId="c97bbaa9-35da-4a3b-a646-d12e455ac46e" providerId="ADAL" clId="{2FF3E2E3-7818-4E76-9C63-7C10A568D9B9}" dt="2026-03-18T19:43:38.009" v="566" actId="12"/>
        <pc:sldMkLst>
          <pc:docMk/>
          <pc:sldMk cId="844826748" sldId="275"/>
        </pc:sldMkLst>
        <pc:spChg chg="mod">
          <ac:chgData name="Scott T Lane" userId="c97bbaa9-35da-4a3b-a646-d12e455ac46e" providerId="ADAL" clId="{2FF3E2E3-7818-4E76-9C63-7C10A568D9B9}" dt="2026-03-18T19:43:08.393" v="559" actId="20577"/>
          <ac:spMkLst>
            <pc:docMk/>
            <pc:sldMk cId="844826748" sldId="275"/>
            <ac:spMk id="2" creationId="{E3E7BF03-9BB9-FDD0-8F03-A8A2AE88B265}"/>
          </ac:spMkLst>
        </pc:spChg>
        <pc:spChg chg="mod">
          <ac:chgData name="Scott T Lane" userId="c97bbaa9-35da-4a3b-a646-d12e455ac46e" providerId="ADAL" clId="{2FF3E2E3-7818-4E76-9C63-7C10A568D9B9}" dt="2026-03-18T19:43:38.009" v="566" actId="12"/>
          <ac:spMkLst>
            <pc:docMk/>
            <pc:sldMk cId="844826748" sldId="275"/>
            <ac:spMk id="3" creationId="{5A00D03A-15C2-7C77-DAD1-D02B8178CB09}"/>
          </ac:spMkLst>
        </pc:spChg>
      </pc:sldChg>
      <pc:sldChg chg="addSp modSp new mod">
        <pc:chgData name="Scott T Lane" userId="c97bbaa9-35da-4a3b-a646-d12e455ac46e" providerId="ADAL" clId="{2FF3E2E3-7818-4E76-9C63-7C10A568D9B9}" dt="2026-03-18T19:45:25.008" v="597" actId="962"/>
        <pc:sldMkLst>
          <pc:docMk/>
          <pc:sldMk cId="270140742" sldId="276"/>
        </pc:sldMkLst>
        <pc:spChg chg="mod">
          <ac:chgData name="Scott T Lane" userId="c97bbaa9-35da-4a3b-a646-d12e455ac46e" providerId="ADAL" clId="{2FF3E2E3-7818-4E76-9C63-7C10A568D9B9}" dt="2026-03-18T19:44:07.654" v="585" actId="20577"/>
          <ac:spMkLst>
            <pc:docMk/>
            <pc:sldMk cId="270140742" sldId="276"/>
            <ac:spMk id="2" creationId="{9B218BEF-186B-7DA5-856B-80E1472D39FA}"/>
          </ac:spMkLst>
        </pc:spChg>
        <pc:spChg chg="mod">
          <ac:chgData name="Scott T Lane" userId="c97bbaa9-35da-4a3b-a646-d12e455ac46e" providerId="ADAL" clId="{2FF3E2E3-7818-4E76-9C63-7C10A568D9B9}" dt="2026-03-18T19:44:49.180" v="594" actId="20577"/>
          <ac:spMkLst>
            <pc:docMk/>
            <pc:sldMk cId="270140742" sldId="276"/>
            <ac:spMk id="3" creationId="{BABE062A-8CB8-3DBC-22A4-BDBB211E46D5}"/>
          </ac:spMkLst>
        </pc:spChg>
        <pc:picChg chg="add mod">
          <ac:chgData name="Scott T Lane" userId="c97bbaa9-35da-4a3b-a646-d12e455ac46e" providerId="ADAL" clId="{2FF3E2E3-7818-4E76-9C63-7C10A568D9B9}" dt="2026-03-18T19:45:25.008" v="597" actId="962"/>
          <ac:picMkLst>
            <pc:docMk/>
            <pc:sldMk cId="270140742" sldId="276"/>
            <ac:picMk id="4" creationId="{5A1AECF5-FA02-C443-260C-3E2073AD447D}"/>
          </ac:picMkLst>
        </pc:picChg>
      </pc:sldChg>
      <pc:sldChg chg="addSp modSp new mod">
        <pc:chgData name="Scott T Lane" userId="c97bbaa9-35da-4a3b-a646-d12e455ac46e" providerId="ADAL" clId="{2FF3E2E3-7818-4E76-9C63-7C10A568D9B9}" dt="2026-03-18T19:47:41.457" v="628" actId="14100"/>
        <pc:sldMkLst>
          <pc:docMk/>
          <pc:sldMk cId="2358887246" sldId="277"/>
        </pc:sldMkLst>
        <pc:spChg chg="mod">
          <ac:chgData name="Scott T Lane" userId="c97bbaa9-35da-4a3b-a646-d12e455ac46e" providerId="ADAL" clId="{2FF3E2E3-7818-4E76-9C63-7C10A568D9B9}" dt="2026-03-18T19:46:29.581" v="614"/>
          <ac:spMkLst>
            <pc:docMk/>
            <pc:sldMk cId="2358887246" sldId="277"/>
            <ac:spMk id="2" creationId="{3CA05EBD-C757-8E22-B48E-28C131174148}"/>
          </ac:spMkLst>
        </pc:spChg>
        <pc:spChg chg="mod">
          <ac:chgData name="Scott T Lane" userId="c97bbaa9-35da-4a3b-a646-d12e455ac46e" providerId="ADAL" clId="{2FF3E2E3-7818-4E76-9C63-7C10A568D9B9}" dt="2026-03-18T19:46:48.621" v="624" actId="27636"/>
          <ac:spMkLst>
            <pc:docMk/>
            <pc:sldMk cId="2358887246" sldId="277"/>
            <ac:spMk id="3" creationId="{241AC3BC-F0CB-5E48-085D-D181ABD11482}"/>
          </ac:spMkLst>
        </pc:spChg>
        <pc:picChg chg="add mod">
          <ac:chgData name="Scott T Lane" userId="c97bbaa9-35da-4a3b-a646-d12e455ac46e" providerId="ADAL" clId="{2FF3E2E3-7818-4E76-9C63-7C10A568D9B9}" dt="2026-03-18T19:47:41.457" v="628" actId="14100"/>
          <ac:picMkLst>
            <pc:docMk/>
            <pc:sldMk cId="2358887246" sldId="277"/>
            <ac:picMk id="4" creationId="{71F47AE8-1D4E-3608-D529-F0890162D4B6}"/>
          </ac:picMkLst>
        </pc:picChg>
      </pc:sldChg>
      <pc:sldChg chg="modSp new mod">
        <pc:chgData name="Scott T Lane" userId="c97bbaa9-35da-4a3b-a646-d12e455ac46e" providerId="ADAL" clId="{2FF3E2E3-7818-4E76-9C63-7C10A568D9B9}" dt="2026-03-18T19:48:19.097" v="649" actId="20577"/>
        <pc:sldMkLst>
          <pc:docMk/>
          <pc:sldMk cId="359699556" sldId="278"/>
        </pc:sldMkLst>
        <pc:spChg chg="mod">
          <ac:chgData name="Scott T Lane" userId="c97bbaa9-35da-4a3b-a646-d12e455ac46e" providerId="ADAL" clId="{2FF3E2E3-7818-4E76-9C63-7C10A568D9B9}" dt="2026-03-18T19:48:08.207" v="645"/>
          <ac:spMkLst>
            <pc:docMk/>
            <pc:sldMk cId="359699556" sldId="278"/>
            <ac:spMk id="2" creationId="{32915D10-2214-D934-D772-6F7E59A4E386}"/>
          </ac:spMkLst>
        </pc:spChg>
        <pc:spChg chg="mod">
          <ac:chgData name="Scott T Lane" userId="c97bbaa9-35da-4a3b-a646-d12e455ac46e" providerId="ADAL" clId="{2FF3E2E3-7818-4E76-9C63-7C10A568D9B9}" dt="2026-03-18T19:48:19.097" v="649" actId="20577"/>
          <ac:spMkLst>
            <pc:docMk/>
            <pc:sldMk cId="359699556" sldId="278"/>
            <ac:spMk id="3" creationId="{F577B3FA-2EF5-7A64-9BF3-66D001DA6483}"/>
          </ac:spMkLst>
        </pc:spChg>
      </pc:sldChg>
      <pc:sldMasterChg chg="delSp modSp mod modSldLayout">
        <pc:chgData name="Scott T Lane" userId="c97bbaa9-35da-4a3b-a646-d12e455ac46e" providerId="ADAL" clId="{2FF3E2E3-7818-4E76-9C63-7C10A568D9B9}" dt="2026-03-18T12:44:58.725" v="253" actId="14100"/>
        <pc:sldMasterMkLst>
          <pc:docMk/>
          <pc:sldMasterMk cId="2649311375" sldId="2147483687"/>
        </pc:sldMasterMkLst>
        <pc:spChg chg="mod">
          <ac:chgData name="Scott T Lane" userId="c97bbaa9-35da-4a3b-a646-d12e455ac46e" providerId="ADAL" clId="{2FF3E2E3-7818-4E76-9C63-7C10A568D9B9}" dt="2026-03-18T12:44:42.638" v="250" actId="14100"/>
          <ac:spMkLst>
            <pc:docMk/>
            <pc:sldMasterMk cId="2649311375" sldId="2147483687"/>
            <ac:spMk id="2" creationId="{00000000-0000-0000-0000-000000000000}"/>
          </ac:spMkLst>
        </pc:spChg>
        <pc:spChg chg="mod">
          <ac:chgData name="Scott T Lane" userId="c97bbaa9-35da-4a3b-a646-d12e455ac46e" providerId="ADAL" clId="{2FF3E2E3-7818-4E76-9C63-7C10A568D9B9}" dt="2026-03-18T12:44:58.725" v="253" actId="14100"/>
          <ac:spMkLst>
            <pc:docMk/>
            <pc:sldMasterMk cId="2649311375" sldId="2147483687"/>
            <ac:spMk id="3" creationId="{00000000-0000-0000-0000-000000000000}"/>
          </ac:spMkLst>
        </pc:spChg>
        <pc:sldLayoutChg chg="delSp mod">
          <pc:chgData name="Scott T Lane" userId="c97bbaa9-35da-4a3b-a646-d12e455ac46e" providerId="ADAL" clId="{2FF3E2E3-7818-4E76-9C63-7C10A568D9B9}" dt="2026-03-18T12:43:57.935" v="242" actId="478"/>
          <pc:sldLayoutMkLst>
            <pc:docMk/>
            <pc:sldMasterMk cId="2649311375" sldId="2147483687"/>
            <pc:sldLayoutMk cId="2540908323" sldId="2147483688"/>
          </pc:sldLayoutMkLst>
        </pc:sldLayoutChg>
        <pc:sldLayoutChg chg="delSp modSp mod">
          <pc:chgData name="Scott T Lane" userId="c97bbaa9-35da-4a3b-a646-d12e455ac46e" providerId="ADAL" clId="{2FF3E2E3-7818-4E76-9C63-7C10A568D9B9}" dt="2026-03-18T12:43:48.486" v="239" actId="478"/>
          <pc:sldLayoutMkLst>
            <pc:docMk/>
            <pc:sldMasterMk cId="2649311375" sldId="2147483687"/>
            <pc:sldLayoutMk cId="2606137628" sldId="2147483689"/>
          </pc:sldLayoutMkLst>
          <pc:spChg chg="mod">
            <ac:chgData name="Scott T Lane" userId="c97bbaa9-35da-4a3b-a646-d12e455ac46e" providerId="ADAL" clId="{2FF3E2E3-7818-4E76-9C63-7C10A568D9B9}" dt="2026-03-18T12:43:43.638" v="236" actId="12"/>
            <ac:spMkLst>
              <pc:docMk/>
              <pc:sldMasterMk cId="2649311375" sldId="2147483687"/>
              <pc:sldLayoutMk cId="2606137628" sldId="214748368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F3A2-8E25-4A3A-A5C5-30CE7D552B9E}"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92C0B-33F8-41E1-8332-0E4CBB15B695}" type="slidenum">
              <a:rPr lang="en-US" smtClean="0"/>
              <a:t>‹#›</a:t>
            </a:fld>
            <a:endParaRPr lang="en-US"/>
          </a:p>
        </p:txBody>
      </p:sp>
    </p:spTree>
    <p:extLst>
      <p:ext uri="{BB962C8B-B14F-4D97-AF65-F5344CB8AC3E}">
        <p14:creationId xmlns:p14="http://schemas.microsoft.com/office/powerpoint/2010/main" val="1818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our comprehensive exploration of demand, supply, and market equilibrium. This presentation consolidates the fundamental concepts that explain how prices emerge in market economies. We'll examine the mechanics of demand and supply, analyze what causes market changes, and explore the consequences of government intervention through price controls. These concepts explain the price changes you experience daily—from grocery stores to gas pumps, from rental markets to labor markets. Understanding this model provides powerful insights into economic coordination and resource allocation.</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a:t>
            </a:fld>
            <a:endParaRPr lang="en-US"/>
          </a:p>
        </p:txBody>
      </p:sp>
    </p:spTree>
    <p:extLst>
      <p:ext uri="{BB962C8B-B14F-4D97-AF65-F5344CB8AC3E}">
        <p14:creationId xmlns:p14="http://schemas.microsoft.com/office/powerpoint/2010/main" val="3240967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Prices aren't just arbitrary numbers—they're packed with information AND motivation. Consider pandemic lumber prices: when they tripled, that spike wasn't just painful for homebuilders; it conveyed crucial information about scarcity. But prices do more than inform—they create powerful incentives to fix problems.</a:t>
            </a:r>
          </a:p>
          <a:p>
            <a:r>
              <a:rPr lang="en-US" sz="1200" b="0" i="0" kern="1200" dirty="0">
                <a:solidFill>
                  <a:schemeClr val="tx1"/>
                </a:solidFill>
                <a:effectLst/>
                <a:latin typeface="+mn-lt"/>
                <a:ea typeface="+mn-ea"/>
                <a:cs typeface="+mn-cs"/>
              </a:rPr>
              <a:t>The same high lumber price that signaled scarcity also motivated consumers to hold off on renovations or find alternatives, producers to increase production, and entrepreneurs to develop wood substitutes or more efficient harvesting methods. This dual nature makes prices uniquely powerful for coordinating economic activity.</a:t>
            </a:r>
          </a:p>
          <a:p>
            <a:r>
              <a:rPr lang="en-US" sz="1200" b="0" i="0" kern="1200" dirty="0">
                <a:solidFill>
                  <a:schemeClr val="tx1"/>
                </a:solidFill>
                <a:effectLst/>
                <a:latin typeface="+mn-lt"/>
                <a:ea typeface="+mn-ea"/>
                <a:cs typeface="+mn-cs"/>
              </a:rPr>
              <a:t>What's often overlooked is how prices enable incremental, fine-tuned adjustments rather than drastic all-or-nothing decisions. Dairies don't make binary choices about sending all milk to cheese or all to ice cream. Instead, they constantly adjust at the margin—perhaps diverting just 2% more milk to yogurt when its price rises slightly. Each gallon flows to its highest-valued use. This constant calibration happens millions of times daily across the economy, preventing both wasteful excess and painful shortages—all without central coordination.</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2</a:t>
            </a:fld>
            <a:endParaRPr lang="en-US"/>
          </a:p>
        </p:txBody>
      </p:sp>
    </p:spTree>
    <p:extLst>
      <p:ext uri="{BB962C8B-B14F-4D97-AF65-F5344CB8AC3E}">
        <p14:creationId xmlns:p14="http://schemas.microsoft.com/office/powerpoint/2010/main" val="1511703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Demand represents consumers' willingness AND ability to purchase at each price. Both elements matter—if you have no need or want, you won't buy. If you can't pay, you have no effective demand. For example, someone without a driver's license has no effective demand for a car.</a:t>
            </a:r>
          </a:p>
          <a:p>
            <a:r>
              <a:rPr lang="en-US" sz="1200" b="0" i="0" kern="1200" dirty="0">
                <a:solidFill>
                  <a:schemeClr val="tx1"/>
                </a:solidFill>
                <a:effectLst/>
                <a:latin typeface="+mn-lt"/>
                <a:ea typeface="+mn-ea"/>
                <a:cs typeface="+mn-cs"/>
              </a:rPr>
              <a:t>The Law of Demand describes an inverse relationship between price and quantity demanded. When gasoline prices increase, people combine errands, carpool, take mass transit, or vacation closer to home. When prices fall, the opposite occurs.</a:t>
            </a:r>
          </a:p>
          <a:p>
            <a:r>
              <a:rPr lang="en-US" sz="1200" b="0" i="0" kern="1200" dirty="0">
                <a:solidFill>
                  <a:schemeClr val="tx1"/>
                </a:solidFill>
                <a:effectLst/>
                <a:latin typeface="+mn-lt"/>
                <a:ea typeface="+mn-ea"/>
                <a:cs typeface="+mn-cs"/>
              </a:rPr>
              <a:t>Here's a critical distinction that prevents confusion later: "Demand" refers to the entire relationship between prices and quantities—the whole curve. "Quantity demanded" refers to one specific point on that curve at a particular price. When we plot demand schedules on graphs with price on the vertical axis and quantity on the horizontal axis, we see downward-sloping demand curves. Nearly all demand curves share this fundamental characteristic, though they may be steeper, flatter, straight, or curved depending on the specific product.</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3</a:t>
            </a:fld>
            <a:endParaRPr lang="en-US"/>
          </a:p>
        </p:txBody>
      </p:sp>
    </p:spTree>
    <p:extLst>
      <p:ext uri="{BB962C8B-B14F-4D97-AF65-F5344CB8AC3E}">
        <p14:creationId xmlns:p14="http://schemas.microsoft.com/office/powerpoint/2010/main" val="2132748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Supply represents producers' willingness to produce and bring to market at each price. The Law of Supply describes a direct relationship: as price rises, quantity supplied rises; as price falls, quantity supplied falls.</a:t>
            </a:r>
          </a:p>
          <a:p>
            <a:r>
              <a:rPr lang="en-US" sz="1200" b="0" i="0" kern="1200" dirty="0">
                <a:solidFill>
                  <a:schemeClr val="tx1"/>
                </a:solidFill>
                <a:effectLst/>
                <a:latin typeface="+mn-lt"/>
                <a:ea typeface="+mn-ea"/>
                <a:cs typeface="+mn-cs"/>
              </a:rPr>
              <a:t>When gasoline prices rise, profit-seeking firms expand exploration for oil reserves, drill for more oil, invest in pipelines and tankers, build new refineries, purchase additional distribution infrastructure, and open more gas stations or keep them open longer hours. When prices fall, these activities contract. The higher price makes these activities profitable; the lower price makes them unprofitable.</a:t>
            </a:r>
          </a:p>
          <a:p>
            <a:r>
              <a:rPr lang="en-US" sz="1200" b="0" i="0" kern="1200" dirty="0">
                <a:solidFill>
                  <a:schemeClr val="tx1"/>
                </a:solidFill>
                <a:effectLst/>
                <a:latin typeface="+mn-lt"/>
                <a:ea typeface="+mn-ea"/>
                <a:cs typeface="+mn-cs"/>
              </a:rPr>
              <a:t>Just as with demand, we must distinguish between "supply"—the entire curve showing the relationship across all prices—and "quantity supplied"—one specific point on the curve. Supply curves typically slope upward from left to right, illustrating the law of supply. The shape varies by product, but this fundamental upward slope remains consistent. Understanding this distinction between moving along a curve versus shifting the entire curve becomes crucial when analyzing market changes.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4</a:t>
            </a:fld>
            <a:endParaRPr lang="en-US"/>
          </a:p>
        </p:txBody>
      </p:sp>
    </p:spTree>
    <p:extLst>
      <p:ext uri="{BB962C8B-B14F-4D97-AF65-F5344CB8AC3E}">
        <p14:creationId xmlns:p14="http://schemas.microsoft.com/office/powerpoint/2010/main" val="3294998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Equilibrium occurs where the supply and demand curves intersect—the point where quantity demanded equals quantity supplied. The equilibrium price is the only price where consumers' and buyers' plans agree on the quantity to exchange. At any other price, economic pressures push the market toward equilibrium.</a:t>
            </a:r>
          </a:p>
          <a:p>
            <a:r>
              <a:rPr lang="en-US" sz="1200" b="0" i="0" kern="1200" dirty="0">
                <a:solidFill>
                  <a:schemeClr val="tx1"/>
                </a:solidFill>
                <a:effectLst/>
                <a:latin typeface="+mn-lt"/>
                <a:ea typeface="+mn-ea"/>
                <a:cs typeface="+mn-cs"/>
              </a:rPr>
              <a:t>Consider surplus situations where price exceeds equilibrium. At $1.80 per gallon when equilibrium is $1.40, quantity supplied rises to 680 million gallons while quantity demanded falls to 500 million. Gasoline accumulates at stations, in tankers, and refineries. Firms not receiving enough cash to cover expenses will cut prices because selling at a lower price beats not selling at all. These reductions stimulate higher quantity demanded, pushing price toward equilibrium.</a:t>
            </a:r>
          </a:p>
          <a:p>
            <a:r>
              <a:rPr lang="en-US" sz="1200" b="0" i="0" kern="1200" dirty="0">
                <a:solidFill>
                  <a:schemeClr val="tx1"/>
                </a:solidFill>
                <a:effectLst/>
                <a:latin typeface="+mn-lt"/>
                <a:ea typeface="+mn-ea"/>
                <a:cs typeface="+mn-cs"/>
              </a:rPr>
              <a:t>Now consider shortage situations where price falls below equilibrium. At $1.20 when equilibrium is $1.40, quantity demanded increases to 700 million gallons while quantity supplied drops to 550 million. Eager buyers mob gas stations only to find them running short. Recognizing profit opportunities, oil companies and stations raise prices toward equilibrium. These self-correcting mechanisms work without any central coordinator—they're built into the structure of demand and supply.</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5</a:t>
            </a:fld>
            <a:endParaRPr lang="en-US"/>
          </a:p>
        </p:txBody>
      </p:sp>
    </p:spTree>
    <p:extLst>
      <p:ext uri="{BB962C8B-B14F-4D97-AF65-F5344CB8AC3E}">
        <p14:creationId xmlns:p14="http://schemas.microsoft.com/office/powerpoint/2010/main" val="2391961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ceteris paribus assumption—"all else equal"—means demand curves show the relationship between price and quantity demanded assuming no other relevant factors change. But when these other factors DO change, the entire demand curve shifts.</a:t>
            </a:r>
          </a:p>
          <a:p>
            <a:r>
              <a:rPr lang="en-US" sz="1200" b="0" i="0" kern="1200" dirty="0">
                <a:solidFill>
                  <a:schemeClr val="tx1"/>
                </a:solidFill>
                <a:effectLst/>
                <a:latin typeface="+mn-lt"/>
                <a:ea typeface="+mn-ea"/>
                <a:cs typeface="+mn-cs"/>
              </a:rPr>
              <a:t>First, income effects vary by product type. For normal goods like cars or restaurant meals, rising income shifts demand right—people demand more at every price. For inferior goods like generic brands or used cars, rising income shifts demand left as people trade up to higher quality.</a:t>
            </a:r>
          </a:p>
          <a:p>
            <a:r>
              <a:rPr lang="en-US" sz="1200" b="0" i="0" kern="1200" dirty="0">
                <a:solidFill>
                  <a:schemeClr val="tx1"/>
                </a:solidFill>
                <a:effectLst/>
                <a:latin typeface="+mn-lt"/>
                <a:ea typeface="+mn-ea"/>
                <a:cs typeface="+mn-cs"/>
              </a:rPr>
              <a:t>Second, changing tastes dramatically affect demand. From 1980 to 2021, American chicken consumption rose from 47 to 97 pounds per person annually while beef fell from 76 to 59 pounds—largely due to health concerns and taste changes.</a:t>
            </a:r>
          </a:p>
          <a:p>
            <a:r>
              <a:rPr lang="en-US" sz="1200" b="0" i="0" kern="1200" dirty="0">
                <a:solidFill>
                  <a:schemeClr val="tx1"/>
                </a:solidFill>
                <a:effectLst/>
                <a:latin typeface="+mn-lt"/>
                <a:ea typeface="+mn-ea"/>
                <a:cs typeface="+mn-cs"/>
              </a:rPr>
              <a:t>Third, population composition matters. The US elderly population rose from 9.8% in 1970 to 12.6% in 2000, with projections of 20% by 2030, increasing demand for nursing homes and hearing aids.</a:t>
            </a:r>
          </a:p>
          <a:p>
            <a:r>
              <a:rPr lang="en-US" sz="1200" b="0" i="0" kern="1200" dirty="0">
                <a:solidFill>
                  <a:schemeClr val="tx1"/>
                </a:solidFill>
                <a:effectLst/>
                <a:latin typeface="+mn-lt"/>
                <a:ea typeface="+mn-ea"/>
                <a:cs typeface="+mn-cs"/>
              </a:rPr>
              <a:t>Fourth, prices of related goods matter. Substitutes can replace each other—falling tablet prices decreased laptop demand. Complements are used together—rising golf club prices decrease golf ball demand.</a:t>
            </a:r>
          </a:p>
          <a:p>
            <a:r>
              <a:rPr lang="en-US" sz="1200" b="0" i="0" kern="1200" dirty="0">
                <a:solidFill>
                  <a:schemeClr val="tx1"/>
                </a:solidFill>
                <a:effectLst/>
                <a:latin typeface="+mn-lt"/>
                <a:ea typeface="+mn-ea"/>
                <a:cs typeface="+mn-cs"/>
              </a:rPr>
              <a:t>Fifth, future price expectations affect current demand. If people expect hurricanes, they rush to buy batteries and water now. Each of these factors shifts the entire demand curve rightward for increases, leftward for decreases. This differs fundamentally from price changes, which cause movements ALONG existing curves.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6</a:t>
            </a:fld>
            <a:endParaRPr lang="en-US"/>
          </a:p>
        </p:txBody>
      </p:sp>
    </p:spTree>
    <p:extLst>
      <p:ext uri="{BB962C8B-B14F-4D97-AF65-F5344CB8AC3E}">
        <p14:creationId xmlns:p14="http://schemas.microsoft.com/office/powerpoint/2010/main" val="231060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Supply curves also assume ceteris paribus—no relevant factors change except price. When other factors affecting production change, the entire supply curve shifts.</a:t>
            </a:r>
          </a:p>
          <a:p>
            <a:r>
              <a:rPr lang="en-US" sz="1200" b="0" i="0" kern="1200" dirty="0">
                <a:solidFill>
                  <a:schemeClr val="tx1"/>
                </a:solidFill>
                <a:effectLst/>
                <a:latin typeface="+mn-lt"/>
                <a:ea typeface="+mn-ea"/>
                <a:cs typeface="+mn-cs"/>
              </a:rPr>
              <a:t>First, production costs critically affect supply. When steel prices rise, producing cars becomes more expensive. At any given selling price, manufacturers now earn lower profits, so they supply less—the supply curve shifts left. Conversely, falling steel prices shift supply right. Input costs include energy, labor, and materials like lumber, steel, and rare earth metals.</a:t>
            </a:r>
          </a:p>
          <a:p>
            <a:r>
              <a:rPr lang="en-US" sz="1200" b="0" i="0" kern="1200" dirty="0">
                <a:solidFill>
                  <a:schemeClr val="tx1"/>
                </a:solidFill>
                <a:effectLst/>
                <a:latin typeface="+mn-lt"/>
                <a:ea typeface="+mn-ea"/>
                <a:cs typeface="+mn-cs"/>
              </a:rPr>
              <a:t>Second, natural conditions affect agricultural supply dramatically. The 2014 drought in Northeastern China, producing most of the country's wheat, corn, and soybeans, represented the most severe drought in 50 years, decreasing supply. Conversely, excellent commercial salmon fishing conditions in 2015 California—heavy rains aiding breeding, cooler temperatures stimulating plankton growth, calm seas during fishing season—increased supply.</a:t>
            </a:r>
          </a:p>
          <a:p>
            <a:r>
              <a:rPr lang="en-US" sz="1200" b="0" i="0" kern="1200" dirty="0">
                <a:solidFill>
                  <a:schemeClr val="tx1"/>
                </a:solidFill>
                <a:effectLst/>
                <a:latin typeface="+mn-lt"/>
                <a:ea typeface="+mn-ea"/>
                <a:cs typeface="+mn-cs"/>
              </a:rPr>
              <a:t>Third, technology improvements shift supply right. The Green Revolution of the 1960s focused on breeding improved seeds for basic crops. By the early 1990s, more than two-thirds of wheat and rice in low-income countries used these seeds, doubling yields per acre.</a:t>
            </a:r>
          </a:p>
          <a:p>
            <a:r>
              <a:rPr lang="en-US" sz="1200" b="0" i="0" kern="1200" dirty="0">
                <a:solidFill>
                  <a:schemeClr val="tx1"/>
                </a:solidFill>
                <a:effectLst/>
                <a:latin typeface="+mn-lt"/>
                <a:ea typeface="+mn-ea"/>
                <a:cs typeface="+mn-cs"/>
              </a:rPr>
              <a:t>Fourth, government policies affect supply through taxes, regulations, and subsidies. The US government collects about $8 billion annually from alcohol taxes, which businesses treat as production costs, shifting supply left. Regulations requiring cleaner environments or safer workplaces increase compliance costs, also shifting supply left. Subsidies work oppositely, reducing effective production costs and shifting supply right.</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7</a:t>
            </a:fld>
            <a:endParaRPr lang="en-US"/>
          </a:p>
        </p:txBody>
      </p:sp>
    </p:spTree>
    <p:extLst>
      <p:ext uri="{BB962C8B-B14F-4D97-AF65-F5344CB8AC3E}">
        <p14:creationId xmlns:p14="http://schemas.microsoft.com/office/powerpoint/2010/main" val="3939664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economic events affect markets, use this systematic four-step process to avoid confusion.</a:t>
            </a:r>
          </a:p>
          <a:p>
            <a:r>
              <a:rPr lang="en-US" sz="1200" b="0" i="0" kern="1200" dirty="0">
                <a:solidFill>
                  <a:schemeClr val="tx1"/>
                </a:solidFill>
                <a:effectLst/>
                <a:latin typeface="+mn-lt"/>
                <a:ea typeface="+mn-ea"/>
                <a:cs typeface="+mn-cs"/>
              </a:rPr>
              <a:t>Step 1: Draw the demand and supply model before the change. This requires understanding the law of demand (negative slope), the law of supply (positive slope), demand shifters, and supply shifters. From this model, identify the initial equilibrium price and quantity.</a:t>
            </a:r>
          </a:p>
          <a:p>
            <a:r>
              <a:rPr lang="en-US" sz="1200" b="0" i="0" kern="1200" dirty="0">
                <a:solidFill>
                  <a:schemeClr val="tx1"/>
                </a:solidFill>
                <a:effectLst/>
                <a:latin typeface="+mn-lt"/>
                <a:ea typeface="+mn-ea"/>
                <a:cs typeface="+mn-cs"/>
              </a:rPr>
              <a:t>Step 2: Decide whether the event affects demand or supply. Does the event relate to something in the list of demand factors—income, tastes, population, prices of related goods, expectations? Or does it relate to supply factors—production costs, natural conditions, technology, government policies?</a:t>
            </a:r>
          </a:p>
          <a:p>
            <a:r>
              <a:rPr lang="en-US" sz="1200" b="0" i="0" kern="1200" dirty="0">
                <a:solidFill>
                  <a:schemeClr val="tx1"/>
                </a:solidFill>
                <a:effectLst/>
                <a:latin typeface="+mn-lt"/>
                <a:ea typeface="+mn-ea"/>
                <a:cs typeface="+mn-cs"/>
              </a:rPr>
              <a:t>Step 3: Determine whether the effect causes the curve to shift right or left. Does the event increase or decrease the amount consumers want to buy, or producers want to sell? Increases shift right; decreases shift left.</a:t>
            </a:r>
          </a:p>
          <a:p>
            <a:r>
              <a:rPr lang="en-US" sz="1200" b="0" i="0" kern="1200" dirty="0">
                <a:solidFill>
                  <a:schemeClr val="tx1"/>
                </a:solidFill>
                <a:effectLst/>
                <a:latin typeface="+mn-lt"/>
                <a:ea typeface="+mn-ea"/>
                <a:cs typeface="+mn-cs"/>
              </a:rPr>
              <a:t>Step 4: Identify the new equilibrium where the new curve intersects the unchanged curve. Compare the new equilibrium price and quantity to the original.</a:t>
            </a:r>
          </a:p>
          <a:p>
            <a:r>
              <a:rPr lang="en-US" sz="1200" b="0" i="0" kern="1200" dirty="0">
                <a:solidFill>
                  <a:schemeClr val="tx1"/>
                </a:solidFill>
                <a:effectLst/>
                <a:latin typeface="+mn-lt"/>
                <a:ea typeface="+mn-ea"/>
                <a:cs typeface="+mn-cs"/>
              </a:rPr>
              <a:t>Example: Good weather for salmon fishing is a natural condition affecting supply, so it shifts supply right. The new equilibrium shows lower prices ($3.25 to $2.50) but higher quantity (250,000 to 550,000 salmon). Notice that quantity demanded increased even though the demand curve didn't move—we moved along the existing demand curve in response to the lower price.</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8</a:t>
            </a:fld>
            <a:endParaRPr lang="en-US"/>
          </a:p>
        </p:txBody>
      </p:sp>
    </p:spTree>
    <p:extLst>
      <p:ext uri="{BB962C8B-B14F-4D97-AF65-F5344CB8AC3E}">
        <p14:creationId xmlns:p14="http://schemas.microsoft.com/office/powerpoint/2010/main" val="39489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summarize the effects of demand and supply changes to build intuition for market analysis.</a:t>
            </a:r>
          </a:p>
          <a:p>
            <a:r>
              <a:rPr lang="en-US" sz="1200" b="0" i="0" kern="1200" dirty="0">
                <a:solidFill>
                  <a:schemeClr val="tx1"/>
                </a:solidFill>
                <a:effectLst/>
                <a:latin typeface="+mn-lt"/>
                <a:ea typeface="+mn-ea"/>
                <a:cs typeface="+mn-cs"/>
              </a:rPr>
              <a:t>When demand increases—shifting right—both equilibrium price and quantity rise. More consumers wanting the product at every price drives up both the price and the amount sold. When demand decreases—shifting left—both price and quantity fall.</a:t>
            </a:r>
          </a:p>
          <a:p>
            <a:r>
              <a:rPr lang="en-US" sz="1200" b="0" i="0" kern="1200" dirty="0">
                <a:solidFill>
                  <a:schemeClr val="tx1"/>
                </a:solidFill>
                <a:effectLst/>
                <a:latin typeface="+mn-lt"/>
                <a:ea typeface="+mn-ea"/>
                <a:cs typeface="+mn-cs"/>
              </a:rPr>
              <a:t>When supply increases—shifting right—equilibrium price falls while quantity rises. More product available at every price puts downward pressure on price while increasing the amount sold. When supply decreases—shifting left—price rises while quantity falls.</a:t>
            </a:r>
          </a:p>
          <a:p>
            <a:r>
              <a:rPr lang="en-US" sz="1200" b="0" i="0" kern="1200" dirty="0">
                <a:solidFill>
                  <a:schemeClr val="tx1"/>
                </a:solidFill>
                <a:effectLst/>
                <a:latin typeface="+mn-lt"/>
                <a:ea typeface="+mn-ea"/>
                <a:cs typeface="+mn-cs"/>
              </a:rPr>
              <a:t>Notice the important pattern: when demand shifts, price and quantity move in the SAME direction—both up or both down. When supply shifts, they move in OPPOSITE directions—price up means quantity down, or price down means quantity up.</a:t>
            </a:r>
          </a:p>
          <a:p>
            <a:r>
              <a:rPr lang="en-US" sz="1200" b="0" i="0" kern="1200" dirty="0">
                <a:solidFill>
                  <a:schemeClr val="tx1"/>
                </a:solidFill>
                <a:effectLst/>
                <a:latin typeface="+mn-lt"/>
                <a:ea typeface="+mn-ea"/>
                <a:cs typeface="+mn-cs"/>
              </a:rPr>
              <a:t>When you experience relative price increases and decreases, move beyond simplistic explanations like "greedy businesses" for increases or sudden "altruism" for decreases. The supply and demand model often explains most, if not all, of the price change. Understand which parts of the market—demand, supply, or both—are changing in which directions to explain and predict price changes for eggs, baby formula, gasoline, wages, and rent.</a:t>
            </a:r>
          </a:p>
          <a:p>
            <a:r>
              <a:rPr lang="en-US" sz="1200" b="0" i="0" kern="1200" dirty="0">
                <a:solidFill>
                  <a:schemeClr val="tx1"/>
                </a:solidFill>
                <a:effectLst/>
                <a:latin typeface="+mn-lt"/>
                <a:ea typeface="+mn-ea"/>
                <a:cs typeface="+mn-cs"/>
              </a:rPr>
              <a:t>When BOTH curves shift simultaneously, the analysis becomes more complex. We can determine one effect definitively but the other becomes ambiguous without knowing the relative magnitudes.</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9</a:t>
            </a:fld>
            <a:endParaRPr lang="en-US"/>
          </a:p>
        </p:txBody>
      </p:sp>
    </p:spTree>
    <p:extLst>
      <p:ext uri="{BB962C8B-B14F-4D97-AF65-F5344CB8AC3E}">
        <p14:creationId xmlns:p14="http://schemas.microsoft.com/office/powerpoint/2010/main" val="140308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Price ceilings are legal maximum prices enacted to keep necessities "affordable." Rent control provides the classic example, common in cities like New York, Washington DC, and San Francisco.</a:t>
            </a:r>
          </a:p>
          <a:p>
            <a:r>
              <a:rPr lang="en-US" sz="1200" b="0" i="0" kern="1200" dirty="0">
                <a:solidFill>
                  <a:schemeClr val="tx1"/>
                </a:solidFill>
                <a:effectLst/>
                <a:latin typeface="+mn-lt"/>
                <a:ea typeface="+mn-ea"/>
                <a:cs typeface="+mn-cs"/>
              </a:rPr>
              <a:t>Consider this scenario: Rising incomes or changing tastes increase demand for rental housing, shifting demand right. Without intervention, equilibrium would move from $500 rent with 15,000 units to $600 rent with 17,000 units. But suppose government imposes rent control at the original $500 level.</a:t>
            </a:r>
          </a:p>
          <a:p>
            <a:r>
              <a:rPr lang="en-US" sz="1200" b="0" i="0" kern="1200" dirty="0">
                <a:solidFill>
                  <a:schemeClr val="tx1"/>
                </a:solidFill>
                <a:effectLst/>
                <a:latin typeface="+mn-lt"/>
                <a:ea typeface="+mn-ea"/>
                <a:cs typeface="+mn-cs"/>
              </a:rPr>
              <a:t>At that controlled price, quantity supplied remains 15,000 units while quantity demanded rises to 19,000 units—creating a shortage of 4,000 units. Here's the irony: the price ceiling intended to help renters actually results in FEWER apartments being rented (15,000) than would exist at the market rent of $600 (17,000 units).</a:t>
            </a:r>
          </a:p>
          <a:p>
            <a:r>
              <a:rPr lang="en-US" sz="1200" b="0" i="0" kern="1200" dirty="0">
                <a:solidFill>
                  <a:schemeClr val="tx1"/>
                </a:solidFill>
                <a:effectLst/>
                <a:latin typeface="+mn-lt"/>
                <a:ea typeface="+mn-ea"/>
                <a:cs typeface="+mn-cs"/>
              </a:rPr>
              <a:t>The consequences extend beyond simple arithmetic. Some renters lose housing as landlords convert apartments to co-ops and condos—removing them from rental markets entirely. Even remaining rental units deteriorate as landlords spend less on maintenance, heating, cooling, hot water, and lighting. Those lucky enough to secure rent-controlled apartments benefit, but sellers suffer losses, and many potential renters face shortages.</a:t>
            </a:r>
          </a:p>
          <a:p>
            <a:r>
              <a:rPr lang="en-US" sz="1200" b="0" i="0" kern="1200" dirty="0">
                <a:solidFill>
                  <a:schemeClr val="tx1"/>
                </a:solidFill>
                <a:effectLst/>
                <a:latin typeface="+mn-lt"/>
                <a:ea typeface="+mn-ea"/>
                <a:cs typeface="+mn-cs"/>
              </a:rPr>
              <a:t>The first rule of economics applies: you don't get something for nothing—everything has opportunity costs. If renters obtain "cheaper" housing than the market requires, they typically end up with lower quality housing and reduced availability.</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10</a:t>
            </a:fld>
            <a:endParaRPr lang="en-US"/>
          </a:p>
        </p:txBody>
      </p:sp>
    </p:spTree>
    <p:extLst>
      <p:ext uri="{BB962C8B-B14F-4D97-AF65-F5344CB8AC3E}">
        <p14:creationId xmlns:p14="http://schemas.microsoft.com/office/powerpoint/2010/main" val="3203010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Price floors are legal minimum prices that prevent prices from falling below a certain level. Agricultural price supports provide the primary example, though minimum wage laws also represent price floors in labor markets.</a:t>
            </a:r>
          </a:p>
          <a:p>
            <a:r>
              <a:rPr lang="en-US" sz="1200" b="0" i="0" kern="1200" dirty="0">
                <a:solidFill>
                  <a:schemeClr val="tx1"/>
                </a:solidFill>
                <a:effectLst/>
                <a:latin typeface="+mn-lt"/>
                <a:ea typeface="+mn-ea"/>
                <a:cs typeface="+mn-cs"/>
              </a:rPr>
              <a:t>The most common mechanism: government enters the market and buys the excess product, adding to demand to keep prices higher than they otherwise would be. According to 2019 data, the European Union spends about 65.5 billion dollars annually—roughly 36% of its entire budget—on agricultural price supports.</a:t>
            </a:r>
          </a:p>
          <a:p>
            <a:r>
              <a:rPr lang="en-US" sz="1200" b="0" i="0" kern="1200" dirty="0">
                <a:solidFill>
                  <a:schemeClr val="tx1"/>
                </a:solidFill>
                <a:effectLst/>
                <a:latin typeface="+mn-lt"/>
                <a:ea typeface="+mn-ea"/>
                <a:cs typeface="+mn-cs"/>
              </a:rPr>
              <a:t>Consider wheat markets: Without intervention, equilibrium would establish a price and quantity where supply equals demand. But policies to keep prices high for farmers set a price floor above equilibrium. The result: quantity supplied exceeds quantity demanded, creating a surplus.</a:t>
            </a:r>
          </a:p>
          <a:p>
            <a:r>
              <a:rPr lang="en-US" sz="1200" b="0" i="0" kern="1200" dirty="0">
                <a:solidFill>
                  <a:schemeClr val="tx1"/>
                </a:solidFill>
                <a:effectLst/>
                <a:latin typeface="+mn-lt"/>
                <a:ea typeface="+mn-ea"/>
                <a:cs typeface="+mn-cs"/>
              </a:rPr>
              <a:t>Economists estimate high-income areas including the United States, Europe, and Japan spend roughly $1 billion PER DAY supporting farmers. While farmers benefit from higher prices guaranteed by government purchases, taxpayers fund these purchases, and consumers pay higher food prices than would exist at market equilibrium.</a:t>
            </a:r>
          </a:p>
          <a:p>
            <a:r>
              <a:rPr lang="en-US" sz="1200" b="0" i="0" kern="1200" dirty="0">
                <a:solidFill>
                  <a:schemeClr val="tx1"/>
                </a:solidFill>
                <a:effectLst/>
                <a:latin typeface="+mn-lt"/>
                <a:ea typeface="+mn-ea"/>
                <a:cs typeface="+mn-cs"/>
              </a:rPr>
              <a:t>The economic inefficiency is clear: scarce resources are used to produce too much of various agricultural products. Alternative policy tools—like direct income support decoupled from production, crop insurance subsidies, or environmental conservation payments—could achieve the goal of supporting farm income while avoiding at least some of these costs and the surplus production problem. However, political support for traditional subsidies remains strong due to views about preserving rural lifestyles or agribusiness lobbying power.</a:t>
            </a:r>
          </a:p>
          <a:p>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11</a:t>
            </a:fld>
            <a:endParaRPr lang="en-US"/>
          </a:p>
        </p:txBody>
      </p:sp>
    </p:spTree>
    <p:extLst>
      <p:ext uri="{BB962C8B-B14F-4D97-AF65-F5344CB8AC3E}">
        <p14:creationId xmlns:p14="http://schemas.microsoft.com/office/powerpoint/2010/main" val="959564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conclude with fundamental insights from the demand and supply model.</a:t>
            </a:r>
          </a:p>
          <a:p>
            <a:r>
              <a:rPr lang="en-US" sz="1200" b="0" i="0" kern="1200" dirty="0">
                <a:solidFill>
                  <a:schemeClr val="tx1"/>
                </a:solidFill>
                <a:effectLst/>
                <a:latin typeface="+mn-lt"/>
                <a:ea typeface="+mn-ea"/>
                <a:cs typeface="+mn-cs"/>
              </a:rPr>
              <a:t>First, prices coordinate economic activity without central direction. Through signals and incentives, millions of decisions get coordinated daily. Markets test different business ideas, management styles, and production methods through the profit and loss mechanism. Profits reward providing value to customers and signal resources are being used wisely. Losses penalize failing to provide value and signal resources are being wasted.</a:t>
            </a:r>
          </a:p>
          <a:p>
            <a:r>
              <a:rPr lang="en-US" sz="1200" b="0" i="0" kern="1200" dirty="0">
                <a:solidFill>
                  <a:schemeClr val="tx1"/>
                </a:solidFill>
                <a:effectLst/>
                <a:latin typeface="+mn-lt"/>
                <a:ea typeface="+mn-ea"/>
                <a:cs typeface="+mn-cs"/>
              </a:rPr>
              <a:t>Second, market forces self-correct imbalances. Surpluses create pressure for prices to fall; shortages create pressure for prices to rise. These adjustments occur through voluntary exchange, not government mandate.</a:t>
            </a:r>
          </a:p>
          <a:p>
            <a:r>
              <a:rPr lang="en-US" sz="1200" b="0" i="0" kern="1200" dirty="0">
                <a:solidFill>
                  <a:schemeClr val="tx1"/>
                </a:solidFill>
                <a:effectLst/>
                <a:latin typeface="+mn-lt"/>
                <a:ea typeface="+mn-ea"/>
                <a:cs typeface="+mn-cs"/>
              </a:rPr>
              <a:t>Third, always distinguish between movements along existing curves—caused by price changes—and shifts of entire curves—caused by non-price factors. This distinction prevents analytical errors.</a:t>
            </a:r>
          </a:p>
          <a:p>
            <a:r>
              <a:rPr lang="en-US" sz="1200" b="0" i="0" kern="1200" dirty="0">
                <a:solidFill>
                  <a:schemeClr val="tx1"/>
                </a:solidFill>
                <a:effectLst/>
                <a:latin typeface="+mn-lt"/>
                <a:ea typeface="+mn-ea"/>
                <a:cs typeface="+mn-cs"/>
              </a:rPr>
              <a:t>Fourth, use the four-step process systematically. Draw the initial model, identify whether demand or supply is affected, determine the direction of the shift, and compare equilibria. This framework prevents confusion and builds economic intuition.</a:t>
            </a:r>
          </a:p>
          <a:p>
            <a:r>
              <a:rPr lang="en-US" sz="1200" b="0" i="0" kern="1200" dirty="0">
                <a:solidFill>
                  <a:schemeClr val="tx1"/>
                </a:solidFill>
                <a:effectLst/>
                <a:latin typeface="+mn-lt"/>
                <a:ea typeface="+mn-ea"/>
                <a:cs typeface="+mn-cs"/>
              </a:rPr>
              <a:t>Fifth, price controls—ceilings and floors—create unintended consequences that often undermine their stated goals. Shortages, quality deterioration, surpluses, and inefficiency frequently result. Alternative policies often achieve goals with fewer costs and tradeoffs.</a:t>
            </a:r>
          </a:p>
          <a:p>
            <a:r>
              <a:rPr lang="en-US" sz="1200" b="0" i="0" kern="1200" dirty="0">
                <a:solidFill>
                  <a:schemeClr val="tx1"/>
                </a:solidFill>
                <a:effectLst/>
                <a:latin typeface="+mn-lt"/>
                <a:ea typeface="+mn-ea"/>
                <a:cs typeface="+mn-cs"/>
              </a:rPr>
              <a:t>Finally, economic thinking requires going beyond simplistic surface explanations. When prices change, ask: What's changing on the demand side? The supply side? Or both? Master this model, and you'll understand economic forces shaping your daily life. </a:t>
            </a:r>
            <a:r>
              <a:rPr lang="en-US" sz="1200" b="0" i="0" kern="1200">
                <a:solidFill>
                  <a:schemeClr val="tx1"/>
                </a:solidFill>
                <a:effectLst/>
                <a:latin typeface="+mn-lt"/>
                <a:ea typeface="+mn-ea"/>
                <a:cs typeface="+mn-cs"/>
              </a:rPr>
              <a:t>Thank you.</a:t>
            </a:r>
          </a:p>
          <a:p>
            <a:endParaRPr lang="en-US"/>
          </a:p>
        </p:txBody>
      </p:sp>
      <p:sp>
        <p:nvSpPr>
          <p:cNvPr id="4" name="Slide Number Placeholder 3"/>
          <p:cNvSpPr>
            <a:spLocks noGrp="1"/>
          </p:cNvSpPr>
          <p:nvPr>
            <p:ph type="sldNum" sz="quarter" idx="5"/>
          </p:nvPr>
        </p:nvSpPr>
        <p:spPr/>
        <p:txBody>
          <a:bodyPr/>
          <a:lstStyle/>
          <a:p>
            <a:fld id="{98E92C0B-33F8-41E1-8332-0E4CBB15B695}" type="slidenum">
              <a:rPr lang="en-US" smtClean="0"/>
              <a:t>12</a:t>
            </a:fld>
            <a:endParaRPr lang="en-US"/>
          </a:p>
        </p:txBody>
      </p:sp>
    </p:spTree>
    <p:extLst>
      <p:ext uri="{BB962C8B-B14F-4D97-AF65-F5344CB8AC3E}">
        <p14:creationId xmlns:p14="http://schemas.microsoft.com/office/powerpoint/2010/main" val="2198384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4090832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buClrTx/>
              <a:defRPr/>
            </a:lvl1pPr>
            <a:lvl2pPr>
              <a:buClrTx/>
              <a:defRPr/>
            </a:lvl2pPr>
            <a:lvl3pPr>
              <a:buClrTx/>
              <a:defRPr/>
            </a:lvl3pPr>
            <a:lvl4pPr>
              <a:buClrTx/>
              <a:defRPr/>
            </a:lvl4pPr>
            <a:lvl5pPr>
              <a:buClrTx/>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61376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638977" y="281647"/>
            <a:ext cx="10873649" cy="1018343"/>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638977" y="1751682"/>
            <a:ext cx="10873649" cy="4824671"/>
          </a:xfrm>
          <a:prstGeom prst="rect">
            <a:avLst/>
          </a:prstGeom>
          <a:ln>
            <a:solidFill>
              <a:schemeClr val="tx1"/>
            </a:solidFill>
          </a:ln>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49311375"/>
      </p:ext>
    </p:extLst>
  </p:cSld>
  <p:clrMap bg1="lt1" tx1="dk1" bg2="lt2" tx2="dk2" accent1="accent1" accent2="accent2" accent3="accent3" accent4="accent4" accent5="accent5" accent6="accent6" hlink="hlink" folHlink="folHlink"/>
  <p:sldLayoutIdLst>
    <p:sldLayoutId id="2147483688" r:id="rId1"/>
    <p:sldLayoutId id="2147483689" r:id="rId2"/>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Tx/>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Tx/>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Tx/>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Tx/>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7D4F-ED2B-026B-3DCC-FC25D75BF3F3}"/>
              </a:ext>
            </a:extLst>
          </p:cNvPr>
          <p:cNvSpPr>
            <a:spLocks noGrp="1"/>
          </p:cNvSpPr>
          <p:nvPr>
            <p:ph type="ctrTitle"/>
          </p:nvPr>
        </p:nvSpPr>
        <p:spPr>
          <a:xfrm>
            <a:off x="7535756" y="920148"/>
            <a:ext cx="4308672" cy="2737452"/>
          </a:xfrm>
        </p:spPr>
        <p:txBody>
          <a:bodyPr anchor="b">
            <a:normAutofit fontScale="90000"/>
          </a:bodyPr>
          <a:lstStyle/>
          <a:p>
            <a:r>
              <a:rPr lang="en-US" sz="5400" dirty="0"/>
              <a:t>Chapter 3</a:t>
            </a:r>
            <a:br>
              <a:rPr lang="en-US" sz="5400" dirty="0"/>
            </a:br>
            <a:br>
              <a:rPr lang="en-US" sz="5400" dirty="0"/>
            </a:br>
            <a:r>
              <a:rPr lang="en-US" sz="2200" i="1" dirty="0"/>
              <a:t>Demand and Supply</a:t>
            </a:r>
            <a:br>
              <a:rPr lang="en-US" sz="2200" i="1" dirty="0"/>
            </a:br>
            <a:br>
              <a:rPr lang="en-US" sz="2200" i="1" dirty="0"/>
            </a:br>
            <a:r>
              <a:rPr lang="en-US" sz="2200" i="1" dirty="0"/>
              <a:t>How Markets Determine Prices</a:t>
            </a:r>
          </a:p>
        </p:txBody>
      </p:sp>
      <p:pic>
        <p:nvPicPr>
          <p:cNvPr id="4" name="Picture 3">
            <a:extLst>
              <a:ext uri="{FF2B5EF4-FFF2-40B4-BE49-F238E27FC236}">
                <a16:creationId xmlns:a16="http://schemas.microsoft.com/office/drawing/2014/main" id="{1CF736F6-0B2E-0C32-CC71-AB9EF0DD4906}"/>
              </a:ext>
              <a:ext uri="{C183D7F6-B498-43B3-948B-1728B52AA6E4}">
                <adec:decorative xmlns:adec="http://schemas.microsoft.com/office/drawing/2017/decorative" val="1"/>
              </a:ext>
            </a:extLst>
          </p:cNvPr>
          <p:cNvPicPr>
            <a:picLocks noChangeAspect="1"/>
          </p:cNvPicPr>
          <p:nvPr/>
        </p:nvPicPr>
        <p:blipFill>
          <a:blip r:embed="rId3"/>
          <a:srcRect l="17039" r="15498" b="-1"/>
          <a:stretch>
            <a:fillRect/>
          </a:stretch>
        </p:blipFill>
        <p:spPr>
          <a:xfrm>
            <a:off x="20" y="10"/>
            <a:ext cx="6931132" cy="6857990"/>
          </a:xfrm>
          <a:prstGeom prst="rect">
            <a:avLst/>
          </a:prstGeom>
        </p:spPr>
      </p:pic>
    </p:spTree>
    <p:extLst>
      <p:ext uri="{BB962C8B-B14F-4D97-AF65-F5344CB8AC3E}">
        <p14:creationId xmlns:p14="http://schemas.microsoft.com/office/powerpoint/2010/main" val="29464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247AA-54F6-BFA7-8D39-541199F21EC5}"/>
              </a:ext>
            </a:extLst>
          </p:cNvPr>
          <p:cNvSpPr>
            <a:spLocks noGrp="1"/>
          </p:cNvSpPr>
          <p:nvPr>
            <p:ph type="title"/>
          </p:nvPr>
        </p:nvSpPr>
        <p:spPr/>
        <p:txBody>
          <a:bodyPr>
            <a:normAutofit fontScale="90000"/>
          </a:bodyPr>
          <a:lstStyle/>
          <a:p>
            <a:r>
              <a:rPr lang="en-US" b="1" dirty="0"/>
              <a:t>THE PRICE MECHANISM</a:t>
            </a:r>
            <a:br>
              <a:rPr lang="en-US" dirty="0"/>
            </a:br>
            <a:endParaRPr lang="en-US" dirty="0"/>
          </a:p>
        </p:txBody>
      </p:sp>
      <p:sp>
        <p:nvSpPr>
          <p:cNvPr id="3" name="Content Placeholder 2">
            <a:extLst>
              <a:ext uri="{FF2B5EF4-FFF2-40B4-BE49-F238E27FC236}">
                <a16:creationId xmlns:a16="http://schemas.microsoft.com/office/drawing/2014/main" id="{1DA51C42-323B-6E6F-9FD7-908B5DCA19FC}"/>
              </a:ext>
            </a:extLst>
          </p:cNvPr>
          <p:cNvSpPr>
            <a:spLocks noGrp="1"/>
          </p:cNvSpPr>
          <p:nvPr>
            <p:ph idx="1"/>
          </p:nvPr>
        </p:nvSpPr>
        <p:spPr/>
        <p:txBody>
          <a:bodyPr>
            <a:normAutofit lnSpcReduction="10000"/>
          </a:bodyPr>
          <a:lstStyle/>
          <a:p>
            <a:pPr marL="0" indent="0">
              <a:buNone/>
            </a:pPr>
            <a:r>
              <a:rPr lang="en-US" sz="2000" b="1" dirty="0"/>
              <a:t>A PRICE IS A SIGNAL WRAPPED IN AN INCENTIVE</a:t>
            </a:r>
            <a:endParaRPr lang="en-US" sz="2000" dirty="0"/>
          </a:p>
          <a:p>
            <a:pPr marL="0" indent="0">
              <a:buNone/>
            </a:pPr>
            <a:r>
              <a:rPr lang="en-US" sz="2000" b="1" dirty="0"/>
              <a:t>Information + Motivation</a:t>
            </a:r>
            <a:endParaRPr lang="en-US" sz="2000" dirty="0"/>
          </a:p>
          <a:p>
            <a:pPr lvl="1"/>
            <a:r>
              <a:rPr lang="en-US" sz="1800" b="1" dirty="0"/>
              <a:t>Signals scarcity:</a:t>
            </a:r>
            <a:r>
              <a:rPr lang="en-US" sz="1800" dirty="0"/>
              <a:t> Pandemic lumber prices tripled → "We don't have enough wood"</a:t>
            </a:r>
          </a:p>
          <a:p>
            <a:pPr lvl="1"/>
            <a:r>
              <a:rPr lang="en-US" sz="1800" b="1" dirty="0"/>
              <a:t>Motivates response:</a:t>
            </a:r>
            <a:endParaRPr lang="en-US" sz="1800" dirty="0"/>
          </a:p>
          <a:p>
            <a:pPr lvl="2"/>
            <a:r>
              <a:rPr lang="en-US" sz="2000" dirty="0"/>
              <a:t>Consumers: Postpone projects, seek alternatives</a:t>
            </a:r>
          </a:p>
          <a:p>
            <a:pPr lvl="2"/>
            <a:r>
              <a:rPr lang="en-US" sz="2000" dirty="0"/>
              <a:t>Producers: Ramp up production</a:t>
            </a:r>
          </a:p>
          <a:p>
            <a:pPr lvl="2"/>
            <a:r>
              <a:rPr lang="en-US" sz="2000" dirty="0"/>
              <a:t>Entrepreneurs: Develop innovations</a:t>
            </a:r>
          </a:p>
          <a:p>
            <a:pPr marL="0" indent="0">
              <a:buNone/>
            </a:pPr>
            <a:endParaRPr lang="en-US" sz="2000" b="1" dirty="0"/>
          </a:p>
          <a:p>
            <a:pPr marL="0" indent="0">
              <a:buNone/>
            </a:pPr>
            <a:r>
              <a:rPr lang="en-US" sz="2000" b="1" dirty="0"/>
              <a:t>Enables fine-tuned adjustments at the margin</a:t>
            </a:r>
            <a:endParaRPr lang="en-US" sz="2000" dirty="0"/>
          </a:p>
          <a:p>
            <a:pPr lvl="1"/>
            <a:r>
              <a:rPr lang="en-US" sz="1800" dirty="0"/>
              <a:t>Dairies divert 2% more milk to yogurt when prices rise</a:t>
            </a:r>
          </a:p>
          <a:p>
            <a:pPr lvl="1"/>
            <a:r>
              <a:rPr lang="en-US" sz="1800" dirty="0"/>
              <a:t>Resources flow to highest-valued uses</a:t>
            </a:r>
          </a:p>
          <a:p>
            <a:pPr lvl="1"/>
            <a:r>
              <a:rPr lang="en-US" sz="1800" dirty="0"/>
              <a:t>Prevents both wasteful excess and painful shortages</a:t>
            </a:r>
          </a:p>
          <a:p>
            <a:pPr marL="0" indent="0">
              <a:buNone/>
            </a:pPr>
            <a:endParaRPr lang="en-US" dirty="0"/>
          </a:p>
        </p:txBody>
      </p:sp>
    </p:spTree>
    <p:extLst>
      <p:ext uri="{BB962C8B-B14F-4D97-AF65-F5344CB8AC3E}">
        <p14:creationId xmlns:p14="http://schemas.microsoft.com/office/powerpoint/2010/main" val="2049473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72B4F-6D12-C965-6F01-BBD7C11CBCB0}"/>
              </a:ext>
            </a:extLst>
          </p:cNvPr>
          <p:cNvSpPr>
            <a:spLocks noGrp="1"/>
          </p:cNvSpPr>
          <p:nvPr>
            <p:ph type="title"/>
          </p:nvPr>
        </p:nvSpPr>
        <p:spPr/>
        <p:txBody>
          <a:bodyPr>
            <a:normAutofit/>
          </a:bodyPr>
          <a:lstStyle/>
          <a:p>
            <a:r>
              <a:rPr lang="en-US" dirty="0"/>
              <a:t>DEMAND FUNDAMENTALS</a:t>
            </a:r>
          </a:p>
        </p:txBody>
      </p:sp>
      <p:sp>
        <p:nvSpPr>
          <p:cNvPr id="3" name="Content Placeholder 2">
            <a:extLst>
              <a:ext uri="{FF2B5EF4-FFF2-40B4-BE49-F238E27FC236}">
                <a16:creationId xmlns:a16="http://schemas.microsoft.com/office/drawing/2014/main" id="{AA5D402C-3C2F-596E-95C4-B05E39F832A6}"/>
              </a:ext>
            </a:extLst>
          </p:cNvPr>
          <p:cNvSpPr>
            <a:spLocks noGrp="1"/>
          </p:cNvSpPr>
          <p:nvPr>
            <p:ph idx="1"/>
          </p:nvPr>
        </p:nvSpPr>
        <p:spPr/>
        <p:txBody>
          <a:bodyPr/>
          <a:lstStyle/>
          <a:p>
            <a:pPr marL="0" indent="0">
              <a:buNone/>
            </a:pPr>
            <a:r>
              <a:rPr lang="en-US" b="1" dirty="0"/>
              <a:t>DEMAND</a:t>
            </a:r>
            <a:endParaRPr lang="en-US" dirty="0"/>
          </a:p>
          <a:p>
            <a:pPr marL="0" indent="0">
              <a:buNone/>
            </a:pPr>
            <a:r>
              <a:rPr lang="en-US" b="1" dirty="0"/>
              <a:t>Definition:</a:t>
            </a:r>
            <a:r>
              <a:rPr lang="en-US" dirty="0"/>
              <a:t> Consumer willingness AND ability to buy at each price</a:t>
            </a:r>
          </a:p>
          <a:p>
            <a:pPr marL="0" indent="0">
              <a:buNone/>
            </a:pPr>
            <a:r>
              <a:rPr lang="en-US" b="1" dirty="0"/>
              <a:t>Law of Demand (Inverse Relationship)</a:t>
            </a:r>
            <a:endParaRPr lang="en-US" dirty="0"/>
          </a:p>
          <a:p>
            <a:pPr lvl="1"/>
            <a:r>
              <a:rPr lang="en-US" sz="1800" dirty="0"/>
              <a:t>↑ Price → ↓ Quantity Demanded</a:t>
            </a:r>
          </a:p>
          <a:p>
            <a:pPr lvl="1"/>
            <a:r>
              <a:rPr lang="en-US" sz="1800" dirty="0"/>
              <a:t>↓ Price → ↑ Quantity Demanded</a:t>
            </a:r>
          </a:p>
          <a:p>
            <a:pPr marL="0" indent="0">
              <a:buNone/>
            </a:pPr>
            <a:endParaRPr lang="en-US" b="1" dirty="0"/>
          </a:p>
          <a:p>
            <a:pPr marL="0" indent="0">
              <a:buNone/>
            </a:pPr>
            <a:r>
              <a:rPr lang="en-US" b="1" dirty="0"/>
              <a:t>Key Distinction</a:t>
            </a:r>
            <a:endParaRPr lang="en-US" dirty="0"/>
          </a:p>
          <a:p>
            <a:pPr lvl="1"/>
            <a:r>
              <a:rPr lang="en-US" sz="1800" b="1" dirty="0"/>
              <a:t>Demand</a:t>
            </a:r>
            <a:r>
              <a:rPr lang="en-US" sz="1800" dirty="0"/>
              <a:t> = Entire curve (whole relationship)</a:t>
            </a:r>
          </a:p>
          <a:p>
            <a:pPr lvl="1"/>
            <a:r>
              <a:rPr lang="en-US" sz="1800" b="1" dirty="0"/>
              <a:t>Quantity Demanded</a:t>
            </a:r>
            <a:r>
              <a:rPr lang="en-US" sz="1800" dirty="0"/>
              <a:t> = One point on curve (specific price)</a:t>
            </a:r>
          </a:p>
          <a:p>
            <a:pPr marL="0" indent="0">
              <a:buNone/>
            </a:pPr>
            <a:endParaRPr lang="en-US" i="1" dirty="0"/>
          </a:p>
          <a:p>
            <a:pPr marL="0" indent="0">
              <a:buNone/>
            </a:pPr>
            <a:r>
              <a:rPr lang="en-US" i="1" dirty="0"/>
              <a:t>Demand curves slope downward from left to right</a:t>
            </a:r>
            <a:endParaRPr lang="en-US" dirty="0"/>
          </a:p>
          <a:p>
            <a:endParaRPr lang="en-US" dirty="0"/>
          </a:p>
        </p:txBody>
      </p:sp>
      <p:pic>
        <p:nvPicPr>
          <p:cNvPr id="4" name="Picture 3" descr="The graph illustrates the demand curve for gasoline, with price per gallon on the y-axis and quantity as millions of gallons on the x-axis. It slopes down from 5.20 dollars per gallon and 420 million gallons to 1.00 dollar per gallon and 800 million gallons, representing the law of demand.">
            <a:extLst>
              <a:ext uri="{FF2B5EF4-FFF2-40B4-BE49-F238E27FC236}">
                <a16:creationId xmlns:a16="http://schemas.microsoft.com/office/drawing/2014/main" id="{61891D1C-9E09-369A-5EE8-A2CF19A9EC6D}"/>
              </a:ext>
            </a:extLst>
          </p:cNvPr>
          <p:cNvPicPr>
            <a:picLocks noChangeAspect="1"/>
          </p:cNvPicPr>
          <p:nvPr/>
        </p:nvPicPr>
        <p:blipFill>
          <a:blip r:embed="rId3"/>
          <a:stretch>
            <a:fillRect/>
          </a:stretch>
        </p:blipFill>
        <p:spPr>
          <a:xfrm>
            <a:off x="7098751" y="2587084"/>
            <a:ext cx="4920549" cy="2631687"/>
          </a:xfrm>
          <a:prstGeom prst="rect">
            <a:avLst/>
          </a:prstGeom>
          <a:ln>
            <a:solidFill>
              <a:schemeClr val="tx1"/>
            </a:solidFill>
          </a:ln>
        </p:spPr>
      </p:pic>
    </p:spTree>
    <p:extLst>
      <p:ext uri="{BB962C8B-B14F-4D97-AF65-F5344CB8AC3E}">
        <p14:creationId xmlns:p14="http://schemas.microsoft.com/office/powerpoint/2010/main" val="3446690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DEFF0-1E08-C389-3644-778483AC8AF0}"/>
              </a:ext>
            </a:extLst>
          </p:cNvPr>
          <p:cNvSpPr>
            <a:spLocks noGrp="1"/>
          </p:cNvSpPr>
          <p:nvPr>
            <p:ph type="title"/>
          </p:nvPr>
        </p:nvSpPr>
        <p:spPr/>
        <p:txBody>
          <a:bodyPr/>
          <a:lstStyle/>
          <a:p>
            <a:r>
              <a:rPr lang="en-US" dirty="0"/>
              <a:t>Supply Fundamentals</a:t>
            </a:r>
          </a:p>
        </p:txBody>
      </p:sp>
      <p:sp>
        <p:nvSpPr>
          <p:cNvPr id="3" name="Content Placeholder 2">
            <a:extLst>
              <a:ext uri="{FF2B5EF4-FFF2-40B4-BE49-F238E27FC236}">
                <a16:creationId xmlns:a16="http://schemas.microsoft.com/office/drawing/2014/main" id="{215ACA81-E0C9-C3E5-3933-26090170268C}"/>
              </a:ext>
            </a:extLst>
          </p:cNvPr>
          <p:cNvSpPr>
            <a:spLocks noGrp="1"/>
          </p:cNvSpPr>
          <p:nvPr>
            <p:ph idx="1"/>
          </p:nvPr>
        </p:nvSpPr>
        <p:spPr/>
        <p:txBody>
          <a:bodyPr>
            <a:normAutofit fontScale="85000" lnSpcReduction="20000"/>
          </a:bodyPr>
          <a:lstStyle/>
          <a:p>
            <a:pPr marL="0" indent="0">
              <a:buNone/>
            </a:pPr>
            <a:r>
              <a:rPr lang="en-US" sz="2200" b="1" dirty="0"/>
              <a:t>SUPPLY</a:t>
            </a:r>
            <a:endParaRPr lang="en-US" sz="2200" dirty="0"/>
          </a:p>
          <a:p>
            <a:pPr marL="0" indent="0">
              <a:buNone/>
            </a:pPr>
            <a:r>
              <a:rPr lang="en-US" sz="2200" b="1" dirty="0"/>
              <a:t>Definition:</a:t>
            </a:r>
            <a:r>
              <a:rPr lang="en-US" sz="2200" dirty="0"/>
              <a:t> Producer willingness to produce/sell at each price</a:t>
            </a:r>
          </a:p>
          <a:p>
            <a:pPr marL="0" indent="0">
              <a:buNone/>
            </a:pPr>
            <a:endParaRPr lang="en-US" sz="2200" b="1" dirty="0"/>
          </a:p>
          <a:p>
            <a:pPr marL="0" indent="0">
              <a:buNone/>
            </a:pPr>
            <a:r>
              <a:rPr lang="en-US" sz="2200" b="1" dirty="0"/>
              <a:t>Law of Supply (Direct Relationship)</a:t>
            </a:r>
            <a:endParaRPr lang="en-US" sz="2200" dirty="0"/>
          </a:p>
          <a:p>
            <a:pPr lvl="1"/>
            <a:r>
              <a:rPr lang="en-US" sz="2200" dirty="0"/>
              <a:t>↑ Price → ↑ Quantity Supplied</a:t>
            </a:r>
          </a:p>
          <a:p>
            <a:pPr lvl="1"/>
            <a:r>
              <a:rPr lang="en-US" sz="2200" dirty="0"/>
              <a:t>↓ Price → ↓ Quantity Supplied</a:t>
            </a:r>
          </a:p>
          <a:p>
            <a:pPr marL="0" indent="0">
              <a:buNone/>
            </a:pPr>
            <a:endParaRPr lang="en-US" sz="2200" b="1" dirty="0"/>
          </a:p>
          <a:p>
            <a:pPr marL="0" indent="0">
              <a:buNone/>
            </a:pPr>
            <a:r>
              <a:rPr lang="en-US" sz="2200" b="1" dirty="0"/>
              <a:t>Key Distinction</a:t>
            </a:r>
            <a:endParaRPr lang="en-US" sz="2200" dirty="0"/>
          </a:p>
          <a:p>
            <a:pPr lvl="1"/>
            <a:r>
              <a:rPr lang="en-US" sz="2200" b="1" dirty="0"/>
              <a:t>Supply</a:t>
            </a:r>
            <a:r>
              <a:rPr lang="en-US" sz="2200" dirty="0"/>
              <a:t> = Entire curve (whole relationship)</a:t>
            </a:r>
          </a:p>
          <a:p>
            <a:pPr lvl="1"/>
            <a:r>
              <a:rPr lang="en-US" sz="2200" b="1" dirty="0"/>
              <a:t>Quantity Supplied</a:t>
            </a:r>
            <a:r>
              <a:rPr lang="en-US" sz="2200" dirty="0"/>
              <a:t> = One point on curve (specific price)</a:t>
            </a:r>
          </a:p>
          <a:p>
            <a:pPr marL="0" indent="0">
              <a:buNone/>
            </a:pPr>
            <a:endParaRPr lang="en-US" sz="2200" i="1" dirty="0"/>
          </a:p>
          <a:p>
            <a:pPr marL="0" indent="0">
              <a:buNone/>
            </a:pPr>
            <a:r>
              <a:rPr lang="en-US" sz="2200" i="1" dirty="0"/>
              <a:t>Supply curves slope upward from left to right</a:t>
            </a:r>
            <a:endParaRPr lang="en-US" sz="2200" dirty="0"/>
          </a:p>
          <a:p>
            <a:pPr marL="0" indent="0">
              <a:buNone/>
            </a:pPr>
            <a:br>
              <a:rPr lang="en-US" dirty="0"/>
            </a:br>
            <a:endParaRPr lang="en-US" dirty="0"/>
          </a:p>
        </p:txBody>
      </p:sp>
      <p:pic>
        <p:nvPicPr>
          <p:cNvPr id="4" name="Picture 3" descr=" The graph illustrates the supply curve for gasoline, with price per gallon on the y-axis and quantity as millions of gallons on the x-axis. It slopes up from 1.00 dollar per gallon and 500 million gallons to 2.20 dollars per gallon and 720 million gallons, representing the law of supply.">
            <a:extLst>
              <a:ext uri="{FF2B5EF4-FFF2-40B4-BE49-F238E27FC236}">
                <a16:creationId xmlns:a16="http://schemas.microsoft.com/office/drawing/2014/main" id="{21645CF1-4BC3-2F18-14D4-3C5430AFA285}"/>
              </a:ext>
            </a:extLst>
          </p:cNvPr>
          <p:cNvPicPr>
            <a:picLocks noChangeAspect="1"/>
          </p:cNvPicPr>
          <p:nvPr/>
        </p:nvPicPr>
        <p:blipFill>
          <a:blip r:embed="rId3"/>
          <a:stretch>
            <a:fillRect/>
          </a:stretch>
        </p:blipFill>
        <p:spPr>
          <a:xfrm>
            <a:off x="7060323" y="2296810"/>
            <a:ext cx="4913711" cy="2487063"/>
          </a:xfrm>
          <a:prstGeom prst="rect">
            <a:avLst/>
          </a:prstGeom>
          <a:ln>
            <a:solidFill>
              <a:schemeClr val="tx1"/>
            </a:solidFill>
          </a:ln>
        </p:spPr>
      </p:pic>
    </p:spTree>
    <p:extLst>
      <p:ext uri="{BB962C8B-B14F-4D97-AF65-F5344CB8AC3E}">
        <p14:creationId xmlns:p14="http://schemas.microsoft.com/office/powerpoint/2010/main" val="1934532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85855-3E87-C438-6718-24E18E2B378D}"/>
              </a:ext>
            </a:extLst>
          </p:cNvPr>
          <p:cNvSpPr>
            <a:spLocks noGrp="1"/>
          </p:cNvSpPr>
          <p:nvPr>
            <p:ph type="title"/>
          </p:nvPr>
        </p:nvSpPr>
        <p:spPr/>
        <p:txBody>
          <a:bodyPr/>
          <a:lstStyle/>
          <a:p>
            <a:r>
              <a:rPr lang="en-US" dirty="0"/>
              <a:t>Market Equilibrium</a:t>
            </a:r>
          </a:p>
        </p:txBody>
      </p:sp>
      <p:sp>
        <p:nvSpPr>
          <p:cNvPr id="3" name="Content Placeholder 2">
            <a:extLst>
              <a:ext uri="{FF2B5EF4-FFF2-40B4-BE49-F238E27FC236}">
                <a16:creationId xmlns:a16="http://schemas.microsoft.com/office/drawing/2014/main" id="{7626A030-C7D5-1DF3-F631-87688E1C74B3}"/>
              </a:ext>
            </a:extLst>
          </p:cNvPr>
          <p:cNvSpPr>
            <a:spLocks noGrp="1"/>
          </p:cNvSpPr>
          <p:nvPr>
            <p:ph idx="1"/>
          </p:nvPr>
        </p:nvSpPr>
        <p:spPr/>
        <p:txBody>
          <a:bodyPr/>
          <a:lstStyle/>
          <a:p>
            <a:pPr marL="0" indent="0">
              <a:buNone/>
            </a:pPr>
            <a:r>
              <a:rPr lang="en-US" sz="2000" b="1" dirty="0"/>
              <a:t>EQUILIBRIUM: WHERE DEMAND AND SUPPLY MEET</a:t>
            </a:r>
            <a:endParaRPr lang="en-US" sz="2000" dirty="0"/>
          </a:p>
          <a:p>
            <a:pPr marL="0" indent="0">
              <a:buNone/>
            </a:pPr>
            <a:r>
              <a:rPr lang="en-US" sz="2000" b="1" dirty="0"/>
              <a:t>Equilibrium</a:t>
            </a:r>
            <a:r>
              <a:rPr lang="en-US" sz="2000" dirty="0"/>
              <a:t> = Quantity Demanded = Quantity Supplied</a:t>
            </a:r>
          </a:p>
          <a:p>
            <a:pPr lvl="1"/>
            <a:r>
              <a:rPr lang="en-US" sz="1800" dirty="0"/>
              <a:t>Graphically: intersection of D and S curves</a:t>
            </a:r>
          </a:p>
          <a:p>
            <a:pPr lvl="1"/>
            <a:r>
              <a:rPr lang="en-US" sz="1800" dirty="0"/>
              <a:t>Only price where buyers' and sellers' plans agree</a:t>
            </a:r>
          </a:p>
          <a:p>
            <a:pPr lvl="1"/>
            <a:r>
              <a:rPr lang="en-US" sz="1800" dirty="0"/>
              <a:t>No pressure to change</a:t>
            </a:r>
          </a:p>
          <a:p>
            <a:pPr marL="0" indent="0">
              <a:buNone/>
            </a:pPr>
            <a:endParaRPr lang="en-US" sz="2000" b="1" dirty="0"/>
          </a:p>
          <a:p>
            <a:pPr marL="0" indent="0">
              <a:buNone/>
            </a:pPr>
            <a:r>
              <a:rPr lang="en-US" sz="2000" b="1" dirty="0"/>
              <a:t>Market Forces Correct Imbalances</a:t>
            </a:r>
            <a:endParaRPr lang="en-US" sz="2000" dirty="0"/>
          </a:p>
          <a:p>
            <a:pPr marL="0" indent="0">
              <a:buNone/>
            </a:pPr>
            <a:r>
              <a:rPr lang="en-US" sz="2000" b="1" dirty="0"/>
              <a:t>Surplus</a:t>
            </a:r>
            <a:r>
              <a:rPr lang="en-US" sz="2000" dirty="0"/>
              <a:t> (Price &gt; Equilibrium)</a:t>
            </a:r>
          </a:p>
          <a:p>
            <a:pPr lvl="1"/>
            <a:r>
              <a:rPr lang="en-US" sz="1800" dirty="0"/>
              <a:t>QS &gt; QD → Product accumulates → Sellers cut prices</a:t>
            </a:r>
          </a:p>
          <a:p>
            <a:pPr marL="0" indent="0">
              <a:buNone/>
            </a:pPr>
            <a:r>
              <a:rPr lang="en-US" sz="2000" b="1" dirty="0"/>
              <a:t>Shortage</a:t>
            </a:r>
            <a:r>
              <a:rPr lang="en-US" sz="2000" dirty="0"/>
              <a:t> (Price &lt; Equilibrium)</a:t>
            </a:r>
          </a:p>
          <a:p>
            <a:pPr lvl="1"/>
            <a:r>
              <a:rPr lang="en-US" sz="1800" dirty="0"/>
              <a:t>QD &gt; QS → Product scarce → Sellers raise prices</a:t>
            </a:r>
          </a:p>
          <a:p>
            <a:pPr marL="0" indent="0">
              <a:buNone/>
            </a:pPr>
            <a:endParaRPr lang="en-US" dirty="0"/>
          </a:p>
        </p:txBody>
      </p:sp>
      <p:pic>
        <p:nvPicPr>
          <p:cNvPr id="4" name="Picture 3" descr="The graph illustrates both the demand for gasoline and the supply of gasoline. The demand for gasoline is downward-sloping, representing the law of demand. The supply of gasoline is upward-sloping, representing the law of supply. They intersect at 1.40 dollar per gallon and 600 million gallons, illustrating equilibrium.">
            <a:extLst>
              <a:ext uri="{FF2B5EF4-FFF2-40B4-BE49-F238E27FC236}">
                <a16:creationId xmlns:a16="http://schemas.microsoft.com/office/drawing/2014/main" id="{546356E6-2FC1-0AEC-C17E-B86C7A1089C8}"/>
              </a:ext>
            </a:extLst>
          </p:cNvPr>
          <p:cNvPicPr>
            <a:picLocks noChangeAspect="1"/>
          </p:cNvPicPr>
          <p:nvPr/>
        </p:nvPicPr>
        <p:blipFill>
          <a:blip r:embed="rId3"/>
          <a:stretch>
            <a:fillRect/>
          </a:stretch>
        </p:blipFill>
        <p:spPr>
          <a:xfrm>
            <a:off x="6989447" y="2853524"/>
            <a:ext cx="4322502" cy="3039860"/>
          </a:xfrm>
          <a:prstGeom prst="rect">
            <a:avLst/>
          </a:prstGeom>
          <a:ln>
            <a:solidFill>
              <a:schemeClr val="tx1"/>
            </a:solidFill>
          </a:ln>
        </p:spPr>
      </p:pic>
    </p:spTree>
    <p:extLst>
      <p:ext uri="{BB962C8B-B14F-4D97-AF65-F5344CB8AC3E}">
        <p14:creationId xmlns:p14="http://schemas.microsoft.com/office/powerpoint/2010/main" val="2840426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377D4-5F13-A9F2-3AED-0ADD4F5D868A}"/>
              </a:ext>
            </a:extLst>
          </p:cNvPr>
          <p:cNvSpPr>
            <a:spLocks noGrp="1"/>
          </p:cNvSpPr>
          <p:nvPr>
            <p:ph type="title"/>
          </p:nvPr>
        </p:nvSpPr>
        <p:spPr/>
        <p:txBody>
          <a:bodyPr/>
          <a:lstStyle/>
          <a:p>
            <a:r>
              <a:rPr lang="en-US" dirty="0"/>
              <a:t>What Shifts Demand?</a:t>
            </a:r>
          </a:p>
        </p:txBody>
      </p:sp>
      <p:sp>
        <p:nvSpPr>
          <p:cNvPr id="3" name="Content Placeholder 2">
            <a:extLst>
              <a:ext uri="{FF2B5EF4-FFF2-40B4-BE49-F238E27FC236}">
                <a16:creationId xmlns:a16="http://schemas.microsoft.com/office/drawing/2014/main" id="{7F9BCD5D-F991-5796-953C-5A11594F1790}"/>
              </a:ext>
            </a:extLst>
          </p:cNvPr>
          <p:cNvSpPr>
            <a:spLocks noGrp="1"/>
          </p:cNvSpPr>
          <p:nvPr>
            <p:ph idx="1"/>
          </p:nvPr>
        </p:nvSpPr>
        <p:spPr/>
        <p:txBody>
          <a:bodyPr>
            <a:normAutofit fontScale="77500" lnSpcReduction="20000"/>
          </a:bodyPr>
          <a:lstStyle/>
          <a:p>
            <a:pPr marL="0" indent="0">
              <a:buNone/>
            </a:pPr>
            <a:r>
              <a:rPr lang="en-US" b="1" dirty="0"/>
              <a:t>DEMAND SHIFTERS</a:t>
            </a:r>
            <a:r>
              <a:rPr lang="en-US" dirty="0"/>
              <a:t> </a:t>
            </a:r>
            <a:r>
              <a:rPr lang="en-US" i="1" dirty="0"/>
              <a:t>(Non-price factors)</a:t>
            </a:r>
            <a:endParaRPr lang="en-US" dirty="0"/>
          </a:p>
          <a:p>
            <a:pPr marL="342900" indent="-342900">
              <a:buFont typeface="+mj-lt"/>
              <a:buAutoNum type="arabicPeriod"/>
            </a:pPr>
            <a:r>
              <a:rPr lang="en-US" b="1" dirty="0"/>
              <a:t>Income</a:t>
            </a:r>
            <a:endParaRPr lang="en-US" dirty="0"/>
          </a:p>
          <a:p>
            <a:pPr lvl="1"/>
            <a:r>
              <a:rPr lang="en-US" dirty="0"/>
              <a:t>Normal goods: ↑ Income → ↑ Demand</a:t>
            </a:r>
          </a:p>
          <a:p>
            <a:pPr lvl="1"/>
            <a:r>
              <a:rPr lang="en-US" dirty="0"/>
              <a:t>Inferior goods: ↑ Income → ↓ Demand</a:t>
            </a:r>
          </a:p>
          <a:p>
            <a:pPr marL="342900" indent="-342900">
              <a:buFont typeface="+mj-lt"/>
              <a:buAutoNum type="arabicPeriod"/>
            </a:pPr>
            <a:r>
              <a:rPr lang="en-US" b="1" dirty="0"/>
              <a:t>Tastes/Preferences</a:t>
            </a:r>
            <a:endParaRPr lang="en-US" dirty="0"/>
          </a:p>
          <a:p>
            <a:pPr lvl="1"/>
            <a:r>
              <a:rPr lang="en-US" dirty="0"/>
              <a:t>Example: US chicken consumption 47 → 97 </a:t>
            </a:r>
            <a:r>
              <a:rPr lang="en-US" dirty="0" err="1"/>
              <a:t>lbs</a:t>
            </a:r>
            <a:r>
              <a:rPr lang="en-US" dirty="0"/>
              <a:t>/person</a:t>
            </a:r>
          </a:p>
          <a:p>
            <a:pPr marL="342900" indent="-342900">
              <a:buFont typeface="+mj-lt"/>
              <a:buAutoNum type="arabicPeriod"/>
            </a:pPr>
            <a:r>
              <a:rPr lang="en-US" b="1" dirty="0"/>
              <a:t>Population Composition</a:t>
            </a:r>
            <a:endParaRPr lang="en-US" dirty="0"/>
          </a:p>
          <a:p>
            <a:pPr lvl="1"/>
            <a:r>
              <a:rPr lang="en-US" dirty="0"/>
              <a:t>Aging society → ↑ nursing home demand</a:t>
            </a:r>
          </a:p>
          <a:p>
            <a:pPr marL="342900" indent="-342900">
              <a:buFont typeface="+mj-lt"/>
              <a:buAutoNum type="arabicPeriod"/>
            </a:pPr>
            <a:r>
              <a:rPr lang="en-US" b="1" dirty="0"/>
              <a:t>Prices of Related Goods</a:t>
            </a:r>
            <a:endParaRPr lang="en-US" dirty="0"/>
          </a:p>
          <a:p>
            <a:pPr lvl="1"/>
            <a:r>
              <a:rPr lang="en-US" b="1" dirty="0"/>
              <a:t>Substitutes:</a:t>
            </a:r>
            <a:r>
              <a:rPr lang="en-US" dirty="0"/>
              <a:t> Tablets ↓ → Laptop demand ↓</a:t>
            </a:r>
          </a:p>
          <a:p>
            <a:pPr lvl="1"/>
            <a:r>
              <a:rPr lang="en-US" b="1" dirty="0"/>
              <a:t>Complements:</a:t>
            </a:r>
            <a:r>
              <a:rPr lang="en-US" dirty="0"/>
              <a:t> Golf clubs ↑ → Golf balls ↓</a:t>
            </a:r>
          </a:p>
          <a:p>
            <a:pPr marL="342900" indent="-342900">
              <a:buFont typeface="+mj-lt"/>
              <a:buAutoNum type="arabicPeriod"/>
            </a:pPr>
            <a:r>
              <a:rPr lang="en-US" b="1" dirty="0"/>
              <a:t>Expectations of Future Prices</a:t>
            </a:r>
            <a:endParaRPr lang="en-US" dirty="0"/>
          </a:p>
          <a:p>
            <a:pPr lvl="1"/>
            <a:r>
              <a:rPr lang="en-US" dirty="0"/>
              <a:t>Expect coffee ↑ → Buy now</a:t>
            </a:r>
          </a:p>
          <a:p>
            <a:pPr marL="0" indent="0">
              <a:buNone/>
            </a:pPr>
            <a:endParaRPr lang="en-US" b="1" dirty="0"/>
          </a:p>
          <a:p>
            <a:pPr marL="0" indent="0">
              <a:buNone/>
            </a:pPr>
            <a:r>
              <a:rPr lang="en-US" b="1" dirty="0"/>
              <a:t>Remember:</a:t>
            </a:r>
            <a:r>
              <a:rPr lang="en-US" dirty="0"/>
              <a:t> </a:t>
            </a:r>
          </a:p>
          <a:p>
            <a:pPr lvl="1"/>
            <a:r>
              <a:rPr lang="en-US" dirty="0"/>
              <a:t>Price changes = movement ALONG curve</a:t>
            </a:r>
            <a:br>
              <a:rPr lang="en-US" dirty="0"/>
            </a:br>
            <a:r>
              <a:rPr lang="en-US" b="1" dirty="0"/>
              <a:t>Shifters</a:t>
            </a:r>
            <a:r>
              <a:rPr lang="en-US" dirty="0"/>
              <a:t> = movement OF entire curve</a:t>
            </a:r>
          </a:p>
          <a:p>
            <a:endParaRPr lang="en-US" dirty="0"/>
          </a:p>
        </p:txBody>
      </p:sp>
      <p:pic>
        <p:nvPicPr>
          <p:cNvPr id="4" name="Picture 3" descr="Two graphs are illustrated. The one on the left (a) shows a demand curve shifting to the right, showing an increase in demand. Next to the curve is the list of factors that cause an increase in demand: taste shift to greater popularity, population likely to bus rises, income rises (for a normal good), price of a substitute rises, price of complements falls, and future expectations encourage buying. The graph on the right (b) shows a demand curve shifting to the left, showing a decrease in demand. Next to the curve is the list of factors that cause a decrease in demand: taste shift to lesser popularity, population likely to buy drops, income drops (for a normal good), price of a substitute falls, price of a complement rises, and future expectations discourage buying.">
            <a:extLst>
              <a:ext uri="{FF2B5EF4-FFF2-40B4-BE49-F238E27FC236}">
                <a16:creationId xmlns:a16="http://schemas.microsoft.com/office/drawing/2014/main" id="{1B97777E-8A7F-54C6-CEE5-9A99D862BFB9}"/>
              </a:ext>
            </a:extLst>
          </p:cNvPr>
          <p:cNvPicPr>
            <a:picLocks noChangeAspect="1"/>
          </p:cNvPicPr>
          <p:nvPr/>
        </p:nvPicPr>
        <p:blipFill>
          <a:blip r:embed="rId3"/>
          <a:stretch>
            <a:fillRect/>
          </a:stretch>
        </p:blipFill>
        <p:spPr>
          <a:xfrm>
            <a:off x="4177187" y="4200211"/>
            <a:ext cx="7178386" cy="2247387"/>
          </a:xfrm>
          <a:prstGeom prst="rect">
            <a:avLst/>
          </a:prstGeom>
          <a:ln>
            <a:solidFill>
              <a:schemeClr val="tx1"/>
            </a:solidFill>
          </a:ln>
        </p:spPr>
      </p:pic>
    </p:spTree>
    <p:extLst>
      <p:ext uri="{BB962C8B-B14F-4D97-AF65-F5344CB8AC3E}">
        <p14:creationId xmlns:p14="http://schemas.microsoft.com/office/powerpoint/2010/main" val="2239841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5F47E-C49A-63A6-3A1A-49C9247B7E14}"/>
              </a:ext>
            </a:extLst>
          </p:cNvPr>
          <p:cNvSpPr>
            <a:spLocks noGrp="1"/>
          </p:cNvSpPr>
          <p:nvPr>
            <p:ph type="title"/>
          </p:nvPr>
        </p:nvSpPr>
        <p:spPr/>
        <p:txBody>
          <a:bodyPr/>
          <a:lstStyle/>
          <a:p>
            <a:r>
              <a:rPr lang="en-US" dirty="0"/>
              <a:t>What Shifts Supply?</a:t>
            </a:r>
          </a:p>
        </p:txBody>
      </p:sp>
      <p:sp>
        <p:nvSpPr>
          <p:cNvPr id="3" name="Content Placeholder 2">
            <a:extLst>
              <a:ext uri="{FF2B5EF4-FFF2-40B4-BE49-F238E27FC236}">
                <a16:creationId xmlns:a16="http://schemas.microsoft.com/office/drawing/2014/main" id="{BD710408-823C-6B7F-6C9A-D4BCBFCEB9F7}"/>
              </a:ext>
            </a:extLst>
          </p:cNvPr>
          <p:cNvSpPr>
            <a:spLocks noGrp="1"/>
          </p:cNvSpPr>
          <p:nvPr>
            <p:ph idx="1"/>
          </p:nvPr>
        </p:nvSpPr>
        <p:spPr/>
        <p:txBody>
          <a:bodyPr>
            <a:normAutofit fontScale="92500" lnSpcReduction="10000"/>
          </a:bodyPr>
          <a:lstStyle/>
          <a:p>
            <a:pPr marL="0" indent="0">
              <a:buNone/>
            </a:pPr>
            <a:r>
              <a:rPr lang="en-US" b="1" dirty="0"/>
              <a:t>SUPPLY SHIFTERS</a:t>
            </a:r>
            <a:r>
              <a:rPr lang="en-US" dirty="0"/>
              <a:t> </a:t>
            </a:r>
            <a:r>
              <a:rPr lang="en-US" i="1" dirty="0"/>
              <a:t>(Non-price factors)</a:t>
            </a:r>
            <a:endParaRPr lang="en-US" dirty="0"/>
          </a:p>
          <a:p>
            <a:pPr marL="342900" indent="-342900">
              <a:buFont typeface="+mj-lt"/>
              <a:buAutoNum type="arabicPeriod"/>
            </a:pPr>
            <a:r>
              <a:rPr lang="en-US" b="1" dirty="0"/>
              <a:t>Production Costs (Input Prices)</a:t>
            </a:r>
            <a:endParaRPr lang="en-US" dirty="0"/>
          </a:p>
          <a:p>
            <a:pPr lvl="1"/>
            <a:r>
              <a:rPr lang="en-US" dirty="0"/>
              <a:t>Steel ↑ → Car supply ↓</a:t>
            </a:r>
          </a:p>
          <a:p>
            <a:pPr lvl="1"/>
            <a:r>
              <a:rPr lang="en-US" dirty="0"/>
              <a:t>Energy, labor, materials</a:t>
            </a:r>
          </a:p>
          <a:p>
            <a:pPr marL="342900" indent="-342900">
              <a:buFont typeface="+mj-lt"/>
              <a:buAutoNum type="arabicPeriod"/>
            </a:pPr>
            <a:r>
              <a:rPr lang="en-US" b="1" dirty="0"/>
              <a:t>Natural Conditions</a:t>
            </a:r>
            <a:endParaRPr lang="en-US" dirty="0"/>
          </a:p>
          <a:p>
            <a:pPr lvl="1"/>
            <a:r>
              <a:rPr lang="en-US" dirty="0"/>
              <a:t>Drought → Agricultural supply ↓</a:t>
            </a:r>
          </a:p>
          <a:p>
            <a:pPr lvl="1"/>
            <a:r>
              <a:rPr lang="en-US" dirty="0"/>
              <a:t>Excellent weather → Supply ↑</a:t>
            </a:r>
          </a:p>
          <a:p>
            <a:pPr marL="342900" indent="-342900">
              <a:buFont typeface="+mj-lt"/>
              <a:buAutoNum type="arabicPeriod"/>
            </a:pPr>
            <a:r>
              <a:rPr lang="en-US" b="1" dirty="0"/>
              <a:t>Technology</a:t>
            </a:r>
            <a:endParaRPr lang="en-US" dirty="0"/>
          </a:p>
          <a:p>
            <a:pPr lvl="1"/>
            <a:r>
              <a:rPr lang="en-US" dirty="0"/>
              <a:t>Green Revolution seeds → Doubled yields</a:t>
            </a:r>
          </a:p>
          <a:p>
            <a:pPr lvl="1"/>
            <a:r>
              <a:rPr lang="en-US" dirty="0"/>
              <a:t>Innovation ↑ → Supply ↑</a:t>
            </a:r>
          </a:p>
          <a:p>
            <a:pPr marL="342900" indent="-342900">
              <a:buFont typeface="+mj-lt"/>
              <a:buAutoNum type="arabicPeriod"/>
            </a:pPr>
            <a:r>
              <a:rPr lang="en-US" b="1" dirty="0"/>
              <a:t>Government Policies</a:t>
            </a:r>
            <a:endParaRPr lang="en-US" dirty="0"/>
          </a:p>
          <a:p>
            <a:pPr lvl="1"/>
            <a:r>
              <a:rPr lang="en-US" dirty="0"/>
              <a:t>Taxes/regulations → Supply ↓</a:t>
            </a:r>
          </a:p>
          <a:p>
            <a:pPr lvl="1"/>
            <a:r>
              <a:rPr lang="en-US" dirty="0"/>
              <a:t>Subsidies → Supply ↑</a:t>
            </a:r>
          </a:p>
          <a:p>
            <a:pPr marL="0" indent="0">
              <a:buNone/>
            </a:pPr>
            <a:r>
              <a:rPr lang="en-US" b="1" dirty="0"/>
              <a:t>Remember:</a:t>
            </a:r>
            <a:r>
              <a:rPr lang="en-US" dirty="0"/>
              <a:t> Only NON-PRICE factors shift supply curve</a:t>
            </a:r>
          </a:p>
          <a:p>
            <a:endParaRPr lang="en-US" dirty="0"/>
          </a:p>
        </p:txBody>
      </p:sp>
      <p:pic>
        <p:nvPicPr>
          <p:cNvPr id="4" name="Picture 3" descr="Two graphs are illustrated. The one on the left (a) shows a supply curve shifting to the right, showing an increase in supply. Next to the curve is the list of factors that cause an increase in supply: favorable natural conditions for production, a fall in input prices, improved technology, and lower product taxes/less costly regulations. The graph on the right (b) shows a supply curve shifting to the left, showing a decrease in supply. Next to the curve is the list of factors that cause a decrease in supply: poor natural conditions for production, a rise in input prices, a decline in technology (not common), and higher product taxes/more costly regulations.">
            <a:extLst>
              <a:ext uri="{FF2B5EF4-FFF2-40B4-BE49-F238E27FC236}">
                <a16:creationId xmlns:a16="http://schemas.microsoft.com/office/drawing/2014/main" id="{C9A05BDE-F47F-E508-DC0E-EE1319F49849}"/>
              </a:ext>
            </a:extLst>
          </p:cNvPr>
          <p:cNvPicPr>
            <a:picLocks noChangeAspect="1"/>
          </p:cNvPicPr>
          <p:nvPr/>
        </p:nvPicPr>
        <p:blipFill>
          <a:blip r:embed="rId3"/>
          <a:stretch>
            <a:fillRect/>
          </a:stretch>
        </p:blipFill>
        <p:spPr>
          <a:xfrm>
            <a:off x="4893547" y="4085558"/>
            <a:ext cx="6456717" cy="1991649"/>
          </a:xfrm>
          <a:prstGeom prst="rect">
            <a:avLst/>
          </a:prstGeom>
          <a:ln>
            <a:solidFill>
              <a:schemeClr val="tx1"/>
            </a:solidFill>
          </a:ln>
        </p:spPr>
      </p:pic>
    </p:spTree>
    <p:extLst>
      <p:ext uri="{BB962C8B-B14F-4D97-AF65-F5344CB8AC3E}">
        <p14:creationId xmlns:p14="http://schemas.microsoft.com/office/powerpoint/2010/main" val="2080972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82A10-63BF-A961-82DF-28FA410EDC73}"/>
              </a:ext>
            </a:extLst>
          </p:cNvPr>
          <p:cNvSpPr>
            <a:spLocks noGrp="1"/>
          </p:cNvSpPr>
          <p:nvPr>
            <p:ph type="title"/>
          </p:nvPr>
        </p:nvSpPr>
        <p:spPr/>
        <p:txBody>
          <a:bodyPr/>
          <a:lstStyle/>
          <a:p>
            <a:r>
              <a:rPr lang="en-US" dirty="0"/>
              <a:t>The four step process</a:t>
            </a:r>
          </a:p>
        </p:txBody>
      </p:sp>
      <p:sp>
        <p:nvSpPr>
          <p:cNvPr id="3" name="Content Placeholder 2">
            <a:extLst>
              <a:ext uri="{FF2B5EF4-FFF2-40B4-BE49-F238E27FC236}">
                <a16:creationId xmlns:a16="http://schemas.microsoft.com/office/drawing/2014/main" id="{45465D81-0548-97A7-73E1-9ABD2E3899C8}"/>
              </a:ext>
            </a:extLst>
          </p:cNvPr>
          <p:cNvSpPr>
            <a:spLocks noGrp="1"/>
          </p:cNvSpPr>
          <p:nvPr>
            <p:ph idx="1"/>
          </p:nvPr>
        </p:nvSpPr>
        <p:spPr/>
        <p:txBody>
          <a:bodyPr>
            <a:normAutofit fontScale="92500" lnSpcReduction="10000"/>
          </a:bodyPr>
          <a:lstStyle/>
          <a:p>
            <a:pPr marL="0" indent="0">
              <a:buNone/>
            </a:pPr>
            <a:r>
              <a:rPr lang="en-US" b="1" dirty="0"/>
              <a:t>ANALYZING MARKET CHANGES</a:t>
            </a:r>
            <a:endParaRPr lang="en-US" dirty="0"/>
          </a:p>
          <a:p>
            <a:pPr marL="0" indent="0">
              <a:buNone/>
            </a:pPr>
            <a:r>
              <a:rPr lang="en-US" b="1" dirty="0"/>
              <a:t>Step 1:</a:t>
            </a:r>
            <a:r>
              <a:rPr lang="en-US" dirty="0"/>
              <a:t> Draw initial model (before change)</a:t>
            </a:r>
          </a:p>
          <a:p>
            <a:r>
              <a:rPr lang="en-US" dirty="0"/>
              <a:t>Identify equilibrium price and quantity</a:t>
            </a:r>
          </a:p>
          <a:p>
            <a:pPr marL="0" indent="0">
              <a:buNone/>
            </a:pPr>
            <a:r>
              <a:rPr lang="en-US" b="1" dirty="0"/>
              <a:t>Step 2:</a:t>
            </a:r>
            <a:r>
              <a:rPr lang="en-US" dirty="0"/>
              <a:t> Determine: Demand or Supply affected?</a:t>
            </a:r>
          </a:p>
          <a:p>
            <a:r>
              <a:rPr lang="en-US" dirty="0"/>
              <a:t>Consumer factors → Demand</a:t>
            </a:r>
          </a:p>
          <a:p>
            <a:r>
              <a:rPr lang="en-US" dirty="0"/>
              <a:t>Producer factors → Supply</a:t>
            </a:r>
          </a:p>
          <a:p>
            <a:pPr marL="0" indent="0">
              <a:buNone/>
            </a:pPr>
            <a:r>
              <a:rPr lang="en-US" b="1" dirty="0"/>
              <a:t>Step 3:</a:t>
            </a:r>
            <a:r>
              <a:rPr lang="en-US" dirty="0"/>
              <a:t> Determine direction: Right or Left?</a:t>
            </a:r>
          </a:p>
          <a:p>
            <a:r>
              <a:rPr lang="en-US" dirty="0"/>
              <a:t>Increase → Right shift</a:t>
            </a:r>
          </a:p>
          <a:p>
            <a:r>
              <a:rPr lang="en-US" dirty="0"/>
              <a:t>Decrease → Left shift</a:t>
            </a:r>
          </a:p>
          <a:p>
            <a:pPr marL="0" indent="0">
              <a:buNone/>
            </a:pPr>
            <a:r>
              <a:rPr lang="en-US" b="1" dirty="0"/>
              <a:t>Step 4:</a:t>
            </a:r>
            <a:r>
              <a:rPr lang="en-US" dirty="0"/>
              <a:t> Compare new vs. old equilibrium</a:t>
            </a:r>
          </a:p>
          <a:p>
            <a:r>
              <a:rPr lang="en-US" dirty="0"/>
              <a:t>Identify new price and quantity</a:t>
            </a:r>
          </a:p>
          <a:p>
            <a:r>
              <a:rPr lang="en-US" dirty="0"/>
              <a:t>Explain the change</a:t>
            </a:r>
          </a:p>
          <a:p>
            <a:pPr marL="0" indent="0">
              <a:buNone/>
            </a:pPr>
            <a:r>
              <a:rPr lang="en-US" i="1" dirty="0"/>
              <a:t>Apply ceteris paribus: analyze one change at a time</a:t>
            </a:r>
            <a:endParaRPr lang="en-US" dirty="0"/>
          </a:p>
          <a:p>
            <a:endParaRPr lang="en-US" dirty="0"/>
          </a:p>
        </p:txBody>
      </p:sp>
    </p:spTree>
    <p:extLst>
      <p:ext uri="{BB962C8B-B14F-4D97-AF65-F5344CB8AC3E}">
        <p14:creationId xmlns:p14="http://schemas.microsoft.com/office/powerpoint/2010/main" val="2317121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7BF03-9BB9-FDD0-8F03-A8A2AE88B265}"/>
              </a:ext>
            </a:extLst>
          </p:cNvPr>
          <p:cNvSpPr>
            <a:spLocks noGrp="1"/>
          </p:cNvSpPr>
          <p:nvPr>
            <p:ph type="title"/>
          </p:nvPr>
        </p:nvSpPr>
        <p:spPr/>
        <p:txBody>
          <a:bodyPr/>
          <a:lstStyle/>
          <a:p>
            <a:r>
              <a:rPr lang="en-US" dirty="0"/>
              <a:t>Effects of demand and supply changes</a:t>
            </a:r>
          </a:p>
        </p:txBody>
      </p:sp>
      <p:sp>
        <p:nvSpPr>
          <p:cNvPr id="3" name="Content Placeholder 2">
            <a:extLst>
              <a:ext uri="{FF2B5EF4-FFF2-40B4-BE49-F238E27FC236}">
                <a16:creationId xmlns:a16="http://schemas.microsoft.com/office/drawing/2014/main" id="{5A00D03A-15C2-7C77-DAD1-D02B8178CB09}"/>
              </a:ext>
            </a:extLst>
          </p:cNvPr>
          <p:cNvSpPr>
            <a:spLocks noGrp="1"/>
          </p:cNvSpPr>
          <p:nvPr>
            <p:ph idx="1"/>
          </p:nvPr>
        </p:nvSpPr>
        <p:spPr/>
        <p:txBody>
          <a:bodyPr/>
          <a:lstStyle/>
          <a:p>
            <a:pPr marL="0" indent="0">
              <a:buNone/>
            </a:pPr>
            <a:r>
              <a:rPr lang="en-US" b="1" dirty="0"/>
              <a:t>PREDICTED OUTCOMES</a:t>
            </a:r>
            <a:endParaRPr lang="en-US" dirty="0"/>
          </a:p>
          <a:p>
            <a:pPr marL="0" indent="0">
              <a:buNone/>
            </a:pPr>
            <a:r>
              <a:rPr lang="en-US" b="1" dirty="0"/>
              <a:t>Demand Increases (→)</a:t>
            </a:r>
            <a:endParaRPr lang="en-US" dirty="0"/>
          </a:p>
          <a:p>
            <a:r>
              <a:rPr lang="en-US" dirty="0"/>
              <a:t>Equilibrium P ↑ and Q ↑</a:t>
            </a:r>
          </a:p>
          <a:p>
            <a:pPr marL="0" indent="0">
              <a:buNone/>
            </a:pPr>
            <a:r>
              <a:rPr lang="en-US" b="1" dirty="0"/>
              <a:t>Demand Decreases (←)</a:t>
            </a:r>
            <a:endParaRPr lang="en-US" dirty="0"/>
          </a:p>
          <a:p>
            <a:r>
              <a:rPr lang="en-US" dirty="0"/>
              <a:t>Equilibrium P ↓ and Q ↓</a:t>
            </a:r>
          </a:p>
          <a:p>
            <a:pPr marL="0" indent="0">
              <a:buNone/>
            </a:pPr>
            <a:r>
              <a:rPr lang="en-US" b="1" dirty="0"/>
              <a:t>Supply Increases (→)</a:t>
            </a:r>
            <a:endParaRPr lang="en-US" dirty="0"/>
          </a:p>
          <a:p>
            <a:r>
              <a:rPr lang="en-US" dirty="0"/>
              <a:t>Equilibrium P ↓ and Q ↑</a:t>
            </a:r>
          </a:p>
          <a:p>
            <a:pPr marL="0" indent="0">
              <a:buNone/>
            </a:pPr>
            <a:r>
              <a:rPr lang="en-US" b="1" dirty="0"/>
              <a:t>Supply Decreases (←)</a:t>
            </a:r>
            <a:endParaRPr lang="en-US" dirty="0"/>
          </a:p>
          <a:p>
            <a:r>
              <a:rPr lang="en-US" dirty="0"/>
              <a:t>Equilibrium P ↑ and Q ↓</a:t>
            </a:r>
          </a:p>
          <a:p>
            <a:pPr marL="0" indent="0">
              <a:buNone/>
            </a:pPr>
            <a:r>
              <a:rPr lang="en-US" b="1" dirty="0"/>
              <a:t>Pattern:</a:t>
            </a:r>
            <a:endParaRPr lang="en-US" dirty="0"/>
          </a:p>
          <a:p>
            <a:r>
              <a:rPr lang="en-US" dirty="0"/>
              <a:t>Demand shift: P and Q move together</a:t>
            </a:r>
          </a:p>
          <a:p>
            <a:r>
              <a:rPr lang="en-US" dirty="0"/>
              <a:t>Supply shift: P and Q move oppositely</a:t>
            </a:r>
          </a:p>
          <a:p>
            <a:endParaRPr lang="en-US" dirty="0"/>
          </a:p>
        </p:txBody>
      </p:sp>
    </p:spTree>
    <p:extLst>
      <p:ext uri="{BB962C8B-B14F-4D97-AF65-F5344CB8AC3E}">
        <p14:creationId xmlns:p14="http://schemas.microsoft.com/office/powerpoint/2010/main" val="844826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18BEF-186B-7DA5-856B-80E1472D39FA}"/>
              </a:ext>
            </a:extLst>
          </p:cNvPr>
          <p:cNvSpPr>
            <a:spLocks noGrp="1"/>
          </p:cNvSpPr>
          <p:nvPr>
            <p:ph type="title"/>
          </p:nvPr>
        </p:nvSpPr>
        <p:spPr/>
        <p:txBody>
          <a:bodyPr/>
          <a:lstStyle/>
          <a:p>
            <a:r>
              <a:rPr lang="en-US" dirty="0"/>
              <a:t>Price Ceilings</a:t>
            </a:r>
          </a:p>
        </p:txBody>
      </p:sp>
      <p:sp>
        <p:nvSpPr>
          <p:cNvPr id="3" name="Content Placeholder 2">
            <a:extLst>
              <a:ext uri="{FF2B5EF4-FFF2-40B4-BE49-F238E27FC236}">
                <a16:creationId xmlns:a16="http://schemas.microsoft.com/office/drawing/2014/main" id="{BABE062A-8CB8-3DBC-22A4-BDBB211E46D5}"/>
              </a:ext>
            </a:extLst>
          </p:cNvPr>
          <p:cNvSpPr>
            <a:spLocks noGrp="1"/>
          </p:cNvSpPr>
          <p:nvPr>
            <p:ph idx="1"/>
          </p:nvPr>
        </p:nvSpPr>
        <p:spPr/>
        <p:txBody>
          <a:bodyPr/>
          <a:lstStyle/>
          <a:p>
            <a:pPr marL="0" indent="0">
              <a:buNone/>
            </a:pPr>
            <a:r>
              <a:rPr lang="en-US" b="1" dirty="0"/>
              <a:t>PRICE CEILING: LEGAL MAXIMUM PRICE</a:t>
            </a:r>
            <a:endParaRPr lang="en-US" dirty="0"/>
          </a:p>
          <a:p>
            <a:pPr marL="0" indent="0">
              <a:buNone/>
            </a:pPr>
            <a:r>
              <a:rPr lang="en-US" b="1" dirty="0"/>
              <a:t>Purpose:</a:t>
            </a:r>
            <a:r>
              <a:rPr lang="en-US" dirty="0"/>
              <a:t> Keep "necessities" affordable</a:t>
            </a:r>
          </a:p>
          <a:p>
            <a:pPr marL="0" indent="0">
              <a:buNone/>
            </a:pPr>
            <a:r>
              <a:rPr lang="en-US" b="1" dirty="0"/>
              <a:t>Classic Example: Rent Control</a:t>
            </a:r>
            <a:endParaRPr lang="en-US" dirty="0"/>
          </a:p>
          <a:p>
            <a:pPr lvl="1"/>
            <a:r>
              <a:rPr lang="en-US" dirty="0"/>
              <a:t>Set below market equilibrium</a:t>
            </a:r>
          </a:p>
          <a:p>
            <a:pPr lvl="1"/>
            <a:r>
              <a:rPr lang="en-US" dirty="0"/>
              <a:t>Creates shortage (QD &gt; QS)</a:t>
            </a:r>
          </a:p>
          <a:p>
            <a:pPr marL="0" indent="0">
              <a:buNone/>
            </a:pPr>
            <a:r>
              <a:rPr lang="en-US" b="1" dirty="0"/>
              <a:t>Unintended Consequences:</a:t>
            </a:r>
            <a:endParaRPr lang="en-US" dirty="0"/>
          </a:p>
          <a:p>
            <a:pPr lvl="1"/>
            <a:r>
              <a:rPr lang="en-US" dirty="0"/>
              <a:t>FEWER apartments rented than at market price</a:t>
            </a:r>
          </a:p>
          <a:p>
            <a:pPr lvl="1"/>
            <a:r>
              <a:rPr lang="en-US" dirty="0"/>
              <a:t>Landlords convert to condos/co-ops</a:t>
            </a:r>
          </a:p>
          <a:p>
            <a:pPr lvl="1"/>
            <a:r>
              <a:rPr lang="en-US" dirty="0"/>
              <a:t>Reduced maintenance, quality deteriorates</a:t>
            </a:r>
          </a:p>
          <a:p>
            <a:pPr lvl="1"/>
            <a:r>
              <a:rPr lang="en-US" dirty="0"/>
              <a:t>Waiting lists, discrimination in allocation</a:t>
            </a:r>
          </a:p>
          <a:p>
            <a:pPr marL="0" indent="0">
              <a:buNone/>
            </a:pPr>
            <a:endParaRPr lang="en-US" i="1" dirty="0"/>
          </a:p>
          <a:p>
            <a:pPr marL="0" indent="0">
              <a:buNone/>
            </a:pPr>
            <a:r>
              <a:rPr lang="en-US" i="1" dirty="0"/>
              <a:t>"There's no free lunch—everything has opportunity costs"</a:t>
            </a:r>
            <a:endParaRPr lang="en-US" dirty="0"/>
          </a:p>
        </p:txBody>
      </p:sp>
      <p:pic>
        <p:nvPicPr>
          <p:cNvPr id="4" name="Picture 8" descr="Shortages in Economics">
            <a:extLst>
              <a:ext uri="{FF2B5EF4-FFF2-40B4-BE49-F238E27FC236}">
                <a16:creationId xmlns:a16="http://schemas.microsoft.com/office/drawing/2014/main" id="{5A1AECF5-FA02-C443-260C-3E2073AD44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504" y="2443162"/>
            <a:ext cx="4743169" cy="404047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40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05EBD-C757-8E22-B48E-28C131174148}"/>
              </a:ext>
            </a:extLst>
          </p:cNvPr>
          <p:cNvSpPr>
            <a:spLocks noGrp="1"/>
          </p:cNvSpPr>
          <p:nvPr>
            <p:ph type="title"/>
          </p:nvPr>
        </p:nvSpPr>
        <p:spPr/>
        <p:txBody>
          <a:bodyPr/>
          <a:lstStyle/>
          <a:p>
            <a:r>
              <a:rPr lang="en-US" dirty="0"/>
              <a:t>Price floors</a:t>
            </a:r>
          </a:p>
        </p:txBody>
      </p:sp>
      <p:sp>
        <p:nvSpPr>
          <p:cNvPr id="3" name="Content Placeholder 2">
            <a:extLst>
              <a:ext uri="{FF2B5EF4-FFF2-40B4-BE49-F238E27FC236}">
                <a16:creationId xmlns:a16="http://schemas.microsoft.com/office/drawing/2014/main" id="{241AC3BC-F0CB-5E48-085D-D181ABD11482}"/>
              </a:ext>
            </a:extLst>
          </p:cNvPr>
          <p:cNvSpPr>
            <a:spLocks noGrp="1"/>
          </p:cNvSpPr>
          <p:nvPr>
            <p:ph idx="1"/>
          </p:nvPr>
        </p:nvSpPr>
        <p:spPr/>
        <p:txBody>
          <a:bodyPr>
            <a:normAutofit lnSpcReduction="10000"/>
          </a:bodyPr>
          <a:lstStyle/>
          <a:p>
            <a:pPr marL="0" indent="0">
              <a:buNone/>
            </a:pPr>
            <a:r>
              <a:rPr lang="en-US" b="1" dirty="0"/>
              <a:t>PRICE FLOOR: LEGAL MINIMUM PRICE</a:t>
            </a:r>
            <a:endParaRPr lang="en-US" dirty="0"/>
          </a:p>
          <a:p>
            <a:pPr marL="0" indent="0">
              <a:buNone/>
            </a:pPr>
            <a:r>
              <a:rPr lang="en-US" b="1" dirty="0"/>
              <a:t>Purpose:</a:t>
            </a:r>
            <a:r>
              <a:rPr lang="en-US" dirty="0"/>
              <a:t> Support producer income</a:t>
            </a:r>
          </a:p>
          <a:p>
            <a:pPr marL="0" indent="0">
              <a:buNone/>
            </a:pPr>
            <a:r>
              <a:rPr lang="en-US" b="1" dirty="0"/>
              <a:t>Classic Example: Agricultural Price Supports</a:t>
            </a:r>
            <a:endParaRPr lang="en-US" dirty="0"/>
          </a:p>
          <a:p>
            <a:pPr lvl="1"/>
            <a:r>
              <a:rPr lang="en-US" dirty="0"/>
              <a:t>Set above market equilibrium</a:t>
            </a:r>
          </a:p>
          <a:p>
            <a:pPr lvl="1"/>
            <a:r>
              <a:rPr lang="en-US" dirty="0"/>
              <a:t>Creates surplus (QS &gt; QD)</a:t>
            </a:r>
          </a:p>
          <a:p>
            <a:pPr marL="0" indent="0">
              <a:buNone/>
            </a:pPr>
            <a:r>
              <a:rPr lang="en-US" b="1" dirty="0"/>
              <a:t>Government Response:</a:t>
            </a:r>
            <a:endParaRPr lang="en-US" dirty="0"/>
          </a:p>
          <a:p>
            <a:pPr lvl="1"/>
            <a:r>
              <a:rPr lang="en-US" dirty="0"/>
              <a:t>Purchases excess supply</a:t>
            </a:r>
          </a:p>
          <a:p>
            <a:pPr lvl="1"/>
            <a:r>
              <a:rPr lang="en-US" dirty="0"/>
              <a:t>High-income countries: ~$1 billion/day supporting farmers</a:t>
            </a:r>
          </a:p>
          <a:p>
            <a:pPr marL="0" indent="0">
              <a:buNone/>
            </a:pPr>
            <a:r>
              <a:rPr lang="en-US" b="1" dirty="0"/>
              <a:t>Consequences:</a:t>
            </a:r>
            <a:endParaRPr lang="en-US" dirty="0"/>
          </a:p>
          <a:p>
            <a:pPr lvl="1"/>
            <a:r>
              <a:rPr lang="en-US" dirty="0"/>
              <a:t>Farmers benefit from higher prices</a:t>
            </a:r>
          </a:p>
          <a:p>
            <a:pPr lvl="1"/>
            <a:r>
              <a:rPr lang="en-US" dirty="0"/>
              <a:t>Taxpayers fund government purchases</a:t>
            </a:r>
          </a:p>
          <a:p>
            <a:pPr lvl="1"/>
            <a:r>
              <a:rPr lang="en-US" dirty="0"/>
              <a:t>Consumers pay higher food prices</a:t>
            </a:r>
          </a:p>
          <a:p>
            <a:pPr lvl="1"/>
            <a:r>
              <a:rPr lang="en-US" dirty="0"/>
              <a:t>Resources inefficiently allocated</a:t>
            </a:r>
          </a:p>
          <a:p>
            <a:endParaRPr lang="en-US" dirty="0"/>
          </a:p>
        </p:txBody>
      </p:sp>
      <p:pic>
        <p:nvPicPr>
          <p:cNvPr id="4" name="Picture 2" descr="CHAPTER 3 Supply and Demand">
            <a:extLst>
              <a:ext uri="{FF2B5EF4-FFF2-40B4-BE49-F238E27FC236}">
                <a16:creationId xmlns:a16="http://schemas.microsoft.com/office/drawing/2014/main" id="{71F47AE8-1D4E-3608-D529-F0890162D4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9711" y="2522135"/>
            <a:ext cx="4991494" cy="3961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887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5D10-2214-D934-D772-6F7E59A4E386}"/>
              </a:ext>
            </a:extLst>
          </p:cNvPr>
          <p:cNvSpPr>
            <a:spLocks noGrp="1"/>
          </p:cNvSpPr>
          <p:nvPr>
            <p:ph type="title"/>
          </p:nvPr>
        </p:nvSpPr>
        <p:spPr/>
        <p:txBody>
          <a:bodyPr/>
          <a:lstStyle/>
          <a:p>
            <a:r>
              <a:rPr lang="en-US" dirty="0"/>
              <a:t>Key Insights</a:t>
            </a:r>
          </a:p>
        </p:txBody>
      </p:sp>
      <p:sp>
        <p:nvSpPr>
          <p:cNvPr id="3" name="Content Placeholder 2">
            <a:extLst>
              <a:ext uri="{FF2B5EF4-FFF2-40B4-BE49-F238E27FC236}">
                <a16:creationId xmlns:a16="http://schemas.microsoft.com/office/drawing/2014/main" id="{F577B3FA-2EF5-7A64-9BF3-66D001DA6483}"/>
              </a:ext>
            </a:extLst>
          </p:cNvPr>
          <p:cNvSpPr>
            <a:spLocks noGrp="1"/>
          </p:cNvSpPr>
          <p:nvPr>
            <p:ph idx="1"/>
          </p:nvPr>
        </p:nvSpPr>
        <p:spPr/>
        <p:txBody>
          <a:bodyPr/>
          <a:lstStyle/>
          <a:p>
            <a:pPr marL="0" indent="0">
              <a:buNone/>
            </a:pPr>
            <a:r>
              <a:rPr lang="en-US" sz="2400" b="1" dirty="0"/>
              <a:t>FUNDAMENTAL PRINCIPLES</a:t>
            </a:r>
            <a:endParaRPr lang="en-US" sz="2400" dirty="0"/>
          </a:p>
          <a:p>
            <a:pPr marL="0" indent="0">
              <a:buNone/>
            </a:pPr>
            <a:r>
              <a:rPr lang="en-US" sz="2400" dirty="0"/>
              <a:t>✓ </a:t>
            </a:r>
            <a:r>
              <a:rPr lang="en-US" sz="2400" b="1" dirty="0"/>
              <a:t>Prices coordinate</a:t>
            </a:r>
            <a:r>
              <a:rPr lang="en-US" sz="2400" dirty="0"/>
              <a:t> millions of decisions without central direction</a:t>
            </a:r>
          </a:p>
          <a:p>
            <a:pPr marL="0" indent="0">
              <a:buNone/>
            </a:pPr>
            <a:r>
              <a:rPr lang="en-US" sz="2400" dirty="0"/>
              <a:t>✓ </a:t>
            </a:r>
            <a:r>
              <a:rPr lang="en-US" sz="2400" b="1" dirty="0"/>
              <a:t>Market forces</a:t>
            </a:r>
            <a:r>
              <a:rPr lang="en-US" sz="2400" dirty="0"/>
              <a:t> self-correct surpluses and shortages</a:t>
            </a:r>
          </a:p>
          <a:p>
            <a:pPr marL="0" indent="0">
              <a:buNone/>
            </a:pPr>
            <a:r>
              <a:rPr lang="en-US" sz="2400" dirty="0"/>
              <a:t>✓ </a:t>
            </a:r>
            <a:r>
              <a:rPr lang="en-US" sz="2400" b="1" dirty="0"/>
              <a:t>Distinguish</a:t>
            </a:r>
            <a:r>
              <a:rPr lang="en-US" sz="2400" dirty="0"/>
              <a:t> movements along curves vs. shifts of curves</a:t>
            </a:r>
          </a:p>
          <a:p>
            <a:pPr marL="0" indent="0">
              <a:buNone/>
            </a:pPr>
            <a:r>
              <a:rPr lang="en-US" sz="2400" dirty="0"/>
              <a:t>✓ </a:t>
            </a:r>
            <a:r>
              <a:rPr lang="en-US" sz="2400" b="1" dirty="0"/>
              <a:t>Analyze systematically</a:t>
            </a:r>
            <a:r>
              <a:rPr lang="en-US" sz="2400" dirty="0"/>
              <a:t> using the four-step process</a:t>
            </a:r>
          </a:p>
          <a:p>
            <a:pPr marL="0" indent="0">
              <a:buNone/>
            </a:pPr>
            <a:r>
              <a:rPr lang="en-US" sz="2400" dirty="0"/>
              <a:t>✓ </a:t>
            </a:r>
            <a:r>
              <a:rPr lang="en-US" sz="2400" b="1" dirty="0"/>
              <a:t>Price controls</a:t>
            </a:r>
            <a:r>
              <a:rPr lang="en-US" sz="2400" dirty="0"/>
              <a:t> create unintended consequences</a:t>
            </a:r>
          </a:p>
          <a:p>
            <a:pPr marL="0" indent="0">
              <a:buNone/>
            </a:pPr>
            <a:r>
              <a:rPr lang="en-US" sz="2400" dirty="0"/>
              <a:t>✓ </a:t>
            </a:r>
            <a:r>
              <a:rPr lang="en-US" sz="2400" b="1" dirty="0"/>
              <a:t>Economic thinking</a:t>
            </a:r>
            <a:r>
              <a:rPr lang="en-US" sz="2400" dirty="0"/>
              <a:t> goes beyond surface explanations</a:t>
            </a:r>
          </a:p>
          <a:p>
            <a:pPr marL="0" indent="0">
              <a:buNone/>
            </a:pPr>
            <a:endParaRPr lang="en-US" sz="2400" i="1" dirty="0"/>
          </a:p>
          <a:p>
            <a:pPr marL="0" indent="0">
              <a:buNone/>
            </a:pPr>
            <a:r>
              <a:rPr lang="en-US" sz="2400" i="1" dirty="0"/>
              <a:t>"Markets and voluntary cooperation enable extraordinary coordination—from pencils to airliners"</a:t>
            </a:r>
            <a:endParaRPr lang="en-US" sz="2400" dirty="0"/>
          </a:p>
          <a:p>
            <a:endParaRPr lang="en-US" dirty="0"/>
          </a:p>
        </p:txBody>
      </p:sp>
    </p:spTree>
    <p:extLst>
      <p:ext uri="{BB962C8B-B14F-4D97-AF65-F5344CB8AC3E}">
        <p14:creationId xmlns:p14="http://schemas.microsoft.com/office/powerpoint/2010/main" val="35969955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798</TotalTime>
  <Words>3590</Words>
  <Application>Microsoft Office PowerPoint</Application>
  <PresentationFormat>Widescreen</PresentationFormat>
  <Paragraphs>213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Gill Sans MT</vt:lpstr>
      <vt:lpstr>Parcel</vt:lpstr>
      <vt:lpstr>Chapter 3  Demand and Supply  How Markets Determine Prices</vt:lpstr>
      <vt:lpstr>THE PRICE MECHANISM </vt:lpstr>
      <vt:lpstr>DEMAND FUNDAMENTALS</vt:lpstr>
      <vt:lpstr>Supply Fundamentals</vt:lpstr>
      <vt:lpstr>Market Equilibrium</vt:lpstr>
      <vt:lpstr>What Shifts Demand?</vt:lpstr>
      <vt:lpstr>What Shifts Supply?</vt:lpstr>
      <vt:lpstr>The four step process</vt:lpstr>
      <vt:lpstr>Effects of demand and supply changes</vt:lpstr>
      <vt:lpstr>Price Ceilings</vt:lpstr>
      <vt:lpstr>Price floors</vt:lpstr>
      <vt:lpstr>Key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T Lane</dc:creator>
  <cp:lastModifiedBy>Scott T Lane</cp:lastModifiedBy>
  <cp:revision>1</cp:revision>
  <dcterms:created xsi:type="dcterms:W3CDTF">2025-05-05T14:11:37Z</dcterms:created>
  <dcterms:modified xsi:type="dcterms:W3CDTF">2026-03-26T12:26:24Z</dcterms:modified>
</cp:coreProperties>
</file>