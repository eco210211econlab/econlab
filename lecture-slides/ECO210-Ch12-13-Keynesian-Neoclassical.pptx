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5" autoAdjust="0"/>
    <p:restoredTop sz="94519" autoAdjust="0"/>
  </p:normalViewPr>
  <p:slideViewPr>
    <p:cSldViewPr snapToGrid="0" snapToObjects="1">
      <p:cViewPr varScale="1">
        <p:scale>
          <a:sx n="86" d="100"/>
          <a:sy n="86" d="100"/>
        </p:scale>
        <p:origin x="298" y="7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959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Today we're covering two foundational schools of macroeconomic thought: Keynesian and Neoclassical. Think of them as two different GPS systems for navigating the economy—they use different maps and give different directions depending on whether you're looking at traffic right now (short run) or planning a cross-country route (long run). Neither is fully right or wrong; economists blend both in practice.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Two Lenses
Analogy: Think of a doctor treating a patient. A Keynesian doctor says "your blood pressure just crashed—give a stimulant NOW." A neoclassical doctor says "your long-term diet is the real issue." Both are right, just on different time scales.
• "Animal spirits" is Keynes's term for herd mentality—businesses invest when confident, freeze when scared, regardless of fundamentals. The 2008 financial crisis saw this vividly.
• Rational expectations (neoclassical): People use all available information to forecast—they're not fooled by policy repeatedly. Like a casino player who eventually learns the house edge.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AD Components
Four engines of the GDP plane — if any one stalls, the plane drops.
• Wealth effect example: When stock portfolios fell 40% in 2008-09, households cut spending even without a pay cut — they felt poorer.
• Investment collapse: The 2001 dot-com bust cut investment from 21% → 18% of GDP in one year. Multiplied into a larger GDP drop.
• Government as shock absorber: In 2020, the federal government sent stimulus checks, boosted unemployment insurance, and propped up state budgets — all to prevent a collapse in C and G simultaneously.
• Net exports reminder: When U.S. trading partners (Canada, Germany, Japan) go into recession, they buy fewer U.S. goods — our exports fall even if our economy is healthy.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AD Shift Table
Quick navigation tool — a recession is usually driven by multiple factors moving left simultaneously. In 2008: home values fell (↓ wealth → ↓ C), banks froze lending (↑ interest for businesses → ↓ I), state tax revenues collapsed (↓ G). Three of four AD components fell at once.
2020: Government deliberately targeted all four levers at once — stimulus checks boosted C, PPP loans protected I, direct aid supported G, and a weak dollar helped NX somewhat.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Keynesian Building Blocks
Analogy for sticky wages: Imagine trying to convince all the drivers on a highway to simultaneously slow down to 50 mph to reduce congestion — everyone benefits if all do it, but no single driver will go first. That's the coordination problem for wages.
Menu costs analogy: Amazon changes prices constantly (algorithmic pricing) — but a local diner doesn't reprint menus every week. For most businesses, changing prices has real costs and customer-relations risks.
The flat SRAS zone: Think of an idle factory. When orders rise, you can hire more workers and produce more without raising prices much — you had spare capacity. Once you hit full capacity, prices shoot up. That transition from flat to steep is the boundary of the Keynesian zone.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Expenditure Multiplier
Stone-in-a-pond analogy: Drop a $1,000 stone of government spending into the economic pond. It creates a $1,000 ripple. That $1,000 becomes income for workers who spend 80% — $800 ripple. That $800 becomes $640 in new spending, and so on. The math sum is 1 / (1 - 0.8) = 5.
Real-world caveat: Estimated multipliers for government spending range from 0.5 to 2.5 depending on economic conditions. They're LARGER when the economy has idle capacity (during recessions), and SMALLER when the economy is at full employment (just bids up prices instead).
The negative multiplier: When investment collapsed by $500B in the Great Depression, the total GDP impact was much larger — this is why a financial panic can spiral into a decade-long depression.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Phillips Curve
Historical arc: A.W. Phillips (1958) observed data from UK 1861–1957 — lower unemployment correlated with higher wage growth. By the 1960s, U.S. policymakers used this as a policy menu: "choose" your combination.
The 1970s shock: OPEC oil embargo (1973) caused production costs to soar → SRAS shifted left → prices rose AND output fell → unemployment went UP while inflation went UP. This broke the simple Keynesian model.
Friedman-Phelps insight (1968, predicted before it happened!): The tradeoff only exists when people are surprised by inflation. Once workers expect 10% inflation, they demand 10% raises → the curve shifts up. The only permanent tradeoff is at the natural rate.
Analogy: A speed-camera fine (inflation surprise) changes your driving. Once you know where all the cameras are (expectations adjust), you just drive that speed permanently — no net tradeoff.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Keynesian Policy Tools
The accelerator vs. the brake: Expansionary = push the gas; Contractionary = apply the brakes.
Key limitation Keynesians acknowledge: Government must correctly identify potential GDP (not easy), enact policy fast enough (legislative lag), and target spending efficiently. 
2009 ARRA example: Economic Recovery Act of 2009 — $787B in tax cuts, infrastructure spending, and transfers. Economists Blinder &amp; Zandi estimated it prevented GDP from falling an additional 3.3% and saved 8.5 million jobs.
Classical liberal tension (relevant to your worldview): Keynesian policy requires trusting government to correctly diagnose, target, and time interventions. Public choice theory warns of political incentives that distort this — stimulus may become permanent spending, not countercyclical.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Neoclassical Foundations
Thermostat analogy: The economy has a built-in thermostat (flexible prices/wages). When it gets "cold" (recession), wages fall, businesses rehire, and the economy self-corrects back to 68°F (potential GDP). The debate: how long does that take — 2 years or 10 years?
Crowding out explained: Government runs a deficit → borrows in loanable funds market → pushes up interest rates → a private business that was going to build a factory now can't afford the loan → private investment is "crowded out." Full crowding out = multiplier = 0.
Rational expectations (Lucas critique): If everyone knows the Fed will boost money supply when unemployment rises, workers pre-emptively demand higher wages, negating the policy effect. This is why central banks prize credibility — surprise is necessary for policy to work.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Self-Correction
Keynes's famous quip: "In the long run we are all dead." He wasn't dismissing the long run — he was saying that a 10-year recession is not a policy success even if equilibrium eventually returns.
Neoclassical retort: Prolonged government intervention can extend recessions (policy uncertainty, resource misallocation). Japan's "lost decade" (1990s) is sometimes cited — government stimulus didn't cure the structural problems.
Modern synthesis: Most economists today believe adjustment takes 2–5 years in normal recessions, which is long enough that fiscal/monetary stimulus is useful. But in mild slowdowns, market correction may be faster than government response.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Sources of Long-Run Growth
Bathtub metaphor for potential GDP: Think of potential GDP as the SIZE of your bathtub (capacity). Keynesian policy is about how much water (spending) is in it. Neoclassical growth is about building a bigger bathtub.
Technology is the magic multiplier: From 1953–1972, U.S. productivity grew 3.2%/year — largely due to the tech boom of electrification, computers, and interstate system. When productivity growth slowed (1973–1992, 1.8%/year), living standards grew slower.
McCloskey connection (your Bourgeois Deal framework): Her thesis maps exactly onto the neoclassical growth story — the "Great Enrichment" of 30x living standards since 1800 is primarily an institutions-and-innovation story, not a redistribution story.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Neoclassical Policy Tools
Contrast with Keynesian: Keynesian policy is about the temperature of the water in the bathtub RIGHT NOW. Neoclassical policy is about the plumbing — get the pipes right and the economy flows efficiently on its own.
Rules vs. discretion detail: The 2% inflation target adopted by the Fed (and most central banks) is a neoclassical insight. It anchors expectations — businesses sign 3-year contracts knowing inflation will be ~2%. Without rules, every policy change creates uncertainty that depresses investment.
Natural unemployment policies: Examples include LinkedIn-style job matching (reduces frictional), community college retraining (reduces structural), deregulating barriers to hiring (reduces structural). These don't show up in the next quarter's GDP but matter enormously over 10 years.
Classical liberal note: The neoclassical toolkit aligns well with classical liberal preferences — prefer rules over discretion, rely on markets, limit government activism. But even neoclassicals favor some role for policy in clear market failures.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Balancing Both Models
Two-horse circus analogy from OpenStax: A circus performer riding two horses simultaneously — one leg on each horse. When they run together, you ride fine. When they diverge, you have to shift weight. Modern macroeconomists shift weight between models depending on the economic conditions.
Great Recession synthesis: During 2008-09, almost all economists — including neoclassically-oriented ones — supported some form of stabilization policy. The debate was about SIZE and TYPE, not whether to act.
2020 synthesis: The unusually fast Keynesian response (trillions in relief within weeks) was broadly praised. The neoclassical concern emerged later: too much stimulus when the economy was near potential GDP → inflation surge of 2021-22.
Final takeaway for students: Don't memorize which "team" you're on. Learn to diagnose the patient first (short-run shock or long-run structural problem?) and apply the right toolkit.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Summary Table
Use this as your study reference — everything from both chapters in one view.
Test question prompt: "If the Fed raises interest rates, which school of thought would predict a larger impact on real GDP — Keynesian or Neoclassical? Why?"
Keynesian answer: Rate hike → ↓ investment → multiplied decrease in AD → significant GDP drop (especially if economy is below potential).
Neoclassical answer: Rate hike → prices adjust → economy returns to LRAS; only temporary output effect; main result is lower price level.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Key Takeaways
Closing thought: Real-world economic debates are messy. During COVID-19, both schools of thought were applied simultaneously — immediate Keynesian stimulus AND neoclassical concern about supply-side labor market disruptions (people leaving the workforce).
The classical liberal synthesis (relevant to your worldview): Keynes was right that markets can fail in the short run. But neoclassicals are right that the instinct to "fix" everything with government spending creates its own distortions. The wisdom is in knowing when to act and when to let markets work — and having the humility to acknowledge you might be wrong either way.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8251D"/>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5303520" cy="6858000"/>
          </a:xfrm>
          <a:prstGeom prst="rect">
            <a:avLst/>
          </a:prstGeom>
          <a:solidFill>
            <a:srgbClr val="01696F"/>
          </a:solidFill>
          <a:ln w="12700">
            <a:solidFill>
              <a:srgbClr val="01696F"/>
            </a:solidFill>
            <a:prstDash val="solid"/>
          </a:ln>
        </p:spPr>
        <p:txBody>
          <a:bodyPr/>
          <a:lstStyle/>
          <a:p>
            <a:endParaRPr lang="en-US"/>
          </a:p>
        </p:txBody>
      </p:sp>
      <p:sp>
        <p:nvSpPr>
          <p:cNvPr id="3" name="Text 1"/>
          <p:cNvSpPr>
            <a:spLocks noGrp="1"/>
          </p:cNvSpPr>
          <p:nvPr>
            <p:ph type="title" idx="4294967295"/>
          </p:nvPr>
        </p:nvSpPr>
        <p:spPr>
          <a:xfrm>
            <a:off x="274320" y="1097280"/>
            <a:ext cx="4754880" cy="2286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CHAPTERS</a:t>
            </a:r>
            <a:endParaRPr kumimoji="0" lang="en-US" sz="5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12 &amp; 13</a:t>
            </a:r>
            <a:endParaRPr kumimoji="0" lang="en-US" sz="5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2"/>
          <p:cNvSpPr/>
          <p:nvPr/>
        </p:nvSpPr>
        <p:spPr>
          <a:xfrm>
            <a:off x="274320" y="3474720"/>
            <a:ext cx="4754880" cy="2286000"/>
          </a:xfrm>
          <a:prstGeom prst="rect">
            <a:avLst/>
          </a:prstGeom>
          <a:noFill/>
          <a:ln/>
        </p:spPr>
        <p:txBody>
          <a:bodyPr wrap="square" rtlCol="0" anchor="t"/>
          <a:lstStyle/>
          <a:p>
            <a:pPr marL="0" indent="0" algn="l">
              <a:buNone/>
            </a:pPr>
            <a:r>
              <a:rPr lang="en-US" sz="2600" dirty="0">
                <a:solidFill>
                  <a:schemeClr val="bg1"/>
                </a:solidFill>
                <a:latin typeface="Calibri" pitchFamily="34" charset="0"/>
                <a:ea typeface="Calibri" pitchFamily="34" charset="-122"/>
                <a:cs typeface="Calibri" pitchFamily="34" charset="-120"/>
              </a:rPr>
              <a:t>Keynesian &amp;</a:t>
            </a:r>
            <a:endParaRPr lang="en-US" sz="2600" dirty="0">
              <a:solidFill>
                <a:schemeClr val="bg1"/>
              </a:solidFill>
            </a:endParaRPr>
          </a:p>
          <a:p>
            <a:pPr marL="0" indent="0" algn="l">
              <a:buNone/>
            </a:pPr>
            <a:r>
              <a:rPr lang="en-US" sz="2600" dirty="0">
                <a:solidFill>
                  <a:schemeClr val="bg1"/>
                </a:solidFill>
                <a:latin typeface="Calibri" pitchFamily="34" charset="0"/>
                <a:ea typeface="Calibri" pitchFamily="34" charset="-122"/>
                <a:cs typeface="Calibri" pitchFamily="34" charset="-120"/>
              </a:rPr>
              <a:t>Neoclassical</a:t>
            </a:r>
            <a:endParaRPr lang="en-US" sz="2600" dirty="0">
              <a:solidFill>
                <a:schemeClr val="bg1"/>
              </a:solidFill>
            </a:endParaRPr>
          </a:p>
          <a:p>
            <a:pPr marL="0" indent="0" algn="l">
              <a:buNone/>
            </a:pPr>
            <a:r>
              <a:rPr lang="en-US" sz="2600" dirty="0">
                <a:solidFill>
                  <a:schemeClr val="bg1"/>
                </a:solidFill>
                <a:latin typeface="Calibri" pitchFamily="34" charset="0"/>
                <a:ea typeface="Calibri" pitchFamily="34" charset="-122"/>
                <a:cs typeface="Calibri" pitchFamily="34" charset="-120"/>
              </a:rPr>
              <a:t>Perspectives</a:t>
            </a:r>
            <a:endParaRPr lang="en-US" sz="2600" dirty="0">
              <a:solidFill>
                <a:schemeClr val="bg1"/>
              </a:solidFill>
            </a:endParaRPr>
          </a:p>
        </p:txBody>
      </p:sp>
      <p:sp>
        <p:nvSpPr>
          <p:cNvPr id="6" name="Text 4"/>
          <p:cNvSpPr/>
          <p:nvPr/>
        </p:nvSpPr>
        <p:spPr>
          <a:xfrm>
            <a:off x="5669280" y="1188720"/>
            <a:ext cx="6217920" cy="502920"/>
          </a:xfrm>
          <a:prstGeom prst="rect">
            <a:avLst/>
          </a:prstGeom>
          <a:noFill/>
          <a:ln/>
        </p:spPr>
        <p:txBody>
          <a:bodyPr wrap="square" rtlCol="0" anchor="ctr"/>
          <a:lstStyle/>
          <a:p>
            <a:pPr marL="0" indent="0" algn="l">
              <a:buNone/>
            </a:pPr>
            <a:r>
              <a:rPr lang="en-US" sz="2000" dirty="0">
                <a:solidFill>
                  <a:schemeClr val="bg1"/>
                </a:solidFill>
                <a:latin typeface="Calibri" pitchFamily="34" charset="0"/>
                <a:ea typeface="Calibri" pitchFamily="34" charset="-122"/>
                <a:cs typeface="Calibri" pitchFamily="34" charset="-120"/>
              </a:rPr>
              <a:t>→  Short Run vs. Long Run</a:t>
            </a:r>
            <a:endParaRPr lang="en-US" sz="2000" dirty="0">
              <a:solidFill>
                <a:schemeClr val="bg1"/>
              </a:solidFill>
            </a:endParaRPr>
          </a:p>
        </p:txBody>
      </p:sp>
      <p:sp>
        <p:nvSpPr>
          <p:cNvPr id="7" name="Text 5"/>
          <p:cNvSpPr/>
          <p:nvPr/>
        </p:nvSpPr>
        <p:spPr>
          <a:xfrm>
            <a:off x="5669280" y="1920240"/>
            <a:ext cx="6217920" cy="502920"/>
          </a:xfrm>
          <a:prstGeom prst="rect">
            <a:avLst/>
          </a:prstGeom>
          <a:noFill/>
          <a:ln/>
        </p:spPr>
        <p:txBody>
          <a:bodyPr wrap="square" rtlCol="0" anchor="ctr"/>
          <a:lstStyle/>
          <a:p>
            <a:pPr marL="0" indent="0" algn="l">
              <a:buNone/>
            </a:pPr>
            <a:r>
              <a:rPr lang="en-US" sz="2000" dirty="0">
                <a:solidFill>
                  <a:schemeClr val="bg1"/>
                </a:solidFill>
                <a:latin typeface="Calibri" pitchFamily="34" charset="0"/>
                <a:ea typeface="Calibri" pitchFamily="34" charset="-122"/>
                <a:cs typeface="Calibri" pitchFamily="34" charset="-120"/>
              </a:rPr>
              <a:t>→  Aggregate Demand &amp; Supply</a:t>
            </a:r>
            <a:endParaRPr lang="en-US" sz="2000" dirty="0">
              <a:solidFill>
                <a:schemeClr val="bg1"/>
              </a:solidFill>
            </a:endParaRPr>
          </a:p>
        </p:txBody>
      </p:sp>
      <p:sp>
        <p:nvSpPr>
          <p:cNvPr id="8" name="Text 6"/>
          <p:cNvSpPr/>
          <p:nvPr/>
        </p:nvSpPr>
        <p:spPr>
          <a:xfrm>
            <a:off x="5669280" y="2651760"/>
            <a:ext cx="6217920" cy="502920"/>
          </a:xfrm>
          <a:prstGeom prst="rect">
            <a:avLst/>
          </a:prstGeom>
          <a:noFill/>
          <a:ln/>
        </p:spPr>
        <p:txBody>
          <a:bodyPr wrap="square" rtlCol="0" anchor="ctr"/>
          <a:lstStyle/>
          <a:p>
            <a:pPr marL="0" indent="0" algn="l">
              <a:buNone/>
            </a:pPr>
            <a:r>
              <a:rPr lang="en-US" sz="2000" dirty="0">
                <a:solidFill>
                  <a:schemeClr val="bg1"/>
                </a:solidFill>
                <a:latin typeface="Calibri" pitchFamily="34" charset="0"/>
                <a:ea typeface="Calibri" pitchFamily="34" charset="-122"/>
                <a:cs typeface="Calibri" pitchFamily="34" charset="-120"/>
              </a:rPr>
              <a:t>→  Sticky vs. Flexible Prices</a:t>
            </a:r>
            <a:endParaRPr lang="en-US" sz="2000" dirty="0">
              <a:solidFill>
                <a:schemeClr val="bg1"/>
              </a:solidFill>
            </a:endParaRPr>
          </a:p>
        </p:txBody>
      </p:sp>
      <p:sp>
        <p:nvSpPr>
          <p:cNvPr id="9" name="Text 7">
            <a:extLst>
              <a:ext uri="{C183D7F6-B498-43B3-948B-1728B52AA6E4}">
                <adec:decorative xmlns:adec="http://schemas.microsoft.com/office/drawing/2017/decorative" val="0"/>
              </a:ext>
            </a:extLst>
          </p:cNvPr>
          <p:cNvSpPr/>
          <p:nvPr/>
        </p:nvSpPr>
        <p:spPr>
          <a:xfrm>
            <a:off x="5669280" y="3383280"/>
            <a:ext cx="6217920" cy="502920"/>
          </a:xfrm>
          <a:prstGeom prst="rect">
            <a:avLst/>
          </a:prstGeom>
          <a:noFill/>
          <a:ln/>
        </p:spPr>
        <p:txBody>
          <a:bodyPr wrap="square" rtlCol="0" anchor="ctr"/>
          <a:lstStyle/>
          <a:p>
            <a:pPr marL="0" indent="0" algn="l">
              <a:buNone/>
            </a:pPr>
            <a:r>
              <a:rPr lang="en-US" sz="2000" dirty="0">
                <a:solidFill>
                  <a:schemeClr val="bg1"/>
                </a:solidFill>
                <a:latin typeface="Calibri" pitchFamily="34" charset="0"/>
                <a:ea typeface="Calibri" pitchFamily="34" charset="-122"/>
                <a:cs typeface="Calibri" pitchFamily="34" charset="-120"/>
              </a:rPr>
              <a:t>→  Phillips Curve</a:t>
            </a:r>
            <a:endParaRPr lang="en-US" sz="2000" dirty="0">
              <a:solidFill>
                <a:schemeClr val="bg1"/>
              </a:solidFill>
            </a:endParaRPr>
          </a:p>
        </p:txBody>
      </p:sp>
      <p:sp>
        <p:nvSpPr>
          <p:cNvPr id="10" name="Text 8">
            <a:extLst>
              <a:ext uri="{C183D7F6-B498-43B3-948B-1728B52AA6E4}">
                <adec:decorative xmlns:adec="http://schemas.microsoft.com/office/drawing/2017/decorative" val="0"/>
              </a:ext>
            </a:extLst>
          </p:cNvPr>
          <p:cNvSpPr/>
          <p:nvPr/>
        </p:nvSpPr>
        <p:spPr>
          <a:xfrm>
            <a:off x="5669280" y="4114800"/>
            <a:ext cx="6217920" cy="502920"/>
          </a:xfrm>
          <a:prstGeom prst="rect">
            <a:avLst/>
          </a:prstGeom>
          <a:noFill/>
          <a:ln/>
        </p:spPr>
        <p:txBody>
          <a:bodyPr wrap="square" rtlCol="0" anchor="ctr"/>
          <a:lstStyle/>
          <a:p>
            <a:pPr marL="0" indent="0" algn="l">
              <a:buNone/>
            </a:pPr>
            <a:r>
              <a:rPr lang="en-US" sz="2000" dirty="0">
                <a:solidFill>
                  <a:schemeClr val="bg1"/>
                </a:solidFill>
                <a:latin typeface="Calibri" pitchFamily="34" charset="0"/>
                <a:ea typeface="Calibri" pitchFamily="34" charset="-122"/>
                <a:cs typeface="Calibri" pitchFamily="34" charset="-120"/>
              </a:rPr>
              <a:t>→  Policy Implications</a:t>
            </a:r>
            <a:endParaRPr lang="en-US" sz="2000" dirty="0">
              <a:solidFill>
                <a:schemeClr val="bg1"/>
              </a:solidFill>
            </a:endParaRPr>
          </a:p>
        </p:txBody>
      </p:sp>
      <p:sp>
        <p:nvSpPr>
          <p:cNvPr id="11" name="Text 9">
            <a:extLst>
              <a:ext uri="{C183D7F6-B498-43B3-948B-1728B52AA6E4}">
                <adec:decorative xmlns:adec="http://schemas.microsoft.com/office/drawing/2017/decorative" val="0"/>
              </a:ext>
            </a:extLst>
          </p:cNvPr>
          <p:cNvSpPr/>
          <p:nvPr/>
        </p:nvSpPr>
        <p:spPr>
          <a:xfrm>
            <a:off x="5669280" y="4846320"/>
            <a:ext cx="6217920" cy="502920"/>
          </a:xfrm>
          <a:prstGeom prst="rect">
            <a:avLst/>
          </a:prstGeom>
          <a:noFill/>
          <a:ln/>
        </p:spPr>
        <p:txBody>
          <a:bodyPr wrap="square" rtlCol="0" anchor="ctr"/>
          <a:lstStyle/>
          <a:p>
            <a:pPr marL="0" indent="0" algn="l">
              <a:buNone/>
            </a:pPr>
            <a:r>
              <a:rPr lang="en-US" sz="2000" dirty="0">
                <a:solidFill>
                  <a:schemeClr val="bg1"/>
                </a:solidFill>
                <a:latin typeface="Calibri" pitchFamily="34" charset="0"/>
                <a:ea typeface="Calibri" pitchFamily="34" charset="-122"/>
                <a:cs typeface="Calibri" pitchFamily="34" charset="-120"/>
              </a:rPr>
              <a:t>→  Balancing Both Models</a:t>
            </a:r>
            <a:endParaRPr lang="en-US" sz="20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9"/>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12188952" cy="1325880"/>
          </a:xfrm>
          <a:prstGeom prst="rect">
            <a:avLst/>
          </a:prstGeom>
          <a:solidFill>
            <a:srgbClr val="28251D"/>
          </a:solidFill>
          <a:ln w="12700">
            <a:solidFill>
              <a:srgbClr val="28251D"/>
            </a:solidFill>
            <a:prstDash val="solid"/>
          </a:ln>
        </p:spPr>
        <p:txBody>
          <a:bodyPr/>
          <a:lstStyle/>
          <a:p>
            <a:endParaRPr lang="en-US"/>
          </a:p>
        </p:txBody>
      </p:sp>
      <p:sp>
        <p:nvSpPr>
          <p:cNvPr id="3" name="Text 1"/>
          <p:cNvSpPr>
            <a:spLocks noGrp="1"/>
          </p:cNvSpPr>
          <p:nvPr>
            <p:ph type="title" idx="4294967295"/>
          </p:nvPr>
        </p:nvSpPr>
        <p:spPr>
          <a:xfrm>
            <a:off x="411480" y="73152"/>
            <a:ext cx="11430000" cy="77724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Two Lenses on the Economy</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Shape 3">
            <a:extLst>
              <a:ext uri="{C183D7F6-B498-43B3-948B-1728B52AA6E4}">
                <adec:decorative xmlns:adec="http://schemas.microsoft.com/office/drawing/2017/decorative" val="1"/>
              </a:ext>
            </a:extLst>
          </p:cNvPr>
          <p:cNvSpPr/>
          <p:nvPr/>
        </p:nvSpPr>
        <p:spPr>
          <a:xfrm>
            <a:off x="365760" y="1463040"/>
            <a:ext cx="5394960" cy="4846320"/>
          </a:xfrm>
          <a:prstGeom prst="rect">
            <a:avLst/>
          </a:prstGeom>
          <a:solidFill>
            <a:schemeClr val="bg1"/>
          </a:solidFill>
          <a:ln w="12700">
            <a:solidFill>
              <a:srgbClr val="01696F"/>
            </a:solidFill>
            <a:prstDash val="solid"/>
          </a:ln>
        </p:spPr>
        <p:txBody>
          <a:bodyPr/>
          <a:lstStyle/>
          <a:p>
            <a:endParaRPr lang="en-US"/>
          </a:p>
        </p:txBody>
      </p:sp>
      <p:sp>
        <p:nvSpPr>
          <p:cNvPr id="6" name="Text 4"/>
          <p:cNvSpPr/>
          <p:nvPr/>
        </p:nvSpPr>
        <p:spPr>
          <a:xfrm>
            <a:off x="457200" y="1508760"/>
            <a:ext cx="5212080" cy="457200"/>
          </a:xfrm>
          <a:prstGeom prst="rect">
            <a:avLst/>
          </a:prstGeom>
          <a:noFill/>
          <a:ln/>
        </p:spPr>
        <p:txBody>
          <a:bodyPr wrap="square" rtlCol="0" anchor="ctr"/>
          <a:lstStyle/>
          <a:p>
            <a:pPr marL="0" indent="0" algn="ctr">
              <a:buNone/>
            </a:pPr>
            <a:r>
              <a:rPr lang="en-US" sz="2000" b="1" dirty="0">
                <a:latin typeface="Trebuchet MS" pitchFamily="34" charset="0"/>
                <a:ea typeface="Trebuchet MS" pitchFamily="34" charset="-122"/>
                <a:cs typeface="Trebuchet MS" pitchFamily="34" charset="-120"/>
              </a:rPr>
              <a:t>KEYNESIAN</a:t>
            </a:r>
            <a:endParaRPr lang="en-US" sz="2000" dirty="0"/>
          </a:p>
        </p:txBody>
      </p:sp>
      <p:sp>
        <p:nvSpPr>
          <p:cNvPr id="7" name="Text 5"/>
          <p:cNvSpPr/>
          <p:nvPr/>
        </p:nvSpPr>
        <p:spPr>
          <a:xfrm>
            <a:off x="502920" y="2057400"/>
            <a:ext cx="1828800" cy="502920"/>
          </a:xfrm>
          <a:prstGeom prst="rect">
            <a:avLst/>
          </a:prstGeom>
          <a:noFill/>
          <a:ln/>
        </p:spPr>
        <p:txBody>
          <a:bodyPr wrap="square" rtlCol="0" anchor="ctr"/>
          <a:lstStyle/>
          <a:p>
            <a:pPr marL="0" indent="0">
              <a:buNone/>
            </a:pPr>
            <a:r>
              <a:rPr lang="en-US" b="1" dirty="0">
                <a:latin typeface="Calibri" pitchFamily="34" charset="0"/>
                <a:ea typeface="Calibri" pitchFamily="34" charset="-122"/>
                <a:cs typeface="Calibri" pitchFamily="34" charset="-120"/>
              </a:rPr>
              <a:t>Focus:</a:t>
            </a:r>
            <a:endParaRPr lang="en-US" dirty="0"/>
          </a:p>
        </p:txBody>
      </p:sp>
      <p:sp>
        <p:nvSpPr>
          <p:cNvPr id="8" name="Text 6"/>
          <p:cNvSpPr/>
          <p:nvPr/>
        </p:nvSpPr>
        <p:spPr>
          <a:xfrm>
            <a:off x="2377440" y="2057400"/>
            <a:ext cx="3246120" cy="50292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Short run</a:t>
            </a:r>
            <a:endParaRPr lang="en-US" dirty="0"/>
          </a:p>
        </p:txBody>
      </p:sp>
      <p:sp>
        <p:nvSpPr>
          <p:cNvPr id="9" name="Text 7"/>
          <p:cNvSpPr/>
          <p:nvPr/>
        </p:nvSpPr>
        <p:spPr>
          <a:xfrm>
            <a:off x="502920" y="2715768"/>
            <a:ext cx="1828800" cy="502920"/>
          </a:xfrm>
          <a:prstGeom prst="rect">
            <a:avLst/>
          </a:prstGeom>
          <a:noFill/>
          <a:ln/>
        </p:spPr>
        <p:txBody>
          <a:bodyPr wrap="square" rtlCol="0" anchor="ctr"/>
          <a:lstStyle/>
          <a:p>
            <a:pPr marL="0" indent="0">
              <a:buNone/>
            </a:pPr>
            <a:r>
              <a:rPr lang="en-US" b="1" dirty="0">
                <a:latin typeface="Calibri" pitchFamily="34" charset="0"/>
                <a:ea typeface="Calibri" pitchFamily="34" charset="-122"/>
                <a:cs typeface="Calibri" pitchFamily="34" charset="-120"/>
              </a:rPr>
              <a:t>Key Driver:</a:t>
            </a:r>
            <a:endParaRPr lang="en-US" dirty="0"/>
          </a:p>
        </p:txBody>
      </p:sp>
      <p:sp>
        <p:nvSpPr>
          <p:cNvPr id="10" name="Text 8"/>
          <p:cNvSpPr/>
          <p:nvPr/>
        </p:nvSpPr>
        <p:spPr>
          <a:xfrm>
            <a:off x="2377440" y="2715768"/>
            <a:ext cx="3246120" cy="50292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Aggregate Demand</a:t>
            </a:r>
            <a:endParaRPr lang="en-US" dirty="0"/>
          </a:p>
        </p:txBody>
      </p:sp>
      <p:sp>
        <p:nvSpPr>
          <p:cNvPr id="11" name="Text 9"/>
          <p:cNvSpPr/>
          <p:nvPr/>
        </p:nvSpPr>
        <p:spPr>
          <a:xfrm>
            <a:off x="502920" y="3374136"/>
            <a:ext cx="1828800" cy="502920"/>
          </a:xfrm>
          <a:prstGeom prst="rect">
            <a:avLst/>
          </a:prstGeom>
          <a:noFill/>
          <a:ln/>
        </p:spPr>
        <p:txBody>
          <a:bodyPr wrap="square" rtlCol="0" anchor="ctr"/>
          <a:lstStyle/>
          <a:p>
            <a:pPr marL="0" indent="0">
              <a:buNone/>
            </a:pPr>
            <a:r>
              <a:rPr lang="en-US" b="1" dirty="0">
                <a:latin typeface="Calibri" pitchFamily="34" charset="0"/>
                <a:ea typeface="Calibri" pitchFamily="34" charset="-122"/>
                <a:cs typeface="Calibri" pitchFamily="34" charset="-120"/>
              </a:rPr>
              <a:t>Wages &amp; Prices:</a:t>
            </a:r>
            <a:endParaRPr lang="en-US" dirty="0"/>
          </a:p>
        </p:txBody>
      </p:sp>
      <p:sp>
        <p:nvSpPr>
          <p:cNvPr id="12" name="Text 10"/>
          <p:cNvSpPr/>
          <p:nvPr/>
        </p:nvSpPr>
        <p:spPr>
          <a:xfrm>
            <a:off x="2377440" y="3374136"/>
            <a:ext cx="3246120" cy="50292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Sticky – adjust slowly</a:t>
            </a:r>
            <a:endParaRPr lang="en-US" dirty="0"/>
          </a:p>
        </p:txBody>
      </p:sp>
      <p:sp>
        <p:nvSpPr>
          <p:cNvPr id="13" name="Text 11"/>
          <p:cNvSpPr/>
          <p:nvPr/>
        </p:nvSpPr>
        <p:spPr>
          <a:xfrm>
            <a:off x="502920" y="4032504"/>
            <a:ext cx="1828800" cy="502920"/>
          </a:xfrm>
          <a:prstGeom prst="rect">
            <a:avLst/>
          </a:prstGeom>
          <a:noFill/>
          <a:ln/>
        </p:spPr>
        <p:txBody>
          <a:bodyPr wrap="square" rtlCol="0" anchor="ctr"/>
          <a:lstStyle/>
          <a:p>
            <a:pPr marL="0" indent="0">
              <a:buNone/>
            </a:pPr>
            <a:r>
              <a:rPr lang="en-US" b="1" dirty="0">
                <a:latin typeface="Calibri" pitchFamily="34" charset="0"/>
                <a:ea typeface="Calibri" pitchFamily="34" charset="-122"/>
                <a:cs typeface="Calibri" pitchFamily="34" charset="-120"/>
              </a:rPr>
              <a:t>Unemployment:</a:t>
            </a:r>
            <a:endParaRPr lang="en-US" dirty="0"/>
          </a:p>
        </p:txBody>
      </p:sp>
      <p:sp>
        <p:nvSpPr>
          <p:cNvPr id="14" name="Text 12"/>
          <p:cNvSpPr/>
          <p:nvPr/>
        </p:nvSpPr>
        <p:spPr>
          <a:xfrm>
            <a:off x="2377440" y="4032504"/>
            <a:ext cx="3246120" cy="50292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Demand deficiency → gov't must act</a:t>
            </a:r>
            <a:endParaRPr lang="en-US" dirty="0"/>
          </a:p>
        </p:txBody>
      </p:sp>
      <p:sp>
        <p:nvSpPr>
          <p:cNvPr id="15" name="Text 13"/>
          <p:cNvSpPr/>
          <p:nvPr/>
        </p:nvSpPr>
        <p:spPr>
          <a:xfrm>
            <a:off x="502920" y="4690872"/>
            <a:ext cx="1828800" cy="502920"/>
          </a:xfrm>
          <a:prstGeom prst="rect">
            <a:avLst/>
          </a:prstGeom>
          <a:noFill/>
          <a:ln/>
        </p:spPr>
        <p:txBody>
          <a:bodyPr wrap="square" rtlCol="0" anchor="ctr"/>
          <a:lstStyle/>
          <a:p>
            <a:pPr marL="0" indent="0">
              <a:buNone/>
            </a:pPr>
            <a:r>
              <a:rPr lang="en-US" b="1" dirty="0">
                <a:latin typeface="Calibri" pitchFamily="34" charset="0"/>
                <a:ea typeface="Calibri" pitchFamily="34" charset="-122"/>
                <a:cs typeface="Calibri" pitchFamily="34" charset="-120"/>
              </a:rPr>
              <a:t>Policy Tool:</a:t>
            </a:r>
            <a:endParaRPr lang="en-US" dirty="0"/>
          </a:p>
        </p:txBody>
      </p:sp>
      <p:sp>
        <p:nvSpPr>
          <p:cNvPr id="16" name="Text 14"/>
          <p:cNvSpPr/>
          <p:nvPr/>
        </p:nvSpPr>
        <p:spPr>
          <a:xfrm>
            <a:off x="2377440" y="4690872"/>
            <a:ext cx="3246120" cy="50292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Countercyclical fiscal &amp; monetary</a:t>
            </a:r>
            <a:endParaRPr lang="en-US" dirty="0"/>
          </a:p>
        </p:txBody>
      </p:sp>
      <p:sp>
        <p:nvSpPr>
          <p:cNvPr id="17" name="Text 15"/>
          <p:cNvSpPr/>
          <p:nvPr/>
        </p:nvSpPr>
        <p:spPr>
          <a:xfrm>
            <a:off x="502920" y="5349240"/>
            <a:ext cx="1828800" cy="502920"/>
          </a:xfrm>
          <a:prstGeom prst="rect">
            <a:avLst/>
          </a:prstGeom>
          <a:noFill/>
          <a:ln/>
        </p:spPr>
        <p:txBody>
          <a:bodyPr wrap="square" rtlCol="0" anchor="ctr"/>
          <a:lstStyle/>
          <a:p>
            <a:pPr marL="0" indent="0">
              <a:buNone/>
            </a:pPr>
            <a:r>
              <a:rPr lang="en-US" b="1" dirty="0">
                <a:latin typeface="Calibri" pitchFamily="34" charset="0"/>
                <a:ea typeface="Calibri" pitchFamily="34" charset="-122"/>
                <a:cs typeface="Calibri" pitchFamily="34" charset="-120"/>
              </a:rPr>
              <a:t>Animal Spirits:</a:t>
            </a:r>
            <a:endParaRPr lang="en-US" dirty="0"/>
          </a:p>
        </p:txBody>
      </p:sp>
      <p:sp>
        <p:nvSpPr>
          <p:cNvPr id="18" name="Text 16">
            <a:extLst>
              <a:ext uri="{C183D7F6-B498-43B3-948B-1728B52AA6E4}">
                <adec:decorative xmlns:adec="http://schemas.microsoft.com/office/drawing/2017/decorative" val="0"/>
              </a:ext>
            </a:extLst>
          </p:cNvPr>
          <p:cNvSpPr/>
          <p:nvPr/>
        </p:nvSpPr>
        <p:spPr>
          <a:xfrm>
            <a:off x="2377440" y="5349240"/>
            <a:ext cx="3246120" cy="50292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Fear/optimism → unstable demand</a:t>
            </a:r>
            <a:endParaRPr lang="en-US" dirty="0"/>
          </a:p>
        </p:txBody>
      </p:sp>
      <p:sp>
        <p:nvSpPr>
          <p:cNvPr id="19" name="Shape 17">
            <a:extLst>
              <a:ext uri="{C183D7F6-B498-43B3-948B-1728B52AA6E4}">
                <adec:decorative xmlns:adec="http://schemas.microsoft.com/office/drawing/2017/decorative" val="1"/>
              </a:ext>
            </a:extLst>
          </p:cNvPr>
          <p:cNvSpPr/>
          <p:nvPr/>
        </p:nvSpPr>
        <p:spPr>
          <a:xfrm>
            <a:off x="6309360" y="1463040"/>
            <a:ext cx="5394960" cy="4846320"/>
          </a:xfrm>
          <a:prstGeom prst="rect">
            <a:avLst/>
          </a:prstGeom>
          <a:solidFill>
            <a:schemeClr val="bg1"/>
          </a:solidFill>
          <a:ln w="12700">
            <a:solidFill>
              <a:srgbClr val="A84B2F"/>
            </a:solidFill>
            <a:prstDash val="solid"/>
          </a:ln>
        </p:spPr>
        <p:txBody>
          <a:bodyPr/>
          <a:lstStyle/>
          <a:p>
            <a:endParaRPr lang="en-US"/>
          </a:p>
        </p:txBody>
      </p:sp>
      <p:sp>
        <p:nvSpPr>
          <p:cNvPr id="34" name="Text 32"/>
          <p:cNvSpPr/>
          <p:nvPr/>
        </p:nvSpPr>
        <p:spPr>
          <a:xfrm>
            <a:off x="5532120" y="3483864"/>
            <a:ext cx="1005840" cy="548640"/>
          </a:xfrm>
          <a:prstGeom prst="rect">
            <a:avLst/>
          </a:prstGeom>
          <a:noFill/>
          <a:ln/>
        </p:spPr>
        <p:txBody>
          <a:bodyPr wrap="square" rtlCol="0" anchor="ctr"/>
          <a:lstStyle/>
          <a:p>
            <a:pPr marL="0" indent="0" algn="ctr">
              <a:buNone/>
            </a:pPr>
            <a:r>
              <a:rPr lang="en-US" sz="1600" b="1" dirty="0">
                <a:latin typeface="Trebuchet MS" pitchFamily="34" charset="0"/>
                <a:ea typeface="Trebuchet MS" pitchFamily="34" charset="-122"/>
                <a:cs typeface="Trebuchet MS" pitchFamily="34" charset="-120"/>
              </a:rPr>
              <a:t>VS</a:t>
            </a:r>
            <a:endParaRPr lang="en-US" sz="1600" dirty="0"/>
          </a:p>
        </p:txBody>
      </p:sp>
      <p:sp>
        <p:nvSpPr>
          <p:cNvPr id="20" name="Text 18"/>
          <p:cNvSpPr/>
          <p:nvPr/>
        </p:nvSpPr>
        <p:spPr>
          <a:xfrm>
            <a:off x="6400800" y="1508760"/>
            <a:ext cx="5212080" cy="457200"/>
          </a:xfrm>
          <a:prstGeom prst="rect">
            <a:avLst/>
          </a:prstGeom>
          <a:noFill/>
          <a:ln/>
        </p:spPr>
        <p:txBody>
          <a:bodyPr wrap="square" rtlCol="0" anchor="ctr"/>
          <a:lstStyle/>
          <a:p>
            <a:pPr marL="0" indent="0" algn="ctr">
              <a:buNone/>
            </a:pPr>
            <a:r>
              <a:rPr lang="en-US" sz="2000" b="1" dirty="0">
                <a:latin typeface="Trebuchet MS" pitchFamily="34" charset="0"/>
                <a:ea typeface="Trebuchet MS" pitchFamily="34" charset="-122"/>
                <a:cs typeface="Trebuchet MS" pitchFamily="34" charset="-120"/>
              </a:rPr>
              <a:t>NEOCLASSICAL</a:t>
            </a:r>
            <a:endParaRPr lang="en-US" sz="2000" dirty="0"/>
          </a:p>
        </p:txBody>
      </p:sp>
      <p:sp>
        <p:nvSpPr>
          <p:cNvPr id="21" name="Text 19"/>
          <p:cNvSpPr/>
          <p:nvPr/>
        </p:nvSpPr>
        <p:spPr>
          <a:xfrm>
            <a:off x="6446520" y="2057400"/>
            <a:ext cx="1828800" cy="502920"/>
          </a:xfrm>
          <a:prstGeom prst="rect">
            <a:avLst/>
          </a:prstGeom>
          <a:noFill/>
          <a:ln/>
        </p:spPr>
        <p:txBody>
          <a:bodyPr wrap="square" rtlCol="0" anchor="ctr"/>
          <a:lstStyle/>
          <a:p>
            <a:pPr marL="0" indent="0">
              <a:buNone/>
            </a:pPr>
            <a:r>
              <a:rPr lang="en-US" b="1" dirty="0">
                <a:latin typeface="Calibri" pitchFamily="34" charset="0"/>
                <a:ea typeface="Calibri" pitchFamily="34" charset="-122"/>
                <a:cs typeface="Calibri" pitchFamily="34" charset="-120"/>
              </a:rPr>
              <a:t>Focus:</a:t>
            </a:r>
            <a:endParaRPr lang="en-US" dirty="0"/>
          </a:p>
        </p:txBody>
      </p:sp>
      <p:sp>
        <p:nvSpPr>
          <p:cNvPr id="22" name="Text 20"/>
          <p:cNvSpPr/>
          <p:nvPr/>
        </p:nvSpPr>
        <p:spPr>
          <a:xfrm>
            <a:off x="8321040" y="2057400"/>
            <a:ext cx="3246120" cy="50292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Long run</a:t>
            </a:r>
            <a:endParaRPr lang="en-US" dirty="0"/>
          </a:p>
        </p:txBody>
      </p:sp>
      <p:sp>
        <p:nvSpPr>
          <p:cNvPr id="23" name="Text 21"/>
          <p:cNvSpPr/>
          <p:nvPr/>
        </p:nvSpPr>
        <p:spPr>
          <a:xfrm>
            <a:off x="6446520" y="2715768"/>
            <a:ext cx="1828800" cy="502920"/>
          </a:xfrm>
          <a:prstGeom prst="rect">
            <a:avLst/>
          </a:prstGeom>
          <a:noFill/>
          <a:ln/>
        </p:spPr>
        <p:txBody>
          <a:bodyPr wrap="square" rtlCol="0" anchor="ctr"/>
          <a:lstStyle/>
          <a:p>
            <a:pPr marL="0" indent="0">
              <a:buNone/>
            </a:pPr>
            <a:r>
              <a:rPr lang="en-US" b="1" dirty="0">
                <a:latin typeface="Calibri" pitchFamily="34" charset="0"/>
                <a:ea typeface="Calibri" pitchFamily="34" charset="-122"/>
                <a:cs typeface="Calibri" pitchFamily="34" charset="-120"/>
              </a:rPr>
              <a:t>Key Driver:</a:t>
            </a:r>
            <a:endParaRPr lang="en-US" dirty="0"/>
          </a:p>
        </p:txBody>
      </p:sp>
      <p:sp>
        <p:nvSpPr>
          <p:cNvPr id="24" name="Text 22"/>
          <p:cNvSpPr/>
          <p:nvPr/>
        </p:nvSpPr>
        <p:spPr>
          <a:xfrm>
            <a:off x="8321040" y="2715768"/>
            <a:ext cx="3246120" cy="50292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Aggregate Supply (potential GDP)</a:t>
            </a:r>
            <a:endParaRPr lang="en-US" dirty="0"/>
          </a:p>
        </p:txBody>
      </p:sp>
      <p:sp>
        <p:nvSpPr>
          <p:cNvPr id="25" name="Text 23"/>
          <p:cNvSpPr/>
          <p:nvPr/>
        </p:nvSpPr>
        <p:spPr>
          <a:xfrm>
            <a:off x="6446520" y="3374136"/>
            <a:ext cx="1828800" cy="502920"/>
          </a:xfrm>
          <a:prstGeom prst="rect">
            <a:avLst/>
          </a:prstGeom>
          <a:noFill/>
          <a:ln/>
        </p:spPr>
        <p:txBody>
          <a:bodyPr wrap="square" rtlCol="0" anchor="ctr"/>
          <a:lstStyle/>
          <a:p>
            <a:pPr marL="0" indent="0">
              <a:buNone/>
            </a:pPr>
            <a:r>
              <a:rPr lang="en-US" b="1" dirty="0">
                <a:latin typeface="Calibri" pitchFamily="34" charset="0"/>
                <a:ea typeface="Calibri" pitchFamily="34" charset="-122"/>
                <a:cs typeface="Calibri" pitchFamily="34" charset="-120"/>
              </a:rPr>
              <a:t>Wages &amp; Prices:</a:t>
            </a:r>
            <a:endParaRPr lang="en-US" dirty="0"/>
          </a:p>
        </p:txBody>
      </p:sp>
      <p:sp>
        <p:nvSpPr>
          <p:cNvPr id="26" name="Text 24"/>
          <p:cNvSpPr/>
          <p:nvPr/>
        </p:nvSpPr>
        <p:spPr>
          <a:xfrm>
            <a:off x="8321040" y="3374136"/>
            <a:ext cx="3246120" cy="50292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Flexible – markets self-correct</a:t>
            </a:r>
            <a:endParaRPr lang="en-US" dirty="0"/>
          </a:p>
        </p:txBody>
      </p:sp>
      <p:sp>
        <p:nvSpPr>
          <p:cNvPr id="27" name="Text 25"/>
          <p:cNvSpPr/>
          <p:nvPr/>
        </p:nvSpPr>
        <p:spPr>
          <a:xfrm>
            <a:off x="6446520" y="4032504"/>
            <a:ext cx="1828800" cy="502920"/>
          </a:xfrm>
          <a:prstGeom prst="rect">
            <a:avLst/>
          </a:prstGeom>
          <a:noFill/>
          <a:ln/>
        </p:spPr>
        <p:txBody>
          <a:bodyPr wrap="square" rtlCol="0" anchor="ctr"/>
          <a:lstStyle/>
          <a:p>
            <a:pPr marL="0" indent="0">
              <a:buNone/>
            </a:pPr>
            <a:r>
              <a:rPr lang="en-US" b="1" dirty="0">
                <a:latin typeface="Calibri" pitchFamily="34" charset="0"/>
                <a:ea typeface="Calibri" pitchFamily="34" charset="-122"/>
                <a:cs typeface="Calibri" pitchFamily="34" charset="-120"/>
              </a:rPr>
              <a:t>Unemployment:</a:t>
            </a:r>
            <a:endParaRPr lang="en-US" dirty="0"/>
          </a:p>
        </p:txBody>
      </p:sp>
      <p:sp>
        <p:nvSpPr>
          <p:cNvPr id="28" name="Text 26"/>
          <p:cNvSpPr/>
          <p:nvPr/>
        </p:nvSpPr>
        <p:spPr>
          <a:xfrm>
            <a:off x="8321040" y="4032504"/>
            <a:ext cx="3246120" cy="50292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Natural rate; target structural/frictional</a:t>
            </a:r>
            <a:endParaRPr lang="en-US" dirty="0"/>
          </a:p>
        </p:txBody>
      </p:sp>
      <p:sp>
        <p:nvSpPr>
          <p:cNvPr id="29" name="Text 27"/>
          <p:cNvSpPr/>
          <p:nvPr/>
        </p:nvSpPr>
        <p:spPr>
          <a:xfrm>
            <a:off x="6446520" y="4690872"/>
            <a:ext cx="1828800" cy="502920"/>
          </a:xfrm>
          <a:prstGeom prst="rect">
            <a:avLst/>
          </a:prstGeom>
          <a:noFill/>
          <a:ln/>
        </p:spPr>
        <p:txBody>
          <a:bodyPr wrap="square" rtlCol="0" anchor="ctr"/>
          <a:lstStyle/>
          <a:p>
            <a:pPr marL="0" indent="0">
              <a:buNone/>
            </a:pPr>
            <a:r>
              <a:rPr lang="en-US" b="1" dirty="0">
                <a:latin typeface="Calibri" pitchFamily="34" charset="0"/>
                <a:ea typeface="Calibri" pitchFamily="34" charset="-122"/>
                <a:cs typeface="Calibri" pitchFamily="34" charset="-120"/>
              </a:rPr>
              <a:t>Policy Tool:</a:t>
            </a:r>
            <a:endParaRPr lang="en-US" dirty="0"/>
          </a:p>
        </p:txBody>
      </p:sp>
      <p:sp>
        <p:nvSpPr>
          <p:cNvPr id="30" name="Text 28"/>
          <p:cNvSpPr/>
          <p:nvPr/>
        </p:nvSpPr>
        <p:spPr>
          <a:xfrm>
            <a:off x="8321040" y="4690872"/>
            <a:ext cx="3246120" cy="50292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Stable rules; supply-side reforms</a:t>
            </a:r>
            <a:endParaRPr lang="en-US" dirty="0"/>
          </a:p>
        </p:txBody>
      </p:sp>
      <p:sp>
        <p:nvSpPr>
          <p:cNvPr id="31" name="Text 29"/>
          <p:cNvSpPr/>
          <p:nvPr/>
        </p:nvSpPr>
        <p:spPr>
          <a:xfrm>
            <a:off x="6446520" y="5349240"/>
            <a:ext cx="1828800" cy="502920"/>
          </a:xfrm>
          <a:prstGeom prst="rect">
            <a:avLst/>
          </a:prstGeom>
          <a:noFill/>
          <a:ln/>
        </p:spPr>
        <p:txBody>
          <a:bodyPr wrap="square" rtlCol="0" anchor="ctr"/>
          <a:lstStyle/>
          <a:p>
            <a:pPr marL="0" indent="0">
              <a:buNone/>
            </a:pPr>
            <a:r>
              <a:rPr lang="en-US" b="1" dirty="0">
                <a:latin typeface="Calibri" pitchFamily="34" charset="0"/>
                <a:ea typeface="Calibri" pitchFamily="34" charset="-122"/>
                <a:cs typeface="Calibri" pitchFamily="34" charset="-120"/>
              </a:rPr>
              <a:t>Expectations:</a:t>
            </a:r>
            <a:endParaRPr lang="en-US" dirty="0"/>
          </a:p>
        </p:txBody>
      </p:sp>
      <p:sp>
        <p:nvSpPr>
          <p:cNvPr id="32" name="Text 30"/>
          <p:cNvSpPr/>
          <p:nvPr/>
        </p:nvSpPr>
        <p:spPr>
          <a:xfrm>
            <a:off x="8321040" y="5349240"/>
            <a:ext cx="3246120" cy="50292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Rational → rapid price adjustment</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9"/>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12188952" cy="1325880"/>
          </a:xfrm>
          <a:prstGeom prst="rect">
            <a:avLst/>
          </a:prstGeom>
          <a:solidFill>
            <a:srgbClr val="28251D"/>
          </a:solidFill>
          <a:ln w="12700">
            <a:solidFill>
              <a:srgbClr val="28251D"/>
            </a:solidFill>
            <a:prstDash val="solid"/>
          </a:ln>
        </p:spPr>
        <p:txBody>
          <a:bodyPr/>
          <a:lstStyle/>
          <a:p>
            <a:endParaRPr lang="en-US"/>
          </a:p>
        </p:txBody>
      </p:sp>
      <p:sp>
        <p:nvSpPr>
          <p:cNvPr id="3" name="Text 1"/>
          <p:cNvSpPr>
            <a:spLocks noGrp="1"/>
          </p:cNvSpPr>
          <p:nvPr>
            <p:ph type="title" idx="4294967295"/>
          </p:nvPr>
        </p:nvSpPr>
        <p:spPr>
          <a:xfrm>
            <a:off x="411480" y="73152"/>
            <a:ext cx="11430000" cy="77724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What Drives Aggregate Demand?</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2"/>
          <p:cNvSpPr/>
          <p:nvPr/>
        </p:nvSpPr>
        <p:spPr>
          <a:xfrm>
            <a:off x="411480" y="868680"/>
            <a:ext cx="11430000" cy="411480"/>
          </a:xfrm>
          <a:prstGeom prst="rect">
            <a:avLst/>
          </a:prstGeom>
          <a:noFill/>
          <a:ln/>
        </p:spPr>
        <p:txBody>
          <a:bodyPr wrap="square" rtlCol="0" anchor="t"/>
          <a:lstStyle/>
          <a:p>
            <a:pPr marL="0" indent="0">
              <a:buNone/>
            </a:pPr>
            <a:r>
              <a:rPr lang="en-US" dirty="0">
                <a:solidFill>
                  <a:schemeClr val="bg1"/>
                </a:solidFill>
                <a:latin typeface="Calibri" pitchFamily="34" charset="0"/>
                <a:ea typeface="Calibri" pitchFamily="34" charset="-122"/>
                <a:cs typeface="Calibri" pitchFamily="34" charset="-120"/>
              </a:rPr>
              <a:t>AD = C + I + G + (X − M)</a:t>
            </a:r>
            <a:endParaRPr lang="en-US" dirty="0">
              <a:solidFill>
                <a:schemeClr val="bg1"/>
              </a:solidFill>
            </a:endParaRPr>
          </a:p>
        </p:txBody>
      </p:sp>
      <p:sp>
        <p:nvSpPr>
          <p:cNvPr id="5" name="Shape 3">
            <a:extLst>
              <a:ext uri="{C183D7F6-B498-43B3-948B-1728B52AA6E4}">
                <adec:decorative xmlns:adec="http://schemas.microsoft.com/office/drawing/2017/decorative" val="1"/>
              </a:ext>
            </a:extLst>
          </p:cNvPr>
          <p:cNvSpPr/>
          <p:nvPr/>
        </p:nvSpPr>
        <p:spPr>
          <a:xfrm>
            <a:off x="320040" y="1417320"/>
            <a:ext cx="2743200" cy="5074920"/>
          </a:xfrm>
          <a:prstGeom prst="rect">
            <a:avLst/>
          </a:prstGeom>
          <a:solidFill>
            <a:srgbClr val="FFFFFF"/>
          </a:solidFill>
          <a:ln w="12700">
            <a:solidFill>
              <a:srgbClr val="01696F"/>
            </a:solidFill>
            <a:prstDash val="solid"/>
          </a:ln>
        </p:spPr>
        <p:txBody>
          <a:bodyPr/>
          <a:lstStyle/>
          <a:p>
            <a:endParaRPr lang="en-US"/>
          </a:p>
        </p:txBody>
      </p:sp>
      <p:sp>
        <p:nvSpPr>
          <p:cNvPr id="6" name="Shape 4">
            <a:extLst>
              <a:ext uri="{C183D7F6-B498-43B3-948B-1728B52AA6E4}">
                <adec:decorative xmlns:adec="http://schemas.microsoft.com/office/drawing/2017/decorative" val="1"/>
              </a:ext>
            </a:extLst>
          </p:cNvPr>
          <p:cNvSpPr/>
          <p:nvPr/>
        </p:nvSpPr>
        <p:spPr>
          <a:xfrm>
            <a:off x="320040" y="1417320"/>
            <a:ext cx="2743200" cy="566928"/>
          </a:xfrm>
          <a:prstGeom prst="rect">
            <a:avLst/>
          </a:prstGeom>
          <a:solidFill>
            <a:srgbClr val="01696F"/>
          </a:solidFill>
          <a:ln w="12700">
            <a:solidFill>
              <a:srgbClr val="01696F"/>
            </a:solidFill>
            <a:prstDash val="solid"/>
          </a:ln>
        </p:spPr>
        <p:txBody>
          <a:bodyPr/>
          <a:lstStyle/>
          <a:p>
            <a:endParaRPr lang="en-US"/>
          </a:p>
        </p:txBody>
      </p:sp>
      <p:sp>
        <p:nvSpPr>
          <p:cNvPr id="7" name="Text 5"/>
          <p:cNvSpPr/>
          <p:nvPr/>
        </p:nvSpPr>
        <p:spPr>
          <a:xfrm>
            <a:off x="393192" y="1444752"/>
            <a:ext cx="2596896" cy="502920"/>
          </a:xfrm>
          <a:prstGeom prst="rect">
            <a:avLst/>
          </a:prstGeom>
          <a:noFill/>
          <a:ln/>
        </p:spPr>
        <p:txBody>
          <a:bodyPr wrap="square"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C  Consumption</a:t>
            </a:r>
            <a:endParaRPr lang="en-US" sz="2000" dirty="0"/>
          </a:p>
        </p:txBody>
      </p:sp>
      <p:sp>
        <p:nvSpPr>
          <p:cNvPr id="8" name="Text 6"/>
          <p:cNvSpPr/>
          <p:nvPr/>
        </p:nvSpPr>
        <p:spPr>
          <a:xfrm>
            <a:off x="429768" y="2103120"/>
            <a:ext cx="2514600" cy="594360"/>
          </a:xfrm>
          <a:prstGeom prst="rect">
            <a:avLst/>
          </a:prstGeom>
          <a:noFill/>
          <a:ln/>
        </p:spPr>
        <p:txBody>
          <a:bodyPr wrap="square" rtlCol="0" anchor="ctr"/>
          <a:lstStyle/>
          <a:p>
            <a:pPr marL="0" indent="0">
              <a:buNone/>
            </a:pPr>
            <a:r>
              <a:rPr lang="en-US" dirty="0">
                <a:solidFill>
                  <a:srgbClr val="28251D"/>
                </a:solidFill>
                <a:latin typeface="Calibri" pitchFamily="34" charset="0"/>
                <a:ea typeface="Calibri" pitchFamily="34" charset="-122"/>
                <a:cs typeface="Calibri" pitchFamily="34" charset="-120"/>
              </a:rPr>
              <a:t>• Disposable income</a:t>
            </a:r>
            <a:endParaRPr lang="en-US" dirty="0"/>
          </a:p>
        </p:txBody>
      </p:sp>
      <p:sp>
        <p:nvSpPr>
          <p:cNvPr id="9" name="Text 7"/>
          <p:cNvSpPr/>
          <p:nvPr/>
        </p:nvSpPr>
        <p:spPr>
          <a:xfrm>
            <a:off x="429768" y="2761488"/>
            <a:ext cx="2514600" cy="594360"/>
          </a:xfrm>
          <a:prstGeom prst="rect">
            <a:avLst/>
          </a:prstGeom>
          <a:noFill/>
          <a:ln/>
        </p:spPr>
        <p:txBody>
          <a:bodyPr wrap="square" rtlCol="0" anchor="ctr"/>
          <a:lstStyle/>
          <a:p>
            <a:pPr marL="0" indent="0">
              <a:buNone/>
            </a:pPr>
            <a:r>
              <a:rPr lang="en-US" dirty="0">
                <a:solidFill>
                  <a:srgbClr val="28251D"/>
                </a:solidFill>
                <a:latin typeface="Calibri" pitchFamily="34" charset="0"/>
                <a:ea typeface="Calibri" pitchFamily="34" charset="-122"/>
                <a:cs typeface="Calibri" pitchFamily="34" charset="-120"/>
              </a:rPr>
              <a:t>• Expected future income</a:t>
            </a:r>
            <a:endParaRPr lang="en-US" dirty="0"/>
          </a:p>
        </p:txBody>
      </p:sp>
      <p:sp>
        <p:nvSpPr>
          <p:cNvPr id="10" name="Text 8"/>
          <p:cNvSpPr/>
          <p:nvPr/>
        </p:nvSpPr>
        <p:spPr>
          <a:xfrm>
            <a:off x="429768" y="3419856"/>
            <a:ext cx="2514600" cy="594360"/>
          </a:xfrm>
          <a:prstGeom prst="rect">
            <a:avLst/>
          </a:prstGeom>
          <a:noFill/>
          <a:ln/>
        </p:spPr>
        <p:txBody>
          <a:bodyPr wrap="square" rtlCol="0" anchor="ctr"/>
          <a:lstStyle/>
          <a:p>
            <a:pPr marL="0" indent="0">
              <a:buNone/>
            </a:pPr>
            <a:r>
              <a:rPr lang="en-US" dirty="0">
                <a:solidFill>
                  <a:srgbClr val="28251D"/>
                </a:solidFill>
                <a:latin typeface="Calibri" pitchFamily="34" charset="0"/>
                <a:ea typeface="Calibri" pitchFamily="34" charset="-122"/>
                <a:cs typeface="Calibri" pitchFamily="34" charset="-120"/>
              </a:rPr>
              <a:t>• Wealth &amp; credit access</a:t>
            </a:r>
            <a:endParaRPr lang="en-US" dirty="0"/>
          </a:p>
        </p:txBody>
      </p:sp>
      <p:sp>
        <p:nvSpPr>
          <p:cNvPr id="11" name="Shape 9">
            <a:extLst>
              <a:ext uri="{C183D7F6-B498-43B3-948B-1728B52AA6E4}">
                <adec:decorative xmlns:adec="http://schemas.microsoft.com/office/drawing/2017/decorative" val="1"/>
              </a:ext>
            </a:extLst>
          </p:cNvPr>
          <p:cNvSpPr/>
          <p:nvPr/>
        </p:nvSpPr>
        <p:spPr>
          <a:xfrm>
            <a:off x="3246120" y="1417320"/>
            <a:ext cx="2743200" cy="5074920"/>
          </a:xfrm>
          <a:prstGeom prst="rect">
            <a:avLst/>
          </a:prstGeom>
          <a:solidFill>
            <a:srgbClr val="FFFFFF"/>
          </a:solidFill>
          <a:ln w="12700">
            <a:solidFill>
              <a:srgbClr val="A84B2F"/>
            </a:solidFill>
            <a:prstDash val="solid"/>
          </a:ln>
        </p:spPr>
        <p:txBody>
          <a:bodyPr/>
          <a:lstStyle/>
          <a:p>
            <a:endParaRPr lang="en-US"/>
          </a:p>
        </p:txBody>
      </p:sp>
      <p:sp>
        <p:nvSpPr>
          <p:cNvPr id="12" name="Shape 10">
            <a:extLst>
              <a:ext uri="{C183D7F6-B498-43B3-948B-1728B52AA6E4}">
                <adec:decorative xmlns:adec="http://schemas.microsoft.com/office/drawing/2017/decorative" val="1"/>
              </a:ext>
            </a:extLst>
          </p:cNvPr>
          <p:cNvSpPr/>
          <p:nvPr/>
        </p:nvSpPr>
        <p:spPr>
          <a:xfrm>
            <a:off x="3246120" y="1417320"/>
            <a:ext cx="2743200" cy="566928"/>
          </a:xfrm>
          <a:prstGeom prst="rect">
            <a:avLst/>
          </a:prstGeom>
          <a:solidFill>
            <a:srgbClr val="A84B2F"/>
          </a:solidFill>
          <a:ln w="12700">
            <a:solidFill>
              <a:srgbClr val="A84B2F"/>
            </a:solidFill>
            <a:prstDash val="solid"/>
          </a:ln>
        </p:spPr>
        <p:txBody>
          <a:bodyPr/>
          <a:lstStyle/>
          <a:p>
            <a:endParaRPr lang="en-US"/>
          </a:p>
        </p:txBody>
      </p:sp>
      <p:sp>
        <p:nvSpPr>
          <p:cNvPr id="13" name="Text 11"/>
          <p:cNvSpPr/>
          <p:nvPr/>
        </p:nvSpPr>
        <p:spPr>
          <a:xfrm>
            <a:off x="3319272" y="1444752"/>
            <a:ext cx="2596896" cy="502920"/>
          </a:xfrm>
          <a:prstGeom prst="rect">
            <a:avLst/>
          </a:prstGeom>
          <a:noFill/>
          <a:ln/>
        </p:spPr>
        <p:txBody>
          <a:bodyPr wrap="square"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I  Investment</a:t>
            </a:r>
            <a:endParaRPr lang="en-US" sz="2000" dirty="0"/>
          </a:p>
        </p:txBody>
      </p:sp>
      <p:sp>
        <p:nvSpPr>
          <p:cNvPr id="14" name="Text 12"/>
          <p:cNvSpPr/>
          <p:nvPr/>
        </p:nvSpPr>
        <p:spPr>
          <a:xfrm>
            <a:off x="3355848" y="2103120"/>
            <a:ext cx="2514600" cy="594360"/>
          </a:xfrm>
          <a:prstGeom prst="rect">
            <a:avLst/>
          </a:prstGeom>
          <a:noFill/>
          <a:ln/>
        </p:spPr>
        <p:txBody>
          <a:bodyPr wrap="square" rtlCol="0" anchor="ctr"/>
          <a:lstStyle/>
          <a:p>
            <a:pPr marL="0" indent="0">
              <a:buNone/>
            </a:pPr>
            <a:r>
              <a:rPr lang="en-US" dirty="0">
                <a:solidFill>
                  <a:srgbClr val="28251D"/>
                </a:solidFill>
                <a:latin typeface="Calibri" pitchFamily="34" charset="0"/>
                <a:ea typeface="Calibri" pitchFamily="34" charset="-122"/>
                <a:cs typeface="Calibri" pitchFamily="34" charset="-120"/>
              </a:rPr>
              <a:t>• Expected profit &amp; confidence</a:t>
            </a:r>
            <a:endParaRPr lang="en-US" dirty="0"/>
          </a:p>
        </p:txBody>
      </p:sp>
      <p:sp>
        <p:nvSpPr>
          <p:cNvPr id="15" name="Text 13"/>
          <p:cNvSpPr/>
          <p:nvPr/>
        </p:nvSpPr>
        <p:spPr>
          <a:xfrm>
            <a:off x="3355848" y="2761488"/>
            <a:ext cx="2514600" cy="594360"/>
          </a:xfrm>
          <a:prstGeom prst="rect">
            <a:avLst/>
          </a:prstGeom>
          <a:noFill/>
          <a:ln/>
        </p:spPr>
        <p:txBody>
          <a:bodyPr wrap="square" rtlCol="0" anchor="ctr"/>
          <a:lstStyle/>
          <a:p>
            <a:pPr marL="0" indent="0">
              <a:buNone/>
            </a:pPr>
            <a:r>
              <a:rPr lang="en-US" dirty="0">
                <a:solidFill>
                  <a:srgbClr val="28251D"/>
                </a:solidFill>
                <a:latin typeface="Calibri" pitchFamily="34" charset="0"/>
                <a:ea typeface="Calibri" pitchFamily="34" charset="-122"/>
                <a:cs typeface="Calibri" pitchFamily="34" charset="-120"/>
              </a:rPr>
              <a:t>• Interest rates (↓ rates → ↑ invest.)</a:t>
            </a:r>
            <a:endParaRPr lang="en-US" dirty="0"/>
          </a:p>
        </p:txBody>
      </p:sp>
      <p:sp>
        <p:nvSpPr>
          <p:cNvPr id="16" name="Text 14"/>
          <p:cNvSpPr/>
          <p:nvPr/>
        </p:nvSpPr>
        <p:spPr>
          <a:xfrm>
            <a:off x="3355848" y="3419856"/>
            <a:ext cx="2514600" cy="594360"/>
          </a:xfrm>
          <a:prstGeom prst="rect">
            <a:avLst/>
          </a:prstGeom>
          <a:noFill/>
          <a:ln/>
        </p:spPr>
        <p:txBody>
          <a:bodyPr wrap="square" rtlCol="0" anchor="ctr"/>
          <a:lstStyle/>
          <a:p>
            <a:pPr marL="0" indent="0">
              <a:buNone/>
            </a:pPr>
            <a:r>
              <a:rPr lang="en-US" dirty="0">
                <a:solidFill>
                  <a:srgbClr val="28251D"/>
                </a:solidFill>
                <a:latin typeface="Calibri" pitchFamily="34" charset="0"/>
                <a:ea typeface="Calibri" pitchFamily="34" charset="-122"/>
                <a:cs typeface="Calibri" pitchFamily="34" charset="-120"/>
              </a:rPr>
              <a:t>• Energy prices &amp; tax incentives</a:t>
            </a:r>
            <a:endParaRPr lang="en-US" dirty="0"/>
          </a:p>
        </p:txBody>
      </p:sp>
      <p:sp>
        <p:nvSpPr>
          <p:cNvPr id="17" name="Shape 15">
            <a:extLst>
              <a:ext uri="{C183D7F6-B498-43B3-948B-1728B52AA6E4}">
                <adec:decorative xmlns:adec="http://schemas.microsoft.com/office/drawing/2017/decorative" val="1"/>
              </a:ext>
            </a:extLst>
          </p:cNvPr>
          <p:cNvSpPr/>
          <p:nvPr/>
        </p:nvSpPr>
        <p:spPr>
          <a:xfrm>
            <a:off x="6172200" y="1417320"/>
            <a:ext cx="2743200" cy="5074920"/>
          </a:xfrm>
          <a:prstGeom prst="rect">
            <a:avLst/>
          </a:prstGeom>
          <a:solidFill>
            <a:srgbClr val="FFFFFF"/>
          </a:solidFill>
          <a:ln w="12700">
            <a:solidFill>
              <a:srgbClr val="C08000"/>
            </a:solidFill>
            <a:prstDash val="solid"/>
          </a:ln>
        </p:spPr>
        <p:txBody>
          <a:bodyPr/>
          <a:lstStyle/>
          <a:p>
            <a:endParaRPr lang="en-US"/>
          </a:p>
        </p:txBody>
      </p:sp>
      <p:sp>
        <p:nvSpPr>
          <p:cNvPr id="18" name="Shape 16">
            <a:extLst>
              <a:ext uri="{C183D7F6-B498-43B3-948B-1728B52AA6E4}">
                <adec:decorative xmlns:adec="http://schemas.microsoft.com/office/drawing/2017/decorative" val="1"/>
              </a:ext>
            </a:extLst>
          </p:cNvPr>
          <p:cNvSpPr/>
          <p:nvPr/>
        </p:nvSpPr>
        <p:spPr>
          <a:xfrm>
            <a:off x="6172200" y="1417320"/>
            <a:ext cx="2743200" cy="566928"/>
          </a:xfrm>
          <a:prstGeom prst="rect">
            <a:avLst/>
          </a:prstGeom>
          <a:solidFill>
            <a:srgbClr val="C08000"/>
          </a:solidFill>
          <a:ln w="12700">
            <a:solidFill>
              <a:srgbClr val="C08000"/>
            </a:solidFill>
            <a:prstDash val="solid"/>
          </a:ln>
        </p:spPr>
        <p:txBody>
          <a:bodyPr/>
          <a:lstStyle/>
          <a:p>
            <a:endParaRPr lang="en-US" sz="2000"/>
          </a:p>
        </p:txBody>
      </p:sp>
      <p:sp>
        <p:nvSpPr>
          <p:cNvPr id="19" name="Text 17"/>
          <p:cNvSpPr/>
          <p:nvPr/>
        </p:nvSpPr>
        <p:spPr>
          <a:xfrm>
            <a:off x="6245352" y="1444752"/>
            <a:ext cx="2596896" cy="502920"/>
          </a:xfrm>
          <a:prstGeom prst="rect">
            <a:avLst/>
          </a:prstGeom>
          <a:noFill/>
          <a:ln/>
        </p:spPr>
        <p:txBody>
          <a:bodyPr wrap="square"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G  Government</a:t>
            </a:r>
            <a:endParaRPr lang="en-US" sz="2000" dirty="0"/>
          </a:p>
        </p:txBody>
      </p:sp>
      <p:sp>
        <p:nvSpPr>
          <p:cNvPr id="20" name="Text 18"/>
          <p:cNvSpPr/>
          <p:nvPr/>
        </p:nvSpPr>
        <p:spPr>
          <a:xfrm>
            <a:off x="6281928" y="2103120"/>
            <a:ext cx="2514600" cy="594360"/>
          </a:xfrm>
          <a:prstGeom prst="rect">
            <a:avLst/>
          </a:prstGeom>
          <a:noFill/>
          <a:ln/>
        </p:spPr>
        <p:txBody>
          <a:bodyPr wrap="square" rtlCol="0" anchor="ctr"/>
          <a:lstStyle/>
          <a:p>
            <a:pPr marL="0" indent="0">
              <a:buNone/>
            </a:pPr>
            <a:r>
              <a:rPr lang="en-US" dirty="0">
                <a:solidFill>
                  <a:srgbClr val="28251D"/>
                </a:solidFill>
                <a:latin typeface="Calibri" pitchFamily="34" charset="0"/>
                <a:ea typeface="Calibri" pitchFamily="34" charset="-122"/>
                <a:cs typeface="Calibri" pitchFamily="34" charset="-120"/>
              </a:rPr>
              <a:t>• Federal + state + local spending</a:t>
            </a:r>
            <a:endParaRPr lang="en-US" dirty="0"/>
          </a:p>
        </p:txBody>
      </p:sp>
      <p:sp>
        <p:nvSpPr>
          <p:cNvPr id="21" name="Text 19"/>
          <p:cNvSpPr/>
          <p:nvPr/>
        </p:nvSpPr>
        <p:spPr>
          <a:xfrm>
            <a:off x="6281928" y="2761488"/>
            <a:ext cx="2514600" cy="594360"/>
          </a:xfrm>
          <a:prstGeom prst="rect">
            <a:avLst/>
          </a:prstGeom>
          <a:noFill/>
          <a:ln/>
        </p:spPr>
        <p:txBody>
          <a:bodyPr wrap="square" rtlCol="0" anchor="ctr"/>
          <a:lstStyle/>
          <a:p>
            <a:pPr marL="0" indent="0">
              <a:buNone/>
            </a:pPr>
            <a:r>
              <a:rPr lang="en-US" dirty="0">
                <a:solidFill>
                  <a:srgbClr val="28251D"/>
                </a:solidFill>
                <a:latin typeface="Calibri" pitchFamily="34" charset="0"/>
                <a:ea typeface="Calibri" pitchFamily="34" charset="-122"/>
                <a:cs typeface="Calibri" pitchFamily="34" charset="-120"/>
              </a:rPr>
              <a:t>• Tax policy</a:t>
            </a:r>
            <a:endParaRPr lang="en-US" dirty="0"/>
          </a:p>
        </p:txBody>
      </p:sp>
      <p:sp>
        <p:nvSpPr>
          <p:cNvPr id="22" name="Text 20"/>
          <p:cNvSpPr/>
          <p:nvPr/>
        </p:nvSpPr>
        <p:spPr>
          <a:xfrm>
            <a:off x="6281928" y="3419856"/>
            <a:ext cx="2514600" cy="594360"/>
          </a:xfrm>
          <a:prstGeom prst="rect">
            <a:avLst/>
          </a:prstGeom>
          <a:noFill/>
          <a:ln/>
        </p:spPr>
        <p:txBody>
          <a:bodyPr wrap="square" rtlCol="0" anchor="ctr"/>
          <a:lstStyle/>
          <a:p>
            <a:pPr marL="0" indent="0">
              <a:buNone/>
            </a:pPr>
            <a:r>
              <a:rPr lang="en-US" dirty="0">
                <a:solidFill>
                  <a:srgbClr val="28251D"/>
                </a:solidFill>
                <a:latin typeface="Calibri" pitchFamily="34" charset="0"/>
                <a:ea typeface="Calibri" pitchFamily="34" charset="-122"/>
                <a:cs typeface="Calibri" pitchFamily="34" charset="-120"/>
              </a:rPr>
              <a:t>• Key stabilizer in recessions</a:t>
            </a:r>
            <a:endParaRPr lang="en-US" dirty="0"/>
          </a:p>
        </p:txBody>
      </p:sp>
      <p:sp>
        <p:nvSpPr>
          <p:cNvPr id="23" name="Shape 21">
            <a:extLst>
              <a:ext uri="{C183D7F6-B498-43B3-948B-1728B52AA6E4}">
                <adec:decorative xmlns:adec="http://schemas.microsoft.com/office/drawing/2017/decorative" val="1"/>
              </a:ext>
            </a:extLst>
          </p:cNvPr>
          <p:cNvSpPr/>
          <p:nvPr/>
        </p:nvSpPr>
        <p:spPr>
          <a:xfrm>
            <a:off x="9098280" y="1417320"/>
            <a:ext cx="2743200" cy="5074920"/>
          </a:xfrm>
          <a:prstGeom prst="rect">
            <a:avLst/>
          </a:prstGeom>
          <a:solidFill>
            <a:srgbClr val="FFFFFF"/>
          </a:solidFill>
          <a:ln w="12700">
            <a:solidFill>
              <a:srgbClr val="1B474D"/>
            </a:solidFill>
            <a:prstDash val="solid"/>
          </a:ln>
        </p:spPr>
        <p:txBody>
          <a:bodyPr/>
          <a:lstStyle/>
          <a:p>
            <a:endParaRPr lang="en-US"/>
          </a:p>
        </p:txBody>
      </p:sp>
      <p:sp>
        <p:nvSpPr>
          <p:cNvPr id="24" name="Shape 22">
            <a:extLst>
              <a:ext uri="{C183D7F6-B498-43B3-948B-1728B52AA6E4}">
                <adec:decorative xmlns:adec="http://schemas.microsoft.com/office/drawing/2017/decorative" val="1"/>
              </a:ext>
            </a:extLst>
          </p:cNvPr>
          <p:cNvSpPr/>
          <p:nvPr/>
        </p:nvSpPr>
        <p:spPr>
          <a:xfrm>
            <a:off x="9098280" y="1417320"/>
            <a:ext cx="2743200" cy="566928"/>
          </a:xfrm>
          <a:prstGeom prst="rect">
            <a:avLst/>
          </a:prstGeom>
          <a:solidFill>
            <a:srgbClr val="1B474D"/>
          </a:solidFill>
          <a:ln w="12700">
            <a:solidFill>
              <a:srgbClr val="1B474D"/>
            </a:solidFill>
            <a:prstDash val="solid"/>
          </a:ln>
        </p:spPr>
        <p:txBody>
          <a:bodyPr/>
          <a:lstStyle/>
          <a:p>
            <a:endParaRPr lang="en-US"/>
          </a:p>
        </p:txBody>
      </p:sp>
      <p:sp>
        <p:nvSpPr>
          <p:cNvPr id="25" name="Text 23"/>
          <p:cNvSpPr/>
          <p:nvPr/>
        </p:nvSpPr>
        <p:spPr>
          <a:xfrm>
            <a:off x="9171432" y="1444752"/>
            <a:ext cx="2596896" cy="502920"/>
          </a:xfrm>
          <a:prstGeom prst="rect">
            <a:avLst/>
          </a:prstGeom>
          <a:noFill/>
          <a:ln/>
        </p:spPr>
        <p:txBody>
          <a:bodyPr wrap="square"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NX  Net Exports</a:t>
            </a:r>
            <a:endParaRPr lang="en-US" sz="2000" dirty="0"/>
          </a:p>
        </p:txBody>
      </p:sp>
      <p:sp>
        <p:nvSpPr>
          <p:cNvPr id="26" name="Text 24"/>
          <p:cNvSpPr/>
          <p:nvPr/>
        </p:nvSpPr>
        <p:spPr>
          <a:xfrm>
            <a:off x="9208008" y="2103120"/>
            <a:ext cx="2514600" cy="594360"/>
          </a:xfrm>
          <a:prstGeom prst="rect">
            <a:avLst/>
          </a:prstGeom>
          <a:noFill/>
          <a:ln/>
        </p:spPr>
        <p:txBody>
          <a:bodyPr wrap="square" rtlCol="0" anchor="ctr"/>
          <a:lstStyle/>
          <a:p>
            <a:pPr marL="0" indent="0">
              <a:buNone/>
            </a:pPr>
            <a:r>
              <a:rPr lang="en-US" dirty="0">
                <a:solidFill>
                  <a:srgbClr val="28251D"/>
                </a:solidFill>
                <a:latin typeface="Calibri" pitchFamily="34" charset="0"/>
                <a:ea typeface="Calibri" pitchFamily="34" charset="-122"/>
                <a:cs typeface="Calibri" pitchFamily="34" charset="-120"/>
              </a:rPr>
              <a:t>• Foreign growth rates</a:t>
            </a:r>
            <a:endParaRPr lang="en-US" dirty="0"/>
          </a:p>
        </p:txBody>
      </p:sp>
      <p:sp>
        <p:nvSpPr>
          <p:cNvPr id="27" name="Text 25"/>
          <p:cNvSpPr/>
          <p:nvPr/>
        </p:nvSpPr>
        <p:spPr>
          <a:xfrm>
            <a:off x="9208008" y="2761488"/>
            <a:ext cx="2514600" cy="594360"/>
          </a:xfrm>
          <a:prstGeom prst="rect">
            <a:avLst/>
          </a:prstGeom>
          <a:noFill/>
          <a:ln/>
        </p:spPr>
        <p:txBody>
          <a:bodyPr wrap="square" rtlCol="0" anchor="ctr"/>
          <a:lstStyle/>
          <a:p>
            <a:pPr marL="0" indent="0">
              <a:buNone/>
            </a:pPr>
            <a:r>
              <a:rPr lang="en-US" dirty="0">
                <a:solidFill>
                  <a:srgbClr val="28251D"/>
                </a:solidFill>
                <a:latin typeface="Calibri" pitchFamily="34" charset="0"/>
                <a:ea typeface="Calibri" pitchFamily="34" charset="-122"/>
                <a:cs typeface="Calibri" pitchFamily="34" charset="-120"/>
              </a:rPr>
              <a:t>• Relative price levels</a:t>
            </a:r>
            <a:endParaRPr lang="en-US" dirty="0"/>
          </a:p>
        </p:txBody>
      </p:sp>
      <p:sp>
        <p:nvSpPr>
          <p:cNvPr id="28" name="Text 26"/>
          <p:cNvSpPr/>
          <p:nvPr/>
        </p:nvSpPr>
        <p:spPr>
          <a:xfrm>
            <a:off x="9208008" y="3419856"/>
            <a:ext cx="2514600" cy="594360"/>
          </a:xfrm>
          <a:prstGeom prst="rect">
            <a:avLst/>
          </a:prstGeom>
          <a:noFill/>
          <a:ln/>
        </p:spPr>
        <p:txBody>
          <a:bodyPr wrap="square" rtlCol="0" anchor="ctr"/>
          <a:lstStyle/>
          <a:p>
            <a:pPr marL="0" indent="0">
              <a:buNone/>
            </a:pPr>
            <a:r>
              <a:rPr lang="en-US" dirty="0">
                <a:solidFill>
                  <a:srgbClr val="28251D"/>
                </a:solidFill>
                <a:latin typeface="Calibri" pitchFamily="34" charset="0"/>
                <a:ea typeface="Calibri" pitchFamily="34" charset="-122"/>
                <a:cs typeface="Calibri" pitchFamily="34" charset="-120"/>
              </a:rPr>
              <a:t>• Exchange rate movements</a:t>
            </a:r>
            <a:endParaRPr lang="en-US" dirty="0"/>
          </a:p>
        </p:txBody>
      </p:sp>
      <p:sp>
        <p:nvSpPr>
          <p:cNvPr id="29" name="Shape 27">
            <a:extLst>
              <a:ext uri="{C183D7F6-B498-43B3-948B-1728B52AA6E4}">
                <adec:decorative xmlns:adec="http://schemas.microsoft.com/office/drawing/2017/decorative" val="1"/>
              </a:ext>
            </a:extLst>
          </p:cNvPr>
          <p:cNvSpPr/>
          <p:nvPr/>
        </p:nvSpPr>
        <p:spPr>
          <a:xfrm>
            <a:off x="320040" y="6035040"/>
            <a:ext cx="11521440" cy="411480"/>
          </a:xfrm>
          <a:prstGeom prst="rect">
            <a:avLst/>
          </a:prstGeom>
          <a:solidFill>
            <a:srgbClr val="E8F5F6"/>
          </a:solidFill>
          <a:ln w="12700">
            <a:solidFill>
              <a:srgbClr val="01696F"/>
            </a:solidFill>
            <a:prstDash val="solid"/>
          </a:ln>
        </p:spPr>
        <p:txBody>
          <a:bodyPr/>
          <a:lstStyle/>
          <a:p>
            <a:endParaRPr lang="en-US"/>
          </a:p>
        </p:txBody>
      </p:sp>
      <p:sp>
        <p:nvSpPr>
          <p:cNvPr id="30" name="Text 28"/>
          <p:cNvSpPr/>
          <p:nvPr/>
        </p:nvSpPr>
        <p:spPr>
          <a:xfrm>
            <a:off x="457200" y="6053328"/>
            <a:ext cx="11247120" cy="384048"/>
          </a:xfrm>
          <a:prstGeom prst="rect">
            <a:avLst/>
          </a:prstGeom>
          <a:noFill/>
          <a:ln/>
        </p:spPr>
        <p:txBody>
          <a:bodyPr wrap="square" rtlCol="0" anchor="ctr"/>
          <a:lstStyle/>
          <a:p>
            <a:pPr marL="0" indent="0">
              <a:buNone/>
            </a:pPr>
            <a:r>
              <a:rPr lang="en-US" b="1" dirty="0">
                <a:latin typeface="Calibri" pitchFamily="34" charset="0"/>
                <a:ea typeface="Calibri" pitchFamily="34" charset="-122"/>
                <a:cs typeface="Calibri" pitchFamily="34" charset="-120"/>
              </a:rPr>
              <a:t>Key Keynesian insight: AD is volatile — businesses invest based on confidence ('animal spirits'), not just cold math.</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9"/>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12188952" cy="1325880"/>
          </a:xfrm>
          <a:prstGeom prst="rect">
            <a:avLst/>
          </a:prstGeom>
          <a:solidFill>
            <a:srgbClr val="28251D"/>
          </a:solidFill>
          <a:ln w="12700">
            <a:solidFill>
              <a:srgbClr val="28251D"/>
            </a:solidFill>
            <a:prstDash val="solid"/>
          </a:ln>
        </p:spPr>
        <p:txBody>
          <a:bodyPr/>
          <a:lstStyle/>
          <a:p>
            <a:endParaRPr lang="en-US"/>
          </a:p>
        </p:txBody>
      </p:sp>
      <p:sp>
        <p:nvSpPr>
          <p:cNvPr id="3" name="Text 1"/>
          <p:cNvSpPr>
            <a:spLocks noGrp="1"/>
          </p:cNvSpPr>
          <p:nvPr>
            <p:ph type="title" idx="4294967295"/>
          </p:nvPr>
        </p:nvSpPr>
        <p:spPr>
          <a:xfrm>
            <a:off x="411480" y="73152"/>
            <a:ext cx="11430000" cy="77724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AD Shift Quick Reference</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2"/>
          <p:cNvSpPr/>
          <p:nvPr/>
        </p:nvSpPr>
        <p:spPr>
          <a:xfrm>
            <a:off x="411480" y="868680"/>
            <a:ext cx="11430000" cy="411480"/>
          </a:xfrm>
          <a:prstGeom prst="rect">
            <a:avLst/>
          </a:prstGeom>
          <a:noFill/>
          <a:ln/>
        </p:spPr>
        <p:txBody>
          <a:bodyPr wrap="square" rtlCol="0" anchor="t"/>
          <a:lstStyle/>
          <a:p>
            <a:pPr marL="0" indent="0">
              <a:buNone/>
            </a:pPr>
            <a:r>
              <a:rPr lang="en-US" dirty="0">
                <a:solidFill>
                  <a:schemeClr val="bg1"/>
                </a:solidFill>
                <a:latin typeface="Calibri" pitchFamily="34" charset="0"/>
                <a:ea typeface="Calibri" pitchFamily="34" charset="-122"/>
                <a:cs typeface="Calibri" pitchFamily="34" charset="-120"/>
              </a:rPr>
              <a:t>What moves aggregate demand left or right?</a:t>
            </a:r>
            <a:endParaRPr lang="en-US" dirty="0">
              <a:solidFill>
                <a:schemeClr val="bg1"/>
              </a:solidFill>
            </a:endParaRPr>
          </a:p>
        </p:txBody>
      </p:sp>
      <p:graphicFrame>
        <p:nvGraphicFramePr>
          <p:cNvPr id="5" name="Table 0"/>
          <p:cNvGraphicFramePr>
            <a:graphicFrameLocks noGrp="1"/>
          </p:cNvGraphicFramePr>
          <p:nvPr>
            <p:extLst>
              <p:ext uri="{D42A27DB-BD31-4B8C-83A1-F6EECF244321}">
                <p14:modId xmlns:p14="http://schemas.microsoft.com/office/powerpoint/2010/main" val="2487631672"/>
              </p:ext>
            </p:extLst>
          </p:nvPr>
        </p:nvGraphicFramePr>
        <p:xfrm>
          <a:off x="320040" y="1463040"/>
          <a:ext cx="11521440" cy="4343400"/>
        </p:xfrm>
        <a:graphic>
          <a:graphicData uri="http://schemas.openxmlformats.org/drawingml/2006/table">
            <a:tbl>
              <a:tblPr firstRow="1"/>
              <a:tblGrid>
                <a:gridCol w="3010182">
                  <a:extLst>
                    <a:ext uri="{9D8B030D-6E8A-4147-A177-3AD203B41FA5}">
                      <a16:colId xmlns:a16="http://schemas.microsoft.com/office/drawing/2014/main" val="20000"/>
                    </a:ext>
                  </a:extLst>
                </a:gridCol>
                <a:gridCol w="4334934">
                  <a:extLst>
                    <a:ext uri="{9D8B030D-6E8A-4147-A177-3AD203B41FA5}">
                      <a16:colId xmlns:a16="http://schemas.microsoft.com/office/drawing/2014/main" val="20001"/>
                    </a:ext>
                  </a:extLst>
                </a:gridCol>
                <a:gridCol w="4176324">
                  <a:extLst>
                    <a:ext uri="{9D8B030D-6E8A-4147-A177-3AD203B41FA5}">
                      <a16:colId xmlns:a16="http://schemas.microsoft.com/office/drawing/2014/main" val="20002"/>
                    </a:ext>
                  </a:extLst>
                </a:gridCol>
              </a:tblGrid>
              <a:tr h="868680">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Component</a:t>
                      </a:r>
                      <a:endParaRPr lang="en-US" sz="2400" dirty="0">
                        <a:latin typeface="Calibri" charset="0"/>
                        <a:ea typeface="Calibri" charset="0"/>
                        <a:cs typeface="Calibri" charset="0"/>
                      </a:endParaRPr>
                    </a:p>
                  </a:txBody>
                  <a:tcPr marL="101600" marR="101600" marT="63500" marB="635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28251D"/>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AD DECREASES ←</a:t>
                      </a:r>
                      <a:endParaRPr lang="en-US" sz="2000" dirty="0">
                        <a:latin typeface="Calibri" charset="0"/>
                        <a:ea typeface="Calibri" charset="0"/>
                        <a:cs typeface="Calibri" charset="0"/>
                      </a:endParaRPr>
                    </a:p>
                  </a:txBody>
                  <a:tcPr marL="101600" marR="101600" marT="63500" marB="635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A84B2F"/>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AD INCREASES →</a:t>
                      </a:r>
                      <a:endParaRPr lang="en-US" sz="2000" dirty="0">
                        <a:latin typeface="Calibri" charset="0"/>
                        <a:ea typeface="Calibri" charset="0"/>
                        <a:cs typeface="Calibri" charset="0"/>
                      </a:endParaRPr>
                    </a:p>
                  </a:txBody>
                  <a:tcPr marL="101600" marR="101600" marT="63500" marB="635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extLst>
                  <a:ext uri="{0D108BD9-81ED-4DB2-BD59-A6C34878D82A}">
                    <a16:rowId xmlns:a16="http://schemas.microsoft.com/office/drawing/2014/main" val="10000"/>
                  </a:ext>
                </a:extLst>
              </a:tr>
              <a:tr h="868680">
                <a:tc>
                  <a:txBody>
                    <a:bodyPr/>
                    <a:lstStyle/>
                    <a:p>
                      <a:pPr marL="0" indent="0" algn="l">
                        <a:buNone/>
                      </a:pPr>
                      <a:r>
                        <a:rPr lang="en-US" sz="2000" b="1" dirty="0">
                          <a:solidFill>
                            <a:srgbClr val="28251D"/>
                          </a:solidFill>
                          <a:latin typeface="Calibri" pitchFamily="34" charset="0"/>
                          <a:ea typeface="Calibri" pitchFamily="34" charset="-122"/>
                          <a:cs typeface="Calibri" pitchFamily="34" charset="-120"/>
                        </a:rPr>
                        <a:t>Consumption (C)</a:t>
                      </a:r>
                      <a:endParaRPr lang="en-US" sz="2000" dirty="0">
                        <a:latin typeface="Calibri" charset="0"/>
                        <a:ea typeface="Calibri" charset="0"/>
                        <a:cs typeface="Calibri" charset="0"/>
                      </a:endParaRPr>
                    </a:p>
                  </a:txBody>
                  <a:tcPr marL="101600" marR="101600" marT="63500" marB="635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tc>
                  <a:txBody>
                    <a:bodyPr/>
                    <a:lstStyle/>
                    <a:p>
                      <a:pPr marL="0" indent="0" algn="l">
                        <a:buNone/>
                      </a:pPr>
                      <a:r>
                        <a:rPr lang="en-US" sz="1600" dirty="0">
                          <a:solidFill>
                            <a:srgbClr val="28251D"/>
                          </a:solidFill>
                          <a:latin typeface="Calibri" pitchFamily="34" charset="0"/>
                          <a:ea typeface="Calibri" pitchFamily="34" charset="-122"/>
                          <a:cs typeface="Calibri" pitchFamily="34" charset="-120"/>
                        </a:rPr>
                        <a:t>↑ Taxes  |  ↓ Income  |  ↑ Interest rates  |  </a:t>
                      </a:r>
                    </a:p>
                    <a:p>
                      <a:pPr marL="0" indent="0" algn="l">
                        <a:buNone/>
                      </a:pPr>
                      <a:r>
                        <a:rPr lang="en-US" sz="1600" dirty="0">
                          <a:solidFill>
                            <a:srgbClr val="28251D"/>
                          </a:solidFill>
                          <a:latin typeface="Calibri" pitchFamily="34" charset="0"/>
                          <a:ea typeface="Calibri" pitchFamily="34" charset="-122"/>
                          <a:cs typeface="Calibri" pitchFamily="34" charset="-120"/>
                        </a:rPr>
                        <a:t>↓ Wealth  |  Pessimism</a:t>
                      </a:r>
                      <a:endParaRPr lang="en-US" sz="1600" dirty="0">
                        <a:latin typeface="Calibri" charset="0"/>
                        <a:ea typeface="Calibri" charset="0"/>
                        <a:cs typeface="Calibri" charset="0"/>
                      </a:endParaRPr>
                    </a:p>
                  </a:txBody>
                  <a:tcPr marL="101600" marR="101600" marT="63500" marB="635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tc>
                  <a:txBody>
                    <a:bodyPr/>
                    <a:lstStyle/>
                    <a:p>
                      <a:pPr marL="0" indent="0" algn="l">
                        <a:buNone/>
                      </a:pPr>
                      <a:r>
                        <a:rPr lang="en-US" sz="1600" dirty="0">
                          <a:solidFill>
                            <a:srgbClr val="28251D"/>
                          </a:solidFill>
                          <a:latin typeface="Calibri" pitchFamily="34" charset="0"/>
                          <a:ea typeface="Calibri" pitchFamily="34" charset="-122"/>
                          <a:cs typeface="Calibri" pitchFamily="34" charset="-120"/>
                        </a:rPr>
                        <a:t>↓ Taxes  |  ↑ Income  |  ↓ Interest rates  |  </a:t>
                      </a:r>
                    </a:p>
                    <a:p>
                      <a:pPr marL="0" indent="0" algn="l">
                        <a:buNone/>
                      </a:pPr>
                      <a:r>
                        <a:rPr lang="en-US" sz="1600" dirty="0">
                          <a:solidFill>
                            <a:srgbClr val="28251D"/>
                          </a:solidFill>
                          <a:latin typeface="Calibri" pitchFamily="34" charset="0"/>
                          <a:ea typeface="Calibri" pitchFamily="34" charset="-122"/>
                          <a:cs typeface="Calibri" pitchFamily="34" charset="-120"/>
                        </a:rPr>
                        <a:t>↑ Wealth  |  Optimism</a:t>
                      </a:r>
                      <a:endParaRPr lang="en-US" sz="1600" dirty="0">
                        <a:latin typeface="Calibri" charset="0"/>
                        <a:ea typeface="Calibri" charset="0"/>
                        <a:cs typeface="Calibri" charset="0"/>
                      </a:endParaRPr>
                    </a:p>
                  </a:txBody>
                  <a:tcPr marL="101600" marR="101600" marT="63500" marB="635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extLst>
                  <a:ext uri="{0D108BD9-81ED-4DB2-BD59-A6C34878D82A}">
                    <a16:rowId xmlns:a16="http://schemas.microsoft.com/office/drawing/2014/main" val="10001"/>
                  </a:ext>
                </a:extLst>
              </a:tr>
              <a:tr h="868680">
                <a:tc>
                  <a:txBody>
                    <a:bodyPr/>
                    <a:lstStyle/>
                    <a:p>
                      <a:pPr marL="0" indent="0" algn="l">
                        <a:buNone/>
                      </a:pPr>
                      <a:r>
                        <a:rPr lang="en-US" sz="2000" b="1" dirty="0">
                          <a:solidFill>
                            <a:srgbClr val="28251D"/>
                          </a:solidFill>
                          <a:latin typeface="Calibri" pitchFamily="34" charset="0"/>
                          <a:ea typeface="Calibri" pitchFamily="34" charset="-122"/>
                          <a:cs typeface="Calibri" pitchFamily="34" charset="-120"/>
                        </a:rPr>
                        <a:t>Investment (I)</a:t>
                      </a:r>
                      <a:endParaRPr lang="en-US" sz="2000" dirty="0">
                        <a:latin typeface="Calibri" charset="0"/>
                        <a:ea typeface="Calibri" charset="0"/>
                        <a:cs typeface="Calibri" charset="0"/>
                      </a:endParaRPr>
                    </a:p>
                  </a:txBody>
                  <a:tcPr marL="101600" marR="101600" marT="63500" marB="635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tc>
                  <a:txBody>
                    <a:bodyPr/>
                    <a:lstStyle/>
                    <a:p>
                      <a:pPr marL="0" indent="0" algn="l">
                        <a:buNone/>
                      </a:pPr>
                      <a:r>
                        <a:rPr lang="en-US" sz="1600" dirty="0">
                          <a:solidFill>
                            <a:srgbClr val="28251D"/>
                          </a:solidFill>
                          <a:latin typeface="Calibri" pitchFamily="34" charset="0"/>
                          <a:ea typeface="Calibri" pitchFamily="34" charset="-122"/>
                          <a:cs typeface="Calibri" pitchFamily="34" charset="-120"/>
                        </a:rPr>
                        <a:t>↓ Expected profits  |  ↑ Interest rates  |  Low confidence</a:t>
                      </a:r>
                      <a:endParaRPr lang="en-US" sz="1600" dirty="0">
                        <a:latin typeface="Calibri" charset="0"/>
                        <a:ea typeface="Calibri" charset="0"/>
                        <a:cs typeface="Calibri" charset="0"/>
                      </a:endParaRPr>
                    </a:p>
                  </a:txBody>
                  <a:tcPr marL="101600" marR="101600" marT="63500" marB="635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tc>
                  <a:txBody>
                    <a:bodyPr/>
                    <a:lstStyle/>
                    <a:p>
                      <a:pPr marL="0" indent="0" algn="l">
                        <a:buNone/>
                      </a:pPr>
                      <a:r>
                        <a:rPr lang="en-US" sz="1600" dirty="0">
                          <a:solidFill>
                            <a:srgbClr val="28251D"/>
                          </a:solidFill>
                          <a:latin typeface="Calibri" pitchFamily="34" charset="0"/>
                          <a:ea typeface="Calibri" pitchFamily="34" charset="-122"/>
                          <a:cs typeface="Calibri" pitchFamily="34" charset="-120"/>
                        </a:rPr>
                        <a:t>↑ Expected profits  |  ↓ Interest rates  |  High confidence</a:t>
                      </a:r>
                      <a:endParaRPr lang="en-US" sz="1600" dirty="0">
                        <a:latin typeface="Calibri" charset="0"/>
                        <a:ea typeface="Calibri" charset="0"/>
                        <a:cs typeface="Calibri" charset="0"/>
                      </a:endParaRPr>
                    </a:p>
                  </a:txBody>
                  <a:tcPr marL="101600" marR="101600" marT="63500" marB="635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extLst>
                  <a:ext uri="{0D108BD9-81ED-4DB2-BD59-A6C34878D82A}">
                    <a16:rowId xmlns:a16="http://schemas.microsoft.com/office/drawing/2014/main" val="10002"/>
                  </a:ext>
                </a:extLst>
              </a:tr>
              <a:tr h="868680">
                <a:tc>
                  <a:txBody>
                    <a:bodyPr/>
                    <a:lstStyle/>
                    <a:p>
                      <a:pPr marL="0" indent="0" algn="l">
                        <a:buNone/>
                      </a:pPr>
                      <a:r>
                        <a:rPr lang="en-US" sz="2000" b="1" dirty="0">
                          <a:solidFill>
                            <a:srgbClr val="28251D"/>
                          </a:solidFill>
                          <a:latin typeface="Calibri" pitchFamily="34" charset="0"/>
                          <a:ea typeface="Calibri" pitchFamily="34" charset="-122"/>
                          <a:cs typeface="Calibri" pitchFamily="34" charset="-120"/>
                        </a:rPr>
                        <a:t>Government (G)</a:t>
                      </a:r>
                      <a:endParaRPr lang="en-US" sz="2000" dirty="0">
                        <a:latin typeface="Calibri" charset="0"/>
                        <a:ea typeface="Calibri" charset="0"/>
                        <a:cs typeface="Calibri" charset="0"/>
                      </a:endParaRPr>
                    </a:p>
                  </a:txBody>
                  <a:tcPr marL="101600" marR="101600" marT="63500" marB="635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tc>
                  <a:txBody>
                    <a:bodyPr/>
                    <a:lstStyle/>
                    <a:p>
                      <a:pPr marL="0" indent="0" algn="l">
                        <a:buNone/>
                      </a:pPr>
                      <a:r>
                        <a:rPr lang="en-US" sz="1600" dirty="0">
                          <a:solidFill>
                            <a:srgbClr val="28251D"/>
                          </a:solidFill>
                          <a:latin typeface="Calibri" pitchFamily="34" charset="0"/>
                          <a:ea typeface="Calibri" pitchFamily="34" charset="-122"/>
                          <a:cs typeface="Calibri" pitchFamily="34" charset="-120"/>
                        </a:rPr>
                        <a:t>↓ Gov't spending  |  ↑ Taxes (austerity)</a:t>
                      </a:r>
                      <a:endParaRPr lang="en-US" sz="1600" dirty="0">
                        <a:latin typeface="Calibri" charset="0"/>
                        <a:ea typeface="Calibri" charset="0"/>
                        <a:cs typeface="Calibri" charset="0"/>
                      </a:endParaRPr>
                    </a:p>
                  </a:txBody>
                  <a:tcPr marL="101600" marR="101600" marT="63500" marB="635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tc>
                  <a:txBody>
                    <a:bodyPr/>
                    <a:lstStyle/>
                    <a:p>
                      <a:pPr marL="0" indent="0" algn="l">
                        <a:buNone/>
                      </a:pPr>
                      <a:r>
                        <a:rPr lang="en-US" sz="1600" dirty="0">
                          <a:solidFill>
                            <a:srgbClr val="28251D"/>
                          </a:solidFill>
                          <a:latin typeface="Calibri" pitchFamily="34" charset="0"/>
                          <a:ea typeface="Calibri" pitchFamily="34" charset="-122"/>
                          <a:cs typeface="Calibri" pitchFamily="34" charset="-120"/>
                        </a:rPr>
                        <a:t>↑ Gov't spending  |  ↓ Taxes (stimulus)</a:t>
                      </a:r>
                      <a:endParaRPr lang="en-US" sz="1600" dirty="0">
                        <a:latin typeface="Calibri" charset="0"/>
                        <a:ea typeface="Calibri" charset="0"/>
                        <a:cs typeface="Calibri" charset="0"/>
                      </a:endParaRPr>
                    </a:p>
                  </a:txBody>
                  <a:tcPr marL="101600" marR="101600" marT="63500" marB="635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extLst>
                  <a:ext uri="{0D108BD9-81ED-4DB2-BD59-A6C34878D82A}">
                    <a16:rowId xmlns:a16="http://schemas.microsoft.com/office/drawing/2014/main" val="10003"/>
                  </a:ext>
                </a:extLst>
              </a:tr>
              <a:tr h="868680">
                <a:tc>
                  <a:txBody>
                    <a:bodyPr/>
                    <a:lstStyle/>
                    <a:p>
                      <a:pPr marL="0" indent="0" algn="l">
                        <a:buNone/>
                      </a:pPr>
                      <a:r>
                        <a:rPr lang="en-US" sz="2000" b="1" dirty="0">
                          <a:solidFill>
                            <a:srgbClr val="28251D"/>
                          </a:solidFill>
                          <a:latin typeface="Calibri" pitchFamily="34" charset="0"/>
                          <a:ea typeface="Calibri" pitchFamily="34" charset="-122"/>
                          <a:cs typeface="Calibri" pitchFamily="34" charset="-120"/>
                        </a:rPr>
                        <a:t>Net Exports (NX)</a:t>
                      </a:r>
                      <a:endParaRPr lang="en-US" sz="2000" dirty="0">
                        <a:latin typeface="Calibri" charset="0"/>
                        <a:ea typeface="Calibri" charset="0"/>
                        <a:cs typeface="Calibri" charset="0"/>
                      </a:endParaRPr>
                    </a:p>
                  </a:txBody>
                  <a:tcPr marL="101600" marR="101600" marT="63500" marB="635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tc>
                  <a:txBody>
                    <a:bodyPr/>
                    <a:lstStyle/>
                    <a:p>
                      <a:pPr marL="0" indent="0" algn="l">
                        <a:buNone/>
                      </a:pPr>
                      <a:r>
                        <a:rPr lang="en-US" sz="1600" dirty="0">
                          <a:solidFill>
                            <a:srgbClr val="28251D"/>
                          </a:solidFill>
                          <a:latin typeface="Calibri" pitchFamily="34" charset="0"/>
                          <a:ea typeface="Calibri" pitchFamily="34" charset="-122"/>
                          <a:cs typeface="Calibri" pitchFamily="34" charset="-120"/>
                        </a:rPr>
                        <a:t>↓ Foreign demand  |  Dollar appreciates</a:t>
                      </a:r>
                      <a:endParaRPr lang="en-US" sz="1600" dirty="0">
                        <a:latin typeface="Calibri" charset="0"/>
                        <a:ea typeface="Calibri" charset="0"/>
                        <a:cs typeface="Calibri" charset="0"/>
                      </a:endParaRPr>
                    </a:p>
                  </a:txBody>
                  <a:tcPr marL="101600" marR="101600" marT="63500" marB="635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tc>
                  <a:txBody>
                    <a:bodyPr/>
                    <a:lstStyle/>
                    <a:p>
                      <a:pPr marL="0" indent="0" algn="l">
                        <a:buNone/>
                      </a:pPr>
                      <a:r>
                        <a:rPr lang="en-US" sz="1600" dirty="0">
                          <a:solidFill>
                            <a:srgbClr val="28251D"/>
                          </a:solidFill>
                          <a:latin typeface="Calibri" pitchFamily="34" charset="0"/>
                          <a:ea typeface="Calibri" pitchFamily="34" charset="-122"/>
                          <a:cs typeface="Calibri" pitchFamily="34" charset="-120"/>
                        </a:rPr>
                        <a:t>↑ Foreign demand  |  Dollar depreciates</a:t>
                      </a:r>
                      <a:endParaRPr lang="en-US" sz="1600" dirty="0">
                        <a:latin typeface="Calibri" charset="0"/>
                        <a:ea typeface="Calibri" charset="0"/>
                        <a:cs typeface="Calibri" charset="0"/>
                      </a:endParaRPr>
                    </a:p>
                  </a:txBody>
                  <a:tcPr marL="101600" marR="101600" marT="63500" marB="635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9"/>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12188952" cy="1325880"/>
          </a:xfrm>
          <a:prstGeom prst="rect">
            <a:avLst/>
          </a:prstGeom>
          <a:solidFill>
            <a:srgbClr val="28251D"/>
          </a:solidFill>
          <a:ln w="12700">
            <a:solidFill>
              <a:srgbClr val="28251D"/>
            </a:solidFill>
            <a:prstDash val="solid"/>
          </a:ln>
        </p:spPr>
        <p:txBody>
          <a:bodyPr/>
          <a:lstStyle/>
          <a:p>
            <a:endParaRPr lang="en-US"/>
          </a:p>
        </p:txBody>
      </p:sp>
      <p:sp>
        <p:nvSpPr>
          <p:cNvPr id="3" name="Text 1"/>
          <p:cNvSpPr>
            <a:spLocks noGrp="1"/>
          </p:cNvSpPr>
          <p:nvPr>
            <p:ph type="title" idx="4294967295"/>
          </p:nvPr>
        </p:nvSpPr>
        <p:spPr>
          <a:xfrm>
            <a:off x="411480" y="73152"/>
            <a:ext cx="11430000" cy="77724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Keynesian Building Blocks</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2"/>
          <p:cNvSpPr/>
          <p:nvPr/>
        </p:nvSpPr>
        <p:spPr>
          <a:xfrm>
            <a:off x="411480" y="868680"/>
            <a:ext cx="11430000" cy="411480"/>
          </a:xfrm>
          <a:prstGeom prst="rect">
            <a:avLst/>
          </a:prstGeom>
          <a:noFill/>
          <a:ln/>
        </p:spPr>
        <p:txBody>
          <a:bodyPr wrap="square" rtlCol="0" anchor="t"/>
          <a:lstStyle/>
          <a:p>
            <a:pPr marL="0" indent="0">
              <a:buNone/>
            </a:pPr>
            <a:r>
              <a:rPr lang="en-US" sz="2000" dirty="0">
                <a:solidFill>
                  <a:schemeClr val="bg1"/>
                </a:solidFill>
                <a:latin typeface="Calibri" pitchFamily="34" charset="0"/>
                <a:ea typeface="Calibri" pitchFamily="34" charset="-122"/>
                <a:cs typeface="Calibri" pitchFamily="34" charset="-120"/>
              </a:rPr>
              <a:t>Why the economy can get stuck below full employment</a:t>
            </a:r>
            <a:endParaRPr lang="en-US" sz="2000" dirty="0">
              <a:solidFill>
                <a:schemeClr val="bg1"/>
              </a:solidFill>
            </a:endParaRPr>
          </a:p>
        </p:txBody>
      </p:sp>
      <p:sp>
        <p:nvSpPr>
          <p:cNvPr id="6" name="Shape 3">
            <a:extLst>
              <a:ext uri="{C183D7F6-B498-43B3-948B-1728B52AA6E4}">
                <adec:decorative xmlns:adec="http://schemas.microsoft.com/office/drawing/2017/decorative" val="1"/>
              </a:ext>
            </a:extLst>
          </p:cNvPr>
          <p:cNvSpPr/>
          <p:nvPr/>
        </p:nvSpPr>
        <p:spPr>
          <a:xfrm>
            <a:off x="343033" y="1461264"/>
            <a:ext cx="6437376" cy="1444752"/>
          </a:xfrm>
          <a:prstGeom prst="rect">
            <a:avLst/>
          </a:prstGeom>
          <a:solidFill>
            <a:srgbClr val="E8F5F6"/>
          </a:solidFill>
          <a:ln w="12700">
            <a:solidFill>
              <a:srgbClr val="01696F"/>
            </a:solidFill>
            <a:prstDash val="solid"/>
          </a:ln>
        </p:spPr>
        <p:txBody>
          <a:bodyPr/>
          <a:lstStyle/>
          <a:p>
            <a:endParaRPr lang="en-US"/>
          </a:p>
        </p:txBody>
      </p:sp>
      <p:sp>
        <p:nvSpPr>
          <p:cNvPr id="7" name="Text 4"/>
          <p:cNvSpPr/>
          <p:nvPr/>
        </p:nvSpPr>
        <p:spPr>
          <a:xfrm>
            <a:off x="493909" y="1506984"/>
            <a:ext cx="6135624" cy="384048"/>
          </a:xfrm>
          <a:prstGeom prst="rect">
            <a:avLst/>
          </a:prstGeom>
          <a:noFill/>
          <a:ln/>
        </p:spPr>
        <p:txBody>
          <a:bodyPr wrap="square" rtlCol="0" anchor="ctr"/>
          <a:lstStyle/>
          <a:p>
            <a:pPr marL="0" indent="0">
              <a:buNone/>
            </a:pPr>
            <a:r>
              <a:rPr lang="en-US" sz="2000" b="1" dirty="0">
                <a:latin typeface="Trebuchet MS" pitchFamily="34" charset="0"/>
                <a:ea typeface="Trebuchet MS" pitchFamily="34" charset="-122"/>
                <a:cs typeface="Trebuchet MS" pitchFamily="34" charset="-120"/>
              </a:rPr>
              <a:t>Sticky Wages &amp; Prices</a:t>
            </a:r>
            <a:endParaRPr lang="en-US" sz="2000" dirty="0"/>
          </a:p>
        </p:txBody>
      </p:sp>
      <p:sp>
        <p:nvSpPr>
          <p:cNvPr id="8" name="Text 5"/>
          <p:cNvSpPr/>
          <p:nvPr/>
        </p:nvSpPr>
        <p:spPr>
          <a:xfrm>
            <a:off x="493909" y="1900176"/>
            <a:ext cx="6135624" cy="914400"/>
          </a:xfrm>
          <a:prstGeom prst="rect">
            <a:avLst/>
          </a:prstGeom>
          <a:noFill/>
          <a:ln/>
        </p:spPr>
        <p:txBody>
          <a:bodyPr wrap="square" rtlCol="0" anchor="ctr"/>
          <a:lstStyle/>
          <a:p>
            <a:pPr marL="0" indent="0">
              <a:buNone/>
            </a:pPr>
            <a:r>
              <a:rPr lang="en-US" sz="1600" dirty="0">
                <a:solidFill>
                  <a:srgbClr val="28251D"/>
                </a:solidFill>
                <a:latin typeface="Calibri" pitchFamily="34" charset="0"/>
                <a:ea typeface="Calibri" pitchFamily="34" charset="-122"/>
                <a:cs typeface="Calibri" pitchFamily="34" charset="-120"/>
              </a:rPr>
              <a:t>Wages resist cuts — bosses fear morale damage; menu costs make repricing expensive. Result: demand falls but price level barely budges.</a:t>
            </a:r>
            <a:endParaRPr lang="en-US" sz="1600" dirty="0"/>
          </a:p>
        </p:txBody>
      </p:sp>
      <p:sp>
        <p:nvSpPr>
          <p:cNvPr id="9" name="Shape 6">
            <a:extLst>
              <a:ext uri="{C183D7F6-B498-43B3-948B-1728B52AA6E4}">
                <adec:decorative xmlns:adec="http://schemas.microsoft.com/office/drawing/2017/decorative" val="1"/>
              </a:ext>
            </a:extLst>
          </p:cNvPr>
          <p:cNvSpPr/>
          <p:nvPr/>
        </p:nvSpPr>
        <p:spPr>
          <a:xfrm>
            <a:off x="343033" y="3034032"/>
            <a:ext cx="6437376" cy="1444752"/>
          </a:xfrm>
          <a:prstGeom prst="rect">
            <a:avLst/>
          </a:prstGeom>
          <a:solidFill>
            <a:srgbClr val="E8F5F6"/>
          </a:solidFill>
          <a:ln w="12700">
            <a:solidFill>
              <a:srgbClr val="01696F"/>
            </a:solidFill>
            <a:prstDash val="solid"/>
          </a:ln>
        </p:spPr>
        <p:txBody>
          <a:bodyPr/>
          <a:lstStyle/>
          <a:p>
            <a:endParaRPr lang="en-US"/>
          </a:p>
        </p:txBody>
      </p:sp>
      <p:sp>
        <p:nvSpPr>
          <p:cNvPr id="10" name="Text 7"/>
          <p:cNvSpPr/>
          <p:nvPr/>
        </p:nvSpPr>
        <p:spPr>
          <a:xfrm>
            <a:off x="493909" y="3079752"/>
            <a:ext cx="6135624" cy="384048"/>
          </a:xfrm>
          <a:prstGeom prst="rect">
            <a:avLst/>
          </a:prstGeom>
          <a:noFill/>
          <a:ln/>
        </p:spPr>
        <p:txBody>
          <a:bodyPr wrap="square" rtlCol="0" anchor="ctr"/>
          <a:lstStyle/>
          <a:p>
            <a:pPr marL="0" indent="0">
              <a:buNone/>
            </a:pPr>
            <a:r>
              <a:rPr lang="en-US" sz="2000" b="1" dirty="0">
                <a:latin typeface="Trebuchet MS" pitchFamily="34" charset="0"/>
                <a:ea typeface="Trebuchet MS" pitchFamily="34" charset="-122"/>
                <a:cs typeface="Trebuchet MS" pitchFamily="34" charset="-120"/>
              </a:rPr>
              <a:t>Coordination Problem</a:t>
            </a:r>
            <a:endParaRPr lang="en-US" sz="2000" dirty="0"/>
          </a:p>
        </p:txBody>
      </p:sp>
      <p:sp>
        <p:nvSpPr>
          <p:cNvPr id="11" name="Text 8"/>
          <p:cNvSpPr/>
          <p:nvPr/>
        </p:nvSpPr>
        <p:spPr>
          <a:xfrm>
            <a:off x="493909" y="3472944"/>
            <a:ext cx="6135624" cy="914400"/>
          </a:xfrm>
          <a:prstGeom prst="rect">
            <a:avLst/>
          </a:prstGeom>
          <a:noFill/>
          <a:ln/>
        </p:spPr>
        <p:txBody>
          <a:bodyPr wrap="square" rtlCol="0" anchor="ctr"/>
          <a:lstStyle/>
          <a:p>
            <a:pPr marL="0" indent="0">
              <a:buNone/>
            </a:pPr>
            <a:r>
              <a:rPr lang="en-US" sz="1600" dirty="0">
                <a:solidFill>
                  <a:srgbClr val="28251D"/>
                </a:solidFill>
                <a:latin typeface="Calibri" pitchFamily="34" charset="0"/>
                <a:ea typeface="Calibri" pitchFamily="34" charset="-122"/>
                <a:cs typeface="Calibri" pitchFamily="34" charset="-120"/>
              </a:rPr>
              <a:t>Workers would accept a wage cut IF everyone else did too — but there's no mechanism to coordinate that in a market economy.</a:t>
            </a:r>
            <a:endParaRPr lang="en-US" sz="1600" dirty="0"/>
          </a:p>
        </p:txBody>
      </p:sp>
      <p:sp>
        <p:nvSpPr>
          <p:cNvPr id="12" name="Shape 9">
            <a:extLst>
              <a:ext uri="{C183D7F6-B498-43B3-948B-1728B52AA6E4}">
                <adec:decorative xmlns:adec="http://schemas.microsoft.com/office/drawing/2017/decorative" val="1"/>
              </a:ext>
            </a:extLst>
          </p:cNvPr>
          <p:cNvSpPr/>
          <p:nvPr/>
        </p:nvSpPr>
        <p:spPr>
          <a:xfrm>
            <a:off x="343033" y="4606800"/>
            <a:ext cx="6437376" cy="1444752"/>
          </a:xfrm>
          <a:prstGeom prst="rect">
            <a:avLst/>
          </a:prstGeom>
          <a:solidFill>
            <a:srgbClr val="E8F5F6"/>
          </a:solidFill>
          <a:ln w="12700">
            <a:solidFill>
              <a:srgbClr val="01696F"/>
            </a:solidFill>
            <a:prstDash val="solid"/>
          </a:ln>
        </p:spPr>
        <p:txBody>
          <a:bodyPr/>
          <a:lstStyle/>
          <a:p>
            <a:endParaRPr lang="en-US"/>
          </a:p>
        </p:txBody>
      </p:sp>
      <p:sp>
        <p:nvSpPr>
          <p:cNvPr id="13" name="Text 10"/>
          <p:cNvSpPr/>
          <p:nvPr/>
        </p:nvSpPr>
        <p:spPr>
          <a:xfrm>
            <a:off x="493909" y="4652520"/>
            <a:ext cx="6135624" cy="384048"/>
          </a:xfrm>
          <a:prstGeom prst="rect">
            <a:avLst/>
          </a:prstGeom>
          <a:noFill/>
          <a:ln/>
        </p:spPr>
        <p:txBody>
          <a:bodyPr wrap="square" rtlCol="0" anchor="ctr"/>
          <a:lstStyle/>
          <a:p>
            <a:pPr marL="0" indent="0">
              <a:buNone/>
            </a:pPr>
            <a:r>
              <a:rPr lang="en-US" sz="2000" b="1" dirty="0">
                <a:latin typeface="Trebuchet MS" pitchFamily="34" charset="0"/>
                <a:ea typeface="Trebuchet MS" pitchFamily="34" charset="-122"/>
                <a:cs typeface="Trebuchet MS" pitchFamily="34" charset="-120"/>
              </a:rPr>
              <a:t>Keynesian Zone (flat SRAS)</a:t>
            </a:r>
            <a:endParaRPr lang="en-US" sz="2000" dirty="0"/>
          </a:p>
        </p:txBody>
      </p:sp>
      <p:sp>
        <p:nvSpPr>
          <p:cNvPr id="14" name="Text 11"/>
          <p:cNvSpPr/>
          <p:nvPr/>
        </p:nvSpPr>
        <p:spPr>
          <a:xfrm>
            <a:off x="493909" y="5045712"/>
            <a:ext cx="6135624" cy="914400"/>
          </a:xfrm>
          <a:prstGeom prst="rect">
            <a:avLst/>
          </a:prstGeom>
          <a:noFill/>
          <a:ln/>
        </p:spPr>
        <p:txBody>
          <a:bodyPr wrap="square" rtlCol="0" anchor="ctr"/>
          <a:lstStyle/>
          <a:p>
            <a:pPr marL="0" indent="0">
              <a:buNone/>
            </a:pPr>
            <a:r>
              <a:rPr lang="en-US" sz="1600" dirty="0">
                <a:solidFill>
                  <a:srgbClr val="28251D"/>
                </a:solidFill>
                <a:latin typeface="Calibri" pitchFamily="34" charset="0"/>
                <a:ea typeface="Calibri" pitchFamily="34" charset="-122"/>
                <a:cs typeface="Calibri" pitchFamily="34" charset="-120"/>
              </a:rPr>
              <a:t>Below potential GDP, the SRAS curve is nearly horizontal: output falls when AD falls, but the price level barely moves.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9"/>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12188952" cy="1325880"/>
          </a:xfrm>
          <a:prstGeom prst="rect">
            <a:avLst/>
          </a:prstGeom>
          <a:solidFill>
            <a:srgbClr val="28251D"/>
          </a:solidFill>
          <a:ln w="12700">
            <a:solidFill>
              <a:srgbClr val="28251D"/>
            </a:solidFill>
            <a:prstDash val="solid"/>
          </a:ln>
        </p:spPr>
        <p:txBody>
          <a:bodyPr/>
          <a:lstStyle/>
          <a:p>
            <a:endParaRPr lang="en-US"/>
          </a:p>
        </p:txBody>
      </p:sp>
      <p:sp>
        <p:nvSpPr>
          <p:cNvPr id="3" name="Text 1"/>
          <p:cNvSpPr>
            <a:spLocks noGrp="1"/>
          </p:cNvSpPr>
          <p:nvPr>
            <p:ph type="title" idx="4294967295"/>
          </p:nvPr>
        </p:nvSpPr>
        <p:spPr>
          <a:xfrm>
            <a:off x="411480" y="73152"/>
            <a:ext cx="11430000" cy="77724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The Expenditure Multiplier</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2"/>
          <p:cNvSpPr/>
          <p:nvPr/>
        </p:nvSpPr>
        <p:spPr>
          <a:xfrm>
            <a:off x="411480" y="868680"/>
            <a:ext cx="11430000" cy="411480"/>
          </a:xfrm>
          <a:prstGeom prst="rect">
            <a:avLst/>
          </a:prstGeom>
          <a:noFill/>
          <a:ln/>
        </p:spPr>
        <p:txBody>
          <a:bodyPr wrap="square" rtlCol="0" anchor="t"/>
          <a:lstStyle/>
          <a:p>
            <a:pPr marL="0" indent="0">
              <a:buNone/>
            </a:pPr>
            <a:r>
              <a:rPr lang="en-US" dirty="0">
                <a:solidFill>
                  <a:schemeClr val="bg1"/>
                </a:solidFill>
                <a:latin typeface="Calibri" pitchFamily="34" charset="0"/>
                <a:ea typeface="Calibri" pitchFamily="34" charset="-122"/>
                <a:cs typeface="Calibri" pitchFamily="34" charset="-120"/>
              </a:rPr>
              <a:t>One dollar spent becomes more than one dollar of GDP</a:t>
            </a:r>
            <a:endParaRPr lang="en-US" dirty="0">
              <a:solidFill>
                <a:schemeClr val="bg1"/>
              </a:solidFill>
            </a:endParaRPr>
          </a:p>
        </p:txBody>
      </p:sp>
      <p:pic>
        <p:nvPicPr>
          <p:cNvPr id="5" name="Image 0" descr="Expenditure Multiplier in Action"/>
          <p:cNvPicPr>
            <a:picLocks noChangeAspect="1"/>
          </p:cNvPicPr>
          <p:nvPr/>
        </p:nvPicPr>
        <p:blipFill>
          <a:blip r:embed="rId3"/>
          <a:stretch>
            <a:fillRect/>
          </a:stretch>
        </p:blipFill>
        <p:spPr>
          <a:xfrm>
            <a:off x="193603" y="1417319"/>
            <a:ext cx="6091824" cy="4351303"/>
          </a:xfrm>
          <a:prstGeom prst="rect">
            <a:avLst/>
          </a:prstGeom>
        </p:spPr>
      </p:pic>
      <p:sp>
        <p:nvSpPr>
          <p:cNvPr id="6" name="Shape 3">
            <a:extLst>
              <a:ext uri="{C183D7F6-B498-43B3-948B-1728B52AA6E4}">
                <adec:decorative xmlns:adec="http://schemas.microsoft.com/office/drawing/2017/decorative" val="1"/>
              </a:ext>
            </a:extLst>
          </p:cNvPr>
          <p:cNvSpPr/>
          <p:nvPr/>
        </p:nvSpPr>
        <p:spPr>
          <a:xfrm>
            <a:off x="6400800" y="1463040"/>
            <a:ext cx="5440680" cy="1828800"/>
          </a:xfrm>
          <a:prstGeom prst="rect">
            <a:avLst/>
          </a:prstGeom>
          <a:solidFill>
            <a:srgbClr val="E8F5F6"/>
          </a:solidFill>
          <a:ln w="12700">
            <a:solidFill>
              <a:srgbClr val="01696F"/>
            </a:solidFill>
            <a:prstDash val="solid"/>
          </a:ln>
        </p:spPr>
        <p:txBody>
          <a:bodyPr/>
          <a:lstStyle/>
          <a:p>
            <a:endParaRPr lang="en-US"/>
          </a:p>
        </p:txBody>
      </p:sp>
      <p:sp>
        <p:nvSpPr>
          <p:cNvPr id="7" name="Text 4"/>
          <p:cNvSpPr/>
          <p:nvPr/>
        </p:nvSpPr>
        <p:spPr>
          <a:xfrm>
            <a:off x="6537960" y="1508760"/>
            <a:ext cx="5166360" cy="365760"/>
          </a:xfrm>
          <a:prstGeom prst="rect">
            <a:avLst/>
          </a:prstGeom>
          <a:noFill/>
          <a:ln/>
        </p:spPr>
        <p:txBody>
          <a:bodyPr wrap="square" rtlCol="0" anchor="ctr"/>
          <a:lstStyle/>
          <a:p>
            <a:pPr marL="0" indent="0">
              <a:buNone/>
            </a:pPr>
            <a:r>
              <a:rPr lang="en-US" sz="1600" b="1" dirty="0">
                <a:latin typeface="Trebuchet MS" pitchFamily="34" charset="0"/>
                <a:ea typeface="Trebuchet MS" pitchFamily="34" charset="-122"/>
                <a:cs typeface="Trebuchet MS" pitchFamily="34" charset="-120"/>
              </a:rPr>
              <a:t>The Formula</a:t>
            </a:r>
            <a:endParaRPr lang="en-US" sz="1600" dirty="0"/>
          </a:p>
        </p:txBody>
      </p:sp>
      <p:sp>
        <p:nvSpPr>
          <p:cNvPr id="8" name="Text 5"/>
          <p:cNvSpPr/>
          <p:nvPr/>
        </p:nvSpPr>
        <p:spPr>
          <a:xfrm>
            <a:off x="6537960" y="1920240"/>
            <a:ext cx="5166360" cy="1234440"/>
          </a:xfrm>
          <a:prstGeom prst="rect">
            <a:avLst/>
          </a:prstGeom>
          <a:noFill/>
          <a:ln/>
        </p:spPr>
        <p:txBody>
          <a:bodyPr wrap="square" rtlCol="0" anchor="ctr"/>
          <a:lstStyle/>
          <a:p>
            <a:pPr marL="0" indent="0">
              <a:buNone/>
            </a:pPr>
            <a:r>
              <a:rPr lang="en-US" sz="1600" dirty="0">
                <a:latin typeface="Calibri" pitchFamily="34" charset="0"/>
                <a:ea typeface="Calibri" pitchFamily="34" charset="-122"/>
                <a:cs typeface="Calibri" pitchFamily="34" charset="-120"/>
              </a:rPr>
              <a:t>Multiplier  =  1 / (1 − MPC)</a:t>
            </a:r>
            <a:endParaRPr lang="en-US" sz="1600" dirty="0"/>
          </a:p>
          <a:p>
            <a:pPr marL="0" indent="0">
              <a:buNone/>
            </a:pPr>
            <a:r>
              <a:rPr lang="en-US" sz="1600" dirty="0">
                <a:latin typeface="Calibri" pitchFamily="34" charset="0"/>
                <a:ea typeface="Calibri" pitchFamily="34" charset="-122"/>
                <a:cs typeface="Calibri" pitchFamily="34" charset="-120"/>
              </a:rPr>
              <a:t>If MPC = 0.8:  Multiplier = 1/0.2 = 5</a:t>
            </a:r>
            <a:endParaRPr lang="en-US" sz="1600" dirty="0"/>
          </a:p>
          <a:p>
            <a:pPr marL="0" indent="0">
              <a:buNone/>
            </a:pPr>
            <a:r>
              <a:rPr lang="en-US" sz="1600" dirty="0">
                <a:latin typeface="Calibri" pitchFamily="34" charset="0"/>
                <a:ea typeface="Calibri" pitchFamily="34" charset="-122"/>
                <a:cs typeface="Calibri" pitchFamily="34" charset="-120"/>
              </a:rPr>
              <a:t>$1,000 injection → $5,000 in new GDP</a:t>
            </a:r>
            <a:endParaRPr lang="en-US" sz="1600" dirty="0"/>
          </a:p>
        </p:txBody>
      </p:sp>
      <p:sp>
        <p:nvSpPr>
          <p:cNvPr id="9" name="Text 6"/>
          <p:cNvSpPr/>
          <p:nvPr/>
        </p:nvSpPr>
        <p:spPr>
          <a:xfrm>
            <a:off x="6400800" y="3429000"/>
            <a:ext cx="5440680" cy="621792"/>
          </a:xfrm>
          <a:prstGeom prst="rect">
            <a:avLst/>
          </a:prstGeom>
          <a:noFill/>
          <a:ln/>
        </p:spPr>
        <p:txBody>
          <a:bodyPr wrap="square" rtlCol="0" anchor="ctr"/>
          <a:lstStyle/>
          <a:p>
            <a:pPr marL="0" indent="0">
              <a:buNone/>
            </a:pPr>
            <a:r>
              <a:rPr lang="en-US" dirty="0">
                <a:solidFill>
                  <a:srgbClr val="28251D"/>
                </a:solidFill>
                <a:latin typeface="Calibri" pitchFamily="34" charset="0"/>
                <a:ea typeface="Calibri" pitchFamily="34" charset="-122"/>
                <a:cs typeface="Calibri" pitchFamily="34" charset="-120"/>
              </a:rPr>
              <a:t>• Works like a ripple: your spending = my income = my spending = their income…</a:t>
            </a:r>
            <a:endParaRPr lang="en-US" dirty="0"/>
          </a:p>
        </p:txBody>
      </p:sp>
      <p:sp>
        <p:nvSpPr>
          <p:cNvPr id="10" name="Text 7"/>
          <p:cNvSpPr/>
          <p:nvPr/>
        </p:nvSpPr>
        <p:spPr>
          <a:xfrm>
            <a:off x="6400800" y="4133088"/>
            <a:ext cx="5440680" cy="621792"/>
          </a:xfrm>
          <a:prstGeom prst="rect">
            <a:avLst/>
          </a:prstGeom>
          <a:noFill/>
          <a:ln/>
        </p:spPr>
        <p:txBody>
          <a:bodyPr wrap="square" rtlCol="0" anchor="ctr"/>
          <a:lstStyle/>
          <a:p>
            <a:pPr marL="0" indent="0">
              <a:buNone/>
            </a:pPr>
            <a:r>
              <a:rPr lang="en-US" dirty="0">
                <a:solidFill>
                  <a:srgbClr val="28251D"/>
                </a:solidFill>
                <a:latin typeface="Calibri" pitchFamily="34" charset="0"/>
                <a:ea typeface="Calibri" pitchFamily="34" charset="-122"/>
                <a:cs typeface="Calibri" pitchFamily="34" charset="-120"/>
              </a:rPr>
              <a:t>• Works in REVERSE too: investment collapse in 1929 → Great Depression amplified by multiplier.</a:t>
            </a:r>
            <a:endParaRPr lang="en-US" dirty="0"/>
          </a:p>
        </p:txBody>
      </p:sp>
      <p:sp>
        <p:nvSpPr>
          <p:cNvPr id="11" name="Text 8"/>
          <p:cNvSpPr/>
          <p:nvPr/>
        </p:nvSpPr>
        <p:spPr>
          <a:xfrm>
            <a:off x="6400800" y="4837176"/>
            <a:ext cx="5440680" cy="621792"/>
          </a:xfrm>
          <a:prstGeom prst="rect">
            <a:avLst/>
          </a:prstGeom>
          <a:noFill/>
          <a:ln/>
        </p:spPr>
        <p:txBody>
          <a:bodyPr wrap="square" rtlCol="0" anchor="ctr"/>
          <a:lstStyle/>
          <a:p>
            <a:pPr marL="0" indent="0">
              <a:buNone/>
            </a:pPr>
            <a:r>
              <a:rPr lang="en-US" dirty="0">
                <a:solidFill>
                  <a:srgbClr val="28251D"/>
                </a:solidFill>
                <a:latin typeface="Calibri" pitchFamily="34" charset="0"/>
                <a:ea typeface="Calibri" pitchFamily="34" charset="-122"/>
                <a:cs typeface="Calibri" pitchFamily="34" charset="-120"/>
              </a:rPr>
              <a:t>• Multiplier is SMALLER for tax cuts (wealthy save more; MPC &lt; 0.8 for high earners).</a:t>
            </a:r>
            <a:endParaRPr lang="en-US" dirty="0"/>
          </a:p>
        </p:txBody>
      </p:sp>
      <p:sp>
        <p:nvSpPr>
          <p:cNvPr id="12" name="Text 9"/>
          <p:cNvSpPr/>
          <p:nvPr/>
        </p:nvSpPr>
        <p:spPr>
          <a:xfrm>
            <a:off x="6400800" y="5541264"/>
            <a:ext cx="5440680" cy="621792"/>
          </a:xfrm>
          <a:prstGeom prst="rect">
            <a:avLst/>
          </a:prstGeom>
          <a:noFill/>
          <a:ln/>
        </p:spPr>
        <p:txBody>
          <a:bodyPr wrap="square" rtlCol="0" anchor="ctr"/>
          <a:lstStyle/>
          <a:p>
            <a:pPr marL="0" indent="0">
              <a:buNone/>
            </a:pPr>
            <a:r>
              <a:rPr lang="en-US" dirty="0">
                <a:solidFill>
                  <a:srgbClr val="28251D"/>
                </a:solidFill>
                <a:latin typeface="Calibri" pitchFamily="34" charset="0"/>
                <a:ea typeface="Calibri" pitchFamily="34" charset="-122"/>
                <a:cs typeface="Calibri" pitchFamily="34" charset="-120"/>
              </a:rPr>
              <a:t>• Obama's 2009 stimulus (~$800B) relied on multiplier to produce ~$1.5–2T in GDP impact.</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9"/>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12188952" cy="1325880"/>
          </a:xfrm>
          <a:prstGeom prst="rect">
            <a:avLst/>
          </a:prstGeom>
          <a:solidFill>
            <a:srgbClr val="28251D"/>
          </a:solidFill>
          <a:ln w="12700">
            <a:solidFill>
              <a:srgbClr val="28251D"/>
            </a:solidFill>
            <a:prstDash val="solid"/>
          </a:ln>
        </p:spPr>
        <p:txBody>
          <a:bodyPr/>
          <a:lstStyle/>
          <a:p>
            <a:endParaRPr lang="en-US"/>
          </a:p>
        </p:txBody>
      </p:sp>
      <p:sp>
        <p:nvSpPr>
          <p:cNvPr id="3" name="Text 1"/>
          <p:cNvSpPr>
            <a:spLocks noGrp="1"/>
          </p:cNvSpPr>
          <p:nvPr>
            <p:ph type="title" idx="4294967295"/>
          </p:nvPr>
        </p:nvSpPr>
        <p:spPr>
          <a:xfrm>
            <a:off x="411480" y="73152"/>
            <a:ext cx="11430000" cy="77724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The Phillips Curve</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2"/>
          <p:cNvSpPr/>
          <p:nvPr/>
        </p:nvSpPr>
        <p:spPr>
          <a:xfrm>
            <a:off x="411480" y="868680"/>
            <a:ext cx="11430000" cy="411480"/>
          </a:xfrm>
          <a:prstGeom prst="rect">
            <a:avLst/>
          </a:prstGeom>
          <a:noFill/>
          <a:ln/>
        </p:spPr>
        <p:txBody>
          <a:bodyPr wrap="square" rtlCol="0" anchor="t"/>
          <a:lstStyle/>
          <a:p>
            <a:pPr marL="0" indent="0">
              <a:buNone/>
            </a:pPr>
            <a:r>
              <a:rPr lang="en-US" dirty="0">
                <a:solidFill>
                  <a:schemeClr val="bg1"/>
                </a:solidFill>
                <a:latin typeface="Calibri" pitchFamily="34" charset="0"/>
                <a:ea typeface="Calibri" pitchFamily="34" charset="-122"/>
                <a:cs typeface="Calibri" pitchFamily="34" charset="-120"/>
              </a:rPr>
              <a:t>Inflation–unemployment tradeoff — but only in the short run</a:t>
            </a:r>
            <a:endParaRPr lang="en-US" dirty="0">
              <a:solidFill>
                <a:schemeClr val="bg1"/>
              </a:solidFill>
            </a:endParaRPr>
          </a:p>
        </p:txBody>
      </p:sp>
      <p:sp>
        <p:nvSpPr>
          <p:cNvPr id="6" name="Shape 3">
            <a:extLst>
              <a:ext uri="{C183D7F6-B498-43B3-948B-1728B52AA6E4}">
                <adec:decorative xmlns:adec="http://schemas.microsoft.com/office/drawing/2017/decorative" val="1"/>
              </a:ext>
            </a:extLst>
          </p:cNvPr>
          <p:cNvSpPr/>
          <p:nvPr/>
        </p:nvSpPr>
        <p:spPr>
          <a:xfrm>
            <a:off x="201835" y="1463040"/>
            <a:ext cx="6937279" cy="1572768"/>
          </a:xfrm>
          <a:prstGeom prst="rect">
            <a:avLst/>
          </a:prstGeom>
          <a:solidFill>
            <a:srgbClr val="FFFFFF"/>
          </a:solidFill>
          <a:ln w="12700">
            <a:solidFill>
              <a:srgbClr val="01696F"/>
            </a:solidFill>
            <a:prstDash val="solid"/>
          </a:ln>
        </p:spPr>
        <p:txBody>
          <a:bodyPr/>
          <a:lstStyle/>
          <a:p>
            <a:endParaRPr lang="en-US"/>
          </a:p>
        </p:txBody>
      </p:sp>
      <p:sp>
        <p:nvSpPr>
          <p:cNvPr id="7" name="Text 4"/>
          <p:cNvSpPr/>
          <p:nvPr/>
        </p:nvSpPr>
        <p:spPr>
          <a:xfrm>
            <a:off x="384395" y="1508760"/>
            <a:ext cx="6572159" cy="411480"/>
          </a:xfrm>
          <a:prstGeom prst="rect">
            <a:avLst/>
          </a:prstGeom>
          <a:noFill/>
          <a:ln/>
        </p:spPr>
        <p:txBody>
          <a:bodyPr wrap="square" rtlCol="0" anchor="ctr"/>
          <a:lstStyle/>
          <a:p>
            <a:pPr marL="0" indent="0">
              <a:buNone/>
            </a:pPr>
            <a:r>
              <a:rPr lang="en-US" sz="2000" b="1" dirty="0">
                <a:latin typeface="Trebuchet MS" pitchFamily="34" charset="0"/>
                <a:ea typeface="Trebuchet MS" pitchFamily="34" charset="-122"/>
                <a:cs typeface="Trebuchet MS" pitchFamily="34" charset="-120"/>
              </a:rPr>
              <a:t>Short Run (SRPC)</a:t>
            </a:r>
            <a:endParaRPr lang="en-US" sz="2000" dirty="0"/>
          </a:p>
        </p:txBody>
      </p:sp>
      <p:sp>
        <p:nvSpPr>
          <p:cNvPr id="8" name="Text 5"/>
          <p:cNvSpPr/>
          <p:nvPr/>
        </p:nvSpPr>
        <p:spPr>
          <a:xfrm>
            <a:off x="384395" y="1938528"/>
            <a:ext cx="6572159" cy="1051560"/>
          </a:xfrm>
          <a:prstGeom prst="rect">
            <a:avLst/>
          </a:prstGeom>
          <a:noFill/>
          <a:ln/>
        </p:spPr>
        <p:txBody>
          <a:bodyPr wrap="square" rtlCol="0" anchor="ctr"/>
          <a:lstStyle/>
          <a:p>
            <a:pPr marL="0" indent="0">
              <a:buNone/>
            </a:pPr>
            <a:r>
              <a:rPr lang="en-US" sz="1600" dirty="0">
                <a:solidFill>
                  <a:srgbClr val="28251D"/>
                </a:solidFill>
                <a:latin typeface="Calibri" pitchFamily="34" charset="0"/>
                <a:ea typeface="Calibri" pitchFamily="34" charset="-122"/>
                <a:cs typeface="Calibri" pitchFamily="34" charset="-120"/>
              </a:rPr>
              <a:t>Downward sloping: lower unemployment trades off with higher inflation. Policymakers boost AD → unemployment falls, inflation rises.</a:t>
            </a:r>
            <a:endParaRPr lang="en-US" sz="1600" dirty="0"/>
          </a:p>
        </p:txBody>
      </p:sp>
      <p:sp>
        <p:nvSpPr>
          <p:cNvPr id="9" name="Shape 6">
            <a:extLst>
              <a:ext uri="{C183D7F6-B498-43B3-948B-1728B52AA6E4}">
                <adec:decorative xmlns:adec="http://schemas.microsoft.com/office/drawing/2017/decorative" val="1"/>
              </a:ext>
            </a:extLst>
          </p:cNvPr>
          <p:cNvSpPr/>
          <p:nvPr/>
        </p:nvSpPr>
        <p:spPr>
          <a:xfrm>
            <a:off x="201835" y="3145536"/>
            <a:ext cx="6937279" cy="1572768"/>
          </a:xfrm>
          <a:prstGeom prst="rect">
            <a:avLst/>
          </a:prstGeom>
          <a:solidFill>
            <a:srgbClr val="FFFFFF"/>
          </a:solidFill>
          <a:ln w="12700">
            <a:solidFill>
              <a:srgbClr val="A84B2F"/>
            </a:solidFill>
            <a:prstDash val="solid"/>
          </a:ln>
        </p:spPr>
        <p:txBody>
          <a:bodyPr/>
          <a:lstStyle/>
          <a:p>
            <a:endParaRPr lang="en-US"/>
          </a:p>
        </p:txBody>
      </p:sp>
      <p:sp>
        <p:nvSpPr>
          <p:cNvPr id="10" name="Text 7"/>
          <p:cNvSpPr/>
          <p:nvPr/>
        </p:nvSpPr>
        <p:spPr>
          <a:xfrm>
            <a:off x="384395" y="3191256"/>
            <a:ext cx="6572159" cy="411480"/>
          </a:xfrm>
          <a:prstGeom prst="rect">
            <a:avLst/>
          </a:prstGeom>
          <a:noFill/>
          <a:ln/>
        </p:spPr>
        <p:txBody>
          <a:bodyPr wrap="square" rtlCol="0" anchor="ctr"/>
          <a:lstStyle/>
          <a:p>
            <a:pPr marL="0" indent="0">
              <a:buNone/>
            </a:pPr>
            <a:r>
              <a:rPr lang="en-US" sz="2000" b="1" dirty="0">
                <a:latin typeface="Trebuchet MS" pitchFamily="34" charset="0"/>
                <a:ea typeface="Trebuchet MS" pitchFamily="34" charset="-122"/>
                <a:cs typeface="Trebuchet MS" pitchFamily="34" charset="-120"/>
              </a:rPr>
              <a:t>Supply Shocks Shift the Curve</a:t>
            </a:r>
            <a:endParaRPr lang="en-US" sz="2000" dirty="0"/>
          </a:p>
        </p:txBody>
      </p:sp>
      <p:sp>
        <p:nvSpPr>
          <p:cNvPr id="11" name="Text 8"/>
          <p:cNvSpPr/>
          <p:nvPr/>
        </p:nvSpPr>
        <p:spPr>
          <a:xfrm>
            <a:off x="384395" y="3621024"/>
            <a:ext cx="6572159" cy="1051560"/>
          </a:xfrm>
          <a:prstGeom prst="rect">
            <a:avLst/>
          </a:prstGeom>
          <a:noFill/>
          <a:ln/>
        </p:spPr>
        <p:txBody>
          <a:bodyPr wrap="square" rtlCol="0" anchor="ctr"/>
          <a:lstStyle/>
          <a:p>
            <a:pPr marL="0" indent="0">
              <a:buNone/>
            </a:pPr>
            <a:r>
              <a:rPr lang="en-US" sz="1600" dirty="0">
                <a:solidFill>
                  <a:srgbClr val="28251D"/>
                </a:solidFill>
                <a:latin typeface="Calibri" pitchFamily="34" charset="0"/>
                <a:ea typeface="Calibri" pitchFamily="34" charset="-122"/>
                <a:cs typeface="Calibri" pitchFamily="34" charset="-120"/>
              </a:rPr>
              <a:t>1973 oil embargo: SRAS collapsed → both inflation AND unemployment rose simultaneously. "Stagflation" — Keynesian theory had no explanation.</a:t>
            </a:r>
            <a:endParaRPr lang="en-US" sz="1600" dirty="0"/>
          </a:p>
        </p:txBody>
      </p:sp>
      <p:sp>
        <p:nvSpPr>
          <p:cNvPr id="12" name="Shape 9">
            <a:extLst>
              <a:ext uri="{C183D7F6-B498-43B3-948B-1728B52AA6E4}">
                <adec:decorative xmlns:adec="http://schemas.microsoft.com/office/drawing/2017/decorative" val="1"/>
              </a:ext>
            </a:extLst>
          </p:cNvPr>
          <p:cNvSpPr/>
          <p:nvPr/>
        </p:nvSpPr>
        <p:spPr>
          <a:xfrm>
            <a:off x="201835" y="4828032"/>
            <a:ext cx="6937279" cy="1572768"/>
          </a:xfrm>
          <a:prstGeom prst="rect">
            <a:avLst/>
          </a:prstGeom>
          <a:solidFill>
            <a:srgbClr val="FFFFFF"/>
          </a:solidFill>
          <a:ln w="12700">
            <a:solidFill>
              <a:srgbClr val="7A7974"/>
            </a:solidFill>
            <a:prstDash val="solid"/>
          </a:ln>
        </p:spPr>
        <p:txBody>
          <a:bodyPr/>
          <a:lstStyle/>
          <a:p>
            <a:endParaRPr lang="en-US"/>
          </a:p>
        </p:txBody>
      </p:sp>
      <p:sp>
        <p:nvSpPr>
          <p:cNvPr id="13" name="Text 10"/>
          <p:cNvSpPr/>
          <p:nvPr/>
        </p:nvSpPr>
        <p:spPr>
          <a:xfrm>
            <a:off x="384395" y="4873752"/>
            <a:ext cx="6572159" cy="411480"/>
          </a:xfrm>
          <a:prstGeom prst="rect">
            <a:avLst/>
          </a:prstGeom>
          <a:noFill/>
          <a:ln/>
        </p:spPr>
        <p:txBody>
          <a:bodyPr wrap="square" rtlCol="0" anchor="ctr"/>
          <a:lstStyle/>
          <a:p>
            <a:pPr marL="0" indent="0">
              <a:buNone/>
            </a:pPr>
            <a:r>
              <a:rPr lang="en-US" sz="2000" b="1" dirty="0">
                <a:latin typeface="Trebuchet MS" pitchFamily="34" charset="0"/>
                <a:ea typeface="Trebuchet MS" pitchFamily="34" charset="-122"/>
                <a:cs typeface="Trebuchet MS" pitchFamily="34" charset="-120"/>
              </a:rPr>
              <a:t>Long Run (LRPC)</a:t>
            </a:r>
            <a:endParaRPr lang="en-US" sz="2000" dirty="0"/>
          </a:p>
        </p:txBody>
      </p:sp>
      <p:sp>
        <p:nvSpPr>
          <p:cNvPr id="14" name="Text 11"/>
          <p:cNvSpPr/>
          <p:nvPr/>
        </p:nvSpPr>
        <p:spPr>
          <a:xfrm>
            <a:off x="384395" y="5303520"/>
            <a:ext cx="6572159" cy="1051560"/>
          </a:xfrm>
          <a:prstGeom prst="rect">
            <a:avLst/>
          </a:prstGeom>
          <a:noFill/>
          <a:ln/>
        </p:spPr>
        <p:txBody>
          <a:bodyPr wrap="square" rtlCol="0" anchor="ctr"/>
          <a:lstStyle/>
          <a:p>
            <a:pPr marL="0" indent="0">
              <a:buNone/>
            </a:pPr>
            <a:r>
              <a:rPr lang="en-US" sz="1600" dirty="0">
                <a:solidFill>
                  <a:srgbClr val="28251D"/>
                </a:solidFill>
                <a:latin typeface="Calibri" pitchFamily="34" charset="0"/>
                <a:ea typeface="Calibri" pitchFamily="34" charset="-122"/>
                <a:cs typeface="Calibri" pitchFamily="34" charset="-120"/>
              </a:rPr>
              <a:t>Once expectations adapt, the curve shifts up. No lasting tradeoff. Vertical at the natural rate of unemployment.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9"/>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12188952" cy="1325880"/>
          </a:xfrm>
          <a:prstGeom prst="rect">
            <a:avLst/>
          </a:prstGeom>
          <a:solidFill>
            <a:srgbClr val="28251D"/>
          </a:solidFill>
          <a:ln w="12700">
            <a:solidFill>
              <a:srgbClr val="28251D"/>
            </a:solidFill>
            <a:prstDash val="solid"/>
          </a:ln>
        </p:spPr>
        <p:txBody>
          <a:bodyPr/>
          <a:lstStyle/>
          <a:p>
            <a:endParaRPr lang="en-US"/>
          </a:p>
        </p:txBody>
      </p:sp>
      <p:sp>
        <p:nvSpPr>
          <p:cNvPr id="3" name="Text 1"/>
          <p:cNvSpPr>
            <a:spLocks noGrp="1"/>
          </p:cNvSpPr>
          <p:nvPr>
            <p:ph type="title" idx="4294967295"/>
          </p:nvPr>
        </p:nvSpPr>
        <p:spPr>
          <a:xfrm>
            <a:off x="411480" y="73152"/>
            <a:ext cx="11430000" cy="77724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Keynesian Policy Toolkit</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2"/>
          <p:cNvSpPr/>
          <p:nvPr/>
        </p:nvSpPr>
        <p:spPr>
          <a:xfrm>
            <a:off x="411480" y="868680"/>
            <a:ext cx="11430000" cy="411480"/>
          </a:xfrm>
          <a:prstGeom prst="rect">
            <a:avLst/>
          </a:prstGeom>
          <a:noFill/>
          <a:ln/>
        </p:spPr>
        <p:txBody>
          <a:bodyPr wrap="square" rtlCol="0" anchor="t"/>
          <a:lstStyle/>
          <a:p>
            <a:pPr marL="0" indent="0">
              <a:buNone/>
            </a:pPr>
            <a:r>
              <a:rPr lang="en-US" dirty="0">
                <a:solidFill>
                  <a:schemeClr val="bg1"/>
                </a:solidFill>
                <a:latin typeface="Calibri" pitchFamily="34" charset="0"/>
                <a:ea typeface="Calibri" pitchFamily="34" charset="-122"/>
                <a:cs typeface="Calibri" pitchFamily="34" charset="-120"/>
              </a:rPr>
              <a:t>Close the output gap by managing aggregate demand</a:t>
            </a:r>
            <a:endParaRPr lang="en-US" dirty="0">
              <a:solidFill>
                <a:schemeClr val="bg1"/>
              </a:solidFill>
            </a:endParaRPr>
          </a:p>
        </p:txBody>
      </p:sp>
      <p:sp>
        <p:nvSpPr>
          <p:cNvPr id="5" name="Shape 3">
            <a:extLst>
              <a:ext uri="{C183D7F6-B498-43B3-948B-1728B52AA6E4}">
                <adec:decorative xmlns:adec="http://schemas.microsoft.com/office/drawing/2017/decorative" val="1"/>
              </a:ext>
            </a:extLst>
          </p:cNvPr>
          <p:cNvSpPr/>
          <p:nvPr/>
        </p:nvSpPr>
        <p:spPr>
          <a:xfrm>
            <a:off x="365760" y="1417320"/>
            <a:ext cx="5577840" cy="5074920"/>
          </a:xfrm>
          <a:prstGeom prst="rect">
            <a:avLst/>
          </a:prstGeom>
          <a:solidFill>
            <a:srgbClr val="FFFFFF"/>
          </a:solidFill>
          <a:ln w="12700">
            <a:solidFill>
              <a:srgbClr val="01696F"/>
            </a:solidFill>
            <a:prstDash val="solid"/>
          </a:ln>
        </p:spPr>
        <p:txBody>
          <a:bodyPr/>
          <a:lstStyle/>
          <a:p>
            <a:endParaRPr lang="en-US"/>
          </a:p>
        </p:txBody>
      </p:sp>
      <p:sp>
        <p:nvSpPr>
          <p:cNvPr id="6" name="Shape 4">
            <a:extLst>
              <a:ext uri="{C183D7F6-B498-43B3-948B-1728B52AA6E4}">
                <adec:decorative xmlns:adec="http://schemas.microsoft.com/office/drawing/2017/decorative" val="1"/>
              </a:ext>
            </a:extLst>
          </p:cNvPr>
          <p:cNvSpPr/>
          <p:nvPr/>
        </p:nvSpPr>
        <p:spPr>
          <a:xfrm>
            <a:off x="365760" y="1417320"/>
            <a:ext cx="5577840" cy="566928"/>
          </a:xfrm>
          <a:prstGeom prst="rect">
            <a:avLst/>
          </a:prstGeom>
          <a:solidFill>
            <a:srgbClr val="01696F"/>
          </a:solidFill>
          <a:ln w="12700">
            <a:solidFill>
              <a:srgbClr val="01696F"/>
            </a:solidFill>
            <a:prstDash val="solid"/>
          </a:ln>
        </p:spPr>
        <p:txBody>
          <a:bodyPr/>
          <a:lstStyle/>
          <a:p>
            <a:endParaRPr lang="en-US"/>
          </a:p>
        </p:txBody>
      </p:sp>
      <p:sp>
        <p:nvSpPr>
          <p:cNvPr id="7" name="Text 5"/>
          <p:cNvSpPr/>
          <p:nvPr/>
        </p:nvSpPr>
        <p:spPr>
          <a:xfrm>
            <a:off x="457200" y="1444752"/>
            <a:ext cx="5394960" cy="502920"/>
          </a:xfrm>
          <a:prstGeom prst="rect">
            <a:avLst/>
          </a:prstGeom>
          <a:noFill/>
          <a:ln/>
        </p:spPr>
        <p:txBody>
          <a:bodyPr wrap="square"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EXPANSIONARY Fiscal/Monetary POLICY</a:t>
            </a:r>
            <a:endParaRPr lang="en-US" sz="2000" dirty="0"/>
          </a:p>
        </p:txBody>
      </p:sp>
      <p:sp>
        <p:nvSpPr>
          <p:cNvPr id="8" name="Text 6"/>
          <p:cNvSpPr/>
          <p:nvPr/>
        </p:nvSpPr>
        <p:spPr>
          <a:xfrm>
            <a:off x="502920" y="2057400"/>
            <a:ext cx="5303520" cy="411480"/>
          </a:xfrm>
          <a:prstGeom prst="rect">
            <a:avLst/>
          </a:prstGeom>
          <a:noFill/>
          <a:ln/>
        </p:spPr>
        <p:txBody>
          <a:bodyPr wrap="square" rtlCol="0" anchor="ctr"/>
          <a:lstStyle/>
          <a:p>
            <a:pPr marL="0" indent="0">
              <a:buNone/>
            </a:pPr>
            <a:r>
              <a:rPr lang="en-US" sz="1600" b="1" dirty="0">
                <a:latin typeface="Calibri" pitchFamily="34" charset="0"/>
                <a:ea typeface="Calibri" pitchFamily="34" charset="-122"/>
                <a:cs typeface="Calibri" pitchFamily="34" charset="-120"/>
              </a:rPr>
              <a:t>Fight a Recession</a:t>
            </a:r>
            <a:endParaRPr lang="en-US" sz="1600" dirty="0"/>
          </a:p>
        </p:txBody>
      </p:sp>
      <p:sp>
        <p:nvSpPr>
          <p:cNvPr id="9" name="Text 7"/>
          <p:cNvSpPr/>
          <p:nvPr/>
        </p:nvSpPr>
        <p:spPr>
          <a:xfrm>
            <a:off x="502920" y="2542032"/>
            <a:ext cx="5303520" cy="566928"/>
          </a:xfrm>
          <a:prstGeom prst="rect">
            <a:avLst/>
          </a:prstGeom>
          <a:noFill/>
          <a:ln/>
        </p:spPr>
        <p:txBody>
          <a:bodyPr wrap="square" rtlCol="0" anchor="ctr"/>
          <a:lstStyle/>
          <a:p>
            <a:pPr marL="0" indent="0">
              <a:buNone/>
            </a:pPr>
            <a:r>
              <a:rPr lang="en-US" sz="1600" dirty="0">
                <a:latin typeface="Calibri" pitchFamily="34" charset="0"/>
                <a:ea typeface="Calibri" pitchFamily="34" charset="-122"/>
                <a:cs typeface="Calibri" pitchFamily="34" charset="-120"/>
              </a:rPr>
              <a:t>• ↑ Government spending (infrastructure, transfers)</a:t>
            </a:r>
            <a:endParaRPr lang="en-US" sz="1600" dirty="0"/>
          </a:p>
        </p:txBody>
      </p:sp>
      <p:sp>
        <p:nvSpPr>
          <p:cNvPr id="10" name="Text 8"/>
          <p:cNvSpPr/>
          <p:nvPr/>
        </p:nvSpPr>
        <p:spPr>
          <a:xfrm>
            <a:off x="502920" y="3182112"/>
            <a:ext cx="5303520" cy="566928"/>
          </a:xfrm>
          <a:prstGeom prst="rect">
            <a:avLst/>
          </a:prstGeom>
          <a:noFill/>
          <a:ln/>
        </p:spPr>
        <p:txBody>
          <a:bodyPr wrap="square" rtlCol="0" anchor="ctr"/>
          <a:lstStyle/>
          <a:p>
            <a:pPr marL="0" indent="0">
              <a:buNone/>
            </a:pPr>
            <a:r>
              <a:rPr lang="en-US" sz="1600" dirty="0">
                <a:latin typeface="Calibri" pitchFamily="34" charset="0"/>
                <a:ea typeface="Calibri" pitchFamily="34" charset="-122"/>
                <a:cs typeface="Calibri" pitchFamily="34" charset="-120"/>
              </a:rPr>
              <a:t>• ↓ Taxes (more disposable income → ↑ C)</a:t>
            </a:r>
            <a:endParaRPr lang="en-US" sz="1600" dirty="0"/>
          </a:p>
        </p:txBody>
      </p:sp>
      <p:sp>
        <p:nvSpPr>
          <p:cNvPr id="11" name="Text 9"/>
          <p:cNvSpPr/>
          <p:nvPr/>
        </p:nvSpPr>
        <p:spPr>
          <a:xfrm>
            <a:off x="502920" y="3822192"/>
            <a:ext cx="5303520" cy="566928"/>
          </a:xfrm>
          <a:prstGeom prst="rect">
            <a:avLst/>
          </a:prstGeom>
          <a:noFill/>
          <a:ln/>
        </p:spPr>
        <p:txBody>
          <a:bodyPr wrap="square" rtlCol="0" anchor="ctr"/>
          <a:lstStyle/>
          <a:p>
            <a:pPr marL="0" indent="0">
              <a:buNone/>
            </a:pPr>
            <a:r>
              <a:rPr lang="en-US" sz="1600" dirty="0">
                <a:latin typeface="Calibri" pitchFamily="34" charset="0"/>
                <a:ea typeface="Calibri" pitchFamily="34" charset="-122"/>
                <a:cs typeface="Calibri" pitchFamily="34" charset="-120"/>
              </a:rPr>
              <a:t>• Central bank ↓ interest rates → ↑ Investment</a:t>
            </a:r>
            <a:endParaRPr lang="en-US" sz="1600" dirty="0"/>
          </a:p>
        </p:txBody>
      </p:sp>
      <p:sp>
        <p:nvSpPr>
          <p:cNvPr id="12" name="Text 10"/>
          <p:cNvSpPr/>
          <p:nvPr/>
        </p:nvSpPr>
        <p:spPr>
          <a:xfrm>
            <a:off x="502920" y="4462272"/>
            <a:ext cx="5303520" cy="566928"/>
          </a:xfrm>
          <a:prstGeom prst="rect">
            <a:avLst/>
          </a:prstGeom>
          <a:noFill/>
          <a:ln/>
        </p:spPr>
        <p:txBody>
          <a:bodyPr wrap="square" rtlCol="0" anchor="ctr"/>
          <a:lstStyle/>
          <a:p>
            <a:pPr marL="0" indent="0">
              <a:buNone/>
            </a:pPr>
            <a:r>
              <a:rPr lang="en-US" sz="1600" dirty="0">
                <a:latin typeface="Calibri" pitchFamily="34" charset="0"/>
                <a:ea typeface="Calibri" pitchFamily="34" charset="-122"/>
                <a:cs typeface="Calibri" pitchFamily="34" charset="-120"/>
              </a:rPr>
              <a:t>• Goal: shift AD rightward to close recessionary gap</a:t>
            </a:r>
            <a:endParaRPr lang="en-US" sz="1600" dirty="0"/>
          </a:p>
        </p:txBody>
      </p:sp>
      <p:sp>
        <p:nvSpPr>
          <p:cNvPr id="15" name="Shape 13">
            <a:extLst>
              <a:ext uri="{C183D7F6-B498-43B3-948B-1728B52AA6E4}">
                <adec:decorative xmlns:adec="http://schemas.microsoft.com/office/drawing/2017/decorative" val="1"/>
              </a:ext>
            </a:extLst>
          </p:cNvPr>
          <p:cNvSpPr/>
          <p:nvPr/>
        </p:nvSpPr>
        <p:spPr>
          <a:xfrm>
            <a:off x="6263640" y="1417320"/>
            <a:ext cx="5577840" cy="5074920"/>
          </a:xfrm>
          <a:prstGeom prst="rect">
            <a:avLst/>
          </a:prstGeom>
          <a:solidFill>
            <a:srgbClr val="FFFFFF"/>
          </a:solidFill>
          <a:ln w="12700">
            <a:solidFill>
              <a:srgbClr val="A84B2F"/>
            </a:solidFill>
            <a:prstDash val="solid"/>
          </a:ln>
        </p:spPr>
        <p:txBody>
          <a:bodyPr/>
          <a:lstStyle/>
          <a:p>
            <a:endParaRPr lang="en-US" sz="1600"/>
          </a:p>
        </p:txBody>
      </p:sp>
      <p:sp>
        <p:nvSpPr>
          <p:cNvPr id="16" name="Shape 14">
            <a:extLst>
              <a:ext uri="{C183D7F6-B498-43B3-948B-1728B52AA6E4}">
                <adec:decorative xmlns:adec="http://schemas.microsoft.com/office/drawing/2017/decorative" val="1"/>
              </a:ext>
            </a:extLst>
          </p:cNvPr>
          <p:cNvSpPr/>
          <p:nvPr/>
        </p:nvSpPr>
        <p:spPr>
          <a:xfrm>
            <a:off x="6263640" y="1417320"/>
            <a:ext cx="5577840" cy="566928"/>
          </a:xfrm>
          <a:prstGeom prst="rect">
            <a:avLst/>
          </a:prstGeom>
          <a:solidFill>
            <a:srgbClr val="A84B2F"/>
          </a:solidFill>
          <a:ln w="12700">
            <a:solidFill>
              <a:srgbClr val="A84B2F"/>
            </a:solidFill>
            <a:prstDash val="solid"/>
          </a:ln>
        </p:spPr>
        <p:txBody>
          <a:bodyPr/>
          <a:lstStyle/>
          <a:p>
            <a:endParaRPr lang="en-US" sz="2000"/>
          </a:p>
        </p:txBody>
      </p:sp>
      <p:sp>
        <p:nvSpPr>
          <p:cNvPr id="25" name="Text 23"/>
          <p:cNvSpPr/>
          <p:nvPr/>
        </p:nvSpPr>
        <p:spPr>
          <a:xfrm>
            <a:off x="5760720" y="3291840"/>
            <a:ext cx="685800" cy="640080"/>
          </a:xfrm>
          <a:prstGeom prst="rect">
            <a:avLst/>
          </a:prstGeom>
          <a:noFill/>
          <a:ln/>
        </p:spPr>
        <p:txBody>
          <a:bodyPr wrap="square" rtlCol="0" anchor="ctr"/>
          <a:lstStyle/>
          <a:p>
            <a:pPr marL="0" indent="0" algn="ctr">
              <a:buNone/>
            </a:pPr>
            <a:r>
              <a:rPr lang="en-US" sz="2200" dirty="0">
                <a:solidFill>
                  <a:srgbClr val="7A7974"/>
                </a:solidFill>
                <a:latin typeface="Calibri" pitchFamily="34" charset="0"/>
                <a:ea typeface="Calibri" pitchFamily="34" charset="-122"/>
                <a:cs typeface="Calibri" pitchFamily="34" charset="-120"/>
              </a:rPr>
              <a:t>⇔</a:t>
            </a:r>
            <a:endParaRPr lang="en-US" sz="2200" dirty="0"/>
          </a:p>
        </p:txBody>
      </p:sp>
      <p:sp>
        <p:nvSpPr>
          <p:cNvPr id="17" name="Text 15"/>
          <p:cNvSpPr/>
          <p:nvPr/>
        </p:nvSpPr>
        <p:spPr>
          <a:xfrm>
            <a:off x="6355080" y="1444752"/>
            <a:ext cx="5394960" cy="502920"/>
          </a:xfrm>
          <a:prstGeom prst="rect">
            <a:avLst/>
          </a:prstGeom>
          <a:noFill/>
          <a:ln/>
        </p:spPr>
        <p:txBody>
          <a:bodyPr wrap="square" rtlCol="0" anchor="ctr"/>
          <a:lstStyle/>
          <a:p>
            <a:pPr algn="ctr"/>
            <a:r>
              <a:rPr lang="en-US" sz="2000" b="1" dirty="0">
                <a:solidFill>
                  <a:srgbClr val="FFFFFF"/>
                </a:solidFill>
                <a:latin typeface="Trebuchet MS" pitchFamily="34" charset="0"/>
                <a:ea typeface="Trebuchet MS" pitchFamily="34" charset="-122"/>
                <a:cs typeface="Trebuchet MS" pitchFamily="34" charset="-120"/>
              </a:rPr>
              <a:t>CONTRACTIONARY Fiscal/Monetary POLICY</a:t>
            </a:r>
            <a:endParaRPr lang="en-US" sz="2000" dirty="0"/>
          </a:p>
        </p:txBody>
      </p:sp>
      <p:sp>
        <p:nvSpPr>
          <p:cNvPr id="18" name="Text 16"/>
          <p:cNvSpPr/>
          <p:nvPr/>
        </p:nvSpPr>
        <p:spPr>
          <a:xfrm>
            <a:off x="6400800" y="2057400"/>
            <a:ext cx="5303520" cy="411480"/>
          </a:xfrm>
          <a:prstGeom prst="rect">
            <a:avLst/>
          </a:prstGeom>
          <a:noFill/>
          <a:ln/>
        </p:spPr>
        <p:txBody>
          <a:bodyPr wrap="square" rtlCol="0" anchor="ctr"/>
          <a:lstStyle/>
          <a:p>
            <a:pPr marL="0" indent="0">
              <a:buNone/>
            </a:pPr>
            <a:r>
              <a:rPr lang="en-US" sz="1600" b="1" dirty="0">
                <a:latin typeface="Calibri" pitchFamily="34" charset="0"/>
                <a:ea typeface="Calibri" pitchFamily="34" charset="-122"/>
                <a:cs typeface="Calibri" pitchFamily="34" charset="-120"/>
              </a:rPr>
              <a:t>Fight Inflation</a:t>
            </a:r>
            <a:endParaRPr lang="en-US" sz="1600" dirty="0"/>
          </a:p>
        </p:txBody>
      </p:sp>
      <p:sp>
        <p:nvSpPr>
          <p:cNvPr id="19" name="Text 17"/>
          <p:cNvSpPr/>
          <p:nvPr/>
        </p:nvSpPr>
        <p:spPr>
          <a:xfrm>
            <a:off x="6400800" y="2542032"/>
            <a:ext cx="5303520" cy="566928"/>
          </a:xfrm>
          <a:prstGeom prst="rect">
            <a:avLst/>
          </a:prstGeom>
          <a:noFill/>
          <a:ln/>
        </p:spPr>
        <p:txBody>
          <a:bodyPr wrap="square" rtlCol="0" anchor="ctr"/>
          <a:lstStyle/>
          <a:p>
            <a:pPr marL="0" indent="0">
              <a:buNone/>
            </a:pPr>
            <a:r>
              <a:rPr lang="en-US" sz="1600" dirty="0">
                <a:latin typeface="Calibri" pitchFamily="34" charset="0"/>
                <a:ea typeface="Calibri" pitchFamily="34" charset="-122"/>
                <a:cs typeface="Calibri" pitchFamily="34" charset="-120"/>
              </a:rPr>
              <a:t>• ↓ Government spending (reduce deficits)</a:t>
            </a:r>
            <a:endParaRPr lang="en-US" sz="1600" dirty="0"/>
          </a:p>
        </p:txBody>
      </p:sp>
      <p:sp>
        <p:nvSpPr>
          <p:cNvPr id="20" name="Text 18"/>
          <p:cNvSpPr/>
          <p:nvPr/>
        </p:nvSpPr>
        <p:spPr>
          <a:xfrm>
            <a:off x="6400800" y="3182112"/>
            <a:ext cx="5303520" cy="566928"/>
          </a:xfrm>
          <a:prstGeom prst="rect">
            <a:avLst/>
          </a:prstGeom>
          <a:noFill/>
          <a:ln/>
        </p:spPr>
        <p:txBody>
          <a:bodyPr wrap="square" rtlCol="0" anchor="ctr"/>
          <a:lstStyle/>
          <a:p>
            <a:pPr marL="0" indent="0">
              <a:buNone/>
            </a:pPr>
            <a:r>
              <a:rPr lang="en-US" sz="1600" dirty="0">
                <a:latin typeface="Calibri" pitchFamily="34" charset="0"/>
                <a:ea typeface="Calibri" pitchFamily="34" charset="-122"/>
                <a:cs typeface="Calibri" pitchFamily="34" charset="-120"/>
              </a:rPr>
              <a:t>• ↑ Taxes (cool consumer spending)</a:t>
            </a:r>
            <a:endParaRPr lang="en-US" sz="1600" dirty="0"/>
          </a:p>
        </p:txBody>
      </p:sp>
      <p:sp>
        <p:nvSpPr>
          <p:cNvPr id="21" name="Text 19"/>
          <p:cNvSpPr/>
          <p:nvPr/>
        </p:nvSpPr>
        <p:spPr>
          <a:xfrm>
            <a:off x="6400800" y="3822192"/>
            <a:ext cx="5303520" cy="566928"/>
          </a:xfrm>
          <a:prstGeom prst="rect">
            <a:avLst/>
          </a:prstGeom>
          <a:noFill/>
          <a:ln/>
        </p:spPr>
        <p:txBody>
          <a:bodyPr wrap="square" rtlCol="0" anchor="ctr"/>
          <a:lstStyle/>
          <a:p>
            <a:pPr marL="0" indent="0">
              <a:buNone/>
            </a:pPr>
            <a:r>
              <a:rPr lang="en-US" sz="1600" dirty="0">
                <a:latin typeface="Calibri" pitchFamily="34" charset="0"/>
                <a:ea typeface="Calibri" pitchFamily="34" charset="-122"/>
                <a:cs typeface="Calibri" pitchFamily="34" charset="-120"/>
              </a:rPr>
              <a:t>• Central bank ↑ interest rates → ↓ Investment</a:t>
            </a:r>
            <a:endParaRPr lang="en-US" sz="1600" dirty="0"/>
          </a:p>
        </p:txBody>
      </p:sp>
      <p:sp>
        <p:nvSpPr>
          <p:cNvPr id="22" name="Text 20"/>
          <p:cNvSpPr/>
          <p:nvPr/>
        </p:nvSpPr>
        <p:spPr>
          <a:xfrm>
            <a:off x="6400800" y="4462272"/>
            <a:ext cx="5303520" cy="566928"/>
          </a:xfrm>
          <a:prstGeom prst="rect">
            <a:avLst/>
          </a:prstGeom>
          <a:noFill/>
          <a:ln/>
        </p:spPr>
        <p:txBody>
          <a:bodyPr wrap="square" rtlCol="0" anchor="ctr"/>
          <a:lstStyle/>
          <a:p>
            <a:pPr marL="0" indent="0">
              <a:buNone/>
            </a:pPr>
            <a:r>
              <a:rPr lang="en-US" sz="1600" dirty="0">
                <a:latin typeface="Calibri" pitchFamily="34" charset="0"/>
                <a:ea typeface="Calibri" pitchFamily="34" charset="-122"/>
                <a:cs typeface="Calibri" pitchFamily="34" charset="-120"/>
              </a:rPr>
              <a:t>• Goal: shift AD leftward to close inflationary gap</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9"/>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12188952" cy="1325880"/>
          </a:xfrm>
          <a:prstGeom prst="rect">
            <a:avLst/>
          </a:prstGeom>
          <a:solidFill>
            <a:srgbClr val="28251D"/>
          </a:solidFill>
          <a:ln w="12700">
            <a:solidFill>
              <a:srgbClr val="28251D"/>
            </a:solidFill>
            <a:prstDash val="solid"/>
          </a:ln>
        </p:spPr>
        <p:txBody>
          <a:bodyPr/>
          <a:lstStyle/>
          <a:p>
            <a:endParaRPr lang="en-US"/>
          </a:p>
        </p:txBody>
      </p:sp>
      <p:sp>
        <p:nvSpPr>
          <p:cNvPr id="3" name="Text 1"/>
          <p:cNvSpPr>
            <a:spLocks noGrp="1"/>
          </p:cNvSpPr>
          <p:nvPr>
            <p:ph type="title" idx="4294967295"/>
          </p:nvPr>
        </p:nvSpPr>
        <p:spPr>
          <a:xfrm>
            <a:off x="411480" y="73152"/>
            <a:ext cx="11430000" cy="77724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Neoclassical Foundations</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2"/>
          <p:cNvSpPr/>
          <p:nvPr/>
        </p:nvSpPr>
        <p:spPr>
          <a:xfrm>
            <a:off x="411480" y="868680"/>
            <a:ext cx="11430000" cy="411480"/>
          </a:xfrm>
          <a:prstGeom prst="rect">
            <a:avLst/>
          </a:prstGeom>
          <a:noFill/>
          <a:ln/>
        </p:spPr>
        <p:txBody>
          <a:bodyPr wrap="square" rtlCol="0" anchor="t"/>
          <a:lstStyle/>
          <a:p>
            <a:pPr marL="0" indent="0">
              <a:buNone/>
            </a:pPr>
            <a:r>
              <a:rPr lang="en-US" dirty="0">
                <a:solidFill>
                  <a:schemeClr val="bg1"/>
                </a:solidFill>
                <a:latin typeface="Calibri" pitchFamily="34" charset="0"/>
                <a:ea typeface="Calibri" pitchFamily="34" charset="-122"/>
                <a:cs typeface="Calibri" pitchFamily="34" charset="-120"/>
              </a:rPr>
              <a:t>In the long run, supply — not demand — determines output</a:t>
            </a:r>
            <a:endParaRPr lang="en-US" dirty="0">
              <a:solidFill>
                <a:schemeClr val="bg1"/>
              </a:solidFill>
            </a:endParaRPr>
          </a:p>
        </p:txBody>
      </p:sp>
      <p:sp>
        <p:nvSpPr>
          <p:cNvPr id="6" name="Shape 3">
            <a:extLst>
              <a:ext uri="{C183D7F6-B498-43B3-948B-1728B52AA6E4}">
                <adec:decorative xmlns:adec="http://schemas.microsoft.com/office/drawing/2017/decorative" val="1"/>
              </a:ext>
            </a:extLst>
          </p:cNvPr>
          <p:cNvSpPr/>
          <p:nvPr/>
        </p:nvSpPr>
        <p:spPr>
          <a:xfrm>
            <a:off x="494466" y="1463040"/>
            <a:ext cx="7910932" cy="1161288"/>
          </a:xfrm>
          <a:prstGeom prst="rect">
            <a:avLst/>
          </a:prstGeom>
          <a:solidFill>
            <a:srgbClr val="FDF4EC"/>
          </a:solidFill>
          <a:ln w="12700">
            <a:solidFill>
              <a:srgbClr val="A84B2F"/>
            </a:solidFill>
            <a:prstDash val="solid"/>
          </a:ln>
        </p:spPr>
        <p:txBody>
          <a:bodyPr/>
          <a:lstStyle/>
          <a:p>
            <a:endParaRPr lang="en-US"/>
          </a:p>
        </p:txBody>
      </p:sp>
      <p:sp>
        <p:nvSpPr>
          <p:cNvPr id="7" name="Text 4"/>
          <p:cNvSpPr/>
          <p:nvPr/>
        </p:nvSpPr>
        <p:spPr>
          <a:xfrm>
            <a:off x="677026" y="1508760"/>
            <a:ext cx="7545812" cy="347472"/>
          </a:xfrm>
          <a:prstGeom prst="rect">
            <a:avLst/>
          </a:prstGeom>
          <a:noFill/>
          <a:ln/>
        </p:spPr>
        <p:txBody>
          <a:bodyPr wrap="square" rtlCol="0" anchor="ctr"/>
          <a:lstStyle/>
          <a:p>
            <a:pPr marL="0" indent="0">
              <a:buNone/>
            </a:pPr>
            <a:r>
              <a:rPr lang="en-US" b="1" dirty="0">
                <a:latin typeface="Trebuchet MS" pitchFamily="34" charset="0"/>
                <a:ea typeface="Trebuchet MS" pitchFamily="34" charset="-122"/>
                <a:cs typeface="Trebuchet MS" pitchFamily="34" charset="-120"/>
              </a:rPr>
              <a:t>Vertical LRAS</a:t>
            </a:r>
            <a:endParaRPr lang="en-US" dirty="0"/>
          </a:p>
        </p:txBody>
      </p:sp>
      <p:sp>
        <p:nvSpPr>
          <p:cNvPr id="8" name="Text 5"/>
          <p:cNvSpPr/>
          <p:nvPr/>
        </p:nvSpPr>
        <p:spPr>
          <a:xfrm>
            <a:off x="677026" y="1874520"/>
            <a:ext cx="7545812" cy="713232"/>
          </a:xfrm>
          <a:prstGeom prst="rect">
            <a:avLst/>
          </a:prstGeom>
          <a:noFill/>
          <a:ln/>
        </p:spPr>
        <p:txBody>
          <a:bodyPr wrap="square" rtlCol="0" anchor="ctr"/>
          <a:lstStyle/>
          <a:p>
            <a:pPr marL="0" indent="0">
              <a:buNone/>
            </a:pPr>
            <a:r>
              <a:rPr lang="en-US" sz="1600" dirty="0">
                <a:solidFill>
                  <a:srgbClr val="28251D"/>
                </a:solidFill>
                <a:latin typeface="Calibri" pitchFamily="34" charset="0"/>
                <a:ea typeface="Calibri" pitchFamily="34" charset="-122"/>
                <a:cs typeface="Calibri" pitchFamily="34" charset="-120"/>
              </a:rPr>
              <a:t>Potential GDP (Yp) is the anchor. It's set by the stock of labor, capital, technology — not by AD.</a:t>
            </a:r>
            <a:endParaRPr lang="en-US" sz="1600" dirty="0"/>
          </a:p>
        </p:txBody>
      </p:sp>
      <p:sp>
        <p:nvSpPr>
          <p:cNvPr id="9" name="Shape 6">
            <a:extLst>
              <a:ext uri="{C183D7F6-B498-43B3-948B-1728B52AA6E4}">
                <adec:decorative xmlns:adec="http://schemas.microsoft.com/office/drawing/2017/decorative" val="1"/>
              </a:ext>
            </a:extLst>
          </p:cNvPr>
          <p:cNvSpPr/>
          <p:nvPr/>
        </p:nvSpPr>
        <p:spPr>
          <a:xfrm>
            <a:off x="494466" y="2724912"/>
            <a:ext cx="7910932" cy="1161288"/>
          </a:xfrm>
          <a:prstGeom prst="rect">
            <a:avLst/>
          </a:prstGeom>
          <a:solidFill>
            <a:srgbClr val="FDF4EC"/>
          </a:solidFill>
          <a:ln w="12700">
            <a:solidFill>
              <a:srgbClr val="A84B2F"/>
            </a:solidFill>
            <a:prstDash val="solid"/>
          </a:ln>
        </p:spPr>
        <p:txBody>
          <a:bodyPr/>
          <a:lstStyle/>
          <a:p>
            <a:endParaRPr lang="en-US"/>
          </a:p>
        </p:txBody>
      </p:sp>
      <p:sp>
        <p:nvSpPr>
          <p:cNvPr id="10" name="Text 7"/>
          <p:cNvSpPr/>
          <p:nvPr/>
        </p:nvSpPr>
        <p:spPr>
          <a:xfrm>
            <a:off x="677026" y="2770632"/>
            <a:ext cx="7545812" cy="347472"/>
          </a:xfrm>
          <a:prstGeom prst="rect">
            <a:avLst/>
          </a:prstGeom>
          <a:noFill/>
          <a:ln/>
        </p:spPr>
        <p:txBody>
          <a:bodyPr wrap="square" rtlCol="0" anchor="ctr"/>
          <a:lstStyle/>
          <a:p>
            <a:pPr marL="0" indent="0">
              <a:buNone/>
            </a:pPr>
            <a:r>
              <a:rPr lang="en-US" b="1" dirty="0">
                <a:latin typeface="Trebuchet MS" pitchFamily="34" charset="0"/>
                <a:ea typeface="Trebuchet MS" pitchFamily="34" charset="-122"/>
                <a:cs typeface="Trebuchet MS" pitchFamily="34" charset="-120"/>
              </a:rPr>
              <a:t>Flexible Wages &amp; Prices</a:t>
            </a:r>
            <a:endParaRPr lang="en-US" dirty="0"/>
          </a:p>
        </p:txBody>
      </p:sp>
      <p:sp>
        <p:nvSpPr>
          <p:cNvPr id="11" name="Text 8"/>
          <p:cNvSpPr/>
          <p:nvPr/>
        </p:nvSpPr>
        <p:spPr>
          <a:xfrm>
            <a:off x="677026" y="3136392"/>
            <a:ext cx="7545812" cy="713232"/>
          </a:xfrm>
          <a:prstGeom prst="rect">
            <a:avLst/>
          </a:prstGeom>
          <a:noFill/>
          <a:ln/>
        </p:spPr>
        <p:txBody>
          <a:bodyPr wrap="square" rtlCol="0" anchor="ctr"/>
          <a:lstStyle/>
          <a:p>
            <a:pPr marL="0" indent="0">
              <a:buNone/>
            </a:pPr>
            <a:r>
              <a:rPr lang="en-US" sz="1600" dirty="0">
                <a:solidFill>
                  <a:srgbClr val="28251D"/>
                </a:solidFill>
                <a:latin typeface="Calibri" pitchFamily="34" charset="0"/>
                <a:ea typeface="Calibri" pitchFamily="34" charset="-122"/>
                <a:cs typeface="Calibri" pitchFamily="34" charset="-120"/>
              </a:rPr>
              <a:t>Recession → labor surplus → wages fall → SRAS shifts right → economy returns to Yp. No government needed — just time.</a:t>
            </a:r>
            <a:endParaRPr lang="en-US" sz="1600" dirty="0"/>
          </a:p>
        </p:txBody>
      </p:sp>
      <p:sp>
        <p:nvSpPr>
          <p:cNvPr id="12" name="Shape 9">
            <a:extLst>
              <a:ext uri="{C183D7F6-B498-43B3-948B-1728B52AA6E4}">
                <adec:decorative xmlns:adec="http://schemas.microsoft.com/office/drawing/2017/decorative" val="1"/>
              </a:ext>
            </a:extLst>
          </p:cNvPr>
          <p:cNvSpPr/>
          <p:nvPr/>
        </p:nvSpPr>
        <p:spPr>
          <a:xfrm>
            <a:off x="494466" y="3986784"/>
            <a:ext cx="7910932" cy="1161288"/>
          </a:xfrm>
          <a:prstGeom prst="rect">
            <a:avLst/>
          </a:prstGeom>
          <a:solidFill>
            <a:srgbClr val="FDF4EC"/>
          </a:solidFill>
          <a:ln w="12700">
            <a:solidFill>
              <a:srgbClr val="A84B2F"/>
            </a:solidFill>
            <a:prstDash val="solid"/>
          </a:ln>
        </p:spPr>
        <p:txBody>
          <a:bodyPr/>
          <a:lstStyle/>
          <a:p>
            <a:endParaRPr lang="en-US"/>
          </a:p>
        </p:txBody>
      </p:sp>
      <p:sp>
        <p:nvSpPr>
          <p:cNvPr id="13" name="Text 10"/>
          <p:cNvSpPr/>
          <p:nvPr/>
        </p:nvSpPr>
        <p:spPr>
          <a:xfrm>
            <a:off x="677026" y="4032504"/>
            <a:ext cx="7545812" cy="347472"/>
          </a:xfrm>
          <a:prstGeom prst="rect">
            <a:avLst/>
          </a:prstGeom>
          <a:noFill/>
          <a:ln/>
        </p:spPr>
        <p:txBody>
          <a:bodyPr wrap="square" rtlCol="0" anchor="ctr"/>
          <a:lstStyle/>
          <a:p>
            <a:pPr marL="0" indent="0">
              <a:buNone/>
            </a:pPr>
            <a:r>
              <a:rPr lang="en-US" b="1" dirty="0">
                <a:latin typeface="Trebuchet MS" pitchFamily="34" charset="0"/>
                <a:ea typeface="Trebuchet MS" pitchFamily="34" charset="-122"/>
                <a:cs typeface="Trebuchet MS" pitchFamily="34" charset="-120"/>
              </a:rPr>
              <a:t>Rational Expectations</a:t>
            </a:r>
            <a:endParaRPr lang="en-US" dirty="0"/>
          </a:p>
        </p:txBody>
      </p:sp>
      <p:sp>
        <p:nvSpPr>
          <p:cNvPr id="14" name="Text 11"/>
          <p:cNvSpPr/>
          <p:nvPr/>
        </p:nvSpPr>
        <p:spPr>
          <a:xfrm>
            <a:off x="677026" y="4398264"/>
            <a:ext cx="7545812" cy="713232"/>
          </a:xfrm>
          <a:prstGeom prst="rect">
            <a:avLst/>
          </a:prstGeom>
          <a:noFill/>
          <a:ln/>
        </p:spPr>
        <p:txBody>
          <a:bodyPr wrap="square" rtlCol="0" anchor="ctr"/>
          <a:lstStyle/>
          <a:p>
            <a:pPr marL="0" indent="0">
              <a:buNone/>
            </a:pPr>
            <a:r>
              <a:rPr lang="en-US" sz="1600" dirty="0">
                <a:solidFill>
                  <a:srgbClr val="28251D"/>
                </a:solidFill>
                <a:latin typeface="Calibri" pitchFamily="34" charset="0"/>
                <a:ea typeface="Calibri" pitchFamily="34" charset="-122"/>
                <a:cs typeface="Calibri" pitchFamily="34" charset="-120"/>
              </a:rPr>
              <a:t>If people anticipate a policy, they adjust immediately. Example: home prices jump the day a new transit station is announced — before it's built.</a:t>
            </a:r>
            <a:endParaRPr lang="en-US" sz="1600" dirty="0"/>
          </a:p>
        </p:txBody>
      </p:sp>
      <p:sp>
        <p:nvSpPr>
          <p:cNvPr id="15" name="Shape 12">
            <a:extLst>
              <a:ext uri="{C183D7F6-B498-43B3-948B-1728B52AA6E4}">
                <adec:decorative xmlns:adec="http://schemas.microsoft.com/office/drawing/2017/decorative" val="1"/>
              </a:ext>
            </a:extLst>
          </p:cNvPr>
          <p:cNvSpPr/>
          <p:nvPr/>
        </p:nvSpPr>
        <p:spPr>
          <a:xfrm>
            <a:off x="494466" y="5248656"/>
            <a:ext cx="7910932" cy="1161288"/>
          </a:xfrm>
          <a:prstGeom prst="rect">
            <a:avLst/>
          </a:prstGeom>
          <a:solidFill>
            <a:srgbClr val="FDF4EC"/>
          </a:solidFill>
          <a:ln w="12700">
            <a:solidFill>
              <a:srgbClr val="A84B2F"/>
            </a:solidFill>
            <a:prstDash val="solid"/>
          </a:ln>
        </p:spPr>
        <p:txBody>
          <a:bodyPr/>
          <a:lstStyle/>
          <a:p>
            <a:endParaRPr lang="en-US"/>
          </a:p>
        </p:txBody>
      </p:sp>
      <p:sp>
        <p:nvSpPr>
          <p:cNvPr id="16" name="Text 13"/>
          <p:cNvSpPr/>
          <p:nvPr/>
        </p:nvSpPr>
        <p:spPr>
          <a:xfrm>
            <a:off x="677026" y="5294376"/>
            <a:ext cx="7545812" cy="347472"/>
          </a:xfrm>
          <a:prstGeom prst="rect">
            <a:avLst/>
          </a:prstGeom>
          <a:noFill/>
          <a:ln/>
        </p:spPr>
        <p:txBody>
          <a:bodyPr wrap="square" rtlCol="0" anchor="ctr"/>
          <a:lstStyle/>
          <a:p>
            <a:pPr marL="0" indent="0">
              <a:buNone/>
            </a:pPr>
            <a:r>
              <a:rPr lang="en-US" b="1" dirty="0">
                <a:latin typeface="Trebuchet MS" pitchFamily="34" charset="0"/>
                <a:ea typeface="Trebuchet MS" pitchFamily="34" charset="-122"/>
                <a:cs typeface="Trebuchet MS" pitchFamily="34" charset="-120"/>
              </a:rPr>
              <a:t>Crowding Out</a:t>
            </a:r>
            <a:endParaRPr lang="en-US" dirty="0"/>
          </a:p>
        </p:txBody>
      </p:sp>
      <p:sp>
        <p:nvSpPr>
          <p:cNvPr id="17" name="Text 14"/>
          <p:cNvSpPr/>
          <p:nvPr/>
        </p:nvSpPr>
        <p:spPr>
          <a:xfrm>
            <a:off x="677026" y="5660136"/>
            <a:ext cx="7545812" cy="713232"/>
          </a:xfrm>
          <a:prstGeom prst="rect">
            <a:avLst/>
          </a:prstGeom>
          <a:noFill/>
          <a:ln/>
        </p:spPr>
        <p:txBody>
          <a:bodyPr wrap="square" rtlCol="0" anchor="ctr"/>
          <a:lstStyle/>
          <a:p>
            <a:pPr marL="0" indent="0">
              <a:buNone/>
            </a:pPr>
            <a:r>
              <a:rPr lang="en-US" sz="1600" dirty="0">
                <a:solidFill>
                  <a:srgbClr val="28251D"/>
                </a:solidFill>
                <a:latin typeface="Calibri" pitchFamily="34" charset="0"/>
                <a:ea typeface="Calibri" pitchFamily="34" charset="-122"/>
                <a:cs typeface="Calibri" pitchFamily="34" charset="-120"/>
              </a:rPr>
              <a:t>Government borrowing raises interest rates → private investment falls. Fiscal stimulus may be partly or fully offset.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9"/>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12188952" cy="1325880"/>
          </a:xfrm>
          <a:prstGeom prst="rect">
            <a:avLst/>
          </a:prstGeom>
          <a:solidFill>
            <a:srgbClr val="28251D"/>
          </a:solidFill>
          <a:ln w="12700">
            <a:solidFill>
              <a:srgbClr val="28251D"/>
            </a:solidFill>
            <a:prstDash val="solid"/>
          </a:ln>
        </p:spPr>
        <p:txBody>
          <a:bodyPr/>
          <a:lstStyle/>
          <a:p>
            <a:endParaRPr lang="en-US"/>
          </a:p>
        </p:txBody>
      </p:sp>
      <p:sp>
        <p:nvSpPr>
          <p:cNvPr id="3" name="Text 1"/>
          <p:cNvSpPr>
            <a:spLocks noGrp="1"/>
          </p:cNvSpPr>
          <p:nvPr>
            <p:ph type="title" idx="4294967295"/>
          </p:nvPr>
        </p:nvSpPr>
        <p:spPr>
          <a:xfrm>
            <a:off x="411480" y="73152"/>
            <a:ext cx="11430000" cy="77724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Long-Run Self-Correction</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2"/>
          <p:cNvSpPr/>
          <p:nvPr/>
        </p:nvSpPr>
        <p:spPr>
          <a:xfrm>
            <a:off x="411480" y="868680"/>
            <a:ext cx="11430000" cy="411480"/>
          </a:xfrm>
          <a:prstGeom prst="rect">
            <a:avLst/>
          </a:prstGeom>
          <a:noFill/>
          <a:ln/>
        </p:spPr>
        <p:txBody>
          <a:bodyPr wrap="square" rtlCol="0" anchor="t"/>
          <a:lstStyle/>
          <a:p>
            <a:pPr marL="0" indent="0">
              <a:buNone/>
            </a:pPr>
            <a:r>
              <a:rPr lang="en-US" dirty="0">
                <a:solidFill>
                  <a:schemeClr val="bg1"/>
                </a:solidFill>
                <a:latin typeface="Calibri" pitchFamily="34" charset="0"/>
                <a:ea typeface="Calibri" pitchFamily="34" charset="-122"/>
                <a:cs typeface="Calibri" pitchFamily="34" charset="-120"/>
              </a:rPr>
              <a:t>Sticky vs. Flexible: the adjustment mechanism in pictures</a:t>
            </a:r>
            <a:endParaRPr lang="en-US" dirty="0">
              <a:solidFill>
                <a:schemeClr val="bg1"/>
              </a:solidFill>
            </a:endParaRPr>
          </a:p>
        </p:txBody>
      </p:sp>
      <p:pic>
        <p:nvPicPr>
          <p:cNvPr id="5" name="Image 0" descr="Why Prices Matter:  The Adjustment Story.  Neoclassicals assue flexible prices and Keynesians assum sticky prices."/>
          <p:cNvPicPr>
            <a:picLocks noChangeAspect="1"/>
          </p:cNvPicPr>
          <p:nvPr/>
        </p:nvPicPr>
        <p:blipFill>
          <a:blip r:embed="rId3"/>
          <a:stretch>
            <a:fillRect/>
          </a:stretch>
        </p:blipFill>
        <p:spPr>
          <a:xfrm>
            <a:off x="457200" y="1463040"/>
            <a:ext cx="7315200" cy="3931920"/>
          </a:xfrm>
          <a:prstGeom prst="rect">
            <a:avLst/>
          </a:prstGeom>
        </p:spPr>
      </p:pic>
      <p:sp>
        <p:nvSpPr>
          <p:cNvPr id="6" name="Shape 3">
            <a:extLst>
              <a:ext uri="{C183D7F6-B498-43B3-948B-1728B52AA6E4}">
                <adec:decorative xmlns:adec="http://schemas.microsoft.com/office/drawing/2017/decorative" val="1"/>
              </a:ext>
            </a:extLst>
          </p:cNvPr>
          <p:cNvSpPr/>
          <p:nvPr/>
        </p:nvSpPr>
        <p:spPr>
          <a:xfrm>
            <a:off x="7955280" y="1508759"/>
            <a:ext cx="3931920" cy="5027507"/>
          </a:xfrm>
          <a:prstGeom prst="rect">
            <a:avLst/>
          </a:prstGeom>
          <a:solidFill>
            <a:srgbClr val="FFFFFF"/>
          </a:solidFill>
          <a:ln w="12700">
            <a:solidFill>
              <a:srgbClr val="28251D"/>
            </a:solidFill>
            <a:prstDash val="solid"/>
          </a:ln>
        </p:spPr>
        <p:txBody>
          <a:bodyPr/>
          <a:lstStyle/>
          <a:p>
            <a:endParaRPr lang="en-US"/>
          </a:p>
        </p:txBody>
      </p:sp>
      <p:sp>
        <p:nvSpPr>
          <p:cNvPr id="7" name="Text 4"/>
          <p:cNvSpPr/>
          <p:nvPr/>
        </p:nvSpPr>
        <p:spPr>
          <a:xfrm>
            <a:off x="8092440" y="1572768"/>
            <a:ext cx="3657600" cy="411480"/>
          </a:xfrm>
          <a:prstGeom prst="rect">
            <a:avLst/>
          </a:prstGeom>
          <a:noFill/>
          <a:ln/>
        </p:spPr>
        <p:txBody>
          <a:bodyPr wrap="square" rtlCol="0" anchor="ctr"/>
          <a:lstStyle/>
          <a:p>
            <a:pPr marL="0" indent="0">
              <a:buNone/>
            </a:pPr>
            <a:r>
              <a:rPr lang="en-US" sz="2000" b="1" dirty="0">
                <a:solidFill>
                  <a:srgbClr val="28251D"/>
                </a:solidFill>
                <a:latin typeface="Trebuchet MS" pitchFamily="34" charset="0"/>
                <a:ea typeface="Trebuchet MS" pitchFamily="34" charset="-122"/>
                <a:cs typeface="Trebuchet MS" pitchFamily="34" charset="-120"/>
              </a:rPr>
              <a:t>The Core Debate</a:t>
            </a:r>
            <a:endParaRPr lang="en-US" sz="2000" dirty="0"/>
          </a:p>
        </p:txBody>
      </p:sp>
      <p:sp>
        <p:nvSpPr>
          <p:cNvPr id="8" name="Text 5"/>
          <p:cNvSpPr/>
          <p:nvPr/>
        </p:nvSpPr>
        <p:spPr>
          <a:xfrm>
            <a:off x="8092440" y="2084832"/>
            <a:ext cx="3657600" cy="347472"/>
          </a:xfrm>
          <a:prstGeom prst="rect">
            <a:avLst/>
          </a:prstGeom>
          <a:noFill/>
          <a:ln/>
        </p:spPr>
        <p:txBody>
          <a:bodyPr wrap="square" rtlCol="0" anchor="ctr"/>
          <a:lstStyle/>
          <a:p>
            <a:pPr marL="0" indent="0">
              <a:buNone/>
            </a:pPr>
            <a:r>
              <a:rPr lang="en-US" b="1" dirty="0">
                <a:latin typeface="Trebuchet MS" pitchFamily="34" charset="0"/>
                <a:ea typeface="Trebuchet MS" pitchFamily="34" charset="-122"/>
                <a:cs typeface="Trebuchet MS" pitchFamily="34" charset="-120"/>
              </a:rPr>
              <a:t>Keynesian:</a:t>
            </a:r>
            <a:endParaRPr lang="en-US" dirty="0"/>
          </a:p>
        </p:txBody>
      </p:sp>
      <p:sp>
        <p:nvSpPr>
          <p:cNvPr id="9" name="Text 6"/>
          <p:cNvSpPr/>
          <p:nvPr/>
        </p:nvSpPr>
        <p:spPr>
          <a:xfrm>
            <a:off x="8092440" y="2450592"/>
            <a:ext cx="3657600" cy="1097280"/>
          </a:xfrm>
          <a:prstGeom prst="rect">
            <a:avLst/>
          </a:prstGeom>
          <a:noFill/>
          <a:ln/>
        </p:spPr>
        <p:txBody>
          <a:bodyPr wrap="square" rtlCol="0" anchor="ctr"/>
          <a:lstStyle/>
          <a:p>
            <a:pPr marL="0" indent="0">
              <a:buNone/>
            </a:pPr>
            <a:r>
              <a:rPr lang="en-US" sz="1400" dirty="0">
                <a:solidFill>
                  <a:srgbClr val="28251D"/>
                </a:solidFill>
                <a:latin typeface="Calibri" pitchFamily="34" charset="0"/>
                <a:ea typeface="Calibri" pitchFamily="34" charset="-122"/>
                <a:cs typeface="Calibri" pitchFamily="34" charset="-120"/>
              </a:rPr>
              <a:t>Adjustment is so slow that by the time markets self-correct, real damage is done — unemployment, lost output, scarred workers.</a:t>
            </a:r>
            <a:endParaRPr lang="en-US" sz="1400" dirty="0"/>
          </a:p>
        </p:txBody>
      </p:sp>
      <p:sp>
        <p:nvSpPr>
          <p:cNvPr id="10" name="Text 7"/>
          <p:cNvSpPr/>
          <p:nvPr/>
        </p:nvSpPr>
        <p:spPr>
          <a:xfrm>
            <a:off x="8092440" y="3657600"/>
            <a:ext cx="3657600" cy="347472"/>
          </a:xfrm>
          <a:prstGeom prst="rect">
            <a:avLst/>
          </a:prstGeom>
          <a:noFill/>
          <a:ln/>
        </p:spPr>
        <p:txBody>
          <a:bodyPr wrap="square" rtlCol="0" anchor="ctr"/>
          <a:lstStyle/>
          <a:p>
            <a:pPr marL="0" indent="0">
              <a:buNone/>
            </a:pPr>
            <a:r>
              <a:rPr lang="en-US" b="1" dirty="0">
                <a:latin typeface="Trebuchet MS" pitchFamily="34" charset="0"/>
                <a:ea typeface="Trebuchet MS" pitchFamily="34" charset="-122"/>
                <a:cs typeface="Trebuchet MS" pitchFamily="34" charset="-120"/>
              </a:rPr>
              <a:t>Neoclassical:</a:t>
            </a:r>
            <a:endParaRPr lang="en-US" dirty="0"/>
          </a:p>
        </p:txBody>
      </p:sp>
      <p:sp>
        <p:nvSpPr>
          <p:cNvPr id="11" name="Text 8"/>
          <p:cNvSpPr/>
          <p:nvPr/>
        </p:nvSpPr>
        <p:spPr>
          <a:xfrm>
            <a:off x="8092440" y="4023360"/>
            <a:ext cx="3657600" cy="1097280"/>
          </a:xfrm>
          <a:prstGeom prst="rect">
            <a:avLst/>
          </a:prstGeom>
          <a:noFill/>
          <a:ln/>
        </p:spPr>
        <p:txBody>
          <a:bodyPr wrap="square" rtlCol="0" anchor="ctr"/>
          <a:lstStyle/>
          <a:p>
            <a:pPr marL="0" indent="0">
              <a:buNone/>
            </a:pPr>
            <a:r>
              <a:rPr lang="en-US" sz="1400" dirty="0">
                <a:solidFill>
                  <a:srgbClr val="28251D"/>
                </a:solidFill>
                <a:latin typeface="Calibri" pitchFamily="34" charset="0"/>
                <a:ea typeface="Calibri" pitchFamily="34" charset="-122"/>
                <a:cs typeface="Calibri" pitchFamily="34" charset="-120"/>
              </a:rPr>
              <a:t>Active intervention creates new problems: inflation, crowding out, and distorted incentives. Self-correction is faster than Keynesians claim.</a:t>
            </a:r>
            <a:endParaRPr lang="en-US" sz="1400" dirty="0"/>
          </a:p>
        </p:txBody>
      </p:sp>
      <p:sp>
        <p:nvSpPr>
          <p:cNvPr id="12" name="Text 9"/>
          <p:cNvSpPr/>
          <p:nvPr/>
        </p:nvSpPr>
        <p:spPr>
          <a:xfrm>
            <a:off x="8092440" y="5230368"/>
            <a:ext cx="3657600" cy="347472"/>
          </a:xfrm>
          <a:prstGeom prst="rect">
            <a:avLst/>
          </a:prstGeom>
          <a:noFill/>
          <a:ln/>
        </p:spPr>
        <p:txBody>
          <a:bodyPr wrap="square" rtlCol="0" anchor="ctr"/>
          <a:lstStyle/>
          <a:p>
            <a:pPr marL="0" indent="0">
              <a:buNone/>
            </a:pPr>
            <a:r>
              <a:rPr lang="en-US" b="1" dirty="0">
                <a:latin typeface="Trebuchet MS" pitchFamily="34" charset="0"/>
                <a:ea typeface="Trebuchet MS" pitchFamily="34" charset="-122"/>
                <a:cs typeface="Trebuchet MS" pitchFamily="34" charset="-120"/>
              </a:rPr>
              <a:t>Empirical verdict:</a:t>
            </a:r>
            <a:endParaRPr lang="en-US" dirty="0"/>
          </a:p>
        </p:txBody>
      </p:sp>
      <p:sp>
        <p:nvSpPr>
          <p:cNvPr id="13" name="Text 10"/>
          <p:cNvSpPr/>
          <p:nvPr/>
        </p:nvSpPr>
        <p:spPr>
          <a:xfrm>
            <a:off x="8092440" y="5596128"/>
            <a:ext cx="3657600" cy="1097280"/>
          </a:xfrm>
          <a:prstGeom prst="rect">
            <a:avLst/>
          </a:prstGeom>
          <a:noFill/>
          <a:ln/>
        </p:spPr>
        <p:txBody>
          <a:bodyPr wrap="square" rtlCol="0" anchor="ctr"/>
          <a:lstStyle/>
          <a:p>
            <a:pPr marL="0" indent="0">
              <a:buNone/>
            </a:pPr>
            <a:r>
              <a:rPr lang="en-US" sz="1400" dirty="0">
                <a:solidFill>
                  <a:srgbClr val="28251D"/>
                </a:solidFill>
                <a:latin typeface="Calibri" pitchFamily="34" charset="0"/>
                <a:ea typeface="Calibri" pitchFamily="34" charset="-122"/>
                <a:cs typeface="Calibri" pitchFamily="34" charset="-120"/>
              </a:rPr>
              <a:t>2-5 years seems to be typical recovery speed in modern economies — meaning both views capture something real.</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9"/>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12188952" cy="1325880"/>
          </a:xfrm>
          <a:prstGeom prst="rect">
            <a:avLst/>
          </a:prstGeom>
          <a:solidFill>
            <a:srgbClr val="28251D"/>
          </a:solidFill>
          <a:ln w="12700">
            <a:solidFill>
              <a:srgbClr val="28251D"/>
            </a:solidFill>
            <a:prstDash val="solid"/>
          </a:ln>
        </p:spPr>
        <p:txBody>
          <a:bodyPr/>
          <a:lstStyle/>
          <a:p>
            <a:endParaRPr lang="en-US"/>
          </a:p>
        </p:txBody>
      </p:sp>
      <p:sp>
        <p:nvSpPr>
          <p:cNvPr id="3" name="Text 1"/>
          <p:cNvSpPr>
            <a:spLocks noGrp="1"/>
          </p:cNvSpPr>
          <p:nvPr>
            <p:ph type="title" idx="4294967295"/>
          </p:nvPr>
        </p:nvSpPr>
        <p:spPr>
          <a:xfrm>
            <a:off x="411480" y="73152"/>
            <a:ext cx="11430000" cy="77724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What Grows Potential GDP?</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2"/>
          <p:cNvSpPr/>
          <p:nvPr/>
        </p:nvSpPr>
        <p:spPr>
          <a:xfrm>
            <a:off x="411480" y="868680"/>
            <a:ext cx="11430000" cy="411480"/>
          </a:xfrm>
          <a:prstGeom prst="rect">
            <a:avLst/>
          </a:prstGeom>
          <a:noFill/>
          <a:ln/>
        </p:spPr>
        <p:txBody>
          <a:bodyPr wrap="square" rtlCol="0" anchor="t"/>
          <a:lstStyle/>
          <a:p>
            <a:pPr marL="0" indent="0">
              <a:buNone/>
            </a:pPr>
            <a:r>
              <a:rPr lang="en-US" dirty="0">
                <a:solidFill>
                  <a:schemeClr val="bg1"/>
                </a:solidFill>
                <a:latin typeface="Calibri" pitchFamily="34" charset="0"/>
                <a:ea typeface="Calibri" pitchFamily="34" charset="-122"/>
                <a:cs typeface="Calibri" pitchFamily="34" charset="-120"/>
              </a:rPr>
              <a:t>Long-run prosperity is a supply-side story</a:t>
            </a:r>
            <a:endParaRPr lang="en-US" dirty="0">
              <a:solidFill>
                <a:schemeClr val="bg1"/>
              </a:solidFill>
            </a:endParaRPr>
          </a:p>
        </p:txBody>
      </p:sp>
      <p:sp>
        <p:nvSpPr>
          <p:cNvPr id="5" name="Shape 3">
            <a:extLst>
              <a:ext uri="{C183D7F6-B498-43B3-948B-1728B52AA6E4}">
                <adec:decorative xmlns:adec="http://schemas.microsoft.com/office/drawing/2017/decorative" val="1"/>
              </a:ext>
            </a:extLst>
          </p:cNvPr>
          <p:cNvSpPr/>
          <p:nvPr/>
        </p:nvSpPr>
        <p:spPr>
          <a:xfrm>
            <a:off x="365760" y="1417320"/>
            <a:ext cx="2697480" cy="5074920"/>
          </a:xfrm>
          <a:prstGeom prst="rect">
            <a:avLst/>
          </a:prstGeom>
          <a:solidFill>
            <a:srgbClr val="FFFFFF"/>
          </a:solidFill>
          <a:ln w="12700">
            <a:solidFill>
              <a:srgbClr val="A84B2F"/>
            </a:solidFill>
            <a:prstDash val="solid"/>
          </a:ln>
        </p:spPr>
        <p:txBody>
          <a:bodyPr/>
          <a:lstStyle/>
          <a:p>
            <a:endParaRPr lang="en-US"/>
          </a:p>
        </p:txBody>
      </p:sp>
      <p:sp>
        <p:nvSpPr>
          <p:cNvPr id="6" name="Shape 4">
            <a:extLst>
              <a:ext uri="{C183D7F6-B498-43B3-948B-1728B52AA6E4}">
                <adec:decorative xmlns:adec="http://schemas.microsoft.com/office/drawing/2017/decorative" val="1"/>
              </a:ext>
            </a:extLst>
          </p:cNvPr>
          <p:cNvSpPr/>
          <p:nvPr/>
        </p:nvSpPr>
        <p:spPr>
          <a:xfrm>
            <a:off x="1280160" y="1600200"/>
            <a:ext cx="868680" cy="868680"/>
          </a:xfrm>
          <a:prstGeom prst="ellipse">
            <a:avLst/>
          </a:prstGeom>
          <a:solidFill>
            <a:srgbClr val="A84B2F"/>
          </a:solidFill>
          <a:ln w="12700">
            <a:solidFill>
              <a:srgbClr val="A84B2F"/>
            </a:solidFill>
            <a:prstDash val="solid"/>
          </a:ln>
        </p:spPr>
        <p:txBody>
          <a:bodyPr/>
          <a:lstStyle/>
          <a:p>
            <a:endParaRPr lang="en-US"/>
          </a:p>
        </p:txBody>
      </p:sp>
      <p:sp>
        <p:nvSpPr>
          <p:cNvPr id="7" name="Text 5"/>
          <p:cNvSpPr/>
          <p:nvPr/>
        </p:nvSpPr>
        <p:spPr>
          <a:xfrm>
            <a:off x="1280160" y="1627632"/>
            <a:ext cx="868680" cy="804672"/>
          </a:xfrm>
          <a:prstGeom prst="rect">
            <a:avLst/>
          </a:prstGeom>
          <a:noFill/>
          <a:ln/>
        </p:spPr>
        <p:txBody>
          <a:bodyPr wrap="square"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K</a:t>
            </a:r>
            <a:endParaRPr lang="en-US" sz="2400" dirty="0"/>
          </a:p>
        </p:txBody>
      </p:sp>
      <p:sp>
        <p:nvSpPr>
          <p:cNvPr id="8" name="Text 6"/>
          <p:cNvSpPr/>
          <p:nvPr/>
        </p:nvSpPr>
        <p:spPr>
          <a:xfrm>
            <a:off x="457200" y="2542032"/>
            <a:ext cx="2514600" cy="457200"/>
          </a:xfrm>
          <a:prstGeom prst="rect">
            <a:avLst/>
          </a:prstGeom>
          <a:noFill/>
          <a:ln/>
        </p:spPr>
        <p:txBody>
          <a:bodyPr wrap="square" rtlCol="0" anchor="ctr"/>
          <a:lstStyle/>
          <a:p>
            <a:pPr marL="0" indent="0" algn="ctr">
              <a:buNone/>
            </a:pPr>
            <a:r>
              <a:rPr lang="en-US" sz="1400" b="1" dirty="0">
                <a:latin typeface="Trebuchet MS" pitchFamily="34" charset="0"/>
                <a:ea typeface="Trebuchet MS" pitchFamily="34" charset="-122"/>
                <a:cs typeface="Trebuchet MS" pitchFamily="34" charset="-120"/>
              </a:rPr>
              <a:t>Physical Capital</a:t>
            </a:r>
            <a:endParaRPr lang="en-US" sz="1400" dirty="0"/>
          </a:p>
        </p:txBody>
      </p:sp>
      <p:sp>
        <p:nvSpPr>
          <p:cNvPr id="9" name="Text 7"/>
          <p:cNvSpPr/>
          <p:nvPr/>
        </p:nvSpPr>
        <p:spPr>
          <a:xfrm>
            <a:off x="475488" y="3063240"/>
            <a:ext cx="2468880" cy="2194560"/>
          </a:xfrm>
          <a:prstGeom prst="rect">
            <a:avLst/>
          </a:prstGeom>
          <a:noFill/>
          <a:ln/>
        </p:spPr>
        <p:txBody>
          <a:bodyPr wrap="square" rtlCol="0" anchor="ctr"/>
          <a:lstStyle/>
          <a:p>
            <a:pPr marL="0" indent="0" algn="l">
              <a:buNone/>
            </a:pPr>
            <a:r>
              <a:rPr lang="en-US" dirty="0">
                <a:solidFill>
                  <a:srgbClr val="28251D"/>
                </a:solidFill>
                <a:latin typeface="Calibri" pitchFamily="34" charset="0"/>
                <a:ea typeface="Calibri" pitchFamily="34" charset="-122"/>
                <a:cs typeface="Calibri" pitchFamily="34" charset="-120"/>
              </a:rPr>
              <a:t>More machines, factories, and infrastructure per worker. The interstate highway system (1950s–70s) boosted productivity for decades.</a:t>
            </a:r>
            <a:endParaRPr lang="en-US" dirty="0"/>
          </a:p>
        </p:txBody>
      </p:sp>
      <p:sp>
        <p:nvSpPr>
          <p:cNvPr id="10" name="Shape 8">
            <a:extLst>
              <a:ext uri="{C183D7F6-B498-43B3-948B-1728B52AA6E4}">
                <adec:decorative xmlns:adec="http://schemas.microsoft.com/office/drawing/2017/decorative" val="1"/>
              </a:ext>
            </a:extLst>
          </p:cNvPr>
          <p:cNvSpPr/>
          <p:nvPr/>
        </p:nvSpPr>
        <p:spPr>
          <a:xfrm>
            <a:off x="3246120" y="1417320"/>
            <a:ext cx="2697480" cy="5074920"/>
          </a:xfrm>
          <a:prstGeom prst="rect">
            <a:avLst/>
          </a:prstGeom>
          <a:solidFill>
            <a:srgbClr val="FFFFFF"/>
          </a:solidFill>
          <a:ln w="12700">
            <a:solidFill>
              <a:srgbClr val="01696F"/>
            </a:solidFill>
            <a:prstDash val="solid"/>
          </a:ln>
        </p:spPr>
        <p:txBody>
          <a:bodyPr/>
          <a:lstStyle/>
          <a:p>
            <a:endParaRPr lang="en-US"/>
          </a:p>
        </p:txBody>
      </p:sp>
      <p:sp>
        <p:nvSpPr>
          <p:cNvPr id="11" name="Shape 9">
            <a:extLst>
              <a:ext uri="{C183D7F6-B498-43B3-948B-1728B52AA6E4}">
                <adec:decorative xmlns:adec="http://schemas.microsoft.com/office/drawing/2017/decorative" val="1"/>
              </a:ext>
            </a:extLst>
          </p:cNvPr>
          <p:cNvSpPr/>
          <p:nvPr/>
        </p:nvSpPr>
        <p:spPr>
          <a:xfrm>
            <a:off x="4160520" y="1600200"/>
            <a:ext cx="868680" cy="868680"/>
          </a:xfrm>
          <a:prstGeom prst="ellipse">
            <a:avLst/>
          </a:prstGeom>
          <a:solidFill>
            <a:srgbClr val="01696F"/>
          </a:solidFill>
          <a:ln w="12700">
            <a:solidFill>
              <a:srgbClr val="01696F"/>
            </a:solidFill>
            <a:prstDash val="solid"/>
          </a:ln>
        </p:spPr>
        <p:txBody>
          <a:bodyPr/>
          <a:lstStyle/>
          <a:p>
            <a:endParaRPr lang="en-US"/>
          </a:p>
        </p:txBody>
      </p:sp>
      <p:sp>
        <p:nvSpPr>
          <p:cNvPr id="12" name="Text 10"/>
          <p:cNvSpPr/>
          <p:nvPr/>
        </p:nvSpPr>
        <p:spPr>
          <a:xfrm>
            <a:off x="4160520" y="1627632"/>
            <a:ext cx="868680" cy="804672"/>
          </a:xfrm>
          <a:prstGeom prst="rect">
            <a:avLst/>
          </a:prstGeom>
          <a:noFill/>
          <a:ln/>
        </p:spPr>
        <p:txBody>
          <a:bodyPr wrap="square"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H</a:t>
            </a:r>
            <a:endParaRPr lang="en-US" sz="2400" dirty="0"/>
          </a:p>
        </p:txBody>
      </p:sp>
      <p:sp>
        <p:nvSpPr>
          <p:cNvPr id="13" name="Text 11"/>
          <p:cNvSpPr/>
          <p:nvPr/>
        </p:nvSpPr>
        <p:spPr>
          <a:xfrm>
            <a:off x="3337560" y="2542032"/>
            <a:ext cx="2514600" cy="457200"/>
          </a:xfrm>
          <a:prstGeom prst="rect">
            <a:avLst/>
          </a:prstGeom>
          <a:noFill/>
          <a:ln/>
        </p:spPr>
        <p:txBody>
          <a:bodyPr wrap="square" rtlCol="0" anchor="ctr"/>
          <a:lstStyle/>
          <a:p>
            <a:pPr marL="0" indent="0" algn="ctr">
              <a:buNone/>
            </a:pPr>
            <a:r>
              <a:rPr lang="en-US" sz="1400" b="1" dirty="0">
                <a:latin typeface="Trebuchet MS" pitchFamily="34" charset="0"/>
                <a:ea typeface="Trebuchet MS" pitchFamily="34" charset="-122"/>
                <a:cs typeface="Trebuchet MS" pitchFamily="34" charset="-120"/>
              </a:rPr>
              <a:t>Human Capital</a:t>
            </a:r>
            <a:endParaRPr lang="en-US" sz="1400" dirty="0"/>
          </a:p>
        </p:txBody>
      </p:sp>
      <p:sp>
        <p:nvSpPr>
          <p:cNvPr id="14" name="Text 12"/>
          <p:cNvSpPr/>
          <p:nvPr/>
        </p:nvSpPr>
        <p:spPr>
          <a:xfrm>
            <a:off x="3355848" y="3063240"/>
            <a:ext cx="2468880" cy="2194560"/>
          </a:xfrm>
          <a:prstGeom prst="rect">
            <a:avLst/>
          </a:prstGeom>
          <a:noFill/>
          <a:ln/>
        </p:spPr>
        <p:txBody>
          <a:bodyPr wrap="square" rtlCol="0" anchor="ctr"/>
          <a:lstStyle/>
          <a:p>
            <a:pPr marL="0" indent="0" algn="l">
              <a:buNone/>
            </a:pPr>
            <a:r>
              <a:rPr lang="en-US" dirty="0">
                <a:solidFill>
                  <a:srgbClr val="28251D"/>
                </a:solidFill>
                <a:latin typeface="Calibri" pitchFamily="34" charset="0"/>
                <a:ea typeface="Calibri" pitchFamily="34" charset="-122"/>
                <a:cs typeface="Calibri" pitchFamily="34" charset="-120"/>
              </a:rPr>
              <a:t>Education &amp; skills. U.S. college attainment: 2.5% (1900) → 33% (2019). Each degree adds to potential GDP permanently.</a:t>
            </a:r>
            <a:endParaRPr lang="en-US" dirty="0"/>
          </a:p>
        </p:txBody>
      </p:sp>
      <p:sp>
        <p:nvSpPr>
          <p:cNvPr id="15" name="Shape 13">
            <a:extLst>
              <a:ext uri="{C183D7F6-B498-43B3-948B-1728B52AA6E4}">
                <adec:decorative xmlns:adec="http://schemas.microsoft.com/office/drawing/2017/decorative" val="1"/>
              </a:ext>
            </a:extLst>
          </p:cNvPr>
          <p:cNvSpPr/>
          <p:nvPr/>
        </p:nvSpPr>
        <p:spPr>
          <a:xfrm>
            <a:off x="6126480" y="1417320"/>
            <a:ext cx="2697480" cy="5074920"/>
          </a:xfrm>
          <a:prstGeom prst="rect">
            <a:avLst/>
          </a:prstGeom>
          <a:solidFill>
            <a:srgbClr val="FFFFFF"/>
          </a:solidFill>
          <a:ln w="12700">
            <a:solidFill>
              <a:srgbClr val="C08000"/>
            </a:solidFill>
            <a:prstDash val="solid"/>
          </a:ln>
        </p:spPr>
        <p:txBody>
          <a:bodyPr/>
          <a:lstStyle/>
          <a:p>
            <a:endParaRPr lang="en-US"/>
          </a:p>
        </p:txBody>
      </p:sp>
      <p:sp>
        <p:nvSpPr>
          <p:cNvPr id="16" name="Shape 14">
            <a:extLst>
              <a:ext uri="{C183D7F6-B498-43B3-948B-1728B52AA6E4}">
                <adec:decorative xmlns:adec="http://schemas.microsoft.com/office/drawing/2017/decorative" val="1"/>
              </a:ext>
            </a:extLst>
          </p:cNvPr>
          <p:cNvSpPr/>
          <p:nvPr/>
        </p:nvSpPr>
        <p:spPr>
          <a:xfrm>
            <a:off x="7040880" y="1600200"/>
            <a:ext cx="868680" cy="868680"/>
          </a:xfrm>
          <a:prstGeom prst="ellipse">
            <a:avLst/>
          </a:prstGeom>
          <a:solidFill>
            <a:srgbClr val="C08000"/>
          </a:solidFill>
          <a:ln w="12700">
            <a:solidFill>
              <a:srgbClr val="C08000"/>
            </a:solidFill>
            <a:prstDash val="solid"/>
          </a:ln>
        </p:spPr>
        <p:txBody>
          <a:bodyPr/>
          <a:lstStyle/>
          <a:p>
            <a:endParaRPr lang="en-US"/>
          </a:p>
        </p:txBody>
      </p:sp>
      <p:sp>
        <p:nvSpPr>
          <p:cNvPr id="17" name="Text 15"/>
          <p:cNvSpPr/>
          <p:nvPr/>
        </p:nvSpPr>
        <p:spPr>
          <a:xfrm>
            <a:off x="7040880" y="1627632"/>
            <a:ext cx="868680" cy="804672"/>
          </a:xfrm>
          <a:prstGeom prst="rect">
            <a:avLst/>
          </a:prstGeom>
          <a:noFill/>
          <a:ln/>
        </p:spPr>
        <p:txBody>
          <a:bodyPr wrap="square"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T</a:t>
            </a:r>
            <a:endParaRPr lang="en-US" sz="2400" dirty="0"/>
          </a:p>
        </p:txBody>
      </p:sp>
      <p:sp>
        <p:nvSpPr>
          <p:cNvPr id="18" name="Text 16"/>
          <p:cNvSpPr/>
          <p:nvPr/>
        </p:nvSpPr>
        <p:spPr>
          <a:xfrm>
            <a:off x="6217920" y="2542032"/>
            <a:ext cx="2514600" cy="457200"/>
          </a:xfrm>
          <a:prstGeom prst="rect">
            <a:avLst/>
          </a:prstGeom>
          <a:noFill/>
          <a:ln/>
        </p:spPr>
        <p:txBody>
          <a:bodyPr wrap="square" rtlCol="0" anchor="ctr"/>
          <a:lstStyle/>
          <a:p>
            <a:pPr marL="0" indent="0" algn="ctr">
              <a:buNone/>
            </a:pPr>
            <a:r>
              <a:rPr lang="en-US" sz="1400" b="1" dirty="0">
                <a:latin typeface="Trebuchet MS" pitchFamily="34" charset="0"/>
                <a:ea typeface="Trebuchet MS" pitchFamily="34" charset="-122"/>
                <a:cs typeface="Trebuchet MS" pitchFamily="34" charset="-120"/>
              </a:rPr>
              <a:t>Technology</a:t>
            </a:r>
            <a:endParaRPr lang="en-US" sz="1400" dirty="0"/>
          </a:p>
        </p:txBody>
      </p:sp>
      <p:sp>
        <p:nvSpPr>
          <p:cNvPr id="19" name="Text 17"/>
          <p:cNvSpPr/>
          <p:nvPr/>
        </p:nvSpPr>
        <p:spPr>
          <a:xfrm>
            <a:off x="6236208" y="3063240"/>
            <a:ext cx="2468880" cy="2194560"/>
          </a:xfrm>
          <a:prstGeom prst="rect">
            <a:avLst/>
          </a:prstGeom>
          <a:noFill/>
          <a:ln/>
        </p:spPr>
        <p:txBody>
          <a:bodyPr wrap="square" rtlCol="0" anchor="ctr"/>
          <a:lstStyle/>
          <a:p>
            <a:pPr marL="0" indent="0" algn="l">
              <a:buNone/>
            </a:pPr>
            <a:r>
              <a:rPr lang="en-US" dirty="0">
                <a:solidFill>
                  <a:srgbClr val="28251D"/>
                </a:solidFill>
                <a:latin typeface="Calibri" pitchFamily="34" charset="0"/>
                <a:ea typeface="Calibri" pitchFamily="34" charset="-122"/>
                <a:cs typeface="Calibri" pitchFamily="34" charset="-120"/>
              </a:rPr>
              <a:t>The biggest lever. GPS, computers, internet, AI — each shifts LRAS right without needing more workers or capital.</a:t>
            </a:r>
            <a:endParaRPr lang="en-US" dirty="0"/>
          </a:p>
        </p:txBody>
      </p:sp>
      <p:sp>
        <p:nvSpPr>
          <p:cNvPr id="20" name="Shape 18">
            <a:extLst>
              <a:ext uri="{C183D7F6-B498-43B3-948B-1728B52AA6E4}">
                <adec:decorative xmlns:adec="http://schemas.microsoft.com/office/drawing/2017/decorative" val="1"/>
              </a:ext>
            </a:extLst>
          </p:cNvPr>
          <p:cNvSpPr/>
          <p:nvPr/>
        </p:nvSpPr>
        <p:spPr>
          <a:xfrm>
            <a:off x="9006840" y="1417320"/>
            <a:ext cx="2697480" cy="5074920"/>
          </a:xfrm>
          <a:prstGeom prst="rect">
            <a:avLst/>
          </a:prstGeom>
          <a:solidFill>
            <a:srgbClr val="FFFFFF"/>
          </a:solidFill>
          <a:ln w="12700">
            <a:solidFill>
              <a:srgbClr val="7A39BB"/>
            </a:solidFill>
            <a:prstDash val="solid"/>
          </a:ln>
        </p:spPr>
        <p:txBody>
          <a:bodyPr/>
          <a:lstStyle/>
          <a:p>
            <a:endParaRPr lang="en-US"/>
          </a:p>
        </p:txBody>
      </p:sp>
      <p:sp>
        <p:nvSpPr>
          <p:cNvPr id="21" name="Shape 19">
            <a:extLst>
              <a:ext uri="{C183D7F6-B498-43B3-948B-1728B52AA6E4}">
                <adec:decorative xmlns:adec="http://schemas.microsoft.com/office/drawing/2017/decorative" val="1"/>
              </a:ext>
            </a:extLst>
          </p:cNvPr>
          <p:cNvSpPr/>
          <p:nvPr/>
        </p:nvSpPr>
        <p:spPr>
          <a:xfrm>
            <a:off x="9921240" y="1600200"/>
            <a:ext cx="868680" cy="868680"/>
          </a:xfrm>
          <a:prstGeom prst="ellipse">
            <a:avLst/>
          </a:prstGeom>
          <a:solidFill>
            <a:srgbClr val="7A39BB"/>
          </a:solidFill>
          <a:ln w="12700">
            <a:solidFill>
              <a:srgbClr val="7A39BB"/>
            </a:solidFill>
            <a:prstDash val="solid"/>
          </a:ln>
        </p:spPr>
        <p:txBody>
          <a:bodyPr/>
          <a:lstStyle/>
          <a:p>
            <a:endParaRPr lang="en-US"/>
          </a:p>
        </p:txBody>
      </p:sp>
      <p:sp>
        <p:nvSpPr>
          <p:cNvPr id="22" name="Text 20"/>
          <p:cNvSpPr/>
          <p:nvPr/>
        </p:nvSpPr>
        <p:spPr>
          <a:xfrm>
            <a:off x="9921240" y="1627632"/>
            <a:ext cx="868680" cy="804672"/>
          </a:xfrm>
          <a:prstGeom prst="rect">
            <a:avLst/>
          </a:prstGeom>
          <a:noFill/>
          <a:ln/>
        </p:spPr>
        <p:txBody>
          <a:bodyPr wrap="square"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I</a:t>
            </a:r>
            <a:endParaRPr lang="en-US" sz="2400" dirty="0"/>
          </a:p>
        </p:txBody>
      </p:sp>
      <p:sp>
        <p:nvSpPr>
          <p:cNvPr id="23" name="Text 21"/>
          <p:cNvSpPr/>
          <p:nvPr/>
        </p:nvSpPr>
        <p:spPr>
          <a:xfrm>
            <a:off x="9098280" y="2542032"/>
            <a:ext cx="2514600" cy="457200"/>
          </a:xfrm>
          <a:prstGeom prst="rect">
            <a:avLst/>
          </a:prstGeom>
          <a:noFill/>
          <a:ln/>
        </p:spPr>
        <p:txBody>
          <a:bodyPr wrap="square" rtlCol="0" anchor="ctr"/>
          <a:lstStyle/>
          <a:p>
            <a:pPr marL="0" indent="0" algn="ctr">
              <a:buNone/>
            </a:pPr>
            <a:r>
              <a:rPr lang="en-US" sz="1400" b="1" dirty="0">
                <a:latin typeface="Trebuchet MS" pitchFamily="34" charset="0"/>
                <a:ea typeface="Trebuchet MS" pitchFamily="34" charset="-122"/>
                <a:cs typeface="Trebuchet MS" pitchFamily="34" charset="-120"/>
              </a:rPr>
              <a:t>Institutions</a:t>
            </a:r>
            <a:endParaRPr lang="en-US" sz="1400" dirty="0"/>
          </a:p>
        </p:txBody>
      </p:sp>
      <p:sp>
        <p:nvSpPr>
          <p:cNvPr id="24" name="Text 22"/>
          <p:cNvSpPr/>
          <p:nvPr/>
        </p:nvSpPr>
        <p:spPr>
          <a:xfrm>
            <a:off x="9116568" y="3063240"/>
            <a:ext cx="2468880" cy="2194560"/>
          </a:xfrm>
          <a:prstGeom prst="rect">
            <a:avLst/>
          </a:prstGeom>
          <a:noFill/>
          <a:ln/>
        </p:spPr>
        <p:txBody>
          <a:bodyPr wrap="square" rtlCol="0" anchor="ctr"/>
          <a:lstStyle/>
          <a:p>
            <a:pPr marL="0" indent="0" algn="l">
              <a:buNone/>
            </a:pPr>
            <a:r>
              <a:rPr lang="en-US" dirty="0">
                <a:solidFill>
                  <a:srgbClr val="28251D"/>
                </a:solidFill>
                <a:latin typeface="Calibri" pitchFamily="34" charset="0"/>
                <a:ea typeface="Calibri" pitchFamily="34" charset="-122"/>
                <a:cs typeface="Calibri" pitchFamily="34" charset="-120"/>
              </a:rPr>
              <a:t>Rule of law, property rights, and stable money. McCloskey's Bourgeois Deal: 'let people have a go' — innovation follows.</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9"/>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12188952" cy="1325880"/>
          </a:xfrm>
          <a:prstGeom prst="rect">
            <a:avLst/>
          </a:prstGeom>
          <a:solidFill>
            <a:srgbClr val="28251D"/>
          </a:solidFill>
          <a:ln w="12700">
            <a:solidFill>
              <a:srgbClr val="28251D"/>
            </a:solidFill>
            <a:prstDash val="solid"/>
          </a:ln>
        </p:spPr>
        <p:txBody>
          <a:bodyPr/>
          <a:lstStyle/>
          <a:p>
            <a:endParaRPr lang="en-US"/>
          </a:p>
        </p:txBody>
      </p:sp>
      <p:sp>
        <p:nvSpPr>
          <p:cNvPr id="3" name="Text 1"/>
          <p:cNvSpPr>
            <a:spLocks noGrp="1"/>
          </p:cNvSpPr>
          <p:nvPr>
            <p:ph type="title" idx="4294967295"/>
          </p:nvPr>
        </p:nvSpPr>
        <p:spPr>
          <a:xfrm>
            <a:off x="411480" y="73152"/>
            <a:ext cx="11430000" cy="77724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Neoclassical Policy Toolkit</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2"/>
          <p:cNvSpPr/>
          <p:nvPr/>
        </p:nvSpPr>
        <p:spPr>
          <a:xfrm>
            <a:off x="411480" y="868680"/>
            <a:ext cx="11430000" cy="411480"/>
          </a:xfrm>
          <a:prstGeom prst="rect">
            <a:avLst/>
          </a:prstGeom>
          <a:noFill/>
          <a:ln/>
        </p:spPr>
        <p:txBody>
          <a:bodyPr wrap="square" rtlCol="0" anchor="t"/>
          <a:lstStyle/>
          <a:p>
            <a:pPr marL="0" indent="0">
              <a:buNone/>
            </a:pPr>
            <a:r>
              <a:rPr lang="en-US" dirty="0">
                <a:solidFill>
                  <a:schemeClr val="bg1"/>
                </a:solidFill>
                <a:latin typeface="Calibri" pitchFamily="34" charset="0"/>
                <a:ea typeface="Calibri" pitchFamily="34" charset="-122"/>
                <a:cs typeface="Calibri" pitchFamily="34" charset="-120"/>
              </a:rPr>
              <a:t>Focus on the supply side and structural conditions</a:t>
            </a:r>
            <a:endParaRPr lang="en-US" dirty="0">
              <a:solidFill>
                <a:schemeClr val="bg1"/>
              </a:solidFill>
            </a:endParaRPr>
          </a:p>
        </p:txBody>
      </p:sp>
      <p:sp>
        <p:nvSpPr>
          <p:cNvPr id="5" name="Shape 3">
            <a:extLst>
              <a:ext uri="{C183D7F6-B498-43B3-948B-1728B52AA6E4}">
                <adec:decorative xmlns:adec="http://schemas.microsoft.com/office/drawing/2017/decorative" val="1"/>
              </a:ext>
            </a:extLst>
          </p:cNvPr>
          <p:cNvSpPr/>
          <p:nvPr/>
        </p:nvSpPr>
        <p:spPr>
          <a:xfrm>
            <a:off x="365760" y="1463040"/>
            <a:ext cx="5577840" cy="2331720"/>
          </a:xfrm>
          <a:prstGeom prst="rect">
            <a:avLst/>
          </a:prstGeom>
          <a:solidFill>
            <a:srgbClr val="FFFFFF"/>
          </a:solidFill>
          <a:ln w="12700">
            <a:solidFill>
              <a:srgbClr val="A84B2F"/>
            </a:solidFill>
            <a:prstDash val="solid"/>
          </a:ln>
        </p:spPr>
        <p:txBody>
          <a:bodyPr/>
          <a:lstStyle/>
          <a:p>
            <a:endParaRPr lang="en-US"/>
          </a:p>
        </p:txBody>
      </p:sp>
      <p:sp>
        <p:nvSpPr>
          <p:cNvPr id="6" name="Shape 4">
            <a:extLst>
              <a:ext uri="{C183D7F6-B498-43B3-948B-1728B52AA6E4}">
                <adec:decorative xmlns:adec="http://schemas.microsoft.com/office/drawing/2017/decorative" val="1"/>
              </a:ext>
            </a:extLst>
          </p:cNvPr>
          <p:cNvSpPr/>
          <p:nvPr/>
        </p:nvSpPr>
        <p:spPr>
          <a:xfrm>
            <a:off x="365760" y="1463040"/>
            <a:ext cx="640080" cy="2331720"/>
          </a:xfrm>
          <a:prstGeom prst="rect">
            <a:avLst/>
          </a:prstGeom>
          <a:solidFill>
            <a:srgbClr val="A84B2F"/>
          </a:solidFill>
          <a:ln w="12700">
            <a:solidFill>
              <a:srgbClr val="A84B2F"/>
            </a:solidFill>
            <a:prstDash val="solid"/>
          </a:ln>
        </p:spPr>
        <p:txBody>
          <a:bodyPr/>
          <a:lstStyle/>
          <a:p>
            <a:endParaRPr lang="en-US"/>
          </a:p>
        </p:txBody>
      </p:sp>
      <p:sp>
        <p:nvSpPr>
          <p:cNvPr id="7" name="Text 5"/>
          <p:cNvSpPr/>
          <p:nvPr/>
        </p:nvSpPr>
        <p:spPr>
          <a:xfrm>
            <a:off x="365760" y="2331720"/>
            <a:ext cx="640080" cy="548640"/>
          </a:xfrm>
          <a:prstGeom prst="rect">
            <a:avLst/>
          </a:prstGeom>
          <a:noFill/>
          <a:ln/>
        </p:spPr>
        <p:txBody>
          <a:bodyPr wrap="square"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01</a:t>
            </a:r>
            <a:endParaRPr lang="en-US" sz="2400" dirty="0"/>
          </a:p>
        </p:txBody>
      </p:sp>
      <p:sp>
        <p:nvSpPr>
          <p:cNvPr id="8" name="Text 6"/>
          <p:cNvSpPr/>
          <p:nvPr/>
        </p:nvSpPr>
        <p:spPr>
          <a:xfrm>
            <a:off x="1143000" y="1554480"/>
            <a:ext cx="4663440" cy="457200"/>
          </a:xfrm>
          <a:prstGeom prst="rect">
            <a:avLst/>
          </a:prstGeom>
          <a:noFill/>
          <a:ln/>
        </p:spPr>
        <p:txBody>
          <a:bodyPr wrap="square" rtlCol="0" anchor="ctr"/>
          <a:lstStyle/>
          <a:p>
            <a:pPr marL="0" indent="0">
              <a:buNone/>
            </a:pPr>
            <a:r>
              <a:rPr lang="en-US" sz="2000" b="1" dirty="0">
                <a:latin typeface="Trebuchet MS" pitchFamily="34" charset="0"/>
                <a:ea typeface="Trebuchet MS" pitchFamily="34" charset="-122"/>
                <a:cs typeface="Trebuchet MS" pitchFamily="34" charset="-120"/>
              </a:rPr>
              <a:t>Price Stability First</a:t>
            </a:r>
            <a:endParaRPr lang="en-US" sz="2000" dirty="0"/>
          </a:p>
        </p:txBody>
      </p:sp>
      <p:sp>
        <p:nvSpPr>
          <p:cNvPr id="9" name="Text 7"/>
          <p:cNvSpPr/>
          <p:nvPr/>
        </p:nvSpPr>
        <p:spPr>
          <a:xfrm>
            <a:off x="1143000" y="2057400"/>
            <a:ext cx="4663440" cy="1600200"/>
          </a:xfrm>
          <a:prstGeom prst="rect">
            <a:avLst/>
          </a:prstGeom>
          <a:noFill/>
          <a:ln/>
        </p:spPr>
        <p:txBody>
          <a:bodyPr wrap="square" rtlCol="0" anchor="ctr"/>
          <a:lstStyle/>
          <a:p>
            <a:pPr marL="0" indent="0">
              <a:buNone/>
            </a:pPr>
            <a:r>
              <a:rPr lang="en-US" sz="1600" dirty="0">
                <a:solidFill>
                  <a:srgbClr val="28251D"/>
                </a:solidFill>
                <a:latin typeface="Calibri" pitchFamily="34" charset="0"/>
                <a:ea typeface="Calibri" pitchFamily="34" charset="-122"/>
                <a:cs typeface="Calibri" pitchFamily="34" charset="-120"/>
              </a:rPr>
              <a:t>Low, stable inflation is the foundation of long-run growth. Reduces uncertainty for business planning and investment.</a:t>
            </a:r>
            <a:endParaRPr lang="en-US" sz="1600" dirty="0"/>
          </a:p>
        </p:txBody>
      </p:sp>
      <p:sp>
        <p:nvSpPr>
          <p:cNvPr id="10" name="Shape 8">
            <a:extLst>
              <a:ext uri="{C183D7F6-B498-43B3-948B-1728B52AA6E4}">
                <adec:decorative xmlns:adec="http://schemas.microsoft.com/office/drawing/2017/decorative" val="1"/>
              </a:ext>
            </a:extLst>
          </p:cNvPr>
          <p:cNvSpPr/>
          <p:nvPr/>
        </p:nvSpPr>
        <p:spPr>
          <a:xfrm>
            <a:off x="6309360" y="1463040"/>
            <a:ext cx="5577840" cy="2331720"/>
          </a:xfrm>
          <a:prstGeom prst="rect">
            <a:avLst/>
          </a:prstGeom>
          <a:solidFill>
            <a:srgbClr val="FFFFFF"/>
          </a:solidFill>
          <a:ln w="12700">
            <a:solidFill>
              <a:srgbClr val="01696F"/>
            </a:solidFill>
            <a:prstDash val="solid"/>
          </a:ln>
        </p:spPr>
        <p:txBody>
          <a:bodyPr/>
          <a:lstStyle/>
          <a:p>
            <a:endParaRPr lang="en-US"/>
          </a:p>
        </p:txBody>
      </p:sp>
      <p:sp>
        <p:nvSpPr>
          <p:cNvPr id="11" name="Shape 9">
            <a:extLst>
              <a:ext uri="{C183D7F6-B498-43B3-948B-1728B52AA6E4}">
                <adec:decorative xmlns:adec="http://schemas.microsoft.com/office/drawing/2017/decorative" val="1"/>
              </a:ext>
            </a:extLst>
          </p:cNvPr>
          <p:cNvSpPr/>
          <p:nvPr/>
        </p:nvSpPr>
        <p:spPr>
          <a:xfrm>
            <a:off x="6309360" y="1463040"/>
            <a:ext cx="640080" cy="2331720"/>
          </a:xfrm>
          <a:prstGeom prst="rect">
            <a:avLst/>
          </a:prstGeom>
          <a:solidFill>
            <a:srgbClr val="01696F"/>
          </a:solidFill>
          <a:ln w="12700">
            <a:solidFill>
              <a:srgbClr val="01696F"/>
            </a:solidFill>
            <a:prstDash val="solid"/>
          </a:ln>
        </p:spPr>
        <p:txBody>
          <a:bodyPr/>
          <a:lstStyle/>
          <a:p>
            <a:endParaRPr lang="en-US"/>
          </a:p>
        </p:txBody>
      </p:sp>
      <p:sp>
        <p:nvSpPr>
          <p:cNvPr id="12" name="Text 10"/>
          <p:cNvSpPr/>
          <p:nvPr/>
        </p:nvSpPr>
        <p:spPr>
          <a:xfrm>
            <a:off x="6309360" y="2331720"/>
            <a:ext cx="640080" cy="548640"/>
          </a:xfrm>
          <a:prstGeom prst="rect">
            <a:avLst/>
          </a:prstGeom>
          <a:noFill/>
          <a:ln/>
        </p:spPr>
        <p:txBody>
          <a:bodyPr wrap="square"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02</a:t>
            </a:r>
            <a:endParaRPr lang="en-US" sz="2400" dirty="0"/>
          </a:p>
        </p:txBody>
      </p:sp>
      <p:sp>
        <p:nvSpPr>
          <p:cNvPr id="13" name="Text 11"/>
          <p:cNvSpPr/>
          <p:nvPr/>
        </p:nvSpPr>
        <p:spPr>
          <a:xfrm>
            <a:off x="7086600" y="1554480"/>
            <a:ext cx="4663440" cy="457200"/>
          </a:xfrm>
          <a:prstGeom prst="rect">
            <a:avLst/>
          </a:prstGeom>
          <a:noFill/>
          <a:ln/>
        </p:spPr>
        <p:txBody>
          <a:bodyPr wrap="square" rtlCol="0" anchor="ctr"/>
          <a:lstStyle/>
          <a:p>
            <a:pPr marL="0" indent="0">
              <a:buNone/>
            </a:pPr>
            <a:r>
              <a:rPr lang="en-US" sz="2000" b="1" dirty="0">
                <a:latin typeface="Trebuchet MS" pitchFamily="34" charset="0"/>
                <a:ea typeface="Trebuchet MS" pitchFamily="34" charset="-122"/>
                <a:cs typeface="Trebuchet MS" pitchFamily="34" charset="-120"/>
              </a:rPr>
              <a:t>Low &amp; Predictable Taxes</a:t>
            </a:r>
            <a:endParaRPr lang="en-US" sz="2000" dirty="0"/>
          </a:p>
        </p:txBody>
      </p:sp>
      <p:sp>
        <p:nvSpPr>
          <p:cNvPr id="14" name="Text 12"/>
          <p:cNvSpPr/>
          <p:nvPr/>
        </p:nvSpPr>
        <p:spPr>
          <a:xfrm>
            <a:off x="7086600" y="2057400"/>
            <a:ext cx="4663440" cy="1600200"/>
          </a:xfrm>
          <a:prstGeom prst="rect">
            <a:avLst/>
          </a:prstGeom>
          <a:noFill/>
          <a:ln/>
        </p:spPr>
        <p:txBody>
          <a:bodyPr wrap="square" rtlCol="0" anchor="ctr"/>
          <a:lstStyle/>
          <a:p>
            <a:pPr marL="0" indent="0">
              <a:buNone/>
            </a:pPr>
            <a:r>
              <a:rPr lang="en-US" sz="1600" dirty="0">
                <a:solidFill>
                  <a:srgbClr val="28251D"/>
                </a:solidFill>
                <a:latin typeface="Calibri" pitchFamily="34" charset="0"/>
                <a:ea typeface="Calibri" pitchFamily="34" charset="-122"/>
                <a:cs typeface="Calibri" pitchFamily="34" charset="-120"/>
              </a:rPr>
              <a:t>Not just level, but stability. Constant tax changes reduce investment confidence. Supply-side: lower marginal rates → more incentive to produce.</a:t>
            </a:r>
            <a:endParaRPr lang="en-US" sz="1600" dirty="0"/>
          </a:p>
        </p:txBody>
      </p:sp>
      <p:sp>
        <p:nvSpPr>
          <p:cNvPr id="15" name="Shape 13">
            <a:extLst>
              <a:ext uri="{C183D7F6-B498-43B3-948B-1728B52AA6E4}">
                <adec:decorative xmlns:adec="http://schemas.microsoft.com/office/drawing/2017/decorative" val="1"/>
              </a:ext>
            </a:extLst>
          </p:cNvPr>
          <p:cNvSpPr/>
          <p:nvPr/>
        </p:nvSpPr>
        <p:spPr>
          <a:xfrm>
            <a:off x="365760" y="3977640"/>
            <a:ext cx="5577840" cy="2331720"/>
          </a:xfrm>
          <a:prstGeom prst="rect">
            <a:avLst/>
          </a:prstGeom>
          <a:solidFill>
            <a:srgbClr val="FFFFFF"/>
          </a:solidFill>
          <a:ln w="12700">
            <a:solidFill>
              <a:srgbClr val="C08000"/>
            </a:solidFill>
            <a:prstDash val="solid"/>
          </a:ln>
        </p:spPr>
        <p:txBody>
          <a:bodyPr/>
          <a:lstStyle/>
          <a:p>
            <a:endParaRPr lang="en-US"/>
          </a:p>
        </p:txBody>
      </p:sp>
      <p:sp>
        <p:nvSpPr>
          <p:cNvPr id="16" name="Shape 14">
            <a:extLst>
              <a:ext uri="{C183D7F6-B498-43B3-948B-1728B52AA6E4}">
                <adec:decorative xmlns:adec="http://schemas.microsoft.com/office/drawing/2017/decorative" val="1"/>
              </a:ext>
            </a:extLst>
          </p:cNvPr>
          <p:cNvSpPr/>
          <p:nvPr/>
        </p:nvSpPr>
        <p:spPr>
          <a:xfrm>
            <a:off x="365760" y="3977640"/>
            <a:ext cx="640080" cy="2331720"/>
          </a:xfrm>
          <a:prstGeom prst="rect">
            <a:avLst/>
          </a:prstGeom>
          <a:solidFill>
            <a:srgbClr val="C08000"/>
          </a:solidFill>
          <a:ln w="12700">
            <a:solidFill>
              <a:srgbClr val="C08000"/>
            </a:solidFill>
            <a:prstDash val="solid"/>
          </a:ln>
        </p:spPr>
        <p:txBody>
          <a:bodyPr/>
          <a:lstStyle/>
          <a:p>
            <a:endParaRPr lang="en-US"/>
          </a:p>
        </p:txBody>
      </p:sp>
      <p:sp>
        <p:nvSpPr>
          <p:cNvPr id="17" name="Text 15"/>
          <p:cNvSpPr/>
          <p:nvPr/>
        </p:nvSpPr>
        <p:spPr>
          <a:xfrm>
            <a:off x="365760" y="4846320"/>
            <a:ext cx="640080" cy="548640"/>
          </a:xfrm>
          <a:prstGeom prst="rect">
            <a:avLst/>
          </a:prstGeom>
          <a:noFill/>
          <a:ln/>
        </p:spPr>
        <p:txBody>
          <a:bodyPr wrap="square"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03</a:t>
            </a:r>
            <a:endParaRPr lang="en-US" sz="2400" dirty="0"/>
          </a:p>
        </p:txBody>
      </p:sp>
      <p:sp>
        <p:nvSpPr>
          <p:cNvPr id="18" name="Text 16"/>
          <p:cNvSpPr/>
          <p:nvPr/>
        </p:nvSpPr>
        <p:spPr>
          <a:xfrm>
            <a:off x="1143000" y="4069080"/>
            <a:ext cx="4663440" cy="457200"/>
          </a:xfrm>
          <a:prstGeom prst="rect">
            <a:avLst/>
          </a:prstGeom>
          <a:noFill/>
          <a:ln/>
        </p:spPr>
        <p:txBody>
          <a:bodyPr wrap="square" rtlCol="0" anchor="ctr"/>
          <a:lstStyle/>
          <a:p>
            <a:pPr marL="0" indent="0">
              <a:buNone/>
            </a:pPr>
            <a:r>
              <a:rPr lang="en-US" sz="2000" b="1" dirty="0">
                <a:latin typeface="Trebuchet MS" pitchFamily="34" charset="0"/>
                <a:ea typeface="Trebuchet MS" pitchFamily="34" charset="-122"/>
                <a:cs typeface="Trebuchet MS" pitchFamily="34" charset="-120"/>
              </a:rPr>
              <a:t>Reduce Natural Unemployment</a:t>
            </a:r>
            <a:endParaRPr lang="en-US" sz="2000" dirty="0"/>
          </a:p>
        </p:txBody>
      </p:sp>
      <p:sp>
        <p:nvSpPr>
          <p:cNvPr id="19" name="Text 17"/>
          <p:cNvSpPr/>
          <p:nvPr/>
        </p:nvSpPr>
        <p:spPr>
          <a:xfrm>
            <a:off x="1143000" y="4572000"/>
            <a:ext cx="4663440" cy="1600200"/>
          </a:xfrm>
          <a:prstGeom prst="rect">
            <a:avLst/>
          </a:prstGeom>
          <a:noFill/>
          <a:ln/>
        </p:spPr>
        <p:txBody>
          <a:bodyPr wrap="square" rtlCol="0" anchor="ctr"/>
          <a:lstStyle/>
          <a:p>
            <a:pPr marL="0" indent="0">
              <a:buNone/>
            </a:pPr>
            <a:r>
              <a:rPr lang="en-US" sz="1600" dirty="0">
                <a:solidFill>
                  <a:srgbClr val="28251D"/>
                </a:solidFill>
                <a:latin typeface="Calibri" pitchFamily="34" charset="0"/>
                <a:ea typeface="Calibri" pitchFamily="34" charset="-122"/>
                <a:cs typeface="Calibri" pitchFamily="34" charset="-120"/>
              </a:rPr>
              <a:t>Target frictional &amp; structural, not cyclical. Better job-matching platforms, retraining programs, streamlined hiring rules.</a:t>
            </a:r>
            <a:endParaRPr lang="en-US" sz="1600" dirty="0"/>
          </a:p>
        </p:txBody>
      </p:sp>
      <p:sp>
        <p:nvSpPr>
          <p:cNvPr id="20" name="Shape 18">
            <a:extLst>
              <a:ext uri="{C183D7F6-B498-43B3-948B-1728B52AA6E4}">
                <adec:decorative xmlns:adec="http://schemas.microsoft.com/office/drawing/2017/decorative" val="1"/>
              </a:ext>
            </a:extLst>
          </p:cNvPr>
          <p:cNvSpPr/>
          <p:nvPr/>
        </p:nvSpPr>
        <p:spPr>
          <a:xfrm>
            <a:off x="6309360" y="3977640"/>
            <a:ext cx="5577840" cy="2331720"/>
          </a:xfrm>
          <a:prstGeom prst="rect">
            <a:avLst/>
          </a:prstGeom>
          <a:solidFill>
            <a:srgbClr val="FFFFFF"/>
          </a:solidFill>
          <a:ln w="12700">
            <a:solidFill>
              <a:srgbClr val="7A39BB"/>
            </a:solidFill>
            <a:prstDash val="solid"/>
          </a:ln>
        </p:spPr>
        <p:txBody>
          <a:bodyPr/>
          <a:lstStyle/>
          <a:p>
            <a:endParaRPr lang="en-US"/>
          </a:p>
        </p:txBody>
      </p:sp>
      <p:sp>
        <p:nvSpPr>
          <p:cNvPr id="21" name="Shape 19">
            <a:extLst>
              <a:ext uri="{C183D7F6-B498-43B3-948B-1728B52AA6E4}">
                <adec:decorative xmlns:adec="http://schemas.microsoft.com/office/drawing/2017/decorative" val="1"/>
              </a:ext>
            </a:extLst>
          </p:cNvPr>
          <p:cNvSpPr/>
          <p:nvPr/>
        </p:nvSpPr>
        <p:spPr>
          <a:xfrm>
            <a:off x="6309360" y="3977640"/>
            <a:ext cx="640080" cy="2331720"/>
          </a:xfrm>
          <a:prstGeom prst="rect">
            <a:avLst/>
          </a:prstGeom>
          <a:solidFill>
            <a:srgbClr val="7A39BB"/>
          </a:solidFill>
          <a:ln w="12700">
            <a:solidFill>
              <a:srgbClr val="7A39BB"/>
            </a:solidFill>
            <a:prstDash val="solid"/>
          </a:ln>
        </p:spPr>
        <p:txBody>
          <a:bodyPr/>
          <a:lstStyle/>
          <a:p>
            <a:endParaRPr lang="en-US"/>
          </a:p>
        </p:txBody>
      </p:sp>
      <p:sp>
        <p:nvSpPr>
          <p:cNvPr id="22" name="Text 20"/>
          <p:cNvSpPr/>
          <p:nvPr/>
        </p:nvSpPr>
        <p:spPr>
          <a:xfrm>
            <a:off x="6309360" y="4846320"/>
            <a:ext cx="640080" cy="548640"/>
          </a:xfrm>
          <a:prstGeom prst="rect">
            <a:avLst/>
          </a:prstGeom>
          <a:noFill/>
          <a:ln/>
        </p:spPr>
        <p:txBody>
          <a:bodyPr wrap="square"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04</a:t>
            </a:r>
            <a:endParaRPr lang="en-US" sz="2400" dirty="0"/>
          </a:p>
        </p:txBody>
      </p:sp>
      <p:sp>
        <p:nvSpPr>
          <p:cNvPr id="23" name="Text 21"/>
          <p:cNvSpPr/>
          <p:nvPr/>
        </p:nvSpPr>
        <p:spPr>
          <a:xfrm>
            <a:off x="7086600" y="4069080"/>
            <a:ext cx="4663440" cy="457200"/>
          </a:xfrm>
          <a:prstGeom prst="rect">
            <a:avLst/>
          </a:prstGeom>
          <a:noFill/>
          <a:ln/>
        </p:spPr>
        <p:txBody>
          <a:bodyPr wrap="square" rtlCol="0" anchor="ctr"/>
          <a:lstStyle/>
          <a:p>
            <a:pPr marL="0" indent="0">
              <a:buNone/>
            </a:pPr>
            <a:r>
              <a:rPr lang="en-US" sz="2000" b="1" dirty="0">
                <a:latin typeface="Trebuchet MS" pitchFamily="34" charset="0"/>
                <a:ea typeface="Trebuchet MS" pitchFamily="34" charset="-122"/>
                <a:cs typeface="Trebuchet MS" pitchFamily="34" charset="-120"/>
              </a:rPr>
              <a:t>Rules over Discretion</a:t>
            </a:r>
            <a:endParaRPr lang="en-US" sz="2000" dirty="0"/>
          </a:p>
        </p:txBody>
      </p:sp>
      <p:sp>
        <p:nvSpPr>
          <p:cNvPr id="24" name="Text 22"/>
          <p:cNvSpPr/>
          <p:nvPr/>
        </p:nvSpPr>
        <p:spPr>
          <a:xfrm>
            <a:off x="7086600" y="4572000"/>
            <a:ext cx="4663440" cy="1600200"/>
          </a:xfrm>
          <a:prstGeom prst="rect">
            <a:avLst/>
          </a:prstGeom>
          <a:noFill/>
          <a:ln/>
        </p:spPr>
        <p:txBody>
          <a:bodyPr wrap="square" rtlCol="0" anchor="ctr"/>
          <a:lstStyle/>
          <a:p>
            <a:pPr marL="0" indent="0">
              <a:buNone/>
            </a:pPr>
            <a:r>
              <a:rPr lang="en-US" sz="1600" dirty="0">
                <a:solidFill>
                  <a:srgbClr val="28251D"/>
                </a:solidFill>
                <a:latin typeface="Calibri" pitchFamily="34" charset="0"/>
                <a:ea typeface="Calibri" pitchFamily="34" charset="-122"/>
                <a:cs typeface="Calibri" pitchFamily="34" charset="-120"/>
              </a:rPr>
              <a:t>Credible rules (e.g., inflation targeting, balanced budget rules) beat ad hoc intervention — removes policy uncertainty and anchors expectations.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BF9"/>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12188952" cy="1325880"/>
          </a:xfrm>
          <a:prstGeom prst="rect">
            <a:avLst/>
          </a:prstGeom>
          <a:solidFill>
            <a:srgbClr val="28251D"/>
          </a:solidFill>
          <a:ln w="12700">
            <a:solidFill>
              <a:srgbClr val="28251D"/>
            </a:solidFill>
            <a:prstDash val="solid"/>
          </a:ln>
        </p:spPr>
        <p:txBody>
          <a:bodyPr/>
          <a:lstStyle/>
          <a:p>
            <a:endParaRPr lang="en-US"/>
          </a:p>
        </p:txBody>
      </p:sp>
      <p:sp>
        <p:nvSpPr>
          <p:cNvPr id="3" name="Text 1"/>
          <p:cNvSpPr>
            <a:spLocks noGrp="1"/>
          </p:cNvSpPr>
          <p:nvPr>
            <p:ph type="title" idx="4294967295"/>
          </p:nvPr>
        </p:nvSpPr>
        <p:spPr>
          <a:xfrm>
            <a:off x="411480" y="73152"/>
            <a:ext cx="11430000" cy="77724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Balancing Both Models</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2"/>
          <p:cNvSpPr/>
          <p:nvPr/>
        </p:nvSpPr>
        <p:spPr>
          <a:xfrm>
            <a:off x="411480" y="868680"/>
            <a:ext cx="11430000" cy="411480"/>
          </a:xfrm>
          <a:prstGeom prst="rect">
            <a:avLst/>
          </a:prstGeom>
          <a:noFill/>
          <a:ln/>
        </p:spPr>
        <p:txBody>
          <a:bodyPr wrap="square" rtlCol="0" anchor="t"/>
          <a:lstStyle/>
          <a:p>
            <a:pPr marL="0" indent="0">
              <a:buNone/>
            </a:pPr>
            <a:r>
              <a:rPr lang="en-US" dirty="0">
                <a:solidFill>
                  <a:schemeClr val="bg1"/>
                </a:solidFill>
                <a:latin typeface="Calibri" pitchFamily="34" charset="0"/>
                <a:ea typeface="Calibri" pitchFamily="34" charset="-122"/>
                <a:cs typeface="Calibri" pitchFamily="34" charset="-120"/>
              </a:rPr>
              <a:t>Modern economists don't choose — they blend</a:t>
            </a:r>
            <a:endParaRPr lang="en-US" dirty="0">
              <a:solidFill>
                <a:schemeClr val="bg1"/>
              </a:solidFill>
            </a:endParaRPr>
          </a:p>
        </p:txBody>
      </p:sp>
      <p:pic>
        <p:nvPicPr>
          <p:cNvPr id="5" name="Image 0" descr="Time Horizon for whne each model applies"/>
          <p:cNvPicPr>
            <a:picLocks noChangeAspect="1"/>
          </p:cNvPicPr>
          <p:nvPr/>
        </p:nvPicPr>
        <p:blipFill>
          <a:blip r:embed="rId3"/>
          <a:stretch>
            <a:fillRect/>
          </a:stretch>
        </p:blipFill>
        <p:spPr>
          <a:xfrm>
            <a:off x="365760" y="1444752"/>
            <a:ext cx="7772400" cy="3657600"/>
          </a:xfrm>
          <a:prstGeom prst="rect">
            <a:avLst/>
          </a:prstGeom>
        </p:spPr>
      </p:pic>
      <p:sp>
        <p:nvSpPr>
          <p:cNvPr id="6" name="Shape 3">
            <a:extLst>
              <a:ext uri="{C183D7F6-B498-43B3-948B-1728B52AA6E4}">
                <adec:decorative xmlns:adec="http://schemas.microsoft.com/office/drawing/2017/decorative" val="1"/>
              </a:ext>
            </a:extLst>
          </p:cNvPr>
          <p:cNvSpPr/>
          <p:nvPr/>
        </p:nvSpPr>
        <p:spPr>
          <a:xfrm>
            <a:off x="8412480" y="1481328"/>
            <a:ext cx="3474720" cy="4754880"/>
          </a:xfrm>
          <a:prstGeom prst="rect">
            <a:avLst/>
          </a:prstGeom>
          <a:solidFill>
            <a:srgbClr val="FFFFFF"/>
          </a:solidFill>
          <a:ln w="12700">
            <a:solidFill>
              <a:srgbClr val="28251D"/>
            </a:solidFill>
            <a:prstDash val="solid"/>
          </a:ln>
        </p:spPr>
        <p:txBody>
          <a:bodyPr/>
          <a:lstStyle/>
          <a:p>
            <a:endParaRPr lang="en-US"/>
          </a:p>
        </p:txBody>
      </p:sp>
      <p:sp>
        <p:nvSpPr>
          <p:cNvPr id="7" name="Text 4"/>
          <p:cNvSpPr/>
          <p:nvPr/>
        </p:nvSpPr>
        <p:spPr>
          <a:xfrm>
            <a:off x="8549640" y="1554480"/>
            <a:ext cx="3200400" cy="640080"/>
          </a:xfrm>
          <a:prstGeom prst="rect">
            <a:avLst/>
          </a:prstGeom>
          <a:noFill/>
          <a:ln/>
        </p:spPr>
        <p:txBody>
          <a:bodyPr wrap="square" rtlCol="0" anchor="ctr"/>
          <a:lstStyle/>
          <a:p>
            <a:pPr marL="0" indent="0">
              <a:buNone/>
            </a:pPr>
            <a:r>
              <a:rPr lang="en-US" sz="2000" b="1" dirty="0">
                <a:solidFill>
                  <a:srgbClr val="28251D"/>
                </a:solidFill>
                <a:latin typeface="Trebuchet MS" pitchFamily="34" charset="0"/>
                <a:ea typeface="Trebuchet MS" pitchFamily="34" charset="-122"/>
                <a:cs typeface="Trebuchet MS" pitchFamily="34" charset="-120"/>
              </a:rPr>
              <a:t>Robert Solow's Synthesis</a:t>
            </a:r>
            <a:endParaRPr lang="en-US" sz="2000" dirty="0"/>
          </a:p>
          <a:p>
            <a:pPr marL="0" indent="0">
              <a:buNone/>
            </a:pPr>
            <a:r>
              <a:rPr lang="en-US" sz="2000" b="1" dirty="0">
                <a:solidFill>
                  <a:srgbClr val="28251D"/>
                </a:solidFill>
                <a:latin typeface="Trebuchet MS" pitchFamily="34" charset="0"/>
                <a:ea typeface="Trebuchet MS" pitchFamily="34" charset="-122"/>
                <a:cs typeface="Trebuchet MS" pitchFamily="34" charset="-120"/>
              </a:rPr>
              <a:t>(Nobel 1987)</a:t>
            </a:r>
            <a:endParaRPr lang="en-US" sz="2000" dirty="0"/>
          </a:p>
        </p:txBody>
      </p:sp>
      <p:sp>
        <p:nvSpPr>
          <p:cNvPr id="8" name="Text 5"/>
          <p:cNvSpPr/>
          <p:nvPr/>
        </p:nvSpPr>
        <p:spPr>
          <a:xfrm>
            <a:off x="8549640" y="2331720"/>
            <a:ext cx="3200400" cy="2194560"/>
          </a:xfrm>
          <a:prstGeom prst="rect">
            <a:avLst/>
          </a:prstGeom>
          <a:noFill/>
          <a:ln/>
        </p:spPr>
        <p:txBody>
          <a:bodyPr wrap="square" rtlCol="0" anchor="ctr"/>
          <a:lstStyle/>
          <a:p>
            <a:pPr marL="0" indent="0">
              <a:buNone/>
            </a:pPr>
            <a:r>
              <a:rPr lang="en-US" sz="1600" i="1" dirty="0">
                <a:solidFill>
                  <a:srgbClr val="28251D"/>
                </a:solidFill>
                <a:latin typeface="Calibri" pitchFamily="34" charset="0"/>
                <a:ea typeface="Calibri" pitchFamily="34" charset="-122"/>
                <a:cs typeface="Calibri" pitchFamily="34" charset="-120"/>
              </a:rPr>
              <a:t>"At short time scales, something sort of 'Keynesian' is a good approximation.</a:t>
            </a:r>
            <a:endParaRPr lang="en-US" sz="1600" dirty="0"/>
          </a:p>
          <a:p>
            <a:pPr marL="0" indent="0">
              <a:buNone/>
            </a:pPr>
            <a:endParaRPr lang="en-US" sz="1600" dirty="0"/>
          </a:p>
          <a:p>
            <a:pPr marL="0" indent="0">
              <a:buNone/>
            </a:pPr>
            <a:r>
              <a:rPr lang="en-US" sz="1600" i="1" dirty="0">
                <a:solidFill>
                  <a:srgbClr val="28251D"/>
                </a:solidFill>
                <a:latin typeface="Calibri" pitchFamily="34" charset="0"/>
                <a:ea typeface="Calibri" pitchFamily="34" charset="-122"/>
                <a:cs typeface="Calibri" pitchFamily="34" charset="-120"/>
              </a:rPr>
              <a:t>At very long time scales, neoclassical framework.</a:t>
            </a:r>
            <a:endParaRPr lang="en-US" sz="1600" dirty="0"/>
          </a:p>
          <a:p>
            <a:pPr marL="0" indent="0">
              <a:buNone/>
            </a:pPr>
            <a:endParaRPr lang="en-US" sz="1600" dirty="0"/>
          </a:p>
          <a:p>
            <a:pPr marL="0" indent="0">
              <a:buNone/>
            </a:pPr>
            <a:r>
              <a:rPr lang="en-US" sz="1600" i="1" dirty="0">
                <a:solidFill>
                  <a:srgbClr val="28251D"/>
                </a:solidFill>
                <a:latin typeface="Calibri" pitchFamily="34" charset="0"/>
                <a:ea typeface="Calibri" pitchFamily="34" charset="-122"/>
                <a:cs typeface="Calibri" pitchFamily="34" charset="-120"/>
              </a:rPr>
              <a:t>At the 5-to-10-year scale, we have to piece things together."</a:t>
            </a:r>
            <a:endParaRPr lang="en-US" sz="1600" dirty="0"/>
          </a:p>
        </p:txBody>
      </p:sp>
      <p:sp>
        <p:nvSpPr>
          <p:cNvPr id="9" name="Text 6"/>
          <p:cNvSpPr/>
          <p:nvPr/>
        </p:nvSpPr>
        <p:spPr>
          <a:xfrm>
            <a:off x="8549640" y="4572000"/>
            <a:ext cx="3200400" cy="1280160"/>
          </a:xfrm>
          <a:prstGeom prst="rect">
            <a:avLst/>
          </a:prstGeom>
          <a:noFill/>
          <a:ln/>
        </p:spPr>
        <p:txBody>
          <a:bodyPr wrap="square" rtlCol="0" anchor="ctr"/>
          <a:lstStyle/>
          <a:p>
            <a:pPr marL="0" indent="0">
              <a:buNone/>
            </a:pPr>
            <a:r>
              <a:rPr lang="en-US" sz="1400" b="1" dirty="0">
                <a:latin typeface="Calibri" pitchFamily="34" charset="0"/>
                <a:ea typeface="Calibri" pitchFamily="34" charset="-122"/>
                <a:cs typeface="Calibri" pitchFamily="34" charset="-120"/>
              </a:rPr>
              <a:t>Practical takeaway:</a:t>
            </a:r>
            <a:endParaRPr lang="en-US" sz="1400" dirty="0"/>
          </a:p>
          <a:p>
            <a:pPr marL="0" indent="0">
              <a:buNone/>
            </a:pPr>
            <a:r>
              <a:rPr lang="en-US" sz="1400" b="1" dirty="0">
                <a:latin typeface="Calibri" pitchFamily="34" charset="0"/>
                <a:ea typeface="Calibri" pitchFamily="34" charset="-122"/>
                <a:cs typeface="Calibri" pitchFamily="34" charset="-120"/>
              </a:rPr>
              <a:t>Neither camp fully controls the economic dashboard. Good policy borrows from both.</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BF9"/>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12188952" cy="1325880"/>
          </a:xfrm>
          <a:prstGeom prst="rect">
            <a:avLst/>
          </a:prstGeom>
          <a:solidFill>
            <a:srgbClr val="28251D"/>
          </a:solidFill>
          <a:ln w="12700">
            <a:solidFill>
              <a:srgbClr val="28251D"/>
            </a:solidFill>
            <a:prstDash val="solid"/>
          </a:ln>
        </p:spPr>
        <p:txBody>
          <a:bodyPr/>
          <a:lstStyle/>
          <a:p>
            <a:endParaRPr lang="en-US"/>
          </a:p>
        </p:txBody>
      </p:sp>
      <p:sp>
        <p:nvSpPr>
          <p:cNvPr id="3" name="Text 1"/>
          <p:cNvSpPr>
            <a:spLocks noGrp="1"/>
          </p:cNvSpPr>
          <p:nvPr>
            <p:ph type="title" idx="4294967295"/>
          </p:nvPr>
        </p:nvSpPr>
        <p:spPr>
          <a:xfrm>
            <a:off x="411480" y="73152"/>
            <a:ext cx="11430000" cy="77724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Summary Comparison</a:t>
            </a: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graphicFrame>
        <p:nvGraphicFramePr>
          <p:cNvPr id="15" name="Table 0"/>
          <p:cNvGraphicFramePr>
            <a:graphicFrameLocks noGrp="1"/>
          </p:cNvGraphicFramePr>
          <p:nvPr>
            <p:extLst>
              <p:ext uri="{D42A27DB-BD31-4B8C-83A1-F6EECF244321}">
                <p14:modId xmlns:p14="http://schemas.microsoft.com/office/powerpoint/2010/main" val="513032951"/>
              </p:ext>
            </p:extLst>
          </p:nvPr>
        </p:nvGraphicFramePr>
        <p:xfrm>
          <a:off x="320040" y="1444752"/>
          <a:ext cx="11521440" cy="4690872"/>
        </p:xfrm>
        <a:graphic>
          <a:graphicData uri="http://schemas.openxmlformats.org/drawingml/2006/table">
            <a:tbl>
              <a:tblPr firstRow="1"/>
              <a:tblGrid>
                <a:gridCol w="256032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521208">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Dimension</a:t>
                      </a:r>
                      <a:endParaRPr lang="en-US" sz="20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28251D"/>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NEOCLASSICAL</a:t>
                      </a:r>
                      <a:endParaRPr lang="en-US" sz="20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A84B2F"/>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KEYNESIAN</a:t>
                      </a:r>
                      <a:endParaRPr lang="en-US" sz="20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extLst>
                  <a:ext uri="{0D108BD9-81ED-4DB2-BD59-A6C34878D82A}">
                    <a16:rowId xmlns:a16="http://schemas.microsoft.com/office/drawing/2014/main" val="10000"/>
                  </a:ext>
                </a:extLst>
              </a:tr>
              <a:tr h="521208">
                <a:tc>
                  <a:txBody>
                    <a:bodyPr/>
                    <a:lstStyle/>
                    <a:p>
                      <a:pPr marL="0" indent="0" algn="l">
                        <a:buNone/>
                      </a:pPr>
                      <a:r>
                        <a:rPr lang="en-US" sz="1600" dirty="0">
                          <a:solidFill>
                            <a:srgbClr val="000000"/>
                          </a:solidFill>
                          <a:latin typeface="Calibri" pitchFamily="34" charset="0"/>
                          <a:ea typeface="Calibri" pitchFamily="34" charset="-122"/>
                          <a:cs typeface="Calibri" pitchFamily="34" charset="-120"/>
                        </a:rPr>
                        <a:t>Time focus</a:t>
                      </a:r>
                      <a:endParaRPr lang="en-US" sz="16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tc>
                  <a:txBody>
                    <a:bodyPr/>
                    <a:lstStyle/>
                    <a:p>
                      <a:pPr marL="0" indent="0" algn="ctr">
                        <a:buNone/>
                      </a:pPr>
                      <a:r>
                        <a:rPr lang="en-US" sz="1600" dirty="0">
                          <a:solidFill>
                            <a:srgbClr val="000000"/>
                          </a:solidFill>
                          <a:latin typeface="Calibri" pitchFamily="34" charset="0"/>
                          <a:ea typeface="Calibri" pitchFamily="34" charset="-122"/>
                          <a:cs typeface="Calibri" pitchFamily="34" charset="-120"/>
                        </a:rPr>
                        <a:t>Long run</a:t>
                      </a:r>
                      <a:endParaRPr lang="en-US" sz="16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tc>
                  <a:txBody>
                    <a:bodyPr/>
                    <a:lstStyle/>
                    <a:p>
                      <a:pPr marL="0" indent="0" algn="ctr">
                        <a:buNone/>
                      </a:pPr>
                      <a:r>
                        <a:rPr lang="en-US" sz="1600" dirty="0">
                          <a:solidFill>
                            <a:srgbClr val="000000"/>
                          </a:solidFill>
                          <a:latin typeface="Calibri" pitchFamily="34" charset="0"/>
                          <a:ea typeface="Calibri" pitchFamily="34" charset="-122"/>
                          <a:cs typeface="Calibri" pitchFamily="34" charset="-120"/>
                        </a:rPr>
                        <a:t>Short run</a:t>
                      </a:r>
                      <a:endParaRPr lang="en-US" sz="16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extLst>
                  <a:ext uri="{0D108BD9-81ED-4DB2-BD59-A6C34878D82A}">
                    <a16:rowId xmlns:a16="http://schemas.microsoft.com/office/drawing/2014/main" val="10001"/>
                  </a:ext>
                </a:extLst>
              </a:tr>
              <a:tr h="521208">
                <a:tc>
                  <a:txBody>
                    <a:bodyPr/>
                    <a:lstStyle/>
                    <a:p>
                      <a:pPr marL="0" indent="0" algn="l">
                        <a:buNone/>
                      </a:pPr>
                      <a:r>
                        <a:rPr lang="en-US" sz="1600" dirty="0">
                          <a:solidFill>
                            <a:srgbClr val="000000"/>
                          </a:solidFill>
                          <a:latin typeface="Calibri" pitchFamily="34" charset="0"/>
                          <a:ea typeface="Calibri" pitchFamily="34" charset="-122"/>
                          <a:cs typeface="Calibri" pitchFamily="34" charset="-120"/>
                        </a:rPr>
                        <a:t>Prices &amp; wages</a:t>
                      </a:r>
                      <a:endParaRPr lang="en-US" sz="16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tc>
                  <a:txBody>
                    <a:bodyPr/>
                    <a:lstStyle/>
                    <a:p>
                      <a:pPr marL="0" indent="0" algn="ctr">
                        <a:buNone/>
                      </a:pPr>
                      <a:r>
                        <a:rPr lang="en-US" sz="1600" dirty="0">
                          <a:solidFill>
                            <a:srgbClr val="000000"/>
                          </a:solidFill>
                          <a:latin typeface="Calibri" pitchFamily="34" charset="0"/>
                          <a:ea typeface="Calibri" pitchFamily="34" charset="-122"/>
                          <a:cs typeface="Calibri" pitchFamily="34" charset="-120"/>
                        </a:rPr>
                        <a:t>Flexible</a:t>
                      </a:r>
                      <a:endParaRPr lang="en-US" sz="16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tc>
                  <a:txBody>
                    <a:bodyPr/>
                    <a:lstStyle/>
                    <a:p>
                      <a:pPr marL="0" indent="0" algn="ctr">
                        <a:buNone/>
                      </a:pPr>
                      <a:r>
                        <a:rPr lang="en-US" sz="1600" dirty="0">
                          <a:solidFill>
                            <a:srgbClr val="000000"/>
                          </a:solidFill>
                          <a:latin typeface="Calibri" pitchFamily="34" charset="0"/>
                          <a:ea typeface="Calibri" pitchFamily="34" charset="-122"/>
                          <a:cs typeface="Calibri" pitchFamily="34" charset="-120"/>
                        </a:rPr>
                        <a:t>Sticky</a:t>
                      </a:r>
                      <a:endParaRPr lang="en-US" sz="16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extLst>
                  <a:ext uri="{0D108BD9-81ED-4DB2-BD59-A6C34878D82A}">
                    <a16:rowId xmlns:a16="http://schemas.microsoft.com/office/drawing/2014/main" val="10002"/>
                  </a:ext>
                </a:extLst>
              </a:tr>
              <a:tr h="521208">
                <a:tc>
                  <a:txBody>
                    <a:bodyPr/>
                    <a:lstStyle/>
                    <a:p>
                      <a:pPr marL="0" indent="0" algn="l">
                        <a:buNone/>
                      </a:pPr>
                      <a:r>
                        <a:rPr lang="en-US" sz="1600" dirty="0">
                          <a:solidFill>
                            <a:srgbClr val="000000"/>
                          </a:solidFill>
                          <a:latin typeface="Calibri" pitchFamily="34" charset="0"/>
                          <a:ea typeface="Calibri" pitchFamily="34" charset="-122"/>
                          <a:cs typeface="Calibri" pitchFamily="34" charset="-120"/>
                        </a:rPr>
                        <a:t>Output determined by</a:t>
                      </a:r>
                      <a:endParaRPr lang="en-US" sz="16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tc>
                  <a:txBody>
                    <a:bodyPr/>
                    <a:lstStyle/>
                    <a:p>
                      <a:pPr marL="0" indent="0" algn="ctr">
                        <a:buNone/>
                      </a:pPr>
                      <a:r>
                        <a:rPr lang="en-US" sz="1600" dirty="0">
                          <a:solidFill>
                            <a:srgbClr val="000000"/>
                          </a:solidFill>
                          <a:latin typeface="Calibri" pitchFamily="34" charset="0"/>
                          <a:ea typeface="Calibri" pitchFamily="34" charset="-122"/>
                          <a:cs typeface="Calibri" pitchFamily="34" charset="-120"/>
                        </a:rPr>
                        <a:t>Aggregate Supply (LRAS)</a:t>
                      </a:r>
                      <a:endParaRPr lang="en-US" sz="16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tc>
                  <a:txBody>
                    <a:bodyPr/>
                    <a:lstStyle/>
                    <a:p>
                      <a:pPr marL="0" indent="0" algn="ctr">
                        <a:buNone/>
                      </a:pPr>
                      <a:r>
                        <a:rPr lang="en-US" sz="1600" dirty="0">
                          <a:solidFill>
                            <a:srgbClr val="000000"/>
                          </a:solidFill>
                          <a:latin typeface="Calibri" pitchFamily="34" charset="0"/>
                          <a:ea typeface="Calibri" pitchFamily="34" charset="-122"/>
                          <a:cs typeface="Calibri" pitchFamily="34" charset="-120"/>
                        </a:rPr>
                        <a:t>Aggregate Demand</a:t>
                      </a:r>
                      <a:endParaRPr lang="en-US" sz="16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extLst>
                  <a:ext uri="{0D108BD9-81ED-4DB2-BD59-A6C34878D82A}">
                    <a16:rowId xmlns:a16="http://schemas.microsoft.com/office/drawing/2014/main" val="10003"/>
                  </a:ext>
                </a:extLst>
              </a:tr>
              <a:tr h="521208">
                <a:tc>
                  <a:txBody>
                    <a:bodyPr/>
                    <a:lstStyle/>
                    <a:p>
                      <a:pPr marL="0" indent="0" algn="l">
                        <a:buNone/>
                      </a:pPr>
                      <a:r>
                        <a:rPr lang="en-US" sz="1600" dirty="0">
                          <a:solidFill>
                            <a:srgbClr val="000000"/>
                          </a:solidFill>
                          <a:latin typeface="Calibri" pitchFamily="34" charset="0"/>
                          <a:ea typeface="Calibri" pitchFamily="34" charset="-122"/>
                          <a:cs typeface="Calibri" pitchFamily="34" charset="-120"/>
                        </a:rPr>
                        <a:t>AS curve shape</a:t>
                      </a:r>
                      <a:endParaRPr lang="en-US" sz="16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tc>
                  <a:txBody>
                    <a:bodyPr/>
                    <a:lstStyle/>
                    <a:p>
                      <a:pPr marL="0" indent="0" algn="ctr">
                        <a:buNone/>
                      </a:pPr>
                      <a:r>
                        <a:rPr lang="en-US" sz="1600" dirty="0">
                          <a:solidFill>
                            <a:srgbClr val="000000"/>
                          </a:solidFill>
                          <a:latin typeface="Calibri" pitchFamily="34" charset="0"/>
                          <a:ea typeface="Calibri" pitchFamily="34" charset="-122"/>
                          <a:cs typeface="Calibri" pitchFamily="34" charset="-120"/>
                        </a:rPr>
                        <a:t>Vertical</a:t>
                      </a:r>
                      <a:endParaRPr lang="en-US" sz="16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tc>
                  <a:txBody>
                    <a:bodyPr/>
                    <a:lstStyle/>
                    <a:p>
                      <a:pPr marL="0" indent="0" algn="ctr">
                        <a:buNone/>
                      </a:pPr>
                      <a:r>
                        <a:rPr lang="en-US" sz="1600" dirty="0">
                          <a:solidFill>
                            <a:srgbClr val="000000"/>
                          </a:solidFill>
                          <a:latin typeface="Calibri" pitchFamily="34" charset="0"/>
                          <a:ea typeface="Calibri" pitchFamily="34" charset="-122"/>
                          <a:cs typeface="Calibri" pitchFamily="34" charset="-120"/>
                        </a:rPr>
                        <a:t>Upward-sloping (flat near Yp)</a:t>
                      </a:r>
                      <a:endParaRPr lang="en-US" sz="16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extLst>
                  <a:ext uri="{0D108BD9-81ED-4DB2-BD59-A6C34878D82A}">
                    <a16:rowId xmlns:a16="http://schemas.microsoft.com/office/drawing/2014/main" val="10004"/>
                  </a:ext>
                </a:extLst>
              </a:tr>
              <a:tr h="521208">
                <a:tc>
                  <a:txBody>
                    <a:bodyPr/>
                    <a:lstStyle/>
                    <a:p>
                      <a:pPr marL="0" indent="0" algn="l">
                        <a:buNone/>
                      </a:pPr>
                      <a:r>
                        <a:rPr lang="en-US" sz="1600" dirty="0">
                          <a:solidFill>
                            <a:srgbClr val="000000"/>
                          </a:solidFill>
                          <a:latin typeface="Calibri" pitchFamily="34" charset="0"/>
                          <a:ea typeface="Calibri" pitchFamily="34" charset="-122"/>
                          <a:cs typeface="Calibri" pitchFamily="34" charset="-120"/>
                        </a:rPr>
                        <a:t>Phillips curve</a:t>
                      </a:r>
                      <a:endParaRPr lang="en-US" sz="16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tc>
                  <a:txBody>
                    <a:bodyPr/>
                    <a:lstStyle/>
                    <a:p>
                      <a:pPr marL="0" indent="0" algn="ctr">
                        <a:buNone/>
                      </a:pPr>
                      <a:r>
                        <a:rPr lang="en-US" sz="1600" dirty="0">
                          <a:solidFill>
                            <a:srgbClr val="000000"/>
                          </a:solidFill>
                          <a:latin typeface="Calibri" pitchFamily="34" charset="0"/>
                          <a:ea typeface="Calibri" pitchFamily="34" charset="-122"/>
                          <a:cs typeface="Calibri" pitchFamily="34" charset="-120"/>
                        </a:rPr>
                        <a:t>Vertical (long run)</a:t>
                      </a:r>
                      <a:endParaRPr lang="en-US" sz="16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tc>
                  <a:txBody>
                    <a:bodyPr/>
                    <a:lstStyle/>
                    <a:p>
                      <a:pPr marL="0" indent="0" algn="ctr">
                        <a:buNone/>
                      </a:pPr>
                      <a:r>
                        <a:rPr lang="en-US" sz="1600" dirty="0">
                          <a:solidFill>
                            <a:srgbClr val="000000"/>
                          </a:solidFill>
                          <a:latin typeface="Calibri" pitchFamily="34" charset="0"/>
                          <a:ea typeface="Calibri" pitchFamily="34" charset="-122"/>
                          <a:cs typeface="Calibri" pitchFamily="34" charset="-120"/>
                        </a:rPr>
                        <a:t>Downward-sloping (short run)</a:t>
                      </a:r>
                      <a:endParaRPr lang="en-US" sz="16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extLst>
                  <a:ext uri="{0D108BD9-81ED-4DB2-BD59-A6C34878D82A}">
                    <a16:rowId xmlns:a16="http://schemas.microsoft.com/office/drawing/2014/main" val="10005"/>
                  </a:ext>
                </a:extLst>
              </a:tr>
              <a:tr h="521208">
                <a:tc>
                  <a:txBody>
                    <a:bodyPr/>
                    <a:lstStyle/>
                    <a:p>
                      <a:pPr marL="0" indent="0" algn="l">
                        <a:buNone/>
                      </a:pPr>
                      <a:r>
                        <a:rPr lang="en-US" sz="1600" dirty="0">
                          <a:solidFill>
                            <a:srgbClr val="000000"/>
                          </a:solidFill>
                          <a:latin typeface="Calibri" pitchFamily="34" charset="0"/>
                          <a:ea typeface="Calibri" pitchFamily="34" charset="-122"/>
                          <a:cs typeface="Calibri" pitchFamily="34" charset="-120"/>
                        </a:rPr>
                        <a:t>Unemployment target</a:t>
                      </a:r>
                      <a:endParaRPr lang="en-US" sz="16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tc>
                  <a:txBody>
                    <a:bodyPr/>
                    <a:lstStyle/>
                    <a:p>
                      <a:pPr marL="0" indent="0" algn="ctr">
                        <a:buNone/>
                      </a:pPr>
                      <a:r>
                        <a:rPr lang="en-US" sz="1600" dirty="0">
                          <a:solidFill>
                            <a:srgbClr val="000000"/>
                          </a:solidFill>
                          <a:latin typeface="Calibri" pitchFamily="34" charset="0"/>
                          <a:ea typeface="Calibri" pitchFamily="34" charset="-122"/>
                          <a:cs typeface="Calibri" pitchFamily="34" charset="-120"/>
                        </a:rPr>
                        <a:t>Reduce natural rate (structural/frictional)</a:t>
                      </a:r>
                      <a:endParaRPr lang="en-US" sz="16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tc>
                  <a:txBody>
                    <a:bodyPr/>
                    <a:lstStyle/>
                    <a:p>
                      <a:pPr marL="0" indent="0" algn="ctr">
                        <a:buNone/>
                      </a:pPr>
                      <a:r>
                        <a:rPr lang="en-US" sz="1600" dirty="0">
                          <a:solidFill>
                            <a:srgbClr val="000000"/>
                          </a:solidFill>
                          <a:latin typeface="Calibri" pitchFamily="34" charset="0"/>
                          <a:ea typeface="Calibri" pitchFamily="34" charset="-122"/>
                          <a:cs typeface="Calibri" pitchFamily="34" charset="-120"/>
                        </a:rPr>
                        <a:t>Eliminate cyclical via ↑ AD</a:t>
                      </a:r>
                      <a:endParaRPr lang="en-US" sz="16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extLst>
                  <a:ext uri="{0D108BD9-81ED-4DB2-BD59-A6C34878D82A}">
                    <a16:rowId xmlns:a16="http://schemas.microsoft.com/office/drawing/2014/main" val="10006"/>
                  </a:ext>
                </a:extLst>
              </a:tr>
              <a:tr h="521208">
                <a:tc>
                  <a:txBody>
                    <a:bodyPr/>
                    <a:lstStyle/>
                    <a:p>
                      <a:pPr marL="0" indent="0" algn="l">
                        <a:buNone/>
                      </a:pPr>
                      <a:r>
                        <a:rPr lang="en-US" sz="1600" dirty="0">
                          <a:solidFill>
                            <a:srgbClr val="000000"/>
                          </a:solidFill>
                          <a:latin typeface="Calibri" pitchFamily="34" charset="0"/>
                          <a:ea typeface="Calibri" pitchFamily="34" charset="-122"/>
                          <a:cs typeface="Calibri" pitchFamily="34" charset="-120"/>
                        </a:rPr>
                        <a:t>AD as recession cure?</a:t>
                      </a:r>
                      <a:endParaRPr lang="en-US" sz="16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tc>
                  <a:txBody>
                    <a:bodyPr/>
                    <a:lstStyle/>
                    <a:p>
                      <a:pPr marL="0" indent="0" algn="ctr">
                        <a:buNone/>
                      </a:pPr>
                      <a:r>
                        <a:rPr lang="en-US" sz="1600" dirty="0">
                          <a:solidFill>
                            <a:srgbClr val="000000"/>
                          </a:solidFill>
                          <a:latin typeface="Calibri" pitchFamily="34" charset="0"/>
                          <a:ea typeface="Calibri" pitchFamily="34" charset="-122"/>
                          <a:cs typeface="Calibri" pitchFamily="34" charset="-120"/>
                        </a:rPr>
                        <a:t>Only short-run / may cause inflation</a:t>
                      </a:r>
                      <a:endParaRPr lang="en-US" sz="16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tc>
                  <a:txBody>
                    <a:bodyPr/>
                    <a:lstStyle/>
                    <a:p>
                      <a:pPr marL="0" indent="0" algn="ctr">
                        <a:buNone/>
                      </a:pPr>
                      <a:r>
                        <a:rPr lang="en-US" sz="1600" dirty="0">
                          <a:solidFill>
                            <a:srgbClr val="000000"/>
                          </a:solidFill>
                          <a:latin typeface="Calibri" pitchFamily="34" charset="0"/>
                          <a:ea typeface="Calibri" pitchFamily="34" charset="-122"/>
                          <a:cs typeface="Calibri" pitchFamily="34" charset="-120"/>
                        </a:rPr>
                        <a:t>Yes — primary tool</a:t>
                      </a:r>
                      <a:endParaRPr lang="en-US" sz="16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extLst>
                  <a:ext uri="{0D108BD9-81ED-4DB2-BD59-A6C34878D82A}">
                    <a16:rowId xmlns:a16="http://schemas.microsoft.com/office/drawing/2014/main" val="10007"/>
                  </a:ext>
                </a:extLst>
              </a:tr>
              <a:tr h="521208">
                <a:tc>
                  <a:txBody>
                    <a:bodyPr/>
                    <a:lstStyle/>
                    <a:p>
                      <a:pPr marL="0" indent="0" algn="l">
                        <a:buNone/>
                      </a:pPr>
                      <a:r>
                        <a:rPr lang="en-US" sz="1600" dirty="0">
                          <a:solidFill>
                            <a:srgbClr val="000000"/>
                          </a:solidFill>
                          <a:latin typeface="Calibri" pitchFamily="34" charset="0"/>
                          <a:ea typeface="Calibri" pitchFamily="34" charset="-122"/>
                          <a:cs typeface="Calibri" pitchFamily="34" charset="-120"/>
                        </a:rPr>
                        <a:t>Policy style</a:t>
                      </a:r>
                      <a:endParaRPr lang="en-US" sz="16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tc>
                  <a:txBody>
                    <a:bodyPr/>
                    <a:lstStyle/>
                    <a:p>
                      <a:pPr marL="0" indent="0" algn="ctr">
                        <a:buNone/>
                      </a:pPr>
                      <a:r>
                        <a:rPr lang="en-US" sz="1600" dirty="0">
                          <a:solidFill>
                            <a:srgbClr val="000000"/>
                          </a:solidFill>
                          <a:latin typeface="Calibri" pitchFamily="34" charset="0"/>
                          <a:ea typeface="Calibri" pitchFamily="34" charset="-122"/>
                          <a:cs typeface="Calibri" pitchFamily="34" charset="-120"/>
                        </a:rPr>
                        <a:t>Rules, supply-side, stability</a:t>
                      </a:r>
                      <a:endParaRPr lang="en-US" sz="16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tc>
                  <a:txBody>
                    <a:bodyPr/>
                    <a:lstStyle/>
                    <a:p>
                      <a:pPr marL="0" indent="0" algn="ctr">
                        <a:buNone/>
                      </a:pPr>
                      <a:r>
                        <a:rPr lang="en-US" sz="1600" dirty="0">
                          <a:solidFill>
                            <a:srgbClr val="000000"/>
                          </a:solidFill>
                          <a:latin typeface="Calibri" pitchFamily="34" charset="0"/>
                          <a:ea typeface="Calibri" pitchFamily="34" charset="-122"/>
                          <a:cs typeface="Calibri" pitchFamily="34" charset="-120"/>
                        </a:rPr>
                        <a:t>Active countercyclical stabilization</a:t>
                      </a:r>
                      <a:endParaRPr lang="en-US" sz="1600" dirty="0">
                        <a:latin typeface="Calibri" charset="0"/>
                        <a:ea typeface="Calibri" charset="0"/>
                        <a:cs typeface="Calibri" charset="0"/>
                      </a:endParaRPr>
                    </a:p>
                  </a:txBody>
                  <a:tcPr marL="101600" marR="101600" marT="50800" marB="5080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8251D"/>
        </a:solidFill>
        <a:effectLst/>
      </p:bgPr>
    </p:bg>
    <p:spTree>
      <p:nvGrpSpPr>
        <p:cNvPr id="1" name=""/>
        <p:cNvGrpSpPr/>
        <p:nvPr/>
      </p:nvGrpSpPr>
      <p:grpSpPr>
        <a:xfrm>
          <a:off x="0" y="0"/>
          <a:ext cx="0" cy="0"/>
          <a:chOff x="0" y="0"/>
          <a:chExt cx="0" cy="0"/>
        </a:xfrm>
      </p:grpSpPr>
      <p:sp>
        <p:nvSpPr>
          <p:cNvPr id="2" name="Text 0"/>
          <p:cNvSpPr>
            <a:spLocks noGrp="1"/>
          </p:cNvSpPr>
          <p:nvPr>
            <p:ph type="title" idx="4294967295"/>
          </p:nvPr>
        </p:nvSpPr>
        <p:spPr>
          <a:xfrm>
            <a:off x="457200" y="274320"/>
            <a:ext cx="11247120" cy="73152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Key Takeaways</a:t>
            </a:r>
            <a:endParaRPr kumimoji="0" lang="en-US" sz="34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Shape 1">
            <a:extLst>
              <a:ext uri="{C183D7F6-B498-43B3-948B-1728B52AA6E4}">
                <adec:decorative xmlns:adec="http://schemas.microsoft.com/office/drawing/2017/decorative" val="1"/>
              </a:ext>
            </a:extLst>
          </p:cNvPr>
          <p:cNvSpPr/>
          <p:nvPr/>
        </p:nvSpPr>
        <p:spPr>
          <a:xfrm>
            <a:off x="457200" y="1051560"/>
            <a:ext cx="3657600" cy="45720"/>
          </a:xfrm>
          <a:prstGeom prst="rect">
            <a:avLst/>
          </a:prstGeom>
          <a:solidFill>
            <a:srgbClr val="01696F"/>
          </a:solidFill>
          <a:ln w="12700">
            <a:solidFill>
              <a:srgbClr val="01696F"/>
            </a:solidFill>
            <a:prstDash val="solid"/>
          </a:ln>
        </p:spPr>
        <p:txBody>
          <a:bodyPr/>
          <a:lstStyle/>
          <a:p>
            <a:endParaRPr lang="en-US"/>
          </a:p>
        </p:txBody>
      </p:sp>
      <p:sp>
        <p:nvSpPr>
          <p:cNvPr id="4" name="Shape 2">
            <a:extLst>
              <a:ext uri="{C183D7F6-B498-43B3-948B-1728B52AA6E4}">
                <adec:decorative xmlns:adec="http://schemas.microsoft.com/office/drawing/2017/decorative" val="1"/>
              </a:ext>
            </a:extLst>
          </p:cNvPr>
          <p:cNvSpPr/>
          <p:nvPr/>
        </p:nvSpPr>
        <p:spPr>
          <a:xfrm>
            <a:off x="457200" y="1234440"/>
            <a:ext cx="457200" cy="457200"/>
          </a:xfrm>
          <a:prstGeom prst="ellipse">
            <a:avLst/>
          </a:prstGeom>
          <a:solidFill>
            <a:srgbClr val="01696F"/>
          </a:solidFill>
          <a:ln w="12700">
            <a:solidFill>
              <a:srgbClr val="01696F"/>
            </a:solidFill>
            <a:prstDash val="solid"/>
          </a:ln>
        </p:spPr>
        <p:txBody>
          <a:bodyPr/>
          <a:lstStyle/>
          <a:p>
            <a:endParaRPr lang="en-US"/>
          </a:p>
        </p:txBody>
      </p:sp>
      <p:sp>
        <p:nvSpPr>
          <p:cNvPr id="5" name="Text 3"/>
          <p:cNvSpPr/>
          <p:nvPr/>
        </p:nvSpPr>
        <p:spPr>
          <a:xfrm>
            <a:off x="457200" y="1261872"/>
            <a:ext cx="457200" cy="402336"/>
          </a:xfrm>
          <a:prstGeom prst="rect">
            <a:avLst/>
          </a:prstGeom>
          <a:noFill/>
          <a:ln/>
        </p:spPr>
        <p:txBody>
          <a:bodyPr wrap="square"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1</a:t>
            </a:r>
            <a:endParaRPr lang="en-US" sz="2000" dirty="0"/>
          </a:p>
        </p:txBody>
      </p:sp>
      <p:sp>
        <p:nvSpPr>
          <p:cNvPr id="6" name="Text 4"/>
          <p:cNvSpPr/>
          <p:nvPr/>
        </p:nvSpPr>
        <p:spPr>
          <a:xfrm>
            <a:off x="1051560" y="1261872"/>
            <a:ext cx="10698480" cy="658368"/>
          </a:xfrm>
          <a:prstGeom prst="rect">
            <a:avLst/>
          </a:prstGeom>
          <a:noFill/>
          <a:ln/>
        </p:spPr>
        <p:txBody>
          <a:bodyPr wrap="square" rtlCol="0" anchor="ctr"/>
          <a:lstStyle/>
          <a:p>
            <a:pPr marL="0" indent="0">
              <a:buNone/>
            </a:pPr>
            <a:r>
              <a:rPr lang="en-US" b="1" dirty="0">
                <a:solidFill>
                  <a:srgbClr val="CDCCCA"/>
                </a:solidFill>
                <a:latin typeface="Calibri" pitchFamily="34" charset="0"/>
                <a:ea typeface="Calibri" pitchFamily="34" charset="-122"/>
                <a:cs typeface="Calibri" pitchFamily="34" charset="-120"/>
              </a:rPr>
              <a:t>Keynesian: AD drives the economy in the SHORT RUN. Sticky prices mean recessions can persist — government must act.</a:t>
            </a:r>
            <a:endParaRPr lang="en-US" b="1" dirty="0"/>
          </a:p>
        </p:txBody>
      </p:sp>
      <p:sp>
        <p:nvSpPr>
          <p:cNvPr id="7" name="Shape 5">
            <a:extLst>
              <a:ext uri="{C183D7F6-B498-43B3-948B-1728B52AA6E4}">
                <adec:decorative xmlns:adec="http://schemas.microsoft.com/office/drawing/2017/decorative" val="1"/>
              </a:ext>
            </a:extLst>
          </p:cNvPr>
          <p:cNvSpPr/>
          <p:nvPr/>
        </p:nvSpPr>
        <p:spPr>
          <a:xfrm>
            <a:off x="457200" y="2130552"/>
            <a:ext cx="457200" cy="457200"/>
          </a:xfrm>
          <a:prstGeom prst="ellipse">
            <a:avLst/>
          </a:prstGeom>
          <a:solidFill>
            <a:srgbClr val="01696F"/>
          </a:solidFill>
          <a:ln w="12700">
            <a:solidFill>
              <a:srgbClr val="01696F"/>
            </a:solidFill>
            <a:prstDash val="solid"/>
          </a:ln>
        </p:spPr>
        <p:txBody>
          <a:bodyPr/>
          <a:lstStyle/>
          <a:p>
            <a:endParaRPr lang="en-US"/>
          </a:p>
        </p:txBody>
      </p:sp>
      <p:sp>
        <p:nvSpPr>
          <p:cNvPr id="8" name="Text 6"/>
          <p:cNvSpPr/>
          <p:nvPr/>
        </p:nvSpPr>
        <p:spPr>
          <a:xfrm>
            <a:off x="457200" y="2157984"/>
            <a:ext cx="457200" cy="402336"/>
          </a:xfrm>
          <a:prstGeom prst="rect">
            <a:avLst/>
          </a:prstGeom>
          <a:noFill/>
          <a:ln/>
        </p:spPr>
        <p:txBody>
          <a:bodyPr wrap="square"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2</a:t>
            </a:r>
            <a:endParaRPr lang="en-US" sz="2000" dirty="0"/>
          </a:p>
        </p:txBody>
      </p:sp>
      <p:sp>
        <p:nvSpPr>
          <p:cNvPr id="9" name="Text 7"/>
          <p:cNvSpPr/>
          <p:nvPr/>
        </p:nvSpPr>
        <p:spPr>
          <a:xfrm>
            <a:off x="1051560" y="2157984"/>
            <a:ext cx="10698480" cy="658368"/>
          </a:xfrm>
          <a:prstGeom prst="rect">
            <a:avLst/>
          </a:prstGeom>
          <a:noFill/>
          <a:ln/>
        </p:spPr>
        <p:txBody>
          <a:bodyPr wrap="square" rtlCol="0" anchor="ctr"/>
          <a:lstStyle/>
          <a:p>
            <a:pPr marL="0" indent="0">
              <a:buNone/>
            </a:pPr>
            <a:r>
              <a:rPr lang="en-US" b="1" dirty="0">
                <a:solidFill>
                  <a:srgbClr val="CDCCCA"/>
                </a:solidFill>
                <a:latin typeface="Calibri" pitchFamily="34" charset="0"/>
                <a:ea typeface="Calibri" pitchFamily="34" charset="-122"/>
                <a:cs typeface="Calibri" pitchFamily="34" charset="-120"/>
              </a:rPr>
              <a:t>Neoclassical: Potential GDP (LRAS) anchors the LONG RUN. Flexible wages/prices self-correct. Focus on structural reform.</a:t>
            </a:r>
            <a:endParaRPr lang="en-US" b="1" dirty="0"/>
          </a:p>
        </p:txBody>
      </p:sp>
      <p:sp>
        <p:nvSpPr>
          <p:cNvPr id="10" name="Shape 8">
            <a:extLst>
              <a:ext uri="{C183D7F6-B498-43B3-948B-1728B52AA6E4}">
                <adec:decorative xmlns:adec="http://schemas.microsoft.com/office/drawing/2017/decorative" val="1"/>
              </a:ext>
            </a:extLst>
          </p:cNvPr>
          <p:cNvSpPr/>
          <p:nvPr/>
        </p:nvSpPr>
        <p:spPr>
          <a:xfrm>
            <a:off x="457200" y="3026664"/>
            <a:ext cx="457200" cy="457200"/>
          </a:xfrm>
          <a:prstGeom prst="ellipse">
            <a:avLst/>
          </a:prstGeom>
          <a:solidFill>
            <a:srgbClr val="01696F"/>
          </a:solidFill>
          <a:ln w="12700">
            <a:solidFill>
              <a:srgbClr val="01696F"/>
            </a:solidFill>
            <a:prstDash val="solid"/>
          </a:ln>
        </p:spPr>
        <p:txBody>
          <a:bodyPr/>
          <a:lstStyle/>
          <a:p>
            <a:endParaRPr lang="en-US"/>
          </a:p>
        </p:txBody>
      </p:sp>
      <p:sp>
        <p:nvSpPr>
          <p:cNvPr id="11" name="Text 9"/>
          <p:cNvSpPr/>
          <p:nvPr/>
        </p:nvSpPr>
        <p:spPr>
          <a:xfrm>
            <a:off x="457200" y="3054096"/>
            <a:ext cx="457200" cy="402336"/>
          </a:xfrm>
          <a:prstGeom prst="rect">
            <a:avLst/>
          </a:prstGeom>
          <a:noFill/>
          <a:ln/>
        </p:spPr>
        <p:txBody>
          <a:bodyPr wrap="square"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3</a:t>
            </a:r>
            <a:endParaRPr lang="en-US" sz="2000" dirty="0"/>
          </a:p>
        </p:txBody>
      </p:sp>
      <p:sp>
        <p:nvSpPr>
          <p:cNvPr id="12" name="Text 10"/>
          <p:cNvSpPr/>
          <p:nvPr/>
        </p:nvSpPr>
        <p:spPr>
          <a:xfrm>
            <a:off x="1051560" y="3054096"/>
            <a:ext cx="10698480" cy="658368"/>
          </a:xfrm>
          <a:prstGeom prst="rect">
            <a:avLst/>
          </a:prstGeom>
          <a:noFill/>
          <a:ln/>
        </p:spPr>
        <p:txBody>
          <a:bodyPr wrap="square" rtlCol="0" anchor="ctr"/>
          <a:lstStyle/>
          <a:p>
            <a:pPr marL="0" indent="0">
              <a:buNone/>
            </a:pPr>
            <a:r>
              <a:rPr lang="en-US" b="1" dirty="0">
                <a:solidFill>
                  <a:srgbClr val="CDCCCA"/>
                </a:solidFill>
                <a:latin typeface="Calibri" pitchFamily="34" charset="0"/>
                <a:ea typeface="Calibri" pitchFamily="34" charset="-122"/>
                <a:cs typeface="Calibri" pitchFamily="34" charset="-120"/>
              </a:rPr>
              <a:t>Expenditure Multiplier: $1 of spending generates &gt;$1 of GDP (if economy has slack). Works in reverse too — be careful.</a:t>
            </a:r>
            <a:endParaRPr lang="en-US" b="1" dirty="0"/>
          </a:p>
        </p:txBody>
      </p:sp>
      <p:sp>
        <p:nvSpPr>
          <p:cNvPr id="13" name="Shape 11">
            <a:extLst>
              <a:ext uri="{C183D7F6-B498-43B3-948B-1728B52AA6E4}">
                <adec:decorative xmlns:adec="http://schemas.microsoft.com/office/drawing/2017/decorative" val="1"/>
              </a:ext>
            </a:extLst>
          </p:cNvPr>
          <p:cNvSpPr/>
          <p:nvPr/>
        </p:nvSpPr>
        <p:spPr>
          <a:xfrm>
            <a:off x="457200" y="3922776"/>
            <a:ext cx="457200" cy="457200"/>
          </a:xfrm>
          <a:prstGeom prst="ellipse">
            <a:avLst/>
          </a:prstGeom>
          <a:solidFill>
            <a:srgbClr val="01696F"/>
          </a:solidFill>
          <a:ln w="12700">
            <a:solidFill>
              <a:srgbClr val="01696F"/>
            </a:solidFill>
            <a:prstDash val="solid"/>
          </a:ln>
        </p:spPr>
        <p:txBody>
          <a:bodyPr/>
          <a:lstStyle/>
          <a:p>
            <a:endParaRPr lang="en-US"/>
          </a:p>
        </p:txBody>
      </p:sp>
      <p:sp>
        <p:nvSpPr>
          <p:cNvPr id="14" name="Text 12"/>
          <p:cNvSpPr/>
          <p:nvPr/>
        </p:nvSpPr>
        <p:spPr>
          <a:xfrm>
            <a:off x="457200" y="3950208"/>
            <a:ext cx="457200" cy="402336"/>
          </a:xfrm>
          <a:prstGeom prst="rect">
            <a:avLst/>
          </a:prstGeom>
          <a:noFill/>
          <a:ln/>
        </p:spPr>
        <p:txBody>
          <a:bodyPr wrap="square"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4</a:t>
            </a:r>
            <a:endParaRPr lang="en-US" sz="2000" dirty="0"/>
          </a:p>
        </p:txBody>
      </p:sp>
      <p:sp>
        <p:nvSpPr>
          <p:cNvPr id="15" name="Text 13"/>
          <p:cNvSpPr/>
          <p:nvPr/>
        </p:nvSpPr>
        <p:spPr>
          <a:xfrm>
            <a:off x="1051560" y="3950208"/>
            <a:ext cx="10698480" cy="658368"/>
          </a:xfrm>
          <a:prstGeom prst="rect">
            <a:avLst/>
          </a:prstGeom>
          <a:noFill/>
          <a:ln/>
        </p:spPr>
        <p:txBody>
          <a:bodyPr wrap="square" rtlCol="0" anchor="ctr"/>
          <a:lstStyle/>
          <a:p>
            <a:pPr marL="0" indent="0">
              <a:buNone/>
            </a:pPr>
            <a:r>
              <a:rPr lang="en-US" b="1" dirty="0">
                <a:solidFill>
                  <a:srgbClr val="CDCCCA"/>
                </a:solidFill>
                <a:latin typeface="Calibri" pitchFamily="34" charset="0"/>
                <a:ea typeface="Calibri" pitchFamily="34" charset="-122"/>
                <a:cs typeface="Calibri" pitchFamily="34" charset="-120"/>
              </a:rPr>
              <a:t>Phillips Curve: Short-run inflation-unemployment tradeoff disappears when expectations adapt. No free lunch from inflation.</a:t>
            </a:r>
            <a:endParaRPr lang="en-US" b="1" dirty="0"/>
          </a:p>
        </p:txBody>
      </p:sp>
      <p:sp>
        <p:nvSpPr>
          <p:cNvPr id="16" name="Shape 14">
            <a:extLst>
              <a:ext uri="{C183D7F6-B498-43B3-948B-1728B52AA6E4}">
                <adec:decorative xmlns:adec="http://schemas.microsoft.com/office/drawing/2017/decorative" val="1"/>
              </a:ext>
            </a:extLst>
          </p:cNvPr>
          <p:cNvSpPr/>
          <p:nvPr/>
        </p:nvSpPr>
        <p:spPr>
          <a:xfrm>
            <a:off x="457200" y="4818888"/>
            <a:ext cx="457200" cy="457200"/>
          </a:xfrm>
          <a:prstGeom prst="ellipse">
            <a:avLst/>
          </a:prstGeom>
          <a:solidFill>
            <a:srgbClr val="01696F"/>
          </a:solidFill>
          <a:ln w="12700">
            <a:solidFill>
              <a:srgbClr val="01696F"/>
            </a:solidFill>
            <a:prstDash val="solid"/>
          </a:ln>
        </p:spPr>
        <p:txBody>
          <a:bodyPr/>
          <a:lstStyle/>
          <a:p>
            <a:endParaRPr lang="en-US"/>
          </a:p>
        </p:txBody>
      </p:sp>
      <p:sp>
        <p:nvSpPr>
          <p:cNvPr id="17" name="Text 15"/>
          <p:cNvSpPr/>
          <p:nvPr/>
        </p:nvSpPr>
        <p:spPr>
          <a:xfrm>
            <a:off x="457200" y="4846320"/>
            <a:ext cx="457200" cy="402336"/>
          </a:xfrm>
          <a:prstGeom prst="rect">
            <a:avLst/>
          </a:prstGeom>
          <a:noFill/>
          <a:ln/>
        </p:spPr>
        <p:txBody>
          <a:bodyPr wrap="square"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5</a:t>
            </a:r>
            <a:endParaRPr lang="en-US" sz="2000" dirty="0"/>
          </a:p>
        </p:txBody>
      </p:sp>
      <p:sp>
        <p:nvSpPr>
          <p:cNvPr id="18" name="Text 16"/>
          <p:cNvSpPr/>
          <p:nvPr/>
        </p:nvSpPr>
        <p:spPr>
          <a:xfrm>
            <a:off x="1051560" y="4846320"/>
            <a:ext cx="10698480" cy="658368"/>
          </a:xfrm>
          <a:prstGeom prst="rect">
            <a:avLst/>
          </a:prstGeom>
          <a:noFill/>
          <a:ln/>
        </p:spPr>
        <p:txBody>
          <a:bodyPr wrap="square" rtlCol="0" anchor="ctr"/>
          <a:lstStyle/>
          <a:p>
            <a:pPr marL="0" indent="0">
              <a:buNone/>
            </a:pPr>
            <a:r>
              <a:rPr lang="en-US" b="1" dirty="0">
                <a:solidFill>
                  <a:srgbClr val="CDCCCA"/>
                </a:solidFill>
                <a:latin typeface="Calibri" pitchFamily="34" charset="0"/>
                <a:ea typeface="Calibri" pitchFamily="34" charset="-122"/>
                <a:cs typeface="Calibri" pitchFamily="34" charset="-120"/>
              </a:rPr>
              <a:t>Stagflation broke the simple Keynesian model. Supply shocks matter — you can't just manage demand.</a:t>
            </a:r>
            <a:endParaRPr lang="en-US" b="1" dirty="0"/>
          </a:p>
        </p:txBody>
      </p:sp>
      <p:sp>
        <p:nvSpPr>
          <p:cNvPr id="19" name="Shape 17">
            <a:extLst>
              <a:ext uri="{C183D7F6-B498-43B3-948B-1728B52AA6E4}">
                <adec:decorative xmlns:adec="http://schemas.microsoft.com/office/drawing/2017/decorative" val="1"/>
              </a:ext>
            </a:extLst>
          </p:cNvPr>
          <p:cNvSpPr/>
          <p:nvPr/>
        </p:nvSpPr>
        <p:spPr>
          <a:xfrm>
            <a:off x="457200" y="5715000"/>
            <a:ext cx="457200" cy="457200"/>
          </a:xfrm>
          <a:prstGeom prst="ellipse">
            <a:avLst/>
          </a:prstGeom>
          <a:solidFill>
            <a:srgbClr val="01696F"/>
          </a:solidFill>
          <a:ln w="12700">
            <a:solidFill>
              <a:srgbClr val="01696F"/>
            </a:solidFill>
            <a:prstDash val="solid"/>
          </a:ln>
        </p:spPr>
        <p:txBody>
          <a:bodyPr/>
          <a:lstStyle/>
          <a:p>
            <a:endParaRPr lang="en-US"/>
          </a:p>
        </p:txBody>
      </p:sp>
      <p:sp>
        <p:nvSpPr>
          <p:cNvPr id="20" name="Text 18"/>
          <p:cNvSpPr/>
          <p:nvPr/>
        </p:nvSpPr>
        <p:spPr>
          <a:xfrm>
            <a:off x="457200" y="5742432"/>
            <a:ext cx="457200" cy="402336"/>
          </a:xfrm>
          <a:prstGeom prst="rect">
            <a:avLst/>
          </a:prstGeom>
          <a:noFill/>
          <a:ln/>
        </p:spPr>
        <p:txBody>
          <a:bodyPr wrap="square"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6</a:t>
            </a:r>
            <a:endParaRPr lang="en-US" sz="2000" dirty="0"/>
          </a:p>
        </p:txBody>
      </p:sp>
      <p:sp>
        <p:nvSpPr>
          <p:cNvPr id="21" name="Text 19"/>
          <p:cNvSpPr/>
          <p:nvPr/>
        </p:nvSpPr>
        <p:spPr>
          <a:xfrm>
            <a:off x="1051560" y="5742432"/>
            <a:ext cx="10698480" cy="658368"/>
          </a:xfrm>
          <a:prstGeom prst="rect">
            <a:avLst/>
          </a:prstGeom>
          <a:noFill/>
          <a:ln/>
        </p:spPr>
        <p:txBody>
          <a:bodyPr wrap="square" rtlCol="0" anchor="ctr"/>
          <a:lstStyle/>
          <a:p>
            <a:pPr marL="0" indent="0">
              <a:buNone/>
            </a:pPr>
            <a:r>
              <a:rPr lang="en-US" b="1" dirty="0">
                <a:solidFill>
                  <a:srgbClr val="CDCCCA"/>
                </a:solidFill>
                <a:latin typeface="Calibri" pitchFamily="34" charset="0"/>
                <a:ea typeface="Calibri" pitchFamily="34" charset="-122"/>
                <a:cs typeface="Calibri" pitchFamily="34" charset="-120"/>
              </a:rPr>
              <a:t>Neither school wins. Modern policy blends both: stimulus for sharp recessions, supply-side reform for long-run growth.</a:t>
            </a:r>
            <a:endParaRPr lang="en-US"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TotalTime>
  <Words>3608</Words>
  <Application>Microsoft Office PowerPoint</Application>
  <PresentationFormat>Widescreen</PresentationFormat>
  <Paragraphs>247</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Trebuchet MS</vt:lpstr>
      <vt:lpstr>Office Theme</vt:lpstr>
      <vt:lpstr>CHAPTERS 12 &amp; 13</vt:lpstr>
      <vt:lpstr>Two Lenses on the Economy</vt:lpstr>
      <vt:lpstr>What Drives Aggregate Demand?</vt:lpstr>
      <vt:lpstr>AD Shift Quick Reference</vt:lpstr>
      <vt:lpstr>Keynesian Building Blocks</vt:lpstr>
      <vt:lpstr>The Expenditure Multiplier</vt:lpstr>
      <vt:lpstr>The Phillips Curve</vt:lpstr>
      <vt:lpstr>Keynesian Policy Toolkit</vt:lpstr>
      <vt:lpstr>Neoclassical Foundations</vt:lpstr>
      <vt:lpstr>Long-Run Self-Correction</vt:lpstr>
      <vt:lpstr>What Grows Potential GDP?</vt:lpstr>
      <vt:lpstr>Neoclassical Policy Toolkit</vt:lpstr>
      <vt:lpstr>Balancing Both Models</vt:lpstr>
      <vt:lpstr>Summary Comparison</vt:lpstr>
      <vt:lpstr>Key Takeaways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Scott T Lane</cp:lastModifiedBy>
  <cp:revision>11</cp:revision>
  <dcterms:created xsi:type="dcterms:W3CDTF">2026-04-03T15:48:09Z</dcterms:created>
  <dcterms:modified xsi:type="dcterms:W3CDTF">2026-04-15T15:47:49Z</dcterms:modified>
</cp:coreProperties>
</file>